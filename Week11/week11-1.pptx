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41"/>
  </p:notesMasterIdLst>
  <p:sldIdLst>
    <p:sldId id="256" r:id="rId2"/>
    <p:sldId id="528" r:id="rId3"/>
    <p:sldId id="527" r:id="rId4"/>
    <p:sldId id="290" r:id="rId5"/>
    <p:sldId id="324" r:id="rId6"/>
    <p:sldId id="562" r:id="rId7"/>
    <p:sldId id="535" r:id="rId8"/>
    <p:sldId id="561" r:id="rId9"/>
    <p:sldId id="284" r:id="rId10"/>
    <p:sldId id="285" r:id="rId11"/>
    <p:sldId id="286" r:id="rId12"/>
    <p:sldId id="568" r:id="rId13"/>
    <p:sldId id="269" r:id="rId14"/>
    <p:sldId id="257" r:id="rId15"/>
    <p:sldId id="574" r:id="rId16"/>
    <p:sldId id="259" r:id="rId17"/>
    <p:sldId id="260" r:id="rId18"/>
    <p:sldId id="261" r:id="rId19"/>
    <p:sldId id="564" r:id="rId20"/>
    <p:sldId id="263" r:id="rId21"/>
    <p:sldId id="264" r:id="rId22"/>
    <p:sldId id="565" r:id="rId23"/>
    <p:sldId id="267" r:id="rId24"/>
    <p:sldId id="268" r:id="rId25"/>
    <p:sldId id="567" r:id="rId26"/>
    <p:sldId id="270" r:id="rId27"/>
    <p:sldId id="571" r:id="rId28"/>
    <p:sldId id="573" r:id="rId29"/>
    <p:sldId id="572" r:id="rId30"/>
    <p:sldId id="262" r:id="rId31"/>
    <p:sldId id="287" r:id="rId32"/>
    <p:sldId id="275" r:id="rId33"/>
    <p:sldId id="301" r:id="rId34"/>
    <p:sldId id="296" r:id="rId35"/>
    <p:sldId id="302" r:id="rId36"/>
    <p:sldId id="278" r:id="rId37"/>
    <p:sldId id="297" r:id="rId38"/>
    <p:sldId id="305" r:id="rId39"/>
    <p:sldId id="53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0F48DF2-8227-5C48-8BD3-896CAD3EE341}">
          <p14:sldIdLst>
            <p14:sldId id="256"/>
            <p14:sldId id="528"/>
            <p14:sldId id="527"/>
            <p14:sldId id="290"/>
            <p14:sldId id="324"/>
            <p14:sldId id="562"/>
            <p14:sldId id="535"/>
            <p14:sldId id="561"/>
            <p14:sldId id="284"/>
            <p14:sldId id="285"/>
            <p14:sldId id="286"/>
            <p14:sldId id="568"/>
            <p14:sldId id="269"/>
            <p14:sldId id="257"/>
            <p14:sldId id="574"/>
            <p14:sldId id="259"/>
            <p14:sldId id="260"/>
            <p14:sldId id="261"/>
            <p14:sldId id="564"/>
            <p14:sldId id="263"/>
            <p14:sldId id="264"/>
            <p14:sldId id="565"/>
            <p14:sldId id="267"/>
            <p14:sldId id="268"/>
            <p14:sldId id="567"/>
            <p14:sldId id="270"/>
            <p14:sldId id="571"/>
            <p14:sldId id="573"/>
            <p14:sldId id="572"/>
            <p14:sldId id="262"/>
            <p14:sldId id="287"/>
            <p14:sldId id="275"/>
            <p14:sldId id="301"/>
            <p14:sldId id="296"/>
            <p14:sldId id="302"/>
            <p14:sldId id="278"/>
            <p14:sldId id="297"/>
            <p14:sldId id="305"/>
            <p14:sldId id="534"/>
          </p14:sldIdLst>
        </p14:section>
        <p14:section name="Untitled Section" id="{377F1EDF-B55F-C345-A29A-F7E49ACDC973}">
          <p14:sldIdLst/>
        </p14:section>
        <p14:section name="Untitled Section" id="{9F1CDEDB-F8F2-4F48-B18F-8E9C3FCDD6C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30"/>
    <p:restoredTop sz="65825"/>
  </p:normalViewPr>
  <p:slideViewPr>
    <p:cSldViewPr snapToGrid="0">
      <p:cViewPr varScale="1">
        <p:scale>
          <a:sx n="74" d="100"/>
          <a:sy n="74" d="100"/>
        </p:scale>
        <p:origin x="1520" y="176"/>
      </p:cViewPr>
      <p:guideLst/>
    </p:cSldViewPr>
  </p:slideViewPr>
  <p:outlineViewPr>
    <p:cViewPr>
      <p:scale>
        <a:sx n="33" d="100"/>
        <a:sy n="33" d="100"/>
      </p:scale>
      <p:origin x="0" y="-1440"/>
    </p:cViewPr>
  </p:outlineViewPr>
  <p:notesTextViewPr>
    <p:cViewPr>
      <p:scale>
        <a:sx n="110" d="100"/>
        <a:sy n="110" d="100"/>
      </p:scale>
      <p:origin x="0" y="0"/>
    </p:cViewPr>
  </p:notesTextViewPr>
  <p:sorterViewPr>
    <p:cViewPr>
      <p:scale>
        <a:sx n="80" d="100"/>
        <a:sy n="80" d="100"/>
      </p:scale>
      <p:origin x="0" y="0"/>
    </p:cViewPr>
  </p:sorterViewPr>
  <p:notesViewPr>
    <p:cSldViewPr snapToGrid="0">
      <p:cViewPr varScale="1">
        <p:scale>
          <a:sx n="121" d="100"/>
          <a:sy n="121" d="100"/>
        </p:scale>
        <p:origin x="4304"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B5C28F-5EA1-BF43-9008-79EE04C73EA8}" type="datetimeFigureOut">
              <a:rPr lang="en-US" smtClean="0"/>
              <a:t>10/29/25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986EBC-7713-6E46-84A4-B57B150EF96D}" type="slidenum">
              <a:rPr lang="en-US" smtClean="0"/>
              <a:t>‹#›</a:t>
            </a:fld>
            <a:endParaRPr lang="en-US"/>
          </a:p>
        </p:txBody>
      </p:sp>
    </p:spTree>
    <p:extLst>
      <p:ext uri="{BB962C8B-B14F-4D97-AF65-F5344CB8AC3E}">
        <p14:creationId xmlns:p14="http://schemas.microsoft.com/office/powerpoint/2010/main" val="1450368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986EBC-7713-6E46-84A4-B57B150EF96D}" type="slidenum">
              <a:rPr lang="en-US" smtClean="0"/>
              <a:t>0</a:t>
            </a:fld>
            <a:endParaRPr lang="en-US"/>
          </a:p>
        </p:txBody>
      </p:sp>
    </p:spTree>
    <p:extLst>
      <p:ext uri="{BB962C8B-B14F-4D97-AF65-F5344CB8AC3E}">
        <p14:creationId xmlns:p14="http://schemas.microsoft.com/office/powerpoint/2010/main" val="621891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665BC-D846-06C0-2E60-7418E2A4A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DB351-36C6-4164-D302-3C804B2883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A588C-58AD-F89E-ECB7-CEF029D76DAD}"/>
              </a:ext>
            </a:extLst>
          </p:cNvPr>
          <p:cNvSpPr>
            <a:spLocks noGrp="1"/>
          </p:cNvSpPr>
          <p:nvPr>
            <p:ph type="body" idx="1"/>
          </p:nvPr>
        </p:nvSpPr>
        <p:spPr/>
        <p:txBody>
          <a:bodyPr/>
          <a:lstStyle/>
          <a:p>
            <a:r>
              <a:rPr lang="en-US" dirty="0"/>
              <a:t>Neural network actually dates a few decades back, why the resurgence now?  </a:t>
            </a:r>
          </a:p>
          <a:p>
            <a:r>
              <a:rPr lang="en-US" dirty="0"/>
              <a:t>There have been three key advances that have occurred in the past decade.</a:t>
            </a:r>
          </a:p>
          <a:p>
            <a:r>
              <a:rPr lang="en-US" dirty="0"/>
              <a:t>First, Data is so much more pervasive. they are much easier to collect and store. Deep learning are </a:t>
            </a:r>
            <a:r>
              <a:rPr lang="en-US" dirty="0" err="1"/>
              <a:t>hungary</a:t>
            </a:r>
            <a:r>
              <a:rPr lang="en-US" dirty="0"/>
              <a:t> for data.</a:t>
            </a:r>
          </a:p>
          <a:p>
            <a:endParaRPr lang="en-US" dirty="0"/>
          </a:p>
          <a:p>
            <a:r>
              <a:rPr lang="en-US" dirty="0"/>
              <a:t>Secondly, we have our advancement on hardware, those algorithms are massively </a:t>
            </a:r>
            <a:r>
              <a:rPr lang="en-US" dirty="0" err="1"/>
              <a:t>parallizebale</a:t>
            </a:r>
            <a:r>
              <a:rPr lang="en-US" dirty="0"/>
              <a:t> and they require a lot of computes, we are now able to train those algorithms on GPUS. </a:t>
            </a:r>
          </a:p>
          <a:p>
            <a:endParaRPr lang="en-US" dirty="0"/>
          </a:p>
          <a:p>
            <a:r>
              <a:rPr lang="en-US" dirty="0"/>
              <a:t>At last, due to open course toolboxes and software platforms like </a:t>
            </a:r>
            <a:r>
              <a:rPr lang="en-US" dirty="0" err="1"/>
              <a:t>pytorch</a:t>
            </a:r>
            <a:r>
              <a:rPr lang="en-US" dirty="0"/>
              <a:t> and </a:t>
            </a:r>
            <a:r>
              <a:rPr lang="en-US" dirty="0" err="1"/>
              <a:t>tensorflow</a:t>
            </a:r>
            <a:r>
              <a:rPr lang="en-US" dirty="0"/>
              <a:t>, which all of you will get some experience on in this class, building and training deep learning neural network have become much easier. </a:t>
            </a:r>
          </a:p>
        </p:txBody>
      </p:sp>
      <p:sp>
        <p:nvSpPr>
          <p:cNvPr id="4" name="Slide Number Placeholder 3">
            <a:extLst>
              <a:ext uri="{FF2B5EF4-FFF2-40B4-BE49-F238E27FC236}">
                <a16:creationId xmlns:a16="http://schemas.microsoft.com/office/drawing/2014/main" id="{E3D4AAF4-0082-72A8-38B4-C49F5501FE30}"/>
              </a:ext>
            </a:extLst>
          </p:cNvPr>
          <p:cNvSpPr>
            <a:spLocks noGrp="1"/>
          </p:cNvSpPr>
          <p:nvPr>
            <p:ph type="sldNum" sz="quarter" idx="5"/>
          </p:nvPr>
        </p:nvSpPr>
        <p:spPr/>
        <p:txBody>
          <a:bodyPr/>
          <a:lstStyle/>
          <a:p>
            <a:fld id="{69986EBC-7713-6E46-84A4-B57B150EF96D}" type="slidenum">
              <a:rPr lang="en-US" smtClean="0"/>
              <a:t>1</a:t>
            </a:fld>
            <a:endParaRPr lang="en-US"/>
          </a:p>
        </p:txBody>
      </p:sp>
    </p:spTree>
    <p:extLst>
      <p:ext uri="{BB962C8B-B14F-4D97-AF65-F5344CB8AC3E}">
        <p14:creationId xmlns:p14="http://schemas.microsoft.com/office/powerpoint/2010/main" val="3577847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D23A9-8778-6705-B885-DFFA1E5C3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17AE9-5F72-9086-F6CF-279CAF205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501372-08A8-EF8F-1512-90DA2A28C743}"/>
              </a:ext>
            </a:extLst>
          </p:cNvPr>
          <p:cNvSpPr>
            <a:spLocks noGrp="1"/>
          </p:cNvSpPr>
          <p:nvPr>
            <p:ph type="body" idx="1"/>
          </p:nvPr>
        </p:nvSpPr>
        <p:spPr/>
        <p:txBody>
          <a:bodyPr/>
          <a:lstStyle/>
          <a:p>
            <a:r>
              <a:rPr lang="en-US" dirty="0"/>
              <a:t>A database with multiple tables </a:t>
            </a:r>
          </a:p>
        </p:txBody>
      </p:sp>
      <p:sp>
        <p:nvSpPr>
          <p:cNvPr id="4" name="Slide Number Placeholder 3">
            <a:extLst>
              <a:ext uri="{FF2B5EF4-FFF2-40B4-BE49-F238E27FC236}">
                <a16:creationId xmlns:a16="http://schemas.microsoft.com/office/drawing/2014/main" id="{D29BDA17-3607-323C-6942-560684C0E3F3}"/>
              </a:ext>
            </a:extLst>
          </p:cNvPr>
          <p:cNvSpPr>
            <a:spLocks noGrp="1"/>
          </p:cNvSpPr>
          <p:nvPr>
            <p:ph type="sldNum" sz="quarter" idx="5"/>
          </p:nvPr>
        </p:nvSpPr>
        <p:spPr/>
        <p:txBody>
          <a:bodyPr/>
          <a:lstStyle/>
          <a:p>
            <a:fld id="{69986EBC-7713-6E46-84A4-B57B150EF96D}" type="slidenum">
              <a:rPr lang="en-US" smtClean="0"/>
              <a:t>2</a:t>
            </a:fld>
            <a:endParaRPr lang="en-US"/>
          </a:p>
        </p:txBody>
      </p:sp>
    </p:spTree>
    <p:extLst>
      <p:ext uri="{BB962C8B-B14F-4D97-AF65-F5344CB8AC3E}">
        <p14:creationId xmlns:p14="http://schemas.microsoft.com/office/powerpoint/2010/main" val="3364255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8A45D-40A6-7DA7-9108-2CD4E640A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92D7F4-EF9C-938C-EE4C-812F452C4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31039A-FA2B-E457-C23A-839FE21FF4F0}"/>
              </a:ext>
            </a:extLst>
          </p:cNvPr>
          <p:cNvSpPr>
            <a:spLocks noGrp="1"/>
          </p:cNvSpPr>
          <p:nvPr>
            <p:ph type="body" idx="1"/>
          </p:nvPr>
        </p:nvSpPr>
        <p:spPr/>
        <p:txBody>
          <a:bodyPr/>
          <a:lstStyle/>
          <a:p>
            <a:r>
              <a:rPr lang="en-US" dirty="0"/>
              <a:t>Move beyond spreadsheet to database </a:t>
            </a:r>
          </a:p>
        </p:txBody>
      </p:sp>
      <p:sp>
        <p:nvSpPr>
          <p:cNvPr id="4" name="Slide Number Placeholder 3">
            <a:extLst>
              <a:ext uri="{FF2B5EF4-FFF2-40B4-BE49-F238E27FC236}">
                <a16:creationId xmlns:a16="http://schemas.microsoft.com/office/drawing/2014/main" id="{A3C88CE4-D7ED-A3AC-1B5F-4B69218F4327}"/>
              </a:ext>
            </a:extLst>
          </p:cNvPr>
          <p:cNvSpPr>
            <a:spLocks noGrp="1"/>
          </p:cNvSpPr>
          <p:nvPr>
            <p:ph type="sldNum" sz="quarter" idx="5"/>
          </p:nvPr>
        </p:nvSpPr>
        <p:spPr/>
        <p:txBody>
          <a:bodyPr/>
          <a:lstStyle/>
          <a:p>
            <a:fld id="{69986EBC-7713-6E46-84A4-B57B150EF96D}" type="slidenum">
              <a:rPr lang="en-US" smtClean="0"/>
              <a:t>3</a:t>
            </a:fld>
            <a:endParaRPr lang="en-US"/>
          </a:p>
        </p:txBody>
      </p:sp>
    </p:spTree>
    <p:extLst>
      <p:ext uri="{BB962C8B-B14F-4D97-AF65-F5344CB8AC3E}">
        <p14:creationId xmlns:p14="http://schemas.microsoft.com/office/powerpoint/2010/main" val="1043709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986EBC-7713-6E46-84A4-B57B150EF96D}" type="slidenum">
              <a:rPr lang="en-US" smtClean="0"/>
              <a:t>4</a:t>
            </a:fld>
            <a:endParaRPr lang="en-US"/>
          </a:p>
        </p:txBody>
      </p:sp>
    </p:spTree>
    <p:extLst>
      <p:ext uri="{BB962C8B-B14F-4D97-AF65-F5344CB8AC3E}">
        <p14:creationId xmlns:p14="http://schemas.microsoft.com/office/powerpoint/2010/main" val="3307437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F5B1-614D-28BB-0660-61BA3715F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F715C-4197-F260-A1C5-24468BAF5F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265BA-0DB3-8F86-BDDD-DFE33F70E4F2}"/>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anose="020B060402020202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FDDC8AB9-7E6D-61C0-5221-E5DEDEC66F68}"/>
              </a:ext>
            </a:extLst>
          </p:cNvPr>
          <p:cNvSpPr>
            <a:spLocks noGrp="1"/>
          </p:cNvSpPr>
          <p:nvPr>
            <p:ph type="sldNum" sz="quarter" idx="5"/>
          </p:nvPr>
        </p:nvSpPr>
        <p:spPr/>
        <p:txBody>
          <a:bodyPr/>
          <a:lstStyle/>
          <a:p>
            <a:fld id="{69986EBC-7713-6E46-84A4-B57B150EF96D}" type="slidenum">
              <a:rPr lang="en-US" smtClean="0"/>
              <a:t>5</a:t>
            </a:fld>
            <a:endParaRPr lang="en-US"/>
          </a:p>
        </p:txBody>
      </p:sp>
    </p:spTree>
    <p:extLst>
      <p:ext uri="{BB962C8B-B14F-4D97-AF65-F5344CB8AC3E}">
        <p14:creationId xmlns:p14="http://schemas.microsoft.com/office/powerpoint/2010/main" val="2808751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a:t>
            </a:r>
            <a:r>
              <a:rPr lang="zh-CN" altLang="en-US" dirty="0"/>
              <a:t> </a:t>
            </a:r>
            <a:r>
              <a:rPr lang="en-US" altLang="zh-CN" dirty="0"/>
              <a:t>learning</a:t>
            </a:r>
            <a:r>
              <a:rPr lang="zh-CN" altLang="en-US" dirty="0"/>
              <a:t> </a:t>
            </a:r>
            <a:r>
              <a:rPr lang="en-US" altLang="zh-CN" dirty="0"/>
              <a:t>methods can coarsely be divided into three areas:</a:t>
            </a:r>
          </a:p>
          <a:p>
            <a:r>
              <a:rPr lang="en-US" dirty="0"/>
              <a:t>Supervised, unsupervised and Reinforcement learning. </a:t>
            </a:r>
          </a:p>
          <a:p>
            <a:endParaRPr lang="en-US" dirty="0"/>
          </a:p>
          <a:p>
            <a:r>
              <a:rPr lang="en-US" dirty="0"/>
              <a:t>Supervised learning define a mapping from input data to an output prediction. Regression and classification problems. Those input/output pairs take the role of a teacher or supervisor for the training process, and this gives rise to the term supervised learning. </a:t>
            </a:r>
          </a:p>
          <a:p>
            <a:endParaRPr lang="en-US" dirty="0"/>
          </a:p>
          <a:p>
            <a:r>
              <a:rPr lang="en-US" dirty="0"/>
              <a:t>Unsupervised learning: the absence of output label: no supervision. The goal is to describe or understand the structure of the data. Generative unsupervised model, which</a:t>
            </a:r>
            <a:r>
              <a:rPr lang="zh-CN" altLang="en-US" dirty="0"/>
              <a:t> </a:t>
            </a:r>
            <a:r>
              <a:rPr lang="en-US" altLang="zh-CN" dirty="0"/>
              <a:t>learn to synthesize new data examples that are statistically indistinguishable from the training data. Explicitly describe the distribution, others generate new examples without explicitly describing their distribution</a:t>
            </a:r>
          </a:p>
          <a:p>
            <a:endParaRPr lang="en-US" altLang="zh-CN" dirty="0"/>
          </a:p>
          <a:p>
            <a:r>
              <a:rPr lang="en-US" altLang="zh-CN" dirty="0"/>
              <a:t>Reinforcement learning which focus on the idea of agent and its environment, policy and its reward. We will see one example as well. </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9986EBC-7713-6E46-84A4-B57B150EF96D}" type="slidenum">
              <a:rPr lang="en-US" smtClean="0"/>
              <a:t>6</a:t>
            </a:fld>
            <a:endParaRPr lang="en-US"/>
          </a:p>
        </p:txBody>
      </p:sp>
    </p:spTree>
    <p:extLst>
      <p:ext uri="{BB962C8B-B14F-4D97-AF65-F5344CB8AC3E}">
        <p14:creationId xmlns:p14="http://schemas.microsoft.com/office/powerpoint/2010/main" val="601932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62B27-9CD6-D666-F768-0BAD1CB784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EBD830-C134-BCB4-E4D0-605541EBB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010C4-7781-EFEC-E020-8CD8CC6393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467EF5-9922-DBE4-ADDF-4D41DBF28CB8}"/>
              </a:ext>
            </a:extLst>
          </p:cNvPr>
          <p:cNvSpPr>
            <a:spLocks noGrp="1"/>
          </p:cNvSpPr>
          <p:nvPr>
            <p:ph type="sldNum" sz="quarter" idx="5"/>
          </p:nvPr>
        </p:nvSpPr>
        <p:spPr/>
        <p:txBody>
          <a:bodyPr/>
          <a:lstStyle/>
          <a:p>
            <a:fld id="{F3C097A0-37D2-654A-874F-99FA23BC11A3}" type="slidenum">
              <a:rPr lang="en-US" smtClean="0"/>
              <a:t>7</a:t>
            </a:fld>
            <a:endParaRPr lang="en-US"/>
          </a:p>
        </p:txBody>
      </p:sp>
    </p:spTree>
    <p:extLst>
      <p:ext uri="{BB962C8B-B14F-4D97-AF65-F5344CB8AC3E}">
        <p14:creationId xmlns:p14="http://schemas.microsoft.com/office/powerpoint/2010/main" val="2405791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1A1A1A"/>
                </a:solidFill>
                <a:effectLst/>
                <a:latin typeface="NVIDIA Sans"/>
              </a:rPr>
              <a:t>Some of examples have just highlighted how far deep learning has come in the past few years. So what is exactly deep learning. </a:t>
            </a:r>
          </a:p>
          <a:p>
            <a:r>
              <a:rPr lang="en-US" b="0" dirty="0">
                <a:solidFill>
                  <a:srgbClr val="1A1A1A"/>
                </a:solidFill>
                <a:effectLst/>
                <a:latin typeface="NVIDIA Sans"/>
              </a:rPr>
              <a:t>DL is a subset of machine learning, which is again a subset of artificial intelligence. </a:t>
            </a:r>
          </a:p>
          <a:p>
            <a:r>
              <a:rPr lang="en-US" dirty="0"/>
              <a:t>The definition for artificial intelligent is evolving, in general, AI refers to …</a:t>
            </a:r>
          </a:p>
          <a:p>
            <a:endParaRPr lang="en-US" dirty="0"/>
          </a:p>
          <a:p>
            <a:r>
              <a:rPr lang="en-US" dirty="0"/>
              <a:t>Machine learning is a subset of AI that can learn and make decisions without being specifically programmed</a:t>
            </a:r>
          </a:p>
          <a:p>
            <a:r>
              <a:rPr lang="en-US" dirty="0"/>
              <a:t>Deep learning is a type of machine learning model and goes one step beyond it can extract patterns from data using neural networks …</a:t>
            </a:r>
          </a:p>
          <a:p>
            <a:r>
              <a:rPr lang="en-US" dirty="0"/>
              <a:t>For example, for the object detection example, deep learning algorithm will be able to generate two outputs: 1) The first is the </a:t>
            </a:r>
            <a:r>
              <a:rPr lang="en-US" dirty="0" err="1"/>
              <a:t>categoty</a:t>
            </a:r>
            <a:r>
              <a:rPr lang="en-US" dirty="0"/>
              <a:t> of the object, in this example it is cats and dogs 2) the second the bounding box of the object</a:t>
            </a:r>
          </a:p>
          <a:p>
            <a:endParaRPr lang="en-US" dirty="0"/>
          </a:p>
        </p:txBody>
      </p:sp>
      <p:sp>
        <p:nvSpPr>
          <p:cNvPr id="4" name="Slide Number Placeholder 3"/>
          <p:cNvSpPr>
            <a:spLocks noGrp="1"/>
          </p:cNvSpPr>
          <p:nvPr>
            <p:ph type="sldNum" sz="quarter" idx="5"/>
          </p:nvPr>
        </p:nvSpPr>
        <p:spPr/>
        <p:txBody>
          <a:bodyPr/>
          <a:lstStyle/>
          <a:p>
            <a:fld id="{69986EBC-7713-6E46-84A4-B57B150EF96D}" type="slidenum">
              <a:rPr lang="en-US" smtClean="0"/>
              <a:t>8</a:t>
            </a:fld>
            <a:endParaRPr lang="en-US"/>
          </a:p>
        </p:txBody>
      </p:sp>
    </p:spTree>
    <p:extLst>
      <p:ext uri="{BB962C8B-B14F-4D97-AF65-F5344CB8AC3E}">
        <p14:creationId xmlns:p14="http://schemas.microsoft.com/office/powerpoint/2010/main" val="3732956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 we care about this topic?</a:t>
            </a:r>
          </a:p>
          <a:p>
            <a:r>
              <a:rPr lang="en-US" dirty="0"/>
              <a:t>To answer this question, we have to think about the history of machine learning and what deep learning can bring to the table. </a:t>
            </a:r>
          </a:p>
          <a:p>
            <a:endParaRPr lang="en-US" dirty="0"/>
          </a:p>
          <a:p>
            <a:r>
              <a:rPr lang="en-US" dirty="0"/>
              <a:t>Hand-engineered: a human comes into the dataset and with a lot of domain knowledge and expertise to uncover what the features could be. The key idea of deep learning is that it can directly extract patterns/features from the data. No human intervention is needed. </a:t>
            </a:r>
          </a:p>
          <a:p>
            <a:endParaRPr lang="en-US" dirty="0"/>
          </a:p>
          <a:p>
            <a:r>
              <a:rPr lang="en-US" dirty="0"/>
              <a:t>For example if we want to to semantic segmentation for the </a:t>
            </a:r>
            <a:r>
              <a:rPr lang="en-US" dirty="0" err="1"/>
              <a:t>cows,where</a:t>
            </a:r>
            <a:r>
              <a:rPr lang="en-US" dirty="0"/>
              <a:t> each pixel of the input image is assigned a binary label that indicates whether it belongs to a cow or a background. Deep learning model would be able to take the image input and directly generate the mask </a:t>
            </a:r>
            <a:r>
              <a:rPr lang="en-US" dirty="0" err="1"/>
              <a:t>indicicated</a:t>
            </a:r>
            <a:r>
              <a:rPr lang="en-US" dirty="0"/>
              <a:t> which pixel is a cow and which are not. No human expertise on cows would be needed.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LMRoman10-Regular-Identity-H"/>
              </a:rPr>
              <a:t>In this case, there is a meaningful real-world input (a sentence, a sound file, an image, etc.), and this is encoded as a vector of numbers. This vector forms the model input. The model maps the input to an output vector which is then “translated” back to a meaningful real-world prediction. </a:t>
            </a:r>
            <a:endParaRPr lang="en-US" dirty="0"/>
          </a:p>
          <a:p>
            <a:endParaRPr lang="en-US" dirty="0"/>
          </a:p>
        </p:txBody>
      </p:sp>
      <p:sp>
        <p:nvSpPr>
          <p:cNvPr id="4" name="Slide Number Placeholder 3"/>
          <p:cNvSpPr>
            <a:spLocks noGrp="1"/>
          </p:cNvSpPr>
          <p:nvPr>
            <p:ph type="sldNum" sz="quarter" idx="5"/>
          </p:nvPr>
        </p:nvSpPr>
        <p:spPr/>
        <p:txBody>
          <a:bodyPr/>
          <a:lstStyle/>
          <a:p>
            <a:fld id="{69986EBC-7713-6E46-84A4-B57B150EF96D}" type="slidenum">
              <a:rPr lang="en-US" smtClean="0"/>
              <a:t>9</a:t>
            </a:fld>
            <a:endParaRPr lang="en-US"/>
          </a:p>
        </p:txBody>
      </p:sp>
    </p:spTree>
    <p:extLst>
      <p:ext uri="{BB962C8B-B14F-4D97-AF65-F5344CB8AC3E}">
        <p14:creationId xmlns:p14="http://schemas.microsoft.com/office/powerpoint/2010/main" val="1656630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Neural network actually dates a few decades back, why the resurgence now?  </a:t>
            </a:r>
          </a:p>
          <a:p>
            <a:r>
              <a:rPr lang="en-US" dirty="0"/>
              <a:t>There have been three key advances that have occurred in the past decade.</a:t>
            </a:r>
          </a:p>
          <a:p>
            <a:r>
              <a:rPr lang="en-US" dirty="0"/>
              <a:t>First, Data is so much more pervasive. they are much easier to collect and store. Deep learning are </a:t>
            </a:r>
            <a:r>
              <a:rPr lang="en-US" dirty="0" err="1"/>
              <a:t>hungary</a:t>
            </a:r>
            <a:r>
              <a:rPr lang="en-US" dirty="0"/>
              <a:t> for data.</a:t>
            </a:r>
          </a:p>
          <a:p>
            <a:endParaRPr lang="en-US" dirty="0"/>
          </a:p>
          <a:p>
            <a:r>
              <a:rPr lang="en-US" dirty="0"/>
              <a:t>Secondly, we have our advancement on hardware, those algorithms are massively </a:t>
            </a:r>
            <a:r>
              <a:rPr lang="en-US" dirty="0" err="1"/>
              <a:t>parallizebale</a:t>
            </a:r>
            <a:r>
              <a:rPr lang="en-US" dirty="0"/>
              <a:t> and they require a lot of computes, we are now able to train those algorithms on GPUS. </a:t>
            </a:r>
          </a:p>
          <a:p>
            <a:endParaRPr lang="en-US" dirty="0"/>
          </a:p>
          <a:p>
            <a:r>
              <a:rPr lang="en-US" dirty="0"/>
              <a:t>At last, due to open course toolboxes and software platforms like </a:t>
            </a:r>
            <a:r>
              <a:rPr lang="en-US" dirty="0" err="1"/>
              <a:t>pytorch</a:t>
            </a:r>
            <a:r>
              <a:rPr lang="en-US" dirty="0"/>
              <a:t> and </a:t>
            </a:r>
            <a:r>
              <a:rPr lang="en-US" dirty="0" err="1"/>
              <a:t>tensorflow</a:t>
            </a:r>
            <a:r>
              <a:rPr lang="en-US" dirty="0"/>
              <a:t>, which all of you will get some experience on in this class, building and training deep learning neural network have become much easier. </a:t>
            </a:r>
          </a:p>
        </p:txBody>
      </p:sp>
      <p:sp>
        <p:nvSpPr>
          <p:cNvPr id="4" name="Slide Number Placeholder 3"/>
          <p:cNvSpPr>
            <a:spLocks noGrp="1"/>
          </p:cNvSpPr>
          <p:nvPr>
            <p:ph type="sldNum" sz="quarter" idx="5"/>
          </p:nvPr>
        </p:nvSpPr>
        <p:spPr/>
        <p:txBody>
          <a:bodyPr/>
          <a:lstStyle/>
          <a:p>
            <a:fld id="{69986EBC-7713-6E46-84A4-B57B150EF96D}" type="slidenum">
              <a:rPr lang="en-US" smtClean="0"/>
              <a:t>10</a:t>
            </a:fld>
            <a:endParaRPr lang="en-US"/>
          </a:p>
        </p:txBody>
      </p:sp>
    </p:spTree>
    <p:extLst>
      <p:ext uri="{BB962C8B-B14F-4D97-AF65-F5344CB8AC3E}">
        <p14:creationId xmlns:p14="http://schemas.microsoft.com/office/powerpoint/2010/main" val="2952362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4E965-4FD5-600B-E1D1-9931A33F40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ABBF2-9392-E8EC-B1EA-999273C40F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06A80E-5D22-6F73-3751-D13129DB61C5}"/>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anose="020B060402020202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5C9831E8-0545-40AF-EBC0-863A501957FF}"/>
              </a:ext>
            </a:extLst>
          </p:cNvPr>
          <p:cNvSpPr>
            <a:spLocks noGrp="1"/>
          </p:cNvSpPr>
          <p:nvPr>
            <p:ph type="sldNum" sz="quarter" idx="5"/>
          </p:nvPr>
        </p:nvSpPr>
        <p:spPr/>
        <p:txBody>
          <a:bodyPr/>
          <a:lstStyle/>
          <a:p>
            <a:fld id="{69986EBC-7713-6E46-84A4-B57B150EF96D}" type="slidenum">
              <a:rPr lang="en-US" smtClean="0"/>
              <a:t>11</a:t>
            </a:fld>
            <a:endParaRPr lang="en-US"/>
          </a:p>
        </p:txBody>
      </p:sp>
    </p:spTree>
    <p:extLst>
      <p:ext uri="{BB962C8B-B14F-4D97-AF65-F5344CB8AC3E}">
        <p14:creationId xmlns:p14="http://schemas.microsoft.com/office/powerpoint/2010/main" val="1818459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3C115-2A9C-3568-D3A5-03EEE336C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0F8A7-1F30-6FD6-FCA6-13F08DCF1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13C923-AE07-C228-2CAD-1B840E44AC7B}"/>
              </a:ext>
            </a:extLst>
          </p:cNvPr>
          <p:cNvSpPr>
            <a:spLocks noGrp="1"/>
          </p:cNvSpPr>
          <p:nvPr>
            <p:ph type="body" idx="1"/>
          </p:nvPr>
        </p:nvSpPr>
        <p:spPr/>
        <p:txBody>
          <a:bodyPr/>
          <a:lstStyle/>
          <a:p>
            <a:pPr marL="228600" indent="-228600">
              <a:buAutoNum type="arabicParenR"/>
            </a:pPr>
            <a:r>
              <a:rPr lang="en-US" dirty="0"/>
              <a:t>For machine learning, developed by Facebook’s AI Research lab and gained popularity for its dynamic computation graph and ease of use</a:t>
            </a:r>
          </a:p>
          <a:p>
            <a:pPr marL="228600" indent="-228600">
              <a:buAutoNum type="arabicParenR"/>
            </a:pPr>
            <a:r>
              <a:rPr lang="en-US" dirty="0">
                <a:latin typeface="Arial" panose="020B0604020202020204" pitchFamily="34" charset="0"/>
                <a:cs typeface="Arial" panose="020B0604020202020204" pitchFamily="34" charset="0"/>
              </a:rPr>
              <a:t>A replacement for </a:t>
            </a:r>
            <a:r>
              <a:rPr lang="en-US" b="1" dirty="0">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to use the power of GPUs, which is a lot more efficient for matrix operations</a:t>
            </a:r>
          </a:p>
          <a:p>
            <a:pPr marL="228600" indent="-228600">
              <a:buAutoNum type="arabicParenR"/>
            </a:pPr>
            <a:r>
              <a:rPr lang="en-US" dirty="0"/>
              <a:t>Have a lot pre-defined modules and neural network architectures, simplifying the process of creating complex model. Widely used in both academia and industry for various machine learning and deep learning tasks</a:t>
            </a:r>
          </a:p>
        </p:txBody>
      </p:sp>
      <p:sp>
        <p:nvSpPr>
          <p:cNvPr id="4" name="Slide Number Placeholder 3">
            <a:extLst>
              <a:ext uri="{FF2B5EF4-FFF2-40B4-BE49-F238E27FC236}">
                <a16:creationId xmlns:a16="http://schemas.microsoft.com/office/drawing/2014/main" id="{BC2F7047-6D69-66DA-FECA-96CC1BC527E2}"/>
              </a:ext>
            </a:extLst>
          </p:cNvPr>
          <p:cNvSpPr>
            <a:spLocks noGrp="1"/>
          </p:cNvSpPr>
          <p:nvPr>
            <p:ph type="sldNum" sz="quarter" idx="5"/>
          </p:nvPr>
        </p:nvSpPr>
        <p:spPr/>
        <p:txBody>
          <a:bodyPr/>
          <a:lstStyle/>
          <a:p>
            <a:fld id="{69986EBC-7713-6E46-84A4-B57B150EF96D}" type="slidenum">
              <a:rPr lang="en-US" smtClean="0"/>
              <a:t>12</a:t>
            </a:fld>
            <a:endParaRPr lang="en-US"/>
          </a:p>
        </p:txBody>
      </p:sp>
    </p:spTree>
    <p:extLst>
      <p:ext uri="{BB962C8B-B14F-4D97-AF65-F5344CB8AC3E}">
        <p14:creationId xmlns:p14="http://schemas.microsoft.com/office/powerpoint/2010/main" val="40871734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ACB7-B461-0D2C-013C-909941B1E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DA3DC-A33C-D71B-16DE-45FD32111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4B8C95-928B-84EE-0505-7375FDEED0A2}"/>
              </a:ext>
            </a:extLst>
          </p:cNvPr>
          <p:cNvSpPr>
            <a:spLocks noGrp="1"/>
          </p:cNvSpPr>
          <p:nvPr>
            <p:ph type="body" idx="1"/>
          </p:nvPr>
        </p:nvSpPr>
        <p:spPr/>
        <p:txBody>
          <a:bodyPr/>
          <a:lstStyle/>
          <a:p>
            <a:r>
              <a:rPr lang="en-US" b="0" i="0" dirty="0" err="1">
                <a:solidFill>
                  <a:srgbClr val="000000"/>
                </a:solidFill>
                <a:effectLst/>
                <a:latin typeface="MonumentGrotesk"/>
              </a:rPr>
              <a:t>PyTorch</a:t>
            </a:r>
            <a:r>
              <a:rPr lang="en-US" b="0" i="0" dirty="0">
                <a:solidFill>
                  <a:srgbClr val="000000"/>
                </a:solidFill>
                <a:effectLst/>
                <a:latin typeface="MonumentGrotesk"/>
              </a:rPr>
              <a:t> and TensorFlow are far and away the two most popular Deep Learning frameworks today. </a:t>
            </a:r>
          </a:p>
          <a:p>
            <a:endParaRPr lang="en-US" b="0" i="0" dirty="0">
              <a:solidFill>
                <a:srgbClr val="000000"/>
              </a:solidFill>
              <a:effectLst/>
              <a:latin typeface="MonumentGrotesk"/>
            </a:endParaRPr>
          </a:p>
          <a:p>
            <a:endParaRPr lang="en-US" b="0" i="0" dirty="0">
              <a:solidFill>
                <a:srgbClr val="000000"/>
              </a:solidFill>
              <a:effectLst/>
              <a:latin typeface="MonumentGrotesk"/>
            </a:endParaRPr>
          </a:p>
          <a:p>
            <a:pPr marL="228600" indent="-228600">
              <a:buAutoNum type="arabicParenR"/>
            </a:pPr>
            <a:r>
              <a:rPr lang="en-US" b="0" i="0" dirty="0" err="1">
                <a:solidFill>
                  <a:srgbClr val="000000"/>
                </a:solidFill>
                <a:effectLst/>
                <a:latin typeface="MonumentGrotesk"/>
              </a:rPr>
              <a:t>Pytorch</a:t>
            </a:r>
            <a:r>
              <a:rPr lang="en-US" b="0" i="0" dirty="0">
                <a:solidFill>
                  <a:srgbClr val="000000"/>
                </a:solidFill>
                <a:effectLst/>
                <a:latin typeface="MonumentGrotesk"/>
              </a:rPr>
              <a:t> use dynamics computational graphs, which can support varying input sizes</a:t>
            </a:r>
          </a:p>
          <a:p>
            <a:pPr marL="228600" indent="-228600">
              <a:buAutoNum type="arabicParenR"/>
            </a:pPr>
            <a:r>
              <a:rPr lang="en-US" b="0" i="0" dirty="0" err="1">
                <a:solidFill>
                  <a:srgbClr val="000000"/>
                </a:solidFill>
                <a:effectLst/>
                <a:latin typeface="MonumentGrotesk"/>
              </a:rPr>
              <a:t>Tensorflow</a:t>
            </a:r>
            <a:r>
              <a:rPr lang="en-US" b="0" i="0" dirty="0">
                <a:solidFill>
                  <a:srgbClr val="000000"/>
                </a:solidFill>
                <a:effectLst/>
                <a:latin typeface="MonumentGrotesk"/>
              </a:rPr>
              <a:t> use static computational graphs, where the graph structure is defined first, and then data is def though the graph </a:t>
            </a:r>
          </a:p>
          <a:p>
            <a:pPr marL="228600" indent="-228600">
              <a:buAutoNum type="arabicParenR"/>
            </a:pPr>
            <a:r>
              <a:rPr lang="en-US" b="1" i="0" dirty="0">
                <a:effectLst/>
                <a:latin typeface="Söhne"/>
              </a:rPr>
              <a:t>Debugging and Visualization</a:t>
            </a:r>
            <a:r>
              <a:rPr lang="en-US" b="0" i="0" dirty="0">
                <a:solidFill>
                  <a:srgbClr val="D1D5DB"/>
                </a:solidFill>
                <a:effectLst/>
                <a:latin typeface="Söhne"/>
              </a:rPr>
              <a:t>, </a:t>
            </a:r>
            <a:r>
              <a:rPr lang="en-US" b="1" i="0" dirty="0">
                <a:effectLst/>
                <a:latin typeface="Söhne"/>
              </a:rPr>
              <a:t>Community and Ecosystem</a:t>
            </a:r>
            <a:r>
              <a:rPr lang="en-US" b="0" i="0" dirty="0">
                <a:solidFill>
                  <a:srgbClr val="D1D5DB"/>
                </a:solidFill>
                <a:effectLst/>
                <a:latin typeface="Söhne"/>
              </a:rPr>
              <a:t>, </a:t>
            </a:r>
            <a:r>
              <a:rPr lang="en-US" b="1" i="0" dirty="0">
                <a:effectLst/>
                <a:latin typeface="Söhne"/>
              </a:rPr>
              <a:t>Deployment and Production</a:t>
            </a:r>
          </a:p>
          <a:p>
            <a:pPr marL="228600" indent="-228600">
              <a:buAutoNum type="arabicParenR"/>
            </a:pPr>
            <a:r>
              <a:rPr lang="en-US" b="0" i="0" dirty="0" err="1">
                <a:solidFill>
                  <a:srgbClr val="D1D5DB"/>
                </a:solidFill>
                <a:effectLst/>
                <a:latin typeface="Söhne"/>
              </a:rPr>
              <a:t>PyTorch</a:t>
            </a:r>
            <a:r>
              <a:rPr lang="en-US" b="0" i="0" dirty="0">
                <a:solidFill>
                  <a:srgbClr val="D1D5DB"/>
                </a:solidFill>
                <a:effectLst/>
                <a:latin typeface="Söhne"/>
              </a:rPr>
              <a:t> and TensorFlow are continually evolving, and many differences that existed in earlier versions have become less pronounced in recent releases.</a:t>
            </a:r>
          </a:p>
        </p:txBody>
      </p:sp>
      <p:sp>
        <p:nvSpPr>
          <p:cNvPr id="4" name="Slide Number Placeholder 3">
            <a:extLst>
              <a:ext uri="{FF2B5EF4-FFF2-40B4-BE49-F238E27FC236}">
                <a16:creationId xmlns:a16="http://schemas.microsoft.com/office/drawing/2014/main" id="{A364190F-64F0-C175-BBDD-22F4D00C473F}"/>
              </a:ext>
            </a:extLst>
          </p:cNvPr>
          <p:cNvSpPr>
            <a:spLocks noGrp="1"/>
          </p:cNvSpPr>
          <p:nvPr>
            <p:ph type="sldNum" sz="quarter" idx="5"/>
          </p:nvPr>
        </p:nvSpPr>
        <p:spPr/>
        <p:txBody>
          <a:bodyPr/>
          <a:lstStyle/>
          <a:p>
            <a:fld id="{69986EBC-7713-6E46-84A4-B57B150EF96D}" type="slidenum">
              <a:rPr lang="en-US" smtClean="0"/>
              <a:t>13</a:t>
            </a:fld>
            <a:endParaRPr lang="en-US"/>
          </a:p>
        </p:txBody>
      </p:sp>
    </p:spTree>
    <p:extLst>
      <p:ext uri="{BB962C8B-B14F-4D97-AF65-F5344CB8AC3E}">
        <p14:creationId xmlns:p14="http://schemas.microsoft.com/office/powerpoint/2010/main" val="3512887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4301C-8D8F-8387-917D-6CBB87393A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1C8F6-81ED-DB40-935D-3228DEA36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2FE1E-151C-9367-2CF2-6ED7280F6B10}"/>
              </a:ext>
            </a:extLst>
          </p:cNvPr>
          <p:cNvSpPr>
            <a:spLocks noGrp="1"/>
          </p:cNvSpPr>
          <p:nvPr>
            <p:ph type="body" idx="1"/>
          </p:nvPr>
        </p:nvSpPr>
        <p:spPr/>
        <p:txBody>
          <a:bodyPr/>
          <a:lstStyle/>
          <a:p>
            <a:r>
              <a:rPr lang="en-US" b="0" i="0" dirty="0">
                <a:solidFill>
                  <a:srgbClr val="000000"/>
                </a:solidFill>
                <a:effectLst/>
                <a:latin typeface="MonumentGrotesk"/>
              </a:rPr>
              <a:t>Formalize a high-level map of the main components that from </a:t>
            </a:r>
            <a:r>
              <a:rPr lang="en-US" b="0" i="0" dirty="0" err="1">
                <a:solidFill>
                  <a:srgbClr val="000000"/>
                </a:solidFill>
                <a:effectLst/>
                <a:latin typeface="MonumentGrotesk"/>
              </a:rPr>
              <a:t>PyTorch</a:t>
            </a:r>
            <a:r>
              <a:rPr lang="en-US" b="0" i="0" dirty="0">
                <a:solidFill>
                  <a:srgbClr val="000000"/>
                </a:solidFill>
                <a:effectLst/>
                <a:latin typeface="MonumentGrotesk"/>
              </a:rPr>
              <a:t>.</a:t>
            </a:r>
          </a:p>
          <a:p>
            <a:endParaRPr lang="en-US" b="0" i="0" dirty="0">
              <a:solidFill>
                <a:srgbClr val="000000"/>
              </a:solidFill>
              <a:effectLst/>
              <a:latin typeface="MonumentGrotesk"/>
            </a:endParaRPr>
          </a:p>
          <a:p>
            <a:r>
              <a:rPr lang="en-US" b="0" i="0" dirty="0" err="1">
                <a:solidFill>
                  <a:srgbClr val="000000"/>
                </a:solidFill>
                <a:effectLst/>
                <a:latin typeface="MonumentGrotesk"/>
              </a:rPr>
              <a:t>Pytorch</a:t>
            </a:r>
            <a:r>
              <a:rPr lang="en-US" b="0" i="0" dirty="0">
                <a:solidFill>
                  <a:srgbClr val="000000"/>
                </a:solidFill>
                <a:effectLst/>
                <a:latin typeface="MonumentGrotesk"/>
              </a:rPr>
              <a:t> is a DL </a:t>
            </a:r>
            <a:r>
              <a:rPr lang="en-US" b="0" i="0" dirty="0" err="1">
                <a:solidFill>
                  <a:srgbClr val="000000"/>
                </a:solidFill>
                <a:effectLst/>
                <a:latin typeface="MonumentGrotesk"/>
              </a:rPr>
              <a:t>libeary</a:t>
            </a:r>
            <a:r>
              <a:rPr lang="en-US" b="0" i="0" dirty="0">
                <a:solidFill>
                  <a:srgbClr val="000000"/>
                </a:solidFill>
                <a:effectLst/>
                <a:latin typeface="MonumentGrotesk"/>
              </a:rPr>
              <a:t>, and as such it provides all the building blocks needed to build neural networks and train them. </a:t>
            </a:r>
          </a:p>
          <a:p>
            <a:r>
              <a:rPr lang="en-US" b="0" i="0" dirty="0">
                <a:solidFill>
                  <a:srgbClr val="000000"/>
                </a:solidFill>
                <a:effectLst/>
                <a:latin typeface="MonumentGrotesk"/>
              </a:rPr>
              <a:t>The above figure shows a standard setup that loads data, trains a model and then deploys that model to production.</a:t>
            </a:r>
          </a:p>
          <a:p>
            <a:endParaRPr lang="en-US" b="0" i="0" dirty="0">
              <a:solidFill>
                <a:srgbClr val="000000"/>
              </a:solidFill>
              <a:effectLst/>
              <a:latin typeface="MonumentGrotesk"/>
            </a:endParaRPr>
          </a:p>
          <a:p>
            <a:pPr marL="228600" indent="-228600">
              <a:buAutoNum type="arabicParenR"/>
            </a:pPr>
            <a:r>
              <a:rPr lang="en-US" b="0" i="0" dirty="0">
                <a:solidFill>
                  <a:srgbClr val="000000"/>
                </a:solidFill>
                <a:effectLst/>
                <a:latin typeface="MonumentGrotesk"/>
              </a:rPr>
              <a:t>Quite a bit of data processing is needed before the training data even reaches out model. First we need to physically get the data, most often from some sort of storage as the data source. Then we need to convert such sample from out data into a something </a:t>
            </a:r>
            <a:r>
              <a:rPr lang="en-US" b="0" i="0" dirty="0" err="1">
                <a:solidFill>
                  <a:srgbClr val="000000"/>
                </a:solidFill>
                <a:effectLst/>
                <a:latin typeface="MonumentGrotesk"/>
              </a:rPr>
              <a:t>PyTorch</a:t>
            </a:r>
            <a:r>
              <a:rPr lang="en-US" b="0" i="0" dirty="0">
                <a:solidFill>
                  <a:srgbClr val="000000"/>
                </a:solidFill>
                <a:effectLst/>
                <a:latin typeface="MonumentGrotesk"/>
              </a:rPr>
              <a:t> can actually handle: tensors. This bridge our custom data in whatever format it can be and a standardized </a:t>
            </a:r>
            <a:r>
              <a:rPr lang="en-US" b="0" i="0" dirty="0" err="1">
                <a:solidFill>
                  <a:srgbClr val="000000"/>
                </a:solidFill>
                <a:effectLst/>
                <a:latin typeface="MonumentGrotesk"/>
              </a:rPr>
              <a:t>PyTorch</a:t>
            </a:r>
            <a:r>
              <a:rPr lang="en-US" b="0" i="0" dirty="0">
                <a:solidFill>
                  <a:srgbClr val="000000"/>
                </a:solidFill>
                <a:effectLst/>
                <a:latin typeface="MonumentGrotesk"/>
              </a:rPr>
              <a:t> tensor is the the Dataset class </a:t>
            </a:r>
            <a:r>
              <a:rPr lang="en-US" b="0" i="0" dirty="0" err="1">
                <a:solidFill>
                  <a:srgbClr val="000000"/>
                </a:solidFill>
                <a:effectLst/>
                <a:latin typeface="MonumentGrotesk"/>
              </a:rPr>
              <a:t>Pytorch</a:t>
            </a:r>
            <a:r>
              <a:rPr lang="en-US" b="0" i="0" dirty="0">
                <a:solidFill>
                  <a:srgbClr val="000000"/>
                </a:solidFill>
                <a:effectLst/>
                <a:latin typeface="MonumentGrotesk"/>
              </a:rPr>
              <a:t> </a:t>
            </a:r>
            <a:r>
              <a:rPr lang="en-US" b="0" i="0" dirty="0" err="1">
                <a:solidFill>
                  <a:srgbClr val="000000"/>
                </a:solidFill>
                <a:effectLst/>
                <a:latin typeface="MonumentGrotesk"/>
              </a:rPr>
              <a:t>procides</a:t>
            </a:r>
            <a:r>
              <a:rPr lang="en-US" b="0" i="0" dirty="0">
                <a:solidFill>
                  <a:srgbClr val="000000"/>
                </a:solidFill>
                <a:effectLst/>
                <a:latin typeface="MonumentGrotesk"/>
              </a:rPr>
              <a:t> in </a:t>
            </a:r>
            <a:r>
              <a:rPr lang="en-US" b="0" i="0" dirty="0" err="1">
                <a:solidFill>
                  <a:srgbClr val="000000"/>
                </a:solidFill>
                <a:effectLst/>
                <a:latin typeface="MonumentGrotesk"/>
              </a:rPr>
              <a:t>torch.utils</a:t>
            </a:r>
            <a:r>
              <a:rPr lang="en-US" b="0" i="0" dirty="0">
                <a:solidFill>
                  <a:srgbClr val="000000"/>
                </a:solidFill>
                <a:effectLst/>
                <a:latin typeface="MonumentGrotesk"/>
              </a:rPr>
              <a:t> data. </a:t>
            </a:r>
          </a:p>
          <a:p>
            <a:pPr marL="228600" indent="-228600">
              <a:buAutoNum type="arabicParenR"/>
            </a:pPr>
            <a:r>
              <a:rPr lang="en-US" b="0" i="0" dirty="0">
                <a:solidFill>
                  <a:srgbClr val="000000"/>
                </a:solidFill>
                <a:effectLst/>
                <a:latin typeface="MonumentGrotesk"/>
              </a:rPr>
              <a:t>As data storage is often slow, in particular due to access latency, we want to parallelize data loading. We will need to multiple processes to load our data and assemble them into batches: tensors that encompass several samples. </a:t>
            </a:r>
            <a:r>
              <a:rPr lang="en-US" b="0" i="0" dirty="0" err="1">
                <a:solidFill>
                  <a:srgbClr val="000000"/>
                </a:solidFill>
                <a:effectLst/>
                <a:latin typeface="MonumentGrotesk"/>
              </a:rPr>
              <a:t>PyTorch</a:t>
            </a:r>
            <a:r>
              <a:rPr lang="en-US" b="0" i="0" dirty="0">
                <a:solidFill>
                  <a:srgbClr val="000000"/>
                </a:solidFill>
                <a:effectLst/>
                <a:latin typeface="MonumentGrotesk"/>
              </a:rPr>
              <a:t> provides all that magic in the </a:t>
            </a:r>
            <a:r>
              <a:rPr lang="en-US" b="0" i="0" dirty="0" err="1">
                <a:solidFill>
                  <a:srgbClr val="000000"/>
                </a:solidFill>
                <a:effectLst/>
                <a:latin typeface="MonumentGrotesk"/>
              </a:rPr>
              <a:t>dataLoader</a:t>
            </a:r>
            <a:r>
              <a:rPr lang="en-US" b="0" i="0" dirty="0">
                <a:solidFill>
                  <a:srgbClr val="000000"/>
                </a:solidFill>
                <a:effectLst/>
                <a:latin typeface="MonumentGrotesk"/>
              </a:rPr>
              <a:t> class. Its instances can spawn child processes to load data from a dataset in the background so that it is ready and waiting for the training loop as soon as the loop can use it. </a:t>
            </a:r>
          </a:p>
          <a:p>
            <a:pPr marL="228600" indent="-228600">
              <a:buAutoNum type="arabicParenR"/>
            </a:pPr>
            <a:r>
              <a:rPr lang="en-US" b="0" i="0" dirty="0">
                <a:solidFill>
                  <a:srgbClr val="000000"/>
                </a:solidFill>
                <a:effectLst/>
                <a:latin typeface="MonumentGrotesk"/>
              </a:rPr>
              <a:t>With the mechanism for getting batches of samples in place, we can turn to the training loop itself at the center of figure 1.2. The training loop is implemented as standard Python for loop. </a:t>
            </a:r>
          </a:p>
          <a:p>
            <a:pPr marL="228600" indent="-228600">
              <a:buAutoNum type="arabicParenR"/>
            </a:pPr>
            <a:r>
              <a:rPr lang="en-US" b="0" i="0" dirty="0">
                <a:solidFill>
                  <a:srgbClr val="000000"/>
                </a:solidFill>
                <a:effectLst/>
                <a:latin typeface="MonumentGrotesk"/>
              </a:rPr>
              <a:t>After the training, we are rewarded with a model whose parameters have been optimized on our task</a:t>
            </a:r>
          </a:p>
          <a:p>
            <a:pPr marL="228600" indent="-228600">
              <a:buAutoNum type="arabicParenR"/>
            </a:pPr>
            <a:r>
              <a:rPr lang="en-US" b="0" i="0" dirty="0">
                <a:solidFill>
                  <a:srgbClr val="000000"/>
                </a:solidFill>
                <a:effectLst/>
                <a:latin typeface="MonumentGrotesk"/>
              </a:rPr>
              <a:t>Have a trained model is great, but in order for it to be useful,, we must put it where the work is needed. This deployment part of the process, depicted on the right in the figure, may involve putting the model on the server or exporting it to load it to a cloud engine, or we might integrate it with a larger application, or run it on a phone.</a:t>
            </a:r>
          </a:p>
        </p:txBody>
      </p:sp>
      <p:sp>
        <p:nvSpPr>
          <p:cNvPr id="4" name="Slide Number Placeholder 3">
            <a:extLst>
              <a:ext uri="{FF2B5EF4-FFF2-40B4-BE49-F238E27FC236}">
                <a16:creationId xmlns:a16="http://schemas.microsoft.com/office/drawing/2014/main" id="{C38335D2-2899-2186-DA3A-8D56A3B0FDD4}"/>
              </a:ext>
            </a:extLst>
          </p:cNvPr>
          <p:cNvSpPr>
            <a:spLocks noGrp="1"/>
          </p:cNvSpPr>
          <p:nvPr>
            <p:ph type="sldNum" sz="quarter" idx="5"/>
          </p:nvPr>
        </p:nvSpPr>
        <p:spPr/>
        <p:txBody>
          <a:bodyPr/>
          <a:lstStyle/>
          <a:p>
            <a:fld id="{69986EBC-7713-6E46-84A4-B57B150EF96D}" type="slidenum">
              <a:rPr lang="en-US" smtClean="0"/>
              <a:t>14</a:t>
            </a:fld>
            <a:endParaRPr lang="en-US"/>
          </a:p>
        </p:txBody>
      </p:sp>
    </p:spTree>
    <p:extLst>
      <p:ext uri="{BB962C8B-B14F-4D97-AF65-F5344CB8AC3E}">
        <p14:creationId xmlns:p14="http://schemas.microsoft.com/office/powerpoint/2010/main" val="2504700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4985C1C1-D85F-B4CA-F694-BCD553D49551}"/>
            </a:ext>
          </a:extLst>
        </p:cNvPr>
        <p:cNvGrpSpPr/>
        <p:nvPr/>
      </p:nvGrpSpPr>
      <p:grpSpPr>
        <a:xfrm>
          <a:off x="0" y="0"/>
          <a:ext cx="0" cy="0"/>
          <a:chOff x="0" y="0"/>
          <a:chExt cx="0" cy="0"/>
        </a:xfrm>
      </p:grpSpPr>
      <p:sp>
        <p:nvSpPr>
          <p:cNvPr id="76" name="Google Shape;76;g19f1bb81d62_0_11:notes">
            <a:extLst>
              <a:ext uri="{FF2B5EF4-FFF2-40B4-BE49-F238E27FC236}">
                <a16:creationId xmlns:a16="http://schemas.microsoft.com/office/drawing/2014/main" id="{F42434A3-DC26-DF5F-EF64-A357141F0A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a:p>
        </p:txBody>
      </p:sp>
      <p:sp>
        <p:nvSpPr>
          <p:cNvPr id="77" name="Google Shape;77;g19f1bb81d62_0_11:notes">
            <a:extLst>
              <a:ext uri="{FF2B5EF4-FFF2-40B4-BE49-F238E27FC236}">
                <a16:creationId xmlns:a16="http://schemas.microsoft.com/office/drawing/2014/main" id="{EAE0C73D-3B4B-4F95-99EC-D2A0E51934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76855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03F461DE-208E-55C0-667D-90B4C983EB37}"/>
            </a:ext>
          </a:extLst>
        </p:cNvPr>
        <p:cNvGrpSpPr/>
        <p:nvPr/>
      </p:nvGrpSpPr>
      <p:grpSpPr>
        <a:xfrm>
          <a:off x="0" y="0"/>
          <a:ext cx="0" cy="0"/>
          <a:chOff x="0" y="0"/>
          <a:chExt cx="0" cy="0"/>
        </a:xfrm>
      </p:grpSpPr>
      <p:sp>
        <p:nvSpPr>
          <p:cNvPr id="83" name="Google Shape;83;g19f1bb81d62_0_21:notes">
            <a:extLst>
              <a:ext uri="{FF2B5EF4-FFF2-40B4-BE49-F238E27FC236}">
                <a16:creationId xmlns:a16="http://schemas.microsoft.com/office/drawing/2014/main" id="{80B58FA4-C192-238E-0582-17885B16025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dirty="0"/>
          </a:p>
        </p:txBody>
      </p:sp>
      <p:sp>
        <p:nvSpPr>
          <p:cNvPr id="84" name="Google Shape;84;g19f1bb81d62_0_21:notes">
            <a:extLst>
              <a:ext uri="{FF2B5EF4-FFF2-40B4-BE49-F238E27FC236}">
                <a16:creationId xmlns:a16="http://schemas.microsoft.com/office/drawing/2014/main" id="{6A0978BD-F677-6F14-C145-6EAF54D590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5448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4943B16A-537F-B2DB-56B7-5ADA191E2BCC}"/>
            </a:ext>
          </a:extLst>
        </p:cNvPr>
        <p:cNvGrpSpPr/>
        <p:nvPr/>
      </p:nvGrpSpPr>
      <p:grpSpPr>
        <a:xfrm>
          <a:off x="0" y="0"/>
          <a:ext cx="0" cy="0"/>
          <a:chOff x="0" y="0"/>
          <a:chExt cx="0" cy="0"/>
        </a:xfrm>
      </p:grpSpPr>
      <p:sp>
        <p:nvSpPr>
          <p:cNvPr id="90" name="Google Shape;90;g19f1bb81d62_0_27:notes">
            <a:extLst>
              <a:ext uri="{FF2B5EF4-FFF2-40B4-BE49-F238E27FC236}">
                <a16:creationId xmlns:a16="http://schemas.microsoft.com/office/drawing/2014/main" id="{0B9B5BF9-DF0D-2B29-096A-69348DFD27B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dirty="0"/>
          </a:p>
        </p:txBody>
      </p:sp>
      <p:sp>
        <p:nvSpPr>
          <p:cNvPr id="91" name="Google Shape;91;g19f1bb81d62_0_27:notes">
            <a:extLst>
              <a:ext uri="{FF2B5EF4-FFF2-40B4-BE49-F238E27FC236}">
                <a16:creationId xmlns:a16="http://schemas.microsoft.com/office/drawing/2014/main" id="{B0BAE1D6-7B8F-8992-3B3D-F9BA0AD35B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1883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572277EF-7E54-B656-26A5-4DF0F9D81FAB}"/>
            </a:ext>
          </a:extLst>
        </p:cNvPr>
        <p:cNvGrpSpPr/>
        <p:nvPr/>
      </p:nvGrpSpPr>
      <p:grpSpPr>
        <a:xfrm>
          <a:off x="0" y="0"/>
          <a:ext cx="0" cy="0"/>
          <a:chOff x="0" y="0"/>
          <a:chExt cx="0" cy="0"/>
        </a:xfrm>
      </p:grpSpPr>
      <p:sp>
        <p:nvSpPr>
          <p:cNvPr id="97" name="Google Shape;97;g19f1bb81d62_0_33:notes">
            <a:extLst>
              <a:ext uri="{FF2B5EF4-FFF2-40B4-BE49-F238E27FC236}">
                <a16:creationId xmlns:a16="http://schemas.microsoft.com/office/drawing/2014/main" id="{6D2EE566-1273-D332-253E-609D562633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a:p>
        </p:txBody>
      </p:sp>
      <p:sp>
        <p:nvSpPr>
          <p:cNvPr id="98" name="Google Shape;98;g19f1bb81d62_0_33:notes">
            <a:extLst>
              <a:ext uri="{FF2B5EF4-FFF2-40B4-BE49-F238E27FC236}">
                <a16:creationId xmlns:a16="http://schemas.microsoft.com/office/drawing/2014/main" id="{D5766AA5-B995-B9B8-4B59-6CCEE1F76F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92117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0757A324-1586-7EF6-B29E-B211C9EE022A}"/>
            </a:ext>
          </a:extLst>
        </p:cNvPr>
        <p:cNvGrpSpPr/>
        <p:nvPr/>
      </p:nvGrpSpPr>
      <p:grpSpPr>
        <a:xfrm>
          <a:off x="0" y="0"/>
          <a:ext cx="0" cy="0"/>
          <a:chOff x="0" y="0"/>
          <a:chExt cx="0" cy="0"/>
        </a:xfrm>
      </p:grpSpPr>
      <p:sp>
        <p:nvSpPr>
          <p:cNvPr id="104" name="Google Shape;104;g19f1bb81d62_0_44:notes">
            <a:extLst>
              <a:ext uri="{FF2B5EF4-FFF2-40B4-BE49-F238E27FC236}">
                <a16:creationId xmlns:a16="http://schemas.microsoft.com/office/drawing/2014/main" id="{E0F99E3D-1C3A-7779-3A62-F386799F5E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dirty="0"/>
          </a:p>
        </p:txBody>
      </p:sp>
      <p:sp>
        <p:nvSpPr>
          <p:cNvPr id="105" name="Google Shape;105;g19f1bb81d62_0_44:notes">
            <a:extLst>
              <a:ext uri="{FF2B5EF4-FFF2-40B4-BE49-F238E27FC236}">
                <a16:creationId xmlns:a16="http://schemas.microsoft.com/office/drawing/2014/main" id="{25B74125-FAA4-4D92-ACB6-BEDF02F12F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604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1241ED8-B51E-01DE-258A-568EB641E8AA}"/>
            </a:ext>
          </a:extLst>
        </p:cNvPr>
        <p:cNvGrpSpPr/>
        <p:nvPr/>
      </p:nvGrpSpPr>
      <p:grpSpPr>
        <a:xfrm>
          <a:off x="0" y="0"/>
          <a:ext cx="0" cy="0"/>
          <a:chOff x="0" y="0"/>
          <a:chExt cx="0" cy="0"/>
        </a:xfrm>
      </p:grpSpPr>
      <p:sp>
        <p:nvSpPr>
          <p:cNvPr id="111" name="Google Shape;111;g19f1bb81d62_0_50:notes">
            <a:extLst>
              <a:ext uri="{FF2B5EF4-FFF2-40B4-BE49-F238E27FC236}">
                <a16:creationId xmlns:a16="http://schemas.microsoft.com/office/drawing/2014/main" id="{1A7EF6E5-E97E-272D-689D-49EB0B76D9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dirty="0"/>
          </a:p>
        </p:txBody>
      </p:sp>
      <p:sp>
        <p:nvSpPr>
          <p:cNvPr id="112" name="Google Shape;112;g19f1bb81d62_0_50:notes">
            <a:extLst>
              <a:ext uri="{FF2B5EF4-FFF2-40B4-BE49-F238E27FC236}">
                <a16:creationId xmlns:a16="http://schemas.microsoft.com/office/drawing/2014/main" id="{0634B676-9E0C-7CAB-7877-ECB1672EEE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784927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702A2F01-04C6-6DDF-A741-B8759CAED23F}"/>
            </a:ext>
          </a:extLst>
        </p:cNvPr>
        <p:cNvGrpSpPr/>
        <p:nvPr/>
      </p:nvGrpSpPr>
      <p:grpSpPr>
        <a:xfrm>
          <a:off x="0" y="0"/>
          <a:ext cx="0" cy="0"/>
          <a:chOff x="0" y="0"/>
          <a:chExt cx="0" cy="0"/>
        </a:xfrm>
      </p:grpSpPr>
      <p:sp>
        <p:nvSpPr>
          <p:cNvPr id="117" name="Google Shape;117;g19f1bb81d62_0_55:notes">
            <a:extLst>
              <a:ext uri="{FF2B5EF4-FFF2-40B4-BE49-F238E27FC236}">
                <a16:creationId xmlns:a16="http://schemas.microsoft.com/office/drawing/2014/main" id="{073C445B-AB62-AFF1-81C2-C9A1FF5BF4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a:p>
        </p:txBody>
      </p:sp>
      <p:sp>
        <p:nvSpPr>
          <p:cNvPr id="118" name="Google Shape;118;g19f1bb81d62_0_55:notes">
            <a:extLst>
              <a:ext uri="{FF2B5EF4-FFF2-40B4-BE49-F238E27FC236}">
                <a16:creationId xmlns:a16="http://schemas.microsoft.com/office/drawing/2014/main" id="{901665DC-5F29-8DEC-2E73-DB4734BFA6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63198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BD4F2E3-C24C-505C-C68D-7D918DD63198}"/>
            </a:ext>
          </a:extLst>
        </p:cNvPr>
        <p:cNvGrpSpPr/>
        <p:nvPr/>
      </p:nvGrpSpPr>
      <p:grpSpPr>
        <a:xfrm>
          <a:off x="0" y="0"/>
          <a:ext cx="0" cy="0"/>
          <a:chOff x="0" y="0"/>
          <a:chExt cx="0" cy="0"/>
        </a:xfrm>
      </p:grpSpPr>
      <p:sp>
        <p:nvSpPr>
          <p:cNvPr id="132" name="Google Shape;132;g19f1bb81d62_0_68:notes">
            <a:extLst>
              <a:ext uri="{FF2B5EF4-FFF2-40B4-BE49-F238E27FC236}">
                <a16:creationId xmlns:a16="http://schemas.microsoft.com/office/drawing/2014/main" id="{1B1620AA-2338-483D-AD7F-FAA27D4D4B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a:p>
        </p:txBody>
      </p:sp>
      <p:sp>
        <p:nvSpPr>
          <p:cNvPr id="133" name="Google Shape;133;g19f1bb81d62_0_68:notes">
            <a:extLst>
              <a:ext uri="{FF2B5EF4-FFF2-40B4-BE49-F238E27FC236}">
                <a16:creationId xmlns:a16="http://schemas.microsoft.com/office/drawing/2014/main" id="{78515F5C-E737-AECA-452A-DCD34960A0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62067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6CD7AD6B-9D6D-2774-9C11-7FF0F6D75EBC}"/>
            </a:ext>
          </a:extLst>
        </p:cNvPr>
        <p:cNvGrpSpPr/>
        <p:nvPr/>
      </p:nvGrpSpPr>
      <p:grpSpPr>
        <a:xfrm>
          <a:off x="0" y="0"/>
          <a:ext cx="0" cy="0"/>
          <a:chOff x="0" y="0"/>
          <a:chExt cx="0" cy="0"/>
        </a:xfrm>
      </p:grpSpPr>
      <p:sp>
        <p:nvSpPr>
          <p:cNvPr id="142" name="Google Shape;142;g19f1bb81d62_0_77:notes">
            <a:extLst>
              <a:ext uri="{FF2B5EF4-FFF2-40B4-BE49-F238E27FC236}">
                <a16:creationId xmlns:a16="http://schemas.microsoft.com/office/drawing/2014/main" id="{4C775D3E-A174-FBC5-CC37-83BD196369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19f1bb81d62_0_77:notes">
            <a:extLst>
              <a:ext uri="{FF2B5EF4-FFF2-40B4-BE49-F238E27FC236}">
                <a16:creationId xmlns:a16="http://schemas.microsoft.com/office/drawing/2014/main" id="{CDDD5A8D-AEF6-B3F0-61FA-22F6F263C1A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sz="1400"/>
          </a:p>
        </p:txBody>
      </p:sp>
    </p:spTree>
    <p:extLst>
      <p:ext uri="{BB962C8B-B14F-4D97-AF65-F5344CB8AC3E}">
        <p14:creationId xmlns:p14="http://schemas.microsoft.com/office/powerpoint/2010/main" val="16000595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2DA6E3EC-05A0-4641-646F-EA6A5EE63386}"/>
            </a:ext>
          </a:extLst>
        </p:cNvPr>
        <p:cNvGrpSpPr/>
        <p:nvPr/>
      </p:nvGrpSpPr>
      <p:grpSpPr>
        <a:xfrm>
          <a:off x="0" y="0"/>
          <a:ext cx="0" cy="0"/>
          <a:chOff x="0" y="0"/>
          <a:chExt cx="0" cy="0"/>
        </a:xfrm>
      </p:grpSpPr>
      <p:sp>
        <p:nvSpPr>
          <p:cNvPr id="152" name="Google Shape;152;g19f1bb81d62_0_94:notes">
            <a:extLst>
              <a:ext uri="{FF2B5EF4-FFF2-40B4-BE49-F238E27FC236}">
                <a16:creationId xmlns:a16="http://schemas.microsoft.com/office/drawing/2014/main" id="{1AEF6123-6DA7-0FC6-C0A0-4850D0FAAE4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dirty="0"/>
          </a:p>
        </p:txBody>
      </p:sp>
      <p:sp>
        <p:nvSpPr>
          <p:cNvPr id="153" name="Google Shape;153;g19f1bb81d62_0_94:notes">
            <a:extLst>
              <a:ext uri="{FF2B5EF4-FFF2-40B4-BE49-F238E27FC236}">
                <a16:creationId xmlns:a16="http://schemas.microsoft.com/office/drawing/2014/main" id="{C87929BE-297D-C469-4FA3-0492BE6C0D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90191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58792491-1551-EE0B-C09F-4CD6669C8716}"/>
            </a:ext>
          </a:extLst>
        </p:cNvPr>
        <p:cNvGrpSpPr/>
        <p:nvPr/>
      </p:nvGrpSpPr>
      <p:grpSpPr>
        <a:xfrm>
          <a:off x="0" y="0"/>
          <a:ext cx="0" cy="0"/>
          <a:chOff x="0" y="0"/>
          <a:chExt cx="0" cy="0"/>
        </a:xfrm>
      </p:grpSpPr>
      <p:sp>
        <p:nvSpPr>
          <p:cNvPr id="159" name="Google Shape;159;g19f1bb81d62_0_100:notes">
            <a:extLst>
              <a:ext uri="{FF2B5EF4-FFF2-40B4-BE49-F238E27FC236}">
                <a16:creationId xmlns:a16="http://schemas.microsoft.com/office/drawing/2014/main" id="{5EDE598A-4EF6-9DB3-1EEB-6F1E7CEFEAC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a:p>
        </p:txBody>
      </p:sp>
      <p:sp>
        <p:nvSpPr>
          <p:cNvPr id="160" name="Google Shape;160;g19f1bb81d62_0_100:notes">
            <a:extLst>
              <a:ext uri="{FF2B5EF4-FFF2-40B4-BE49-F238E27FC236}">
                <a16:creationId xmlns:a16="http://schemas.microsoft.com/office/drawing/2014/main" id="{93FB58D3-6018-D897-32A6-BE3FC6C7D9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319447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F13BA796-8C3E-8974-4169-88DBEC0DFAC5}"/>
            </a:ext>
          </a:extLst>
        </p:cNvPr>
        <p:cNvGrpSpPr/>
        <p:nvPr/>
      </p:nvGrpSpPr>
      <p:grpSpPr>
        <a:xfrm>
          <a:off x="0" y="0"/>
          <a:ext cx="0" cy="0"/>
          <a:chOff x="0" y="0"/>
          <a:chExt cx="0" cy="0"/>
        </a:xfrm>
      </p:grpSpPr>
      <p:sp>
        <p:nvSpPr>
          <p:cNvPr id="159" name="Google Shape;159;g19f1bb81d62_0_100:notes">
            <a:extLst>
              <a:ext uri="{FF2B5EF4-FFF2-40B4-BE49-F238E27FC236}">
                <a16:creationId xmlns:a16="http://schemas.microsoft.com/office/drawing/2014/main" id="{36D4FCDA-8924-8281-5F77-6EB7B42FDF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50" tIns="91450" rIns="91450" bIns="91450" anchor="t" anchorCtr="0">
            <a:noAutofit/>
          </a:bodyPr>
          <a:lstStyle/>
          <a:p>
            <a:pPr marL="0" lvl="0" indent="0" algn="l" rtl="0">
              <a:lnSpc>
                <a:spcPct val="100000"/>
              </a:lnSpc>
              <a:spcBef>
                <a:spcPts val="0"/>
              </a:spcBef>
              <a:spcAft>
                <a:spcPts val="0"/>
              </a:spcAft>
              <a:buSzPts val="1000"/>
              <a:buNone/>
            </a:pPr>
            <a:endParaRPr dirty="0"/>
          </a:p>
        </p:txBody>
      </p:sp>
      <p:sp>
        <p:nvSpPr>
          <p:cNvPr id="160" name="Google Shape;160;g19f1bb81d62_0_100:notes">
            <a:extLst>
              <a:ext uri="{FF2B5EF4-FFF2-40B4-BE49-F238E27FC236}">
                <a16:creationId xmlns:a16="http://schemas.microsoft.com/office/drawing/2014/main" id="{FFD8C62D-4B5E-FB85-8084-B5448AB51C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9903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A1EFD-7B1E-1F56-05C0-9DB4172AFF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4FF24-8229-5F93-8BB0-54A28D25E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CD77B3-6588-CBC6-0515-53C2BA0542F6}"/>
              </a:ext>
            </a:extLst>
          </p:cNvPr>
          <p:cNvSpPr>
            <a:spLocks noGrp="1"/>
          </p:cNvSpPr>
          <p:nvPr>
            <p:ph type="body" idx="1"/>
          </p:nvPr>
        </p:nvSpPr>
        <p:spPr/>
        <p:txBody>
          <a:bodyPr/>
          <a:lstStyle/>
          <a:p>
            <a:endParaRPr lang="en-US" b="0" i="0" dirty="0">
              <a:solidFill>
                <a:srgbClr val="D1D5DB"/>
              </a:solidFill>
              <a:effectLst/>
              <a:latin typeface="Söhne"/>
            </a:endParaRPr>
          </a:p>
        </p:txBody>
      </p:sp>
      <p:sp>
        <p:nvSpPr>
          <p:cNvPr id="4" name="Slide Number Placeholder 3">
            <a:extLst>
              <a:ext uri="{FF2B5EF4-FFF2-40B4-BE49-F238E27FC236}">
                <a16:creationId xmlns:a16="http://schemas.microsoft.com/office/drawing/2014/main" id="{5D04E726-496E-E27D-A7E9-84FCFA054AED}"/>
              </a:ext>
            </a:extLst>
          </p:cNvPr>
          <p:cNvSpPr>
            <a:spLocks noGrp="1"/>
          </p:cNvSpPr>
          <p:nvPr>
            <p:ph type="sldNum" sz="quarter" idx="5"/>
          </p:nvPr>
        </p:nvSpPr>
        <p:spPr/>
        <p:txBody>
          <a:bodyPr/>
          <a:lstStyle/>
          <a:p>
            <a:fld id="{69986EBC-7713-6E46-84A4-B57B150EF96D}" type="slidenum">
              <a:rPr lang="en-US" smtClean="0"/>
              <a:t>27</a:t>
            </a:fld>
            <a:endParaRPr lang="en-US"/>
          </a:p>
        </p:txBody>
      </p:sp>
    </p:spTree>
    <p:extLst>
      <p:ext uri="{BB962C8B-B14F-4D97-AF65-F5344CB8AC3E}">
        <p14:creationId xmlns:p14="http://schemas.microsoft.com/office/powerpoint/2010/main" val="29732016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C84E7-BD02-F9AD-62EC-213C0EEDE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FCC21-1E87-B315-5D20-C654C5240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C641E4-EB88-ABFC-B42F-63D11B18F685}"/>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lang="en-US" dirty="0">
              <a:latin typeface="Arial" panose="020B060402020202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692CD9E0-70DE-8DBD-971E-E0CBC634F5AB}"/>
              </a:ext>
            </a:extLst>
          </p:cNvPr>
          <p:cNvSpPr>
            <a:spLocks noGrp="1"/>
          </p:cNvSpPr>
          <p:nvPr>
            <p:ph type="sldNum" sz="quarter" idx="5"/>
          </p:nvPr>
        </p:nvSpPr>
        <p:spPr/>
        <p:txBody>
          <a:bodyPr/>
          <a:lstStyle/>
          <a:p>
            <a:fld id="{69986EBC-7713-6E46-84A4-B57B150EF96D}" type="slidenum">
              <a:rPr lang="en-US" smtClean="0"/>
              <a:t>28</a:t>
            </a:fld>
            <a:endParaRPr lang="en-US"/>
          </a:p>
        </p:txBody>
      </p:sp>
    </p:spTree>
    <p:extLst>
      <p:ext uri="{BB962C8B-B14F-4D97-AF65-F5344CB8AC3E}">
        <p14:creationId xmlns:p14="http://schemas.microsoft.com/office/powerpoint/2010/main" val="10921006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So now we are going to take a closer look at block of deep learning and that building block is called a perceptron </a:t>
            </a:r>
          </a:p>
        </p:txBody>
      </p:sp>
      <p:sp>
        <p:nvSpPr>
          <p:cNvPr id="4" name="Slide Number Placeholder 3"/>
          <p:cNvSpPr>
            <a:spLocks noGrp="1"/>
          </p:cNvSpPr>
          <p:nvPr>
            <p:ph type="sldNum" sz="quarter" idx="5"/>
          </p:nvPr>
        </p:nvSpPr>
        <p:spPr/>
        <p:txBody>
          <a:bodyPr/>
          <a:lstStyle/>
          <a:p>
            <a:fld id="{69986EBC-7713-6E46-84A4-B57B150EF96D}" type="slidenum">
              <a:rPr lang="en-US" smtClean="0"/>
              <a:t>29</a:t>
            </a:fld>
            <a:endParaRPr lang="en-US"/>
          </a:p>
        </p:txBody>
      </p:sp>
    </p:spTree>
    <p:extLst>
      <p:ext uri="{BB962C8B-B14F-4D97-AF65-F5344CB8AC3E}">
        <p14:creationId xmlns:p14="http://schemas.microsoft.com/office/powerpoint/2010/main" val="734028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perceptron process signal </a:t>
            </a:r>
          </a:p>
          <a:p>
            <a:r>
              <a:rPr lang="en-US" dirty="0"/>
              <a:t>Let’s first define a perception as taking a set of inputs, on the left side, you can see, this perceptron takes n different inputs. We are denoting those inputs as </a:t>
            </a:r>
            <a:r>
              <a:rPr lang="en-US" dirty="0" err="1"/>
              <a:t>xes</a:t>
            </a:r>
            <a:r>
              <a:rPr lang="en-US" dirty="0"/>
              <a:t>, and the output denoted by </a:t>
            </a:r>
            <a:r>
              <a:rPr lang="en-US" dirty="0" err="1"/>
              <a:t>y_hat</a:t>
            </a:r>
            <a:r>
              <a:rPr lang="en-US" dirty="0"/>
              <a:t> is the processed information.</a:t>
            </a:r>
          </a:p>
          <a:p>
            <a:endParaRPr lang="en-US" dirty="0"/>
          </a:p>
          <a:p>
            <a:r>
              <a:rPr lang="en-US" dirty="0"/>
              <a:t>Each of those inputs are multiplied by a corresponding weights w1 to </a:t>
            </a:r>
            <a:r>
              <a:rPr lang="en-US" dirty="0" err="1"/>
              <a:t>wn</a:t>
            </a:r>
            <a:r>
              <a:rPr lang="en-US" dirty="0"/>
              <a:t>, and we will add the results of all of the multiplications. Now we take that single number after the addition and we pass it though this non-linear activation function. And that produce the final output of the perceptron, which denote it </a:t>
            </a:r>
            <a:r>
              <a:rPr lang="en-US" dirty="0" err="1"/>
              <a:t>y_hat</a:t>
            </a:r>
            <a:endParaRPr lang="en-US" dirty="0"/>
          </a:p>
          <a:p>
            <a:endParaRPr lang="en-US" dirty="0"/>
          </a:p>
          <a:p>
            <a:r>
              <a:rPr lang="en-US" dirty="0"/>
              <a:t>How do we get from the inputs to outputs, there are essentially three operations:</a:t>
            </a:r>
          </a:p>
          <a:p>
            <a:pPr marL="228600" indent="-228600">
              <a:buAutoNum type="arabicParenR"/>
            </a:pPr>
            <a:r>
              <a:rPr lang="en-US" dirty="0"/>
              <a:t>We have a linear combinations all the inputs  and then add them together</a:t>
            </a:r>
          </a:p>
          <a:p>
            <a:pPr marL="228600" indent="-228600">
              <a:buAutoNum type="arabicParenR"/>
            </a:pPr>
            <a:r>
              <a:rPr lang="en-US" dirty="0"/>
              <a:t>Then we introduce a bias term w_0 which is independent from all the </a:t>
            </a:r>
            <a:r>
              <a:rPr lang="en-US" dirty="0" err="1"/>
              <a:t>x_es</a:t>
            </a:r>
            <a:r>
              <a:rPr lang="en-US" dirty="0"/>
              <a:t> and add them together</a:t>
            </a:r>
          </a:p>
          <a:p>
            <a:pPr marL="228600" indent="-228600">
              <a:buAutoNum type="arabicParenR"/>
            </a:pPr>
            <a:r>
              <a:rPr lang="en-US" dirty="0"/>
              <a:t>By far, those are linear combinations of the inputs, at last we apply a non-linear activation function to introduce nonlinearity to the data. </a:t>
            </a:r>
          </a:p>
        </p:txBody>
      </p:sp>
      <p:sp>
        <p:nvSpPr>
          <p:cNvPr id="4" name="Slide Number Placeholder 3"/>
          <p:cNvSpPr>
            <a:spLocks noGrp="1"/>
          </p:cNvSpPr>
          <p:nvPr>
            <p:ph type="sldNum" sz="quarter" idx="5"/>
          </p:nvPr>
        </p:nvSpPr>
        <p:spPr/>
        <p:txBody>
          <a:bodyPr/>
          <a:lstStyle/>
          <a:p>
            <a:fld id="{69986EBC-7713-6E46-84A4-B57B150EF96D}" type="slidenum">
              <a:rPr lang="en-US" smtClean="0"/>
              <a:t>30</a:t>
            </a:fld>
            <a:endParaRPr lang="en-US"/>
          </a:p>
        </p:txBody>
      </p:sp>
    </p:spTree>
    <p:extLst>
      <p:ext uri="{BB962C8B-B14F-4D97-AF65-F5344CB8AC3E}">
        <p14:creationId xmlns:p14="http://schemas.microsoft.com/office/powerpoint/2010/main" val="12241140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Here I have listed some common active functions </a:t>
            </a:r>
          </a:p>
          <a:p>
            <a:endParaRPr lang="en-US" dirty="0"/>
          </a:p>
          <a:p>
            <a:r>
              <a:rPr lang="en-US" dirty="0"/>
              <a:t>Sigmoid function: it can map any real number to 0 and 1.  It is very useful </a:t>
            </a:r>
            <a:r>
              <a:rPr lang="en-US" dirty="0" err="1"/>
              <a:t>rspecially</a:t>
            </a:r>
            <a:r>
              <a:rPr lang="en-US" dirty="0"/>
              <a:t> when you want to deal with probability distributions because probabilities live between 0 and 1. </a:t>
            </a:r>
          </a:p>
          <a:p>
            <a:endParaRPr lang="en-US" dirty="0"/>
          </a:p>
          <a:p>
            <a:r>
              <a:rPr lang="en-US" dirty="0"/>
              <a:t>In modern deep learning the </a:t>
            </a:r>
            <a:r>
              <a:rPr lang="en-US" dirty="0" err="1"/>
              <a:t>relu</a:t>
            </a:r>
            <a:r>
              <a:rPr lang="en-US" dirty="0"/>
              <a:t> (rectified linear function) function is also very popular . It is piecewise linear and very efficiently to compute, especially for derivatives. </a:t>
            </a:r>
          </a:p>
          <a:p>
            <a:endParaRPr lang="en-US" dirty="0"/>
          </a:p>
          <a:p>
            <a:r>
              <a:rPr lang="en-US" dirty="0"/>
              <a:t>Through out the examples, you are also going to see some of the code snippets on the bottom of the slides where we will try and actually tie in some of what you are learning with the software labs and </a:t>
            </a:r>
            <a:r>
              <a:rPr lang="en-US" dirty="0" err="1"/>
              <a:t>homeworks</a:t>
            </a:r>
            <a:r>
              <a:rPr lang="en-US" dirty="0"/>
              <a:t>.</a:t>
            </a:r>
          </a:p>
          <a:p>
            <a:endParaRPr lang="en-US" dirty="0"/>
          </a:p>
          <a:p>
            <a:r>
              <a:rPr lang="en-US" dirty="0"/>
              <a:t>Change the picture such that it is it is linear function  change the title of </a:t>
            </a:r>
            <a:r>
              <a:rPr lang="en-US" dirty="0" err="1"/>
              <a:t>ReLU</a:t>
            </a:r>
            <a:r>
              <a:rPr lang="en-US" dirty="0"/>
              <a:t> function</a:t>
            </a:r>
          </a:p>
        </p:txBody>
      </p:sp>
      <p:sp>
        <p:nvSpPr>
          <p:cNvPr id="4" name="Slide Number Placeholder 3"/>
          <p:cNvSpPr>
            <a:spLocks noGrp="1"/>
          </p:cNvSpPr>
          <p:nvPr>
            <p:ph type="sldNum" sz="quarter" idx="5"/>
          </p:nvPr>
        </p:nvSpPr>
        <p:spPr/>
        <p:txBody>
          <a:bodyPr/>
          <a:lstStyle/>
          <a:p>
            <a:fld id="{69986EBC-7713-6E46-84A4-B57B150EF96D}" type="slidenum">
              <a:rPr lang="en-US" smtClean="0"/>
              <a:t>31</a:t>
            </a:fld>
            <a:endParaRPr lang="en-US"/>
          </a:p>
        </p:txBody>
      </p:sp>
    </p:spTree>
    <p:extLst>
      <p:ext uri="{BB962C8B-B14F-4D97-AF65-F5344CB8AC3E}">
        <p14:creationId xmlns:p14="http://schemas.microsoft.com/office/powerpoint/2010/main" val="13644718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if we want to define and build up a multi</a:t>
            </a:r>
            <a:r>
              <a:rPr lang="zh-CN" altLang="en-US" dirty="0"/>
              <a:t> </a:t>
            </a:r>
            <a:r>
              <a:rPr lang="en-US" altLang="zh-CN" dirty="0"/>
              <a:t>out </a:t>
            </a:r>
            <a:r>
              <a:rPr lang="en-US" dirty="0"/>
              <a:t>neural network</a:t>
            </a:r>
          </a:p>
          <a:p>
            <a:r>
              <a:rPr lang="en-US" dirty="0"/>
              <a:t>If we want 2 outputs to this function for example, it is a very simple procedure, we just have to add </a:t>
            </a:r>
          </a:p>
          <a:p>
            <a:r>
              <a:rPr lang="en-US" dirty="0"/>
              <a:t>Another neuron, another perceptron, each perceptron will control the output for </a:t>
            </a:r>
          </a:p>
          <a:p>
            <a:r>
              <a:rPr lang="en-US" dirty="0"/>
              <a:t>Its associated piece. So now we have two outputs, each one is a normal perceptron, it takes all of the inputs.</a:t>
            </a:r>
          </a:p>
          <a:p>
            <a:r>
              <a:rPr lang="en-US" dirty="0"/>
              <a:t>With this understanding, we can start to build our first neural network entirely from </a:t>
            </a:r>
            <a:r>
              <a:rPr lang="en-US" dirty="0" err="1"/>
              <a:t>sractch</a:t>
            </a:r>
            <a:r>
              <a:rPr lang="en-US" dirty="0"/>
              <a:t> for a single layer</a:t>
            </a:r>
          </a:p>
        </p:txBody>
      </p:sp>
      <p:sp>
        <p:nvSpPr>
          <p:cNvPr id="4" name="Slide Number Placeholder 3"/>
          <p:cNvSpPr>
            <a:spLocks noGrp="1"/>
          </p:cNvSpPr>
          <p:nvPr>
            <p:ph type="sldNum" sz="quarter" idx="5"/>
          </p:nvPr>
        </p:nvSpPr>
        <p:spPr/>
        <p:txBody>
          <a:bodyPr/>
          <a:lstStyle/>
          <a:p>
            <a:fld id="{69986EBC-7713-6E46-84A4-B57B150EF96D}" type="slidenum">
              <a:rPr lang="en-US" smtClean="0"/>
              <a:t>32</a:t>
            </a:fld>
            <a:endParaRPr lang="en-US"/>
          </a:p>
        </p:txBody>
      </p:sp>
    </p:spTree>
    <p:extLst>
      <p:ext uri="{BB962C8B-B14F-4D97-AF65-F5344CB8AC3E}">
        <p14:creationId xmlns:p14="http://schemas.microsoft.com/office/powerpoint/2010/main" val="1271323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with this understanding, we are able to build our neural network from </a:t>
            </a:r>
            <a:r>
              <a:rPr lang="en-US" dirty="0" err="1"/>
              <a:t>stacth</a:t>
            </a:r>
            <a:r>
              <a:rPr lang="en-US" dirty="0"/>
              <a:t> using </a:t>
            </a:r>
            <a:r>
              <a:rPr lang="en-US" dirty="0" err="1"/>
              <a:t>Pytorch</a:t>
            </a:r>
            <a:r>
              <a:rPr lang="en-US" dirty="0"/>
              <a:t> </a:t>
            </a:r>
          </a:p>
          <a:p>
            <a:r>
              <a:rPr lang="en-US" dirty="0"/>
              <a:t>We can start by import the necessary modules, </a:t>
            </a:r>
            <a:r>
              <a:rPr lang="en-US" dirty="0" err="1"/>
              <a:t>torch.nn</a:t>
            </a:r>
            <a:r>
              <a:rPr lang="en-US" dirty="0"/>
              <a:t> is a module in </a:t>
            </a:r>
            <a:r>
              <a:rPr lang="en-US" dirty="0" err="1"/>
              <a:t>PyTorch</a:t>
            </a:r>
            <a:r>
              <a:rPr lang="en-US" dirty="0"/>
              <a:t>, a popular open-sourced machine library, here we will make use of its parameter class and activation functions. </a:t>
            </a:r>
          </a:p>
          <a:p>
            <a:endParaRPr lang="en-US" dirty="0"/>
          </a:p>
          <a:p>
            <a:r>
              <a:rPr lang="en-US" dirty="0"/>
              <a:t>We will first start by initializing the parameters of the layer, the weights and the bias. </a:t>
            </a:r>
          </a:p>
          <a:p>
            <a:r>
              <a:rPr lang="en-US" dirty="0"/>
              <a:t>The next step is to define the forward propagation of  information of a layer. That’s exactly the three components </a:t>
            </a:r>
          </a:p>
          <a:p>
            <a:r>
              <a:rPr lang="en-US" dirty="0"/>
              <a:t>We have been talking about, multiply with weights, add the bias and apply the nonlinear activation function</a:t>
            </a:r>
          </a:p>
          <a:p>
            <a:r>
              <a:rPr lang="en-US" dirty="0"/>
              <a:t>We can create this forward function to do exactly that.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we talk about learning or training a neural network, </a:t>
            </a:r>
            <a:r>
              <a:rPr lang="en-US" sz="1800" dirty="0">
                <a:effectLst/>
                <a:latin typeface="LMRoman10-Regular-Identity-H"/>
              </a:rPr>
              <a:t>we mean that we attempt to find parameters </a:t>
            </a:r>
            <a:r>
              <a:rPr lang="el-GR" sz="1800" dirty="0">
                <a:effectLst/>
                <a:latin typeface="CMMIB10"/>
              </a:rPr>
              <a:t>φ </a:t>
            </a:r>
            <a:r>
              <a:rPr lang="en-US" sz="1800" dirty="0">
                <a:effectLst/>
                <a:latin typeface="LMRoman10-Regular-Identity-H"/>
              </a:rPr>
              <a:t>that make sensible output predictions from the input </a:t>
            </a:r>
            <a:endParaRPr lang="en-US" dirty="0"/>
          </a:p>
          <a:p>
            <a:endParaRPr lang="en-US" dirty="0"/>
          </a:p>
          <a:p>
            <a:endParaRPr lang="en-US" dirty="0"/>
          </a:p>
          <a:p>
            <a:r>
              <a:rPr lang="en-US" dirty="0"/>
              <a:t>Luckily for all of us, all those code have been abstracted away by this </a:t>
            </a:r>
            <a:r>
              <a:rPr lang="en-US" dirty="0" err="1"/>
              <a:t>nn</a:t>
            </a:r>
            <a:r>
              <a:rPr lang="en-US" dirty="0"/>
              <a:t> module in </a:t>
            </a:r>
            <a:r>
              <a:rPr lang="en-US" dirty="0" err="1"/>
              <a:t>Pytorch</a:t>
            </a:r>
            <a:r>
              <a:rPr lang="en-US" dirty="0"/>
              <a:t>, you can simply call function like, which will exactly replicate that piece of code. </a:t>
            </a:r>
          </a:p>
        </p:txBody>
      </p:sp>
      <p:sp>
        <p:nvSpPr>
          <p:cNvPr id="4" name="Slide Number Placeholder 3"/>
          <p:cNvSpPr>
            <a:spLocks noGrp="1"/>
          </p:cNvSpPr>
          <p:nvPr>
            <p:ph type="sldNum" sz="quarter" idx="5"/>
          </p:nvPr>
        </p:nvSpPr>
        <p:spPr/>
        <p:txBody>
          <a:bodyPr/>
          <a:lstStyle/>
          <a:p>
            <a:fld id="{69986EBC-7713-6E46-84A4-B57B150EF96D}" type="slidenum">
              <a:rPr lang="en-US" smtClean="0"/>
              <a:t>33</a:t>
            </a:fld>
            <a:endParaRPr lang="en-US"/>
          </a:p>
        </p:txBody>
      </p:sp>
    </p:spTree>
    <p:extLst>
      <p:ext uri="{BB962C8B-B14F-4D97-AF65-F5344CB8AC3E}">
        <p14:creationId xmlns:p14="http://schemas.microsoft.com/office/powerpoint/2010/main" val="14520713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986EBC-7713-6E46-84A4-B57B150EF96D}" type="slidenum">
              <a:rPr lang="en-US" smtClean="0"/>
              <a:t>34</a:t>
            </a:fld>
            <a:endParaRPr lang="en-US"/>
          </a:p>
        </p:txBody>
      </p:sp>
    </p:spTree>
    <p:extLst>
      <p:ext uri="{BB962C8B-B14F-4D97-AF65-F5344CB8AC3E}">
        <p14:creationId xmlns:p14="http://schemas.microsoft.com/office/powerpoint/2010/main" val="4432919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need a network structure from a single layer to multi-layer  (backup slide)</a:t>
            </a:r>
          </a:p>
          <a:p>
            <a:r>
              <a:rPr lang="en-US" dirty="0"/>
              <a:t>Since we now have this transformation essentially from our inputs to a hidden output. You can think of transform some dimension of input into some new dimension and those transformation (the weights and bias) are going to be learned.</a:t>
            </a:r>
          </a:p>
        </p:txBody>
      </p:sp>
      <p:sp>
        <p:nvSpPr>
          <p:cNvPr id="4" name="Slide Number Placeholder 3"/>
          <p:cNvSpPr>
            <a:spLocks noGrp="1"/>
          </p:cNvSpPr>
          <p:nvPr>
            <p:ph type="sldNum" sz="quarter" idx="5"/>
          </p:nvPr>
        </p:nvSpPr>
        <p:spPr/>
        <p:txBody>
          <a:bodyPr/>
          <a:lstStyle/>
          <a:p>
            <a:fld id="{69986EBC-7713-6E46-84A4-B57B150EF96D}" type="slidenum">
              <a:rPr lang="en-US" smtClean="0"/>
              <a:t>35</a:t>
            </a:fld>
            <a:endParaRPr lang="en-US"/>
          </a:p>
        </p:txBody>
      </p:sp>
    </p:spTree>
    <p:extLst>
      <p:ext uri="{BB962C8B-B14F-4D97-AF65-F5344CB8AC3E}">
        <p14:creationId xmlns:p14="http://schemas.microsoft.com/office/powerpoint/2010/main" val="10738017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want to stack those layer on top of each other, we can create what are called sequential models.</a:t>
            </a:r>
          </a:p>
          <a:p>
            <a:r>
              <a:rPr lang="en-US" dirty="0"/>
              <a:t>These sequential models we can define one layer after another, and they define the forward </a:t>
            </a:r>
            <a:r>
              <a:rPr lang="en-US" dirty="0" err="1"/>
              <a:t>progagation</a:t>
            </a:r>
            <a:r>
              <a:rPr lang="en-US" dirty="0"/>
              <a:t>. </a:t>
            </a:r>
          </a:p>
          <a:p>
            <a:r>
              <a:rPr lang="en-US" dirty="0"/>
              <a:t>The input of the second layer will be the output from the prior layer. </a:t>
            </a:r>
          </a:p>
          <a:p>
            <a:endParaRPr lang="en-US" dirty="0"/>
          </a:p>
          <a:p>
            <a:r>
              <a:rPr lang="en-US" dirty="0"/>
              <a:t>If we want to go beyond, from two layer to a deep neural network, we just need to stack more layers on top of each other. </a:t>
            </a:r>
          </a:p>
        </p:txBody>
      </p:sp>
      <p:sp>
        <p:nvSpPr>
          <p:cNvPr id="4" name="Slide Number Placeholder 3"/>
          <p:cNvSpPr>
            <a:spLocks noGrp="1"/>
          </p:cNvSpPr>
          <p:nvPr>
            <p:ph type="sldNum" sz="quarter" idx="5"/>
          </p:nvPr>
        </p:nvSpPr>
        <p:spPr/>
        <p:txBody>
          <a:bodyPr/>
          <a:lstStyle/>
          <a:p>
            <a:fld id="{69986EBC-7713-6E46-84A4-B57B150EF96D}" type="slidenum">
              <a:rPr lang="en-US" smtClean="0"/>
              <a:t>36</a:t>
            </a:fld>
            <a:endParaRPr lang="en-US"/>
          </a:p>
        </p:txBody>
      </p:sp>
    </p:spTree>
    <p:extLst>
      <p:ext uri="{BB962C8B-B14F-4D97-AF65-F5344CB8AC3E}">
        <p14:creationId xmlns:p14="http://schemas.microsoft.com/office/powerpoint/2010/main" val="5922595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986EBC-7713-6E46-84A4-B57B150EF96D}" type="slidenum">
              <a:rPr lang="en-US" smtClean="0"/>
              <a:t>37</a:t>
            </a:fld>
            <a:endParaRPr lang="en-US"/>
          </a:p>
        </p:txBody>
      </p:sp>
    </p:spTree>
    <p:extLst>
      <p:ext uri="{BB962C8B-B14F-4D97-AF65-F5344CB8AC3E}">
        <p14:creationId xmlns:p14="http://schemas.microsoft.com/office/powerpoint/2010/main" val="34936540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986EBC-7713-6E46-84A4-B57B150EF96D}" type="slidenum">
              <a:rPr lang="en-US" smtClean="0"/>
              <a:t>38</a:t>
            </a:fld>
            <a:endParaRPr lang="en-US"/>
          </a:p>
        </p:txBody>
      </p:sp>
    </p:spTree>
    <p:extLst>
      <p:ext uri="{BB962C8B-B14F-4D97-AF65-F5344CB8AC3E}">
        <p14:creationId xmlns:p14="http://schemas.microsoft.com/office/powerpoint/2010/main" val="604309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AA21B-2D46-78D9-136B-5B9165B381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44453A-120E-6C59-7539-64173B9E1C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A46158-2C56-594F-FADC-36CCE99AACC0}"/>
              </a:ext>
            </a:extLst>
          </p:cNvPr>
          <p:cNvSpPr>
            <a:spLocks noGrp="1"/>
          </p:cNvSpPr>
          <p:nvPr>
            <p:ph type="dt" sz="half" idx="10"/>
          </p:nvPr>
        </p:nvSpPr>
        <p:spPr/>
        <p:txBody>
          <a:bodyPr/>
          <a:lstStyle/>
          <a:p>
            <a:fld id="{3FC9C45B-1BB9-0943-9823-AD542BC30B25}" type="datetime1">
              <a:rPr lang="en-US" smtClean="0"/>
              <a:t>10/29/25</a:t>
            </a:fld>
            <a:endParaRPr lang="en-US"/>
          </a:p>
        </p:txBody>
      </p:sp>
      <p:sp>
        <p:nvSpPr>
          <p:cNvPr id="5" name="Footer Placeholder 4">
            <a:extLst>
              <a:ext uri="{FF2B5EF4-FFF2-40B4-BE49-F238E27FC236}">
                <a16:creationId xmlns:a16="http://schemas.microsoft.com/office/drawing/2014/main" id="{F2379EF0-E5F2-554D-A219-C9AED3525D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06D625-2AE5-84E8-99F8-626D110CFE4A}"/>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1240242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DD178-FA57-DA64-F07B-CA5B714751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47DCBA-2F46-B040-B491-95AF06B87C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F75051-A099-A3F9-D05D-4939C29AA280}"/>
              </a:ext>
            </a:extLst>
          </p:cNvPr>
          <p:cNvSpPr>
            <a:spLocks noGrp="1"/>
          </p:cNvSpPr>
          <p:nvPr>
            <p:ph type="dt" sz="half" idx="10"/>
          </p:nvPr>
        </p:nvSpPr>
        <p:spPr/>
        <p:txBody>
          <a:bodyPr/>
          <a:lstStyle/>
          <a:p>
            <a:fld id="{4E6A0FFE-A325-5D45-8375-3CFF78786F32}" type="datetime1">
              <a:rPr lang="en-US" smtClean="0"/>
              <a:t>10/29/25</a:t>
            </a:fld>
            <a:endParaRPr lang="en-US"/>
          </a:p>
        </p:txBody>
      </p:sp>
      <p:sp>
        <p:nvSpPr>
          <p:cNvPr id="5" name="Footer Placeholder 4">
            <a:extLst>
              <a:ext uri="{FF2B5EF4-FFF2-40B4-BE49-F238E27FC236}">
                <a16:creationId xmlns:a16="http://schemas.microsoft.com/office/drawing/2014/main" id="{36130682-1817-DF10-55B4-C1FC0F16C6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60CD24-623E-F898-57D1-FB1BE59DEB3B}"/>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1035647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C3B39-B86D-32A3-4272-FC2A33897A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8A6AC0-9413-085E-19A8-67A8D2C3EB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903B7E-2465-9120-D8AB-71B0E2B337C2}"/>
              </a:ext>
            </a:extLst>
          </p:cNvPr>
          <p:cNvSpPr>
            <a:spLocks noGrp="1"/>
          </p:cNvSpPr>
          <p:nvPr>
            <p:ph type="dt" sz="half" idx="10"/>
          </p:nvPr>
        </p:nvSpPr>
        <p:spPr/>
        <p:txBody>
          <a:bodyPr/>
          <a:lstStyle/>
          <a:p>
            <a:fld id="{0FFAE7C0-8E9F-1E49-95FE-6B6CCDA2C761}" type="datetime1">
              <a:rPr lang="en-US" smtClean="0"/>
              <a:t>10/29/25</a:t>
            </a:fld>
            <a:endParaRPr lang="en-US"/>
          </a:p>
        </p:txBody>
      </p:sp>
      <p:sp>
        <p:nvSpPr>
          <p:cNvPr id="5" name="Footer Placeholder 4">
            <a:extLst>
              <a:ext uri="{FF2B5EF4-FFF2-40B4-BE49-F238E27FC236}">
                <a16:creationId xmlns:a16="http://schemas.microsoft.com/office/drawing/2014/main" id="{D57B14EE-4E42-8A49-F74D-7CB77D9C77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6875CF-1A13-580C-B1E9-93EA31693787}"/>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4184548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48D2D-EDB7-DA68-6D76-4ECD1F5795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91F064-A9B7-9B9D-1CE6-662B2FCB4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3AE1FB-42FE-1F5D-FD73-68B497C825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19B129-46B1-FDAE-F8E3-EECEFC0C444E}"/>
              </a:ext>
            </a:extLst>
          </p:cNvPr>
          <p:cNvSpPr>
            <a:spLocks noGrp="1"/>
          </p:cNvSpPr>
          <p:nvPr>
            <p:ph type="dt" sz="half" idx="10"/>
          </p:nvPr>
        </p:nvSpPr>
        <p:spPr/>
        <p:txBody>
          <a:bodyPr/>
          <a:lstStyle/>
          <a:p>
            <a:fld id="{4F6493CC-F684-524E-9167-37139A3E6226}" type="datetime1">
              <a:rPr lang="en-US" smtClean="0"/>
              <a:t>10/29/25</a:t>
            </a:fld>
            <a:endParaRPr lang="en-US"/>
          </a:p>
        </p:txBody>
      </p:sp>
      <p:sp>
        <p:nvSpPr>
          <p:cNvPr id="6" name="Footer Placeholder 5">
            <a:extLst>
              <a:ext uri="{FF2B5EF4-FFF2-40B4-BE49-F238E27FC236}">
                <a16:creationId xmlns:a16="http://schemas.microsoft.com/office/drawing/2014/main" id="{73319DEE-4D35-03F7-F88B-28D60FA707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86351-0989-A567-9C85-3F897F8066E0}"/>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1618120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A16A3-973B-A3EE-24EF-B3DE555D36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A8342F-4B43-CE46-E667-31F75D5585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842D3B-C508-5446-B9C5-D4DA30E901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94A9E7-00A2-8C95-A8E9-BFA068A233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F3C0C9-ADB7-0B30-866E-4736C9E153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5089C8-45BF-29CB-8E17-BF91E81A5367}"/>
              </a:ext>
            </a:extLst>
          </p:cNvPr>
          <p:cNvSpPr>
            <a:spLocks noGrp="1"/>
          </p:cNvSpPr>
          <p:nvPr>
            <p:ph type="dt" sz="half" idx="10"/>
          </p:nvPr>
        </p:nvSpPr>
        <p:spPr/>
        <p:txBody>
          <a:bodyPr/>
          <a:lstStyle/>
          <a:p>
            <a:fld id="{8E667EA1-4AFA-6640-BB57-CC4591A30E71}" type="datetime1">
              <a:rPr lang="en-US" smtClean="0"/>
              <a:t>10/29/25</a:t>
            </a:fld>
            <a:endParaRPr lang="en-US"/>
          </a:p>
        </p:txBody>
      </p:sp>
      <p:sp>
        <p:nvSpPr>
          <p:cNvPr id="8" name="Footer Placeholder 7">
            <a:extLst>
              <a:ext uri="{FF2B5EF4-FFF2-40B4-BE49-F238E27FC236}">
                <a16:creationId xmlns:a16="http://schemas.microsoft.com/office/drawing/2014/main" id="{2732A531-1774-75AB-6944-06879B464D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92A8C9-9082-C22D-69A5-6BA16371AE53}"/>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325532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95999-C066-9A42-605E-CC7179FC91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568E2D-E358-0778-198F-7A7532CA3207}"/>
              </a:ext>
            </a:extLst>
          </p:cNvPr>
          <p:cNvSpPr>
            <a:spLocks noGrp="1"/>
          </p:cNvSpPr>
          <p:nvPr>
            <p:ph type="dt" sz="half" idx="10"/>
          </p:nvPr>
        </p:nvSpPr>
        <p:spPr/>
        <p:txBody>
          <a:bodyPr/>
          <a:lstStyle/>
          <a:p>
            <a:fld id="{388001F4-99B0-7E46-BDDE-8BA512BD333E}" type="datetime1">
              <a:rPr lang="en-US" smtClean="0"/>
              <a:t>10/29/25</a:t>
            </a:fld>
            <a:endParaRPr lang="en-US"/>
          </a:p>
        </p:txBody>
      </p:sp>
      <p:sp>
        <p:nvSpPr>
          <p:cNvPr id="4" name="Footer Placeholder 3">
            <a:extLst>
              <a:ext uri="{FF2B5EF4-FFF2-40B4-BE49-F238E27FC236}">
                <a16:creationId xmlns:a16="http://schemas.microsoft.com/office/drawing/2014/main" id="{E88CA04F-256B-3B5C-28A1-B397D139B8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940B76-8B5C-EDB2-2F84-031946FA87DD}"/>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2582173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D6575A-3650-6F51-03CB-CF60A6D67944}"/>
              </a:ext>
            </a:extLst>
          </p:cNvPr>
          <p:cNvSpPr>
            <a:spLocks noGrp="1"/>
          </p:cNvSpPr>
          <p:nvPr>
            <p:ph type="dt" sz="half" idx="10"/>
          </p:nvPr>
        </p:nvSpPr>
        <p:spPr/>
        <p:txBody>
          <a:bodyPr/>
          <a:lstStyle/>
          <a:p>
            <a:fld id="{D7DBDB4D-C8DB-2540-8C12-73F97B6A0988}" type="datetime1">
              <a:rPr lang="en-US" smtClean="0"/>
              <a:t>10/29/25</a:t>
            </a:fld>
            <a:endParaRPr lang="en-US"/>
          </a:p>
        </p:txBody>
      </p:sp>
      <p:sp>
        <p:nvSpPr>
          <p:cNvPr id="3" name="Footer Placeholder 2">
            <a:extLst>
              <a:ext uri="{FF2B5EF4-FFF2-40B4-BE49-F238E27FC236}">
                <a16:creationId xmlns:a16="http://schemas.microsoft.com/office/drawing/2014/main" id="{FC0A4367-9E5D-4563-C589-8A4782D6D1F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C503AC-D3E2-5CB4-641D-CF26C81CA72B}"/>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1342632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B26DD-34B1-D5B2-6570-F048C6AB4D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CDEEFF-4730-C3C1-DC30-5FCCF5B400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00C45D-832F-CCAA-0083-16F2742D6D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5106B9-6E04-7D73-7D63-E2C8F1E7BDB4}"/>
              </a:ext>
            </a:extLst>
          </p:cNvPr>
          <p:cNvSpPr>
            <a:spLocks noGrp="1"/>
          </p:cNvSpPr>
          <p:nvPr>
            <p:ph type="dt" sz="half" idx="10"/>
          </p:nvPr>
        </p:nvSpPr>
        <p:spPr/>
        <p:txBody>
          <a:bodyPr/>
          <a:lstStyle/>
          <a:p>
            <a:fld id="{9582AF77-ED6A-6443-93CE-19138089D463}" type="datetime1">
              <a:rPr lang="en-US" smtClean="0"/>
              <a:t>10/29/25</a:t>
            </a:fld>
            <a:endParaRPr lang="en-US"/>
          </a:p>
        </p:txBody>
      </p:sp>
      <p:sp>
        <p:nvSpPr>
          <p:cNvPr id="6" name="Footer Placeholder 5">
            <a:extLst>
              <a:ext uri="{FF2B5EF4-FFF2-40B4-BE49-F238E27FC236}">
                <a16:creationId xmlns:a16="http://schemas.microsoft.com/office/drawing/2014/main" id="{2E74EAE8-62FB-FA0A-DB7E-5A672AF17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4720D6-14ED-444E-0A55-1DD2630159EE}"/>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4280675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D2AFF-FBE0-5A9D-364D-F157EA7DCD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417B5D-FCD1-E977-6965-EE48766780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222EC6-6BEA-722F-7647-74E4D7FEC4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FDBB70-3C02-F485-0B1B-3917FF56ADA9}"/>
              </a:ext>
            </a:extLst>
          </p:cNvPr>
          <p:cNvSpPr>
            <a:spLocks noGrp="1"/>
          </p:cNvSpPr>
          <p:nvPr>
            <p:ph type="dt" sz="half" idx="10"/>
          </p:nvPr>
        </p:nvSpPr>
        <p:spPr/>
        <p:txBody>
          <a:bodyPr/>
          <a:lstStyle/>
          <a:p>
            <a:fld id="{3E20FBB2-712D-C24F-B36C-E378F1B9621A}" type="datetime1">
              <a:rPr lang="en-US" smtClean="0"/>
              <a:t>10/29/25</a:t>
            </a:fld>
            <a:endParaRPr lang="en-US"/>
          </a:p>
        </p:txBody>
      </p:sp>
      <p:sp>
        <p:nvSpPr>
          <p:cNvPr id="6" name="Footer Placeholder 5">
            <a:extLst>
              <a:ext uri="{FF2B5EF4-FFF2-40B4-BE49-F238E27FC236}">
                <a16:creationId xmlns:a16="http://schemas.microsoft.com/office/drawing/2014/main" id="{D1A9A224-9F6A-2E65-3364-48555A93F4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61D5D7-7ED1-5D8B-C785-EAC1CF3CEF3B}"/>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692361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19C38-D4E2-9D49-489B-E1CF480374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8B60D7-196C-3AA6-341F-21353AD5BF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481E4C-C362-788B-78EF-4CE2C23DB4AB}"/>
              </a:ext>
            </a:extLst>
          </p:cNvPr>
          <p:cNvSpPr>
            <a:spLocks noGrp="1"/>
          </p:cNvSpPr>
          <p:nvPr>
            <p:ph type="dt" sz="half" idx="10"/>
          </p:nvPr>
        </p:nvSpPr>
        <p:spPr/>
        <p:txBody>
          <a:bodyPr/>
          <a:lstStyle/>
          <a:p>
            <a:fld id="{9A8D15B7-8014-1B49-8973-2DCA7344A507}" type="datetime1">
              <a:rPr lang="en-US" smtClean="0"/>
              <a:t>10/29/25</a:t>
            </a:fld>
            <a:endParaRPr lang="en-US"/>
          </a:p>
        </p:txBody>
      </p:sp>
      <p:sp>
        <p:nvSpPr>
          <p:cNvPr id="5" name="Footer Placeholder 4">
            <a:extLst>
              <a:ext uri="{FF2B5EF4-FFF2-40B4-BE49-F238E27FC236}">
                <a16:creationId xmlns:a16="http://schemas.microsoft.com/office/drawing/2014/main" id="{80E6C0DA-54EE-2D30-7BAA-8F14B46043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E67647-9E31-2398-B565-28B3F9952F76}"/>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230697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11AFAD-215E-72C8-4752-A4920ED351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03A5C6-30C4-38A6-3D38-3814E9406B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FF8882-6B34-C859-88A1-D5966FE7FAF2}"/>
              </a:ext>
            </a:extLst>
          </p:cNvPr>
          <p:cNvSpPr>
            <a:spLocks noGrp="1"/>
          </p:cNvSpPr>
          <p:nvPr>
            <p:ph type="dt" sz="half" idx="10"/>
          </p:nvPr>
        </p:nvSpPr>
        <p:spPr/>
        <p:txBody>
          <a:bodyPr/>
          <a:lstStyle/>
          <a:p>
            <a:fld id="{0BF33A22-B29A-DB4D-873C-D5BA5380E407}" type="datetime1">
              <a:rPr lang="en-US" smtClean="0"/>
              <a:t>10/29/25</a:t>
            </a:fld>
            <a:endParaRPr lang="en-US"/>
          </a:p>
        </p:txBody>
      </p:sp>
      <p:sp>
        <p:nvSpPr>
          <p:cNvPr id="5" name="Footer Placeholder 4">
            <a:extLst>
              <a:ext uri="{FF2B5EF4-FFF2-40B4-BE49-F238E27FC236}">
                <a16:creationId xmlns:a16="http://schemas.microsoft.com/office/drawing/2014/main" id="{C3428E73-C47E-B5C1-0B06-126F64CA89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0A5C9F-1077-38DA-A928-FE2AD1884112}"/>
              </a:ext>
            </a:extLst>
          </p:cNvPr>
          <p:cNvSpPr>
            <a:spLocks noGrp="1"/>
          </p:cNvSpPr>
          <p:nvPr>
            <p:ph type="sldNum" sz="quarter" idx="12"/>
          </p:nvPr>
        </p:nvSpPr>
        <p:spPr/>
        <p:txBody>
          <a:bodyPr/>
          <a:lstStyle/>
          <a:p>
            <a:fld id="{B3533053-B928-004D-A0E8-A0A092123CEE}" type="slidenum">
              <a:rPr lang="en-US" smtClean="0"/>
              <a:t>‹#›</a:t>
            </a:fld>
            <a:endParaRPr lang="en-US"/>
          </a:p>
        </p:txBody>
      </p:sp>
    </p:spTree>
    <p:extLst>
      <p:ext uri="{BB962C8B-B14F-4D97-AF65-F5344CB8AC3E}">
        <p14:creationId xmlns:p14="http://schemas.microsoft.com/office/powerpoint/2010/main" val="922556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E62A28-072D-3751-0623-07363DA61C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31445D-1387-81C7-E846-3083FD0BBB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ECE20-5897-50FF-F614-CE7B83C54A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91262B-65F9-D849-8215-E3367B9F9C3D}" type="datetime1">
              <a:rPr lang="en-US" smtClean="0"/>
              <a:t>10/29/25</a:t>
            </a:fld>
            <a:endParaRPr lang="en-US"/>
          </a:p>
        </p:txBody>
      </p:sp>
      <p:sp>
        <p:nvSpPr>
          <p:cNvPr id="5" name="Footer Placeholder 4">
            <a:extLst>
              <a:ext uri="{FF2B5EF4-FFF2-40B4-BE49-F238E27FC236}">
                <a16:creationId xmlns:a16="http://schemas.microsoft.com/office/drawing/2014/main" id="{A6ECB051-C83C-3D36-BEA9-9B6C8CD8BA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BAD62C-6021-4265-E05B-E26CE9FEA3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33053-B928-004D-A0E8-A0A092123CEE}" type="slidenum">
              <a:rPr lang="en-US" smtClean="0"/>
              <a:t>‹#›</a:t>
            </a:fld>
            <a:endParaRPr lang="en-US"/>
          </a:p>
        </p:txBody>
      </p:sp>
    </p:spTree>
    <p:extLst>
      <p:ext uri="{BB962C8B-B14F-4D97-AF65-F5344CB8AC3E}">
        <p14:creationId xmlns:p14="http://schemas.microsoft.com/office/powerpoint/2010/main" val="1619910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microsoft.com/office/2007/relationships/hdphoto" Target="../media/hdphoto1.wdp"/><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w3schools.com/sq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rail.eecs.berkeley.edu/deeprlcourse/" TargetMode="Externa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microsoft.com/office/2007/relationships/hdphoto" Target="../media/hdphoto1.wdp"/><Relationship Id="rId4" Type="http://schemas.openxmlformats.org/officeDocument/2006/relationships/image" Target="../media/image2.png"/><Relationship Id="rId9"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pytorch.org/"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docs.pytorch.org/tutorials/beginner/basics" TargetMode="External"/><Relationship Id="rId4" Type="http://schemas.openxmlformats.org/officeDocument/2006/relationships/hyperlink" Target="https://pytorch.org/get-started/locally/"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viso.ai/deep-learning/pytorch-vs-tensorflow/#:~:text=Differences%20of%20PyTorch%20vs.,-TensorFlow%20%E2%80%93%20Summary&amp;text=PyTorch%20allows%20quicker%20prototyping%20than,have%20to%20start%20from%20scratch."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hyperlink" Target="https://pytorch.org/tutorials/beginner/blitz/autograd_tutorial.ht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pytorch.org/docs/stable/generated/torch.autograd.grad.html" TargetMode="External"/><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0.png"/><Relationship Id="rId4" Type="http://schemas.openxmlformats.org/officeDocument/2006/relationships/image" Target="../media/image180.png"/></Relationships>
</file>

<file path=ppt/slides/_rels/slide3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3" Type="http://schemas.openxmlformats.org/officeDocument/2006/relationships/image" Target="../media/image360.png"/><Relationship Id="rId8" Type="http://schemas.openxmlformats.org/officeDocument/2006/relationships/image" Target="../media/image310.png"/><Relationship Id="rId3" Type="http://schemas.openxmlformats.org/officeDocument/2006/relationships/image" Target="../media/image260.png"/><Relationship Id="rId12" Type="http://schemas.openxmlformats.org/officeDocument/2006/relationships/image" Target="../media/image350.png"/><Relationship Id="rId17" Type="http://schemas.openxmlformats.org/officeDocument/2006/relationships/image" Target="../media/image370.png"/><Relationship Id="rId2" Type="http://schemas.openxmlformats.org/officeDocument/2006/relationships/notesSlide" Target="../notesSlides/notesSlide33.xml"/><Relationship Id="rId16" Type="http://schemas.openxmlformats.org/officeDocument/2006/relationships/image" Target="../media/image300.png"/><Relationship Id="rId1" Type="http://schemas.openxmlformats.org/officeDocument/2006/relationships/slideLayout" Target="../slideLayouts/slideLayout2.xml"/><Relationship Id="rId11" Type="http://schemas.openxmlformats.org/officeDocument/2006/relationships/image" Target="../media/image340.png"/><Relationship Id="rId6" Type="http://schemas.openxmlformats.org/officeDocument/2006/relationships/image" Target="../media/image290.png"/><Relationship Id="rId5" Type="http://schemas.openxmlformats.org/officeDocument/2006/relationships/image" Target="../media/image280.png"/><Relationship Id="rId15" Type="http://schemas.openxmlformats.org/officeDocument/2006/relationships/image" Target="../media/image291.png"/><Relationship Id="rId10" Type="http://schemas.openxmlformats.org/officeDocument/2006/relationships/image" Target="../media/image330.png"/><Relationship Id="rId14" Type="http://schemas.openxmlformats.org/officeDocument/2006/relationships/image" Target="../media/image271.png"/><Relationship Id="rId4" Type="http://schemas.openxmlformats.org/officeDocument/2006/relationships/image" Target="../media/image270.png"/><Relationship Id="rId9" Type="http://schemas.openxmlformats.org/officeDocument/2006/relationships/image" Target="../media/image320.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11.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02.png"/><Relationship Id="rId5" Type="http://schemas.openxmlformats.org/officeDocument/2006/relationships/image" Target="../media/image42.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8" Type="http://schemas.openxmlformats.org/officeDocument/2006/relationships/image" Target="../media/image430.png"/><Relationship Id="rId3" Type="http://schemas.openxmlformats.org/officeDocument/2006/relationships/image" Target="../media/image381.png"/><Relationship Id="rId7" Type="http://schemas.openxmlformats.org/officeDocument/2006/relationships/image" Target="../media/image420.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10.png"/><Relationship Id="rId11" Type="http://schemas.openxmlformats.org/officeDocument/2006/relationships/image" Target="../media/image46.png"/><Relationship Id="rId5" Type="http://schemas.openxmlformats.org/officeDocument/2006/relationships/image" Target="../media/image401.png"/><Relationship Id="rId10" Type="http://schemas.openxmlformats.org/officeDocument/2006/relationships/image" Target="../media/image45.png"/><Relationship Id="rId4" Type="http://schemas.openxmlformats.org/officeDocument/2006/relationships/image" Target="../media/image391.png"/><Relationship Id="rId9" Type="http://schemas.openxmlformats.org/officeDocument/2006/relationships/image" Target="../media/image44.png"/></Relationships>
</file>

<file path=ppt/slides/_rels/slide3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0.png"/><Relationship Id="rId7"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00.png"/><Relationship Id="rId10" Type="http://schemas.openxmlformats.org/officeDocument/2006/relationships/image" Target="../media/image450.png"/><Relationship Id="rId4" Type="http://schemas.openxmlformats.org/officeDocument/2006/relationships/image" Target="../media/image390.png"/><Relationship Id="rId9" Type="http://schemas.openxmlformats.org/officeDocument/2006/relationships/image" Target="../media/image50.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FEB8A-3BAD-4DA1-8682-A700B25454BC}"/>
              </a:ext>
            </a:extLst>
          </p:cNvPr>
          <p:cNvSpPr>
            <a:spLocks noGrp="1"/>
          </p:cNvSpPr>
          <p:nvPr>
            <p:ph type="ctrTitle"/>
          </p:nvPr>
        </p:nvSpPr>
        <p:spPr>
          <a:xfrm>
            <a:off x="269789" y="1041400"/>
            <a:ext cx="11652422" cy="2387600"/>
          </a:xfrm>
        </p:spPr>
        <p:txBody>
          <a:bodyPr>
            <a:normAutofit/>
          </a:bodyPr>
          <a:lstStyle/>
          <a:p>
            <a:r>
              <a:rPr lang="en-US" dirty="0">
                <a:latin typeface="Arial" panose="020B0604020202020204" pitchFamily="34" charset="0"/>
                <a:cs typeface="Arial" panose="020B0604020202020204" pitchFamily="34" charset="0"/>
              </a:rPr>
              <a:t>STATS 507</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Data Analysis in Python</a:t>
            </a:r>
          </a:p>
        </p:txBody>
      </p:sp>
      <p:sp>
        <p:nvSpPr>
          <p:cNvPr id="3" name="Subtitle 2">
            <a:extLst>
              <a:ext uri="{FF2B5EF4-FFF2-40B4-BE49-F238E27FC236}">
                <a16:creationId xmlns:a16="http://schemas.microsoft.com/office/drawing/2014/main" id="{87194AEC-397F-89CB-6E4B-4A58284F1CBF}"/>
              </a:ext>
            </a:extLst>
          </p:cNvPr>
          <p:cNvSpPr>
            <a:spLocks noGrp="1"/>
          </p:cNvSpPr>
          <p:nvPr>
            <p:ph type="subTitle" idx="1"/>
          </p:nvPr>
        </p:nvSpPr>
        <p:spPr>
          <a:xfrm>
            <a:off x="1524000" y="3541490"/>
            <a:ext cx="9144000" cy="1655762"/>
          </a:xfrm>
        </p:spPr>
        <p:txBody>
          <a:bodyPr>
            <a:normAutofit/>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Week11-1: Intro to Deep Learning and </a:t>
            </a:r>
            <a:r>
              <a:rPr lang="en-US" dirty="0" err="1">
                <a:latin typeface="Arial" panose="020B0604020202020204" pitchFamily="34" charset="0"/>
                <a:cs typeface="Arial" panose="020B0604020202020204" pitchFamily="34" charset="0"/>
              </a:rPr>
              <a:t>PyTorch</a:t>
            </a:r>
            <a:endParaRPr lang="en-US"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Subtitle 2">
            <a:extLst>
              <a:ext uri="{FF2B5EF4-FFF2-40B4-BE49-F238E27FC236}">
                <a16:creationId xmlns:a16="http://schemas.microsoft.com/office/drawing/2014/main" id="{CADBE0F6-B6C7-5FC4-DC5E-CA04E44A60AE}"/>
              </a:ext>
            </a:extLst>
          </p:cNvPr>
          <p:cNvSpPr txBox="1">
            <a:spLocks/>
          </p:cNvSpPr>
          <p:nvPr/>
        </p:nvSpPr>
        <p:spPr>
          <a:xfrm>
            <a:off x="1524000" y="5487542"/>
            <a:ext cx="9144000" cy="114185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latin typeface="Arial" panose="020B0604020202020204" pitchFamily="34" charset="0"/>
                <a:cs typeface="Arial" panose="020B0604020202020204" pitchFamily="34" charset="0"/>
              </a:rPr>
              <a:t>Dr. Xian Zhang</a:t>
            </a:r>
          </a:p>
        </p:txBody>
      </p:sp>
    </p:spTree>
    <p:extLst>
      <p:ext uri="{BB962C8B-B14F-4D97-AF65-F5344CB8AC3E}">
        <p14:creationId xmlns:p14="http://schemas.microsoft.com/office/powerpoint/2010/main" val="1594597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A1A1A-EB9F-57CC-5DA0-2F1C2939DB2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1656C50-927A-B708-40C1-3932D97703C3}"/>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Recap: why resurgence of DL?</a:t>
            </a:r>
          </a:p>
        </p:txBody>
      </p:sp>
      <p:grpSp>
        <p:nvGrpSpPr>
          <p:cNvPr id="6" name="Group 5">
            <a:extLst>
              <a:ext uri="{FF2B5EF4-FFF2-40B4-BE49-F238E27FC236}">
                <a16:creationId xmlns:a16="http://schemas.microsoft.com/office/drawing/2014/main" id="{EBB7A027-CC9E-C71C-1D30-1352690B7FDC}"/>
              </a:ext>
            </a:extLst>
          </p:cNvPr>
          <p:cNvGrpSpPr/>
          <p:nvPr/>
        </p:nvGrpSpPr>
        <p:grpSpPr>
          <a:xfrm>
            <a:off x="9386453" y="1950340"/>
            <a:ext cx="2431472" cy="3690208"/>
            <a:chOff x="9386453" y="1950340"/>
            <a:chExt cx="2431472" cy="3690208"/>
          </a:xfrm>
        </p:grpSpPr>
        <p:sp>
          <p:nvSpPr>
            <p:cNvPr id="17" name="Rectangle 16">
              <a:extLst>
                <a:ext uri="{FF2B5EF4-FFF2-40B4-BE49-F238E27FC236}">
                  <a16:creationId xmlns:a16="http://schemas.microsoft.com/office/drawing/2014/main" id="{541229A0-5576-E50F-F5EB-536B61310045}"/>
                </a:ext>
              </a:extLst>
            </p:cNvPr>
            <p:cNvSpPr/>
            <p:nvPr/>
          </p:nvSpPr>
          <p:spPr>
            <a:xfrm>
              <a:off x="9386453" y="1950340"/>
              <a:ext cx="1842654" cy="40034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3. Software </a:t>
              </a:r>
            </a:p>
          </p:txBody>
        </p:sp>
        <p:pic>
          <p:nvPicPr>
            <p:cNvPr id="18" name="Picture 2" descr="pytorch vs tensorflow logo">
              <a:extLst>
                <a:ext uri="{FF2B5EF4-FFF2-40B4-BE49-F238E27FC236}">
                  <a16:creationId xmlns:a16="http://schemas.microsoft.com/office/drawing/2014/main" id="{77B1B7B2-25E6-769A-16AB-B6A871E028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7593" y="4564013"/>
              <a:ext cx="1614055" cy="1076535"/>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C1E3D6F0-2C9C-2C73-C6B4-4ABE37609636}"/>
                </a:ext>
              </a:extLst>
            </p:cNvPr>
            <p:cNvSpPr txBox="1">
              <a:spLocks/>
            </p:cNvSpPr>
            <p:nvPr/>
          </p:nvSpPr>
          <p:spPr>
            <a:xfrm>
              <a:off x="9386453" y="3005822"/>
              <a:ext cx="2431472" cy="15014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Arial" panose="020B0604020202020204" pitchFamily="34" charset="0"/>
                  <a:cs typeface="Arial" panose="020B0604020202020204" pitchFamily="34" charset="0"/>
                </a:rPr>
                <a:t>Improved techniques</a:t>
              </a:r>
            </a:p>
            <a:p>
              <a:r>
                <a:rPr lang="en-US" sz="1800" dirty="0">
                  <a:latin typeface="Arial" panose="020B0604020202020204" pitchFamily="34" charset="0"/>
                  <a:cs typeface="Arial" panose="020B0604020202020204" pitchFamily="34" charset="0"/>
                </a:rPr>
                <a:t>New models</a:t>
              </a:r>
            </a:p>
            <a:p>
              <a:r>
                <a:rPr lang="en-US" sz="1800" dirty="0">
                  <a:latin typeface="Arial" panose="020B0604020202020204" pitchFamily="34" charset="0"/>
                  <a:cs typeface="Arial" panose="020B0604020202020204" pitchFamily="34" charset="0"/>
                </a:rPr>
                <a:t>Toolboxes</a:t>
              </a:r>
            </a:p>
          </p:txBody>
        </p:sp>
      </p:grpSp>
      <p:sp>
        <p:nvSpPr>
          <p:cNvPr id="22" name="Subtitle 2">
            <a:extLst>
              <a:ext uri="{FF2B5EF4-FFF2-40B4-BE49-F238E27FC236}">
                <a16:creationId xmlns:a16="http://schemas.microsoft.com/office/drawing/2014/main" id="{65ABD8FB-CC86-2D7A-8742-84EFB1DBF734}"/>
              </a:ext>
            </a:extLst>
          </p:cNvPr>
          <p:cNvSpPr txBox="1">
            <a:spLocks/>
          </p:cNvSpPr>
          <p:nvPr/>
        </p:nvSpPr>
        <p:spPr>
          <a:xfrm>
            <a:off x="6286499" y="6237468"/>
            <a:ext cx="6615546" cy="51081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Alexander </a:t>
            </a:r>
            <a:r>
              <a:rPr lang="en-US" sz="1600" dirty="0" err="1">
                <a:latin typeface="Arial" panose="020B0604020202020204" pitchFamily="34" charset="0"/>
                <a:cs typeface="Arial" panose="020B0604020202020204" pitchFamily="34" charset="0"/>
              </a:rPr>
              <a:t>Amini</a:t>
            </a:r>
            <a:endParaRPr lang="en-US" sz="1600" dirty="0">
              <a:latin typeface="Arial" panose="020B0604020202020204" pitchFamily="34" charset="0"/>
              <a:cs typeface="Arial" panose="020B0604020202020204" pitchFamily="34" charset="0"/>
            </a:endParaRPr>
          </a:p>
          <a:p>
            <a:pPr marL="0" indent="0" algn="ctr">
              <a:buNone/>
            </a:pPr>
            <a:r>
              <a:rPr lang="en-US" sz="1600" dirty="0">
                <a:latin typeface="Arial" panose="020B0604020202020204" pitchFamily="34" charset="0"/>
                <a:cs typeface="Arial" panose="020B0604020202020204" pitchFamily="34" charset="0"/>
              </a:rPr>
              <a:t>Modified from  MIT open course: 6.S191</a:t>
            </a:r>
          </a:p>
        </p:txBody>
      </p:sp>
      <p:sp>
        <p:nvSpPr>
          <p:cNvPr id="23" name="Subtitle 2">
            <a:extLst>
              <a:ext uri="{FF2B5EF4-FFF2-40B4-BE49-F238E27FC236}">
                <a16:creationId xmlns:a16="http://schemas.microsoft.com/office/drawing/2014/main" id="{EEB1F750-FC78-AF33-7FD8-A94D598B78C5}"/>
              </a:ext>
            </a:extLst>
          </p:cNvPr>
          <p:cNvSpPr txBox="1">
            <a:spLocks/>
          </p:cNvSpPr>
          <p:nvPr/>
        </p:nvSpPr>
        <p:spPr>
          <a:xfrm>
            <a:off x="-86707" y="2815088"/>
            <a:ext cx="2207171" cy="525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1958</a:t>
            </a:r>
          </a:p>
        </p:txBody>
      </p:sp>
      <p:sp>
        <p:nvSpPr>
          <p:cNvPr id="24" name="Subtitle 2">
            <a:extLst>
              <a:ext uri="{FF2B5EF4-FFF2-40B4-BE49-F238E27FC236}">
                <a16:creationId xmlns:a16="http://schemas.microsoft.com/office/drawing/2014/main" id="{CC0F2FEB-E520-11BB-F7D2-740BBB0ABCB5}"/>
              </a:ext>
            </a:extLst>
          </p:cNvPr>
          <p:cNvSpPr txBox="1">
            <a:spLocks/>
          </p:cNvSpPr>
          <p:nvPr/>
        </p:nvSpPr>
        <p:spPr>
          <a:xfrm>
            <a:off x="-86708" y="2091559"/>
            <a:ext cx="2207171" cy="525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1952</a:t>
            </a:r>
          </a:p>
        </p:txBody>
      </p:sp>
      <p:sp>
        <p:nvSpPr>
          <p:cNvPr id="25" name="Subtitle 2">
            <a:extLst>
              <a:ext uri="{FF2B5EF4-FFF2-40B4-BE49-F238E27FC236}">
                <a16:creationId xmlns:a16="http://schemas.microsoft.com/office/drawing/2014/main" id="{FB8F3DD1-88AA-3B07-AA1E-DC597222D19E}"/>
              </a:ext>
            </a:extLst>
          </p:cNvPr>
          <p:cNvSpPr txBox="1">
            <a:spLocks/>
          </p:cNvSpPr>
          <p:nvPr/>
        </p:nvSpPr>
        <p:spPr>
          <a:xfrm>
            <a:off x="-86708" y="4064135"/>
            <a:ext cx="2207171" cy="525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1986</a:t>
            </a:r>
          </a:p>
        </p:txBody>
      </p:sp>
      <p:sp>
        <p:nvSpPr>
          <p:cNvPr id="26" name="Subtitle 2">
            <a:extLst>
              <a:ext uri="{FF2B5EF4-FFF2-40B4-BE49-F238E27FC236}">
                <a16:creationId xmlns:a16="http://schemas.microsoft.com/office/drawing/2014/main" id="{73EFE88C-8080-91B7-6426-49FC38ADA81A}"/>
              </a:ext>
            </a:extLst>
          </p:cNvPr>
          <p:cNvSpPr txBox="1">
            <a:spLocks/>
          </p:cNvSpPr>
          <p:nvPr/>
        </p:nvSpPr>
        <p:spPr>
          <a:xfrm>
            <a:off x="-54342" y="4799914"/>
            <a:ext cx="2207171" cy="525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1995</a:t>
            </a:r>
          </a:p>
        </p:txBody>
      </p:sp>
      <p:grpSp>
        <p:nvGrpSpPr>
          <p:cNvPr id="8" name="Group 7">
            <a:extLst>
              <a:ext uri="{FF2B5EF4-FFF2-40B4-BE49-F238E27FC236}">
                <a16:creationId xmlns:a16="http://schemas.microsoft.com/office/drawing/2014/main" id="{4A4B2186-5944-C378-DA49-56AA07AA1C95}"/>
              </a:ext>
            </a:extLst>
          </p:cNvPr>
          <p:cNvGrpSpPr/>
          <p:nvPr/>
        </p:nvGrpSpPr>
        <p:grpSpPr>
          <a:xfrm>
            <a:off x="838200" y="1954923"/>
            <a:ext cx="3387205" cy="4537951"/>
            <a:chOff x="838200" y="1954923"/>
            <a:chExt cx="3387205" cy="4537951"/>
          </a:xfrm>
        </p:grpSpPr>
        <p:sp>
          <p:nvSpPr>
            <p:cNvPr id="2" name="Down Arrow 1">
              <a:extLst>
                <a:ext uri="{FF2B5EF4-FFF2-40B4-BE49-F238E27FC236}">
                  <a16:creationId xmlns:a16="http://schemas.microsoft.com/office/drawing/2014/main" id="{68D75D3D-68E6-4083-A227-5C2AF249BEDC}"/>
                </a:ext>
              </a:extLst>
            </p:cNvPr>
            <p:cNvSpPr/>
            <p:nvPr/>
          </p:nvSpPr>
          <p:spPr>
            <a:xfrm>
              <a:off x="1271752" y="1954923"/>
              <a:ext cx="304801" cy="4537951"/>
            </a:xfrm>
            <a:prstGeom prst="downArrow">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0" name="Subtitle 2">
              <a:extLst>
                <a:ext uri="{FF2B5EF4-FFF2-40B4-BE49-F238E27FC236}">
                  <a16:creationId xmlns:a16="http://schemas.microsoft.com/office/drawing/2014/main" id="{89CD12C8-9A5F-6AB6-B09A-E337AD34544A}"/>
                </a:ext>
              </a:extLst>
            </p:cNvPr>
            <p:cNvSpPr txBox="1">
              <a:spLocks/>
            </p:cNvSpPr>
            <p:nvPr/>
          </p:nvSpPr>
          <p:spPr>
            <a:xfrm>
              <a:off x="1313308" y="2105414"/>
              <a:ext cx="2207171" cy="5255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Stochastic gradient descent </a:t>
              </a:r>
            </a:p>
          </p:txBody>
        </p:sp>
        <p:sp>
          <p:nvSpPr>
            <p:cNvPr id="11" name="Subtitle 2">
              <a:extLst>
                <a:ext uri="{FF2B5EF4-FFF2-40B4-BE49-F238E27FC236}">
                  <a16:creationId xmlns:a16="http://schemas.microsoft.com/office/drawing/2014/main" id="{09F03EA1-7E9F-A416-369D-A15B69BF484A}"/>
                </a:ext>
              </a:extLst>
            </p:cNvPr>
            <p:cNvSpPr txBox="1">
              <a:spLocks/>
            </p:cNvSpPr>
            <p:nvPr/>
          </p:nvSpPr>
          <p:spPr>
            <a:xfrm>
              <a:off x="1487215" y="2867231"/>
              <a:ext cx="2207171" cy="6701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cs typeface="Arial" panose="020B0604020202020204" pitchFamily="34" charset="0"/>
                </a:rPr>
                <a:t>Perceptron</a:t>
              </a:r>
            </a:p>
            <a:p>
              <a:r>
                <a:rPr lang="en-US" sz="1600" dirty="0">
                  <a:latin typeface="Arial" panose="020B0604020202020204" pitchFamily="34" charset="0"/>
                  <a:cs typeface="Arial" panose="020B0604020202020204" pitchFamily="34" charset="0"/>
                </a:rPr>
                <a:t>Learnable weights</a:t>
              </a:r>
            </a:p>
          </p:txBody>
        </p:sp>
        <p:sp>
          <p:nvSpPr>
            <p:cNvPr id="13" name="Subtitle 2">
              <a:extLst>
                <a:ext uri="{FF2B5EF4-FFF2-40B4-BE49-F238E27FC236}">
                  <a16:creationId xmlns:a16="http://schemas.microsoft.com/office/drawing/2014/main" id="{C56083BC-6AB9-F715-1ACC-18462C49300C}"/>
                </a:ext>
              </a:extLst>
            </p:cNvPr>
            <p:cNvSpPr txBox="1">
              <a:spLocks/>
            </p:cNvSpPr>
            <p:nvPr/>
          </p:nvSpPr>
          <p:spPr>
            <a:xfrm>
              <a:off x="1424152" y="4787665"/>
              <a:ext cx="2381078" cy="5255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Deep convolutional NN</a:t>
              </a:r>
            </a:p>
          </p:txBody>
        </p:sp>
        <p:sp>
          <p:nvSpPr>
            <p:cNvPr id="14" name="Subtitle 2">
              <a:extLst>
                <a:ext uri="{FF2B5EF4-FFF2-40B4-BE49-F238E27FC236}">
                  <a16:creationId xmlns:a16="http://schemas.microsoft.com/office/drawing/2014/main" id="{81CD9480-3A36-D530-53F7-3BFB531C9E9F}"/>
                </a:ext>
              </a:extLst>
            </p:cNvPr>
            <p:cNvSpPr txBox="1">
              <a:spLocks/>
            </p:cNvSpPr>
            <p:nvPr/>
          </p:nvSpPr>
          <p:spPr>
            <a:xfrm>
              <a:off x="1117065" y="5871055"/>
              <a:ext cx="3067315" cy="525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ChatGPT… (why now)</a:t>
              </a:r>
            </a:p>
          </p:txBody>
        </p:sp>
        <p:sp>
          <p:nvSpPr>
            <p:cNvPr id="27" name="Subtitle 2">
              <a:extLst>
                <a:ext uri="{FF2B5EF4-FFF2-40B4-BE49-F238E27FC236}">
                  <a16:creationId xmlns:a16="http://schemas.microsoft.com/office/drawing/2014/main" id="{EE1ACC8C-4A1D-8186-6357-33A5670EB8E5}"/>
                </a:ext>
              </a:extLst>
            </p:cNvPr>
            <p:cNvSpPr txBox="1">
              <a:spLocks/>
            </p:cNvSpPr>
            <p:nvPr/>
          </p:nvSpPr>
          <p:spPr>
            <a:xfrm>
              <a:off x="1487215" y="4050279"/>
              <a:ext cx="2738190" cy="8177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cs typeface="Arial" panose="020B0604020202020204" pitchFamily="34" charset="0"/>
                </a:rPr>
                <a:t>Back propagation </a:t>
              </a:r>
            </a:p>
            <a:p>
              <a:r>
                <a:rPr lang="en-US" sz="1600" dirty="0">
                  <a:latin typeface="Arial" panose="020B0604020202020204" pitchFamily="34" charset="0"/>
                  <a:cs typeface="Arial" panose="020B0604020202020204" pitchFamily="34" charset="0"/>
                </a:rPr>
                <a:t>Multi-Layer perceptron </a:t>
              </a:r>
            </a:p>
          </p:txBody>
        </p:sp>
        <p:pic>
          <p:nvPicPr>
            <p:cNvPr id="28" name="Picture 27">
              <a:extLst>
                <a:ext uri="{FF2B5EF4-FFF2-40B4-BE49-F238E27FC236}">
                  <a16:creationId xmlns:a16="http://schemas.microsoft.com/office/drawing/2014/main" id="{715A7A8C-D321-A329-E83C-0876867C4C2C}"/>
                </a:ext>
              </a:extLst>
            </p:cNvPr>
            <p:cNvPicPr>
              <a:picLocks noChangeAspect="1"/>
            </p:cNvPicPr>
            <p:nvPr/>
          </p:nvPicPr>
          <p:blipFill>
            <a:blip r:embed="rId4"/>
            <a:stretch>
              <a:fillRect/>
            </a:stretch>
          </p:blipFill>
          <p:spPr>
            <a:xfrm>
              <a:off x="838200" y="3422073"/>
              <a:ext cx="317500" cy="431800"/>
            </a:xfrm>
            <a:prstGeom prst="rect">
              <a:avLst/>
            </a:prstGeom>
          </p:spPr>
        </p:pic>
        <p:pic>
          <p:nvPicPr>
            <p:cNvPr id="29" name="Picture 28">
              <a:extLst>
                <a:ext uri="{FF2B5EF4-FFF2-40B4-BE49-F238E27FC236}">
                  <a16:creationId xmlns:a16="http://schemas.microsoft.com/office/drawing/2014/main" id="{F69C8BEF-3CF4-7927-C259-26E6BA7039EF}"/>
                </a:ext>
              </a:extLst>
            </p:cNvPr>
            <p:cNvPicPr>
              <a:picLocks noChangeAspect="1"/>
            </p:cNvPicPr>
            <p:nvPr/>
          </p:nvPicPr>
          <p:blipFill>
            <a:blip r:embed="rId4"/>
            <a:stretch>
              <a:fillRect/>
            </a:stretch>
          </p:blipFill>
          <p:spPr>
            <a:xfrm>
              <a:off x="871702" y="5232316"/>
              <a:ext cx="317500" cy="431800"/>
            </a:xfrm>
            <a:prstGeom prst="rect">
              <a:avLst/>
            </a:prstGeom>
          </p:spPr>
        </p:pic>
      </p:grpSp>
      <p:grpSp>
        <p:nvGrpSpPr>
          <p:cNvPr id="3" name="Group 2">
            <a:extLst>
              <a:ext uri="{FF2B5EF4-FFF2-40B4-BE49-F238E27FC236}">
                <a16:creationId xmlns:a16="http://schemas.microsoft.com/office/drawing/2014/main" id="{D8960F37-0D99-D032-C6CE-E726ED2F0B44}"/>
              </a:ext>
            </a:extLst>
          </p:cNvPr>
          <p:cNvGrpSpPr/>
          <p:nvPr/>
        </p:nvGrpSpPr>
        <p:grpSpPr>
          <a:xfrm>
            <a:off x="4707557" y="1954924"/>
            <a:ext cx="2431472" cy="4661863"/>
            <a:chOff x="4707557" y="1954924"/>
            <a:chExt cx="2431472" cy="4661863"/>
          </a:xfrm>
        </p:grpSpPr>
        <p:sp>
          <p:nvSpPr>
            <p:cNvPr id="15" name="Rectangle 14">
              <a:extLst>
                <a:ext uri="{FF2B5EF4-FFF2-40B4-BE49-F238E27FC236}">
                  <a16:creationId xmlns:a16="http://schemas.microsoft.com/office/drawing/2014/main" id="{9EA004BD-4094-B1B8-5B48-E3FB94C8E7AF}"/>
                </a:ext>
              </a:extLst>
            </p:cNvPr>
            <p:cNvSpPr/>
            <p:nvPr/>
          </p:nvSpPr>
          <p:spPr>
            <a:xfrm>
              <a:off x="4724398" y="1954924"/>
              <a:ext cx="1842654" cy="40034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1. Big data</a:t>
              </a:r>
            </a:p>
          </p:txBody>
        </p:sp>
        <p:sp>
          <p:nvSpPr>
            <p:cNvPr id="21" name="Subtitle 2">
              <a:extLst>
                <a:ext uri="{FF2B5EF4-FFF2-40B4-BE49-F238E27FC236}">
                  <a16:creationId xmlns:a16="http://schemas.microsoft.com/office/drawing/2014/main" id="{DBA92F16-BACF-C3FC-C2B8-4847CBFF3224}"/>
                </a:ext>
              </a:extLst>
            </p:cNvPr>
            <p:cNvSpPr txBox="1">
              <a:spLocks/>
            </p:cNvSpPr>
            <p:nvPr/>
          </p:nvSpPr>
          <p:spPr>
            <a:xfrm>
              <a:off x="4707557" y="2996654"/>
              <a:ext cx="2431472" cy="15014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Arial" panose="020B0604020202020204" pitchFamily="34" charset="0"/>
                  <a:cs typeface="Arial" panose="020B0604020202020204" pitchFamily="34" charset="0"/>
                </a:rPr>
                <a:t>Larger dataset</a:t>
              </a:r>
            </a:p>
            <a:p>
              <a:r>
                <a:rPr lang="en-US" sz="1800" dirty="0">
                  <a:latin typeface="Arial" panose="020B0604020202020204" pitchFamily="34" charset="0"/>
                  <a:cs typeface="Arial" panose="020B0604020202020204" pitchFamily="34" charset="0"/>
                </a:rPr>
                <a:t>Easier collection and storage</a:t>
              </a:r>
            </a:p>
          </p:txBody>
        </p:sp>
        <p:pic>
          <p:nvPicPr>
            <p:cNvPr id="7" name="Picture 6" descr="A logo with text on it&#10;&#10;Description automatically generated">
              <a:extLst>
                <a:ext uri="{FF2B5EF4-FFF2-40B4-BE49-F238E27FC236}">
                  <a16:creationId xmlns:a16="http://schemas.microsoft.com/office/drawing/2014/main" id="{A4237CD4-6E09-4E08-A57B-648C7407AA4C}"/>
                </a:ext>
              </a:extLst>
            </p:cNvPr>
            <p:cNvPicPr>
              <a:picLocks noChangeAspect="1"/>
            </p:cNvPicPr>
            <p:nvPr/>
          </p:nvPicPr>
          <p:blipFill>
            <a:blip r:embed="rId5"/>
            <a:stretch>
              <a:fillRect/>
            </a:stretch>
          </p:blipFill>
          <p:spPr>
            <a:xfrm>
              <a:off x="4865332" y="4498144"/>
              <a:ext cx="1752600" cy="514350"/>
            </a:xfrm>
            <a:prstGeom prst="rect">
              <a:avLst/>
            </a:prstGeom>
          </p:spPr>
        </p:pic>
        <p:pic>
          <p:nvPicPr>
            <p:cNvPr id="30" name="Picture 29" descr="A black text on a white background&#10;&#10;Description automatically generated">
              <a:extLst>
                <a:ext uri="{FF2B5EF4-FFF2-40B4-BE49-F238E27FC236}">
                  <a16:creationId xmlns:a16="http://schemas.microsoft.com/office/drawing/2014/main" id="{8B97A88B-43F6-C218-15C3-E2DA56D88A99}"/>
                </a:ext>
              </a:extLst>
            </p:cNvPr>
            <p:cNvPicPr>
              <a:picLocks noChangeAspect="1"/>
            </p:cNvPicPr>
            <p:nvPr/>
          </p:nvPicPr>
          <p:blipFill>
            <a:blip r:embed="rId6"/>
            <a:stretch>
              <a:fillRect/>
            </a:stretch>
          </p:blipFill>
          <p:spPr>
            <a:xfrm>
              <a:off x="4865332" y="5116982"/>
              <a:ext cx="1813881" cy="525517"/>
            </a:xfrm>
            <a:prstGeom prst="rect">
              <a:avLst/>
            </a:prstGeom>
          </p:spPr>
        </p:pic>
        <p:pic>
          <p:nvPicPr>
            <p:cNvPr id="32" name="Picture 31" descr="A black and white sign with white text&#10;&#10;Description automatically generated">
              <a:extLst>
                <a:ext uri="{FF2B5EF4-FFF2-40B4-BE49-F238E27FC236}">
                  <a16:creationId xmlns:a16="http://schemas.microsoft.com/office/drawing/2014/main" id="{6BCB505C-BD5A-B665-1A9F-AD59815A45DC}"/>
                </a:ext>
              </a:extLst>
            </p:cNvPr>
            <p:cNvPicPr>
              <a:picLocks noChangeAspect="1"/>
            </p:cNvPicPr>
            <p:nvPr/>
          </p:nvPicPr>
          <p:blipFill>
            <a:blip r:embed="rId7"/>
            <a:stretch>
              <a:fillRect/>
            </a:stretch>
          </p:blipFill>
          <p:spPr>
            <a:xfrm>
              <a:off x="4976656" y="5783137"/>
              <a:ext cx="399621" cy="221249"/>
            </a:xfrm>
            <a:prstGeom prst="rect">
              <a:avLst/>
            </a:prstGeom>
          </p:spPr>
        </p:pic>
        <p:pic>
          <p:nvPicPr>
            <p:cNvPr id="34" name="Picture 33" descr="A white car on a street with blue dots&#10;&#10;Description automatically generated">
              <a:extLst>
                <a:ext uri="{FF2B5EF4-FFF2-40B4-BE49-F238E27FC236}">
                  <a16:creationId xmlns:a16="http://schemas.microsoft.com/office/drawing/2014/main" id="{4D26AE13-09E7-8877-6A68-0F4A4F7E7C14}"/>
                </a:ext>
              </a:extLst>
            </p:cNvPr>
            <p:cNvPicPr>
              <a:picLocks noChangeAspect="1"/>
            </p:cNvPicPr>
            <p:nvPr/>
          </p:nvPicPr>
          <p:blipFill>
            <a:blip r:embed="rId8"/>
            <a:stretch>
              <a:fillRect/>
            </a:stretch>
          </p:blipFill>
          <p:spPr>
            <a:xfrm>
              <a:off x="5487644" y="5783136"/>
              <a:ext cx="798855" cy="833651"/>
            </a:xfrm>
            <a:prstGeom prst="rect">
              <a:avLst/>
            </a:prstGeom>
          </p:spPr>
        </p:pic>
      </p:grpSp>
      <p:grpSp>
        <p:nvGrpSpPr>
          <p:cNvPr id="5" name="Group 4">
            <a:extLst>
              <a:ext uri="{FF2B5EF4-FFF2-40B4-BE49-F238E27FC236}">
                <a16:creationId xmlns:a16="http://schemas.microsoft.com/office/drawing/2014/main" id="{9EA5763D-CDA7-51F3-DA32-C00FE77DD909}"/>
              </a:ext>
            </a:extLst>
          </p:cNvPr>
          <p:cNvGrpSpPr/>
          <p:nvPr/>
        </p:nvGrpSpPr>
        <p:grpSpPr>
          <a:xfrm>
            <a:off x="7038107" y="1954924"/>
            <a:ext cx="2431472" cy="4049463"/>
            <a:chOff x="7038107" y="1954924"/>
            <a:chExt cx="2431472" cy="4049463"/>
          </a:xfrm>
        </p:grpSpPr>
        <p:sp>
          <p:nvSpPr>
            <p:cNvPr id="16" name="Rectangle 15">
              <a:extLst>
                <a:ext uri="{FF2B5EF4-FFF2-40B4-BE49-F238E27FC236}">
                  <a16:creationId xmlns:a16="http://schemas.microsoft.com/office/drawing/2014/main" id="{B4F58295-999A-0510-08E4-DBA55CC956CB}"/>
                </a:ext>
              </a:extLst>
            </p:cNvPr>
            <p:cNvSpPr/>
            <p:nvPr/>
          </p:nvSpPr>
          <p:spPr>
            <a:xfrm>
              <a:off x="7038107" y="1954924"/>
              <a:ext cx="1842654" cy="40034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2. Hardware</a:t>
              </a:r>
            </a:p>
          </p:txBody>
        </p:sp>
        <p:sp>
          <p:nvSpPr>
            <p:cNvPr id="20" name="Subtitle 2">
              <a:extLst>
                <a:ext uri="{FF2B5EF4-FFF2-40B4-BE49-F238E27FC236}">
                  <a16:creationId xmlns:a16="http://schemas.microsoft.com/office/drawing/2014/main" id="{732CA6BD-B6E4-E790-BDE1-342C421F4AA3}"/>
                </a:ext>
              </a:extLst>
            </p:cNvPr>
            <p:cNvSpPr txBox="1">
              <a:spLocks/>
            </p:cNvSpPr>
            <p:nvPr/>
          </p:nvSpPr>
          <p:spPr>
            <a:xfrm>
              <a:off x="7038107" y="3001238"/>
              <a:ext cx="2431472" cy="15014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Arial" panose="020B0604020202020204" pitchFamily="34" charset="0"/>
                  <a:cs typeface="Arial" panose="020B0604020202020204" pitchFamily="34" charset="0"/>
                </a:rPr>
                <a:t>GPUs</a:t>
              </a:r>
            </a:p>
            <a:p>
              <a:r>
                <a:rPr lang="en-US" sz="1800" dirty="0">
                  <a:latin typeface="Arial" panose="020B0604020202020204" pitchFamily="34" charset="0"/>
                  <a:cs typeface="Arial" panose="020B0604020202020204" pitchFamily="34" charset="0"/>
                </a:rPr>
                <a:t>Massively parallelizable </a:t>
              </a:r>
            </a:p>
          </p:txBody>
        </p:sp>
        <p:pic>
          <p:nvPicPr>
            <p:cNvPr id="1026" name="Picture 2" descr="Nvidia Quadro Rtx 5000 16Gb, 4X Dp + 1X Virtual Link, Rt Cores, Tensor Cores, V2, Kit - With Extender - G8M19">
              <a:extLst>
                <a:ext uri="{FF2B5EF4-FFF2-40B4-BE49-F238E27FC236}">
                  <a16:creationId xmlns:a16="http://schemas.microsoft.com/office/drawing/2014/main" id="{5DBAA217-DA67-F020-3946-414E479C75DE}"/>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250396" y="4091051"/>
              <a:ext cx="1698086" cy="1913336"/>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Slide Number Placeholder 8">
            <a:extLst>
              <a:ext uri="{FF2B5EF4-FFF2-40B4-BE49-F238E27FC236}">
                <a16:creationId xmlns:a16="http://schemas.microsoft.com/office/drawing/2014/main" id="{854C7DEC-EEA2-B02B-F7A8-8F55D425F2C2}"/>
              </a:ext>
            </a:extLst>
          </p:cNvPr>
          <p:cNvSpPr>
            <a:spLocks noGrp="1"/>
          </p:cNvSpPr>
          <p:nvPr>
            <p:ph type="sldNum" sz="quarter" idx="12"/>
          </p:nvPr>
        </p:nvSpPr>
        <p:spPr/>
        <p:txBody>
          <a:bodyPr/>
          <a:lstStyle/>
          <a:p>
            <a:fld id="{B3533053-B928-004D-A0E8-A0A092123CEE}" type="slidenum">
              <a:rPr lang="en-US" smtClean="0"/>
              <a:t>1</a:t>
            </a:fld>
            <a:endParaRPr lang="en-US" dirty="0"/>
          </a:p>
        </p:txBody>
      </p:sp>
      <p:sp>
        <p:nvSpPr>
          <p:cNvPr id="12" name="Rectangle 11">
            <a:extLst>
              <a:ext uri="{FF2B5EF4-FFF2-40B4-BE49-F238E27FC236}">
                <a16:creationId xmlns:a16="http://schemas.microsoft.com/office/drawing/2014/main" id="{034A33B6-5FB8-3E38-A457-2BDF075332F7}"/>
              </a:ext>
            </a:extLst>
          </p:cNvPr>
          <p:cNvSpPr/>
          <p:nvPr/>
        </p:nvSpPr>
        <p:spPr>
          <a:xfrm>
            <a:off x="4225405" y="1690688"/>
            <a:ext cx="2812702" cy="50307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597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DF756-FA6A-5D57-8137-54181E835B0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67BA3AB-7D98-8806-0AD0-2E96A9CFEFF9}"/>
              </a:ext>
            </a:extLst>
          </p:cNvPr>
          <p:cNvSpPr>
            <a:spLocks noGrp="1"/>
          </p:cNvSpPr>
          <p:nvPr>
            <p:ph type="title"/>
          </p:nvPr>
        </p:nvSpPr>
        <p:spPr>
          <a:xfrm>
            <a:off x="838200" y="365125"/>
            <a:ext cx="11353800" cy="1325563"/>
          </a:xfrm>
        </p:spPr>
        <p:txBody>
          <a:bodyPr/>
          <a:lstStyle/>
          <a:p>
            <a:r>
              <a:rPr lang="en-US" dirty="0">
                <a:latin typeface="Arial" panose="020B0604020202020204" pitchFamily="34" charset="0"/>
                <a:cs typeface="Arial" panose="020B0604020202020204" pitchFamily="34" charset="0"/>
              </a:rPr>
              <a:t>What is a (relational) Database?</a:t>
            </a:r>
          </a:p>
        </p:txBody>
      </p:sp>
      <p:sp>
        <p:nvSpPr>
          <p:cNvPr id="40" name="Slide Number Placeholder 8">
            <a:extLst>
              <a:ext uri="{FF2B5EF4-FFF2-40B4-BE49-F238E27FC236}">
                <a16:creationId xmlns:a16="http://schemas.microsoft.com/office/drawing/2014/main" id="{9BAB8F80-116B-9843-8E95-C35DE43AC5D1}"/>
              </a:ext>
            </a:extLst>
          </p:cNvPr>
          <p:cNvSpPr>
            <a:spLocks noGrp="1"/>
          </p:cNvSpPr>
          <p:nvPr>
            <p:ph type="sldNum" sz="quarter" idx="12"/>
          </p:nvPr>
        </p:nvSpPr>
        <p:spPr>
          <a:xfrm>
            <a:off x="8610600" y="6356350"/>
            <a:ext cx="2743200" cy="365125"/>
          </a:xfrm>
        </p:spPr>
        <p:txBody>
          <a:bodyPr/>
          <a:lstStyle/>
          <a:p>
            <a:fld id="{B3533053-B928-004D-A0E8-A0A092123CEE}" type="slidenum">
              <a:rPr lang="en-US" smtClean="0"/>
              <a:t>2</a:t>
            </a:fld>
            <a:endParaRPr lang="en-US" dirty="0"/>
          </a:p>
        </p:txBody>
      </p:sp>
      <p:sp>
        <p:nvSpPr>
          <p:cNvPr id="5" name="Subtitle 2">
            <a:extLst>
              <a:ext uri="{FF2B5EF4-FFF2-40B4-BE49-F238E27FC236}">
                <a16:creationId xmlns:a16="http://schemas.microsoft.com/office/drawing/2014/main" id="{4CC838DC-4391-D1F0-92A5-2B40245F884B}"/>
              </a:ext>
            </a:extLst>
          </p:cNvPr>
          <p:cNvSpPr txBox="1">
            <a:spLocks/>
          </p:cNvSpPr>
          <p:nvPr/>
        </p:nvSpPr>
        <p:spPr>
          <a:xfrm>
            <a:off x="838200" y="1503967"/>
            <a:ext cx="10515601" cy="8090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u="sng" dirty="0">
                <a:solidFill>
                  <a:srgbClr val="C00000"/>
                </a:solidFill>
                <a:latin typeface="Arial" panose="020B0604020202020204" pitchFamily="34" charset="0"/>
                <a:cs typeface="Arial" panose="020B0604020202020204" pitchFamily="34" charset="0"/>
              </a:rPr>
              <a:t>Relational Database</a:t>
            </a:r>
            <a:r>
              <a:rPr lang="en-US" sz="2400" dirty="0">
                <a:latin typeface="Arial" panose="020B0604020202020204" pitchFamily="34" charset="0"/>
                <a:cs typeface="Arial" panose="020B0604020202020204" pitchFamily="34" charset="0"/>
              </a:rPr>
              <a:t>: a collection of tables (tabular data)</a:t>
            </a:r>
          </a:p>
        </p:txBody>
      </p:sp>
      <p:pic>
        <p:nvPicPr>
          <p:cNvPr id="7" name="Picture 6">
            <a:extLst>
              <a:ext uri="{FF2B5EF4-FFF2-40B4-BE49-F238E27FC236}">
                <a16:creationId xmlns:a16="http://schemas.microsoft.com/office/drawing/2014/main" id="{9DAFDAAC-F94F-F4EC-360A-A360E091FA17}"/>
              </a:ext>
            </a:extLst>
          </p:cNvPr>
          <p:cNvPicPr>
            <a:picLocks noChangeAspect="1"/>
          </p:cNvPicPr>
          <p:nvPr/>
        </p:nvPicPr>
        <p:blipFill>
          <a:blip r:embed="rId3"/>
          <a:stretch>
            <a:fillRect/>
          </a:stretch>
        </p:blipFill>
        <p:spPr>
          <a:xfrm>
            <a:off x="1670957" y="2159361"/>
            <a:ext cx="7772400" cy="2385588"/>
          </a:xfrm>
          <a:prstGeom prst="rect">
            <a:avLst/>
          </a:prstGeom>
        </p:spPr>
      </p:pic>
      <p:sp>
        <p:nvSpPr>
          <p:cNvPr id="9" name="Subtitle 2">
            <a:extLst>
              <a:ext uri="{FF2B5EF4-FFF2-40B4-BE49-F238E27FC236}">
                <a16:creationId xmlns:a16="http://schemas.microsoft.com/office/drawing/2014/main" id="{4D24F0AA-1692-350F-F2D0-E118A5C21947}"/>
              </a:ext>
            </a:extLst>
          </p:cNvPr>
          <p:cNvSpPr txBox="1">
            <a:spLocks/>
          </p:cNvSpPr>
          <p:nvPr/>
        </p:nvSpPr>
        <p:spPr>
          <a:xfrm>
            <a:off x="838198" y="4690021"/>
            <a:ext cx="10515601" cy="13280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Arial" panose="020B0604020202020204" pitchFamily="34" charset="0"/>
                <a:cs typeface="Arial" panose="020B0604020202020204" pitchFamily="34" charset="0"/>
              </a:rPr>
              <a:t>Each </a:t>
            </a:r>
            <a:r>
              <a:rPr lang="en-US" sz="2400" b="1" dirty="0">
                <a:solidFill>
                  <a:srgbClr val="C00000"/>
                </a:solidFill>
                <a:latin typeface="Arial" panose="020B0604020202020204" pitchFamily="34" charset="0"/>
                <a:cs typeface="Arial" panose="020B0604020202020204" pitchFamily="34" charset="0"/>
              </a:rPr>
              <a:t>row</a:t>
            </a:r>
            <a:r>
              <a:rPr lang="en-US" sz="2400" dirty="0">
                <a:latin typeface="Arial" panose="020B0604020202020204" pitchFamily="34" charset="0"/>
                <a:cs typeface="Arial" panose="020B0604020202020204" pitchFamily="34" charset="0"/>
              </a:rPr>
              <a:t> in a table holds data that describes either:</a:t>
            </a:r>
          </a:p>
          <a:p>
            <a:pPr lvl="1"/>
            <a:r>
              <a:rPr lang="en-US" sz="2000" dirty="0">
                <a:latin typeface="Arial" panose="020B0604020202020204" pitchFamily="34" charset="0"/>
                <a:cs typeface="Arial" panose="020B0604020202020204" pitchFamily="34" charset="0"/>
              </a:rPr>
              <a:t>An </a:t>
            </a:r>
            <a:r>
              <a:rPr lang="en-US" sz="2000" u="sng" dirty="0">
                <a:latin typeface="Arial" panose="020B0604020202020204" pitchFamily="34" charset="0"/>
                <a:cs typeface="Arial" panose="020B0604020202020204" pitchFamily="34" charset="0"/>
              </a:rPr>
              <a:t>entity</a:t>
            </a:r>
            <a:r>
              <a:rPr lang="en-US" sz="2000" dirty="0">
                <a:latin typeface="Arial" panose="020B0604020202020204" pitchFamily="34" charset="0"/>
                <a:cs typeface="Arial" panose="020B0604020202020204" pitchFamily="34" charset="0"/>
              </a:rPr>
              <a:t> </a:t>
            </a:r>
          </a:p>
          <a:p>
            <a:pPr lvl="1"/>
            <a:r>
              <a:rPr lang="en-US" sz="2000" dirty="0">
                <a:latin typeface="Arial" panose="020B0604020202020204" pitchFamily="34" charset="0"/>
                <a:cs typeface="Arial" panose="020B0604020202020204" pitchFamily="34" charset="0"/>
              </a:rPr>
              <a:t>A </a:t>
            </a:r>
            <a:r>
              <a:rPr lang="en-US" sz="2000" u="sng" dirty="0">
                <a:latin typeface="Arial" panose="020B0604020202020204" pitchFamily="34" charset="0"/>
                <a:cs typeface="Arial" panose="020B0604020202020204" pitchFamily="34" charset="0"/>
              </a:rPr>
              <a:t>relationship</a:t>
            </a:r>
            <a:r>
              <a:rPr lang="en-US" sz="2000" dirty="0">
                <a:latin typeface="Arial" panose="020B0604020202020204" pitchFamily="34" charset="0"/>
                <a:cs typeface="Arial" panose="020B0604020202020204" pitchFamily="34" charset="0"/>
              </a:rPr>
              <a:t> between two or more entities </a:t>
            </a:r>
          </a:p>
        </p:txBody>
      </p:sp>
      <p:sp>
        <p:nvSpPr>
          <p:cNvPr id="10" name="Subtitle 2">
            <a:extLst>
              <a:ext uri="{FF2B5EF4-FFF2-40B4-BE49-F238E27FC236}">
                <a16:creationId xmlns:a16="http://schemas.microsoft.com/office/drawing/2014/main" id="{76217F4D-0A55-5498-9BE3-3F349BD0BCA4}"/>
              </a:ext>
            </a:extLst>
          </p:cNvPr>
          <p:cNvSpPr txBox="1">
            <a:spLocks/>
          </p:cNvSpPr>
          <p:nvPr/>
        </p:nvSpPr>
        <p:spPr>
          <a:xfrm>
            <a:off x="838197" y="5892781"/>
            <a:ext cx="10515601" cy="10291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Arial" panose="020B0604020202020204" pitchFamily="34" charset="0"/>
                <a:cs typeface="Arial" panose="020B0604020202020204" pitchFamily="34" charset="0"/>
              </a:rPr>
              <a:t>Each </a:t>
            </a:r>
            <a:r>
              <a:rPr lang="en-US" sz="2400" b="1" dirty="0">
                <a:solidFill>
                  <a:srgbClr val="C00000"/>
                </a:solidFill>
                <a:latin typeface="Arial" panose="020B0604020202020204" pitchFamily="34" charset="0"/>
                <a:cs typeface="Arial" panose="020B0604020202020204" pitchFamily="34" charset="0"/>
              </a:rPr>
              <a:t>column</a:t>
            </a:r>
            <a:r>
              <a:rPr lang="en-US" sz="2400" dirty="0">
                <a:latin typeface="Arial" panose="020B0604020202020204" pitchFamily="34" charset="0"/>
                <a:cs typeface="Arial" panose="020B0604020202020204" pitchFamily="34" charset="0"/>
              </a:rPr>
              <a:t> in a table represents one </a:t>
            </a:r>
            <a:r>
              <a:rPr lang="en-US" sz="2400" b="1" dirty="0">
                <a:solidFill>
                  <a:srgbClr val="C00000"/>
                </a:solidFill>
                <a:latin typeface="Arial" panose="020B0604020202020204" pitchFamily="34" charset="0"/>
                <a:cs typeface="Arial" panose="020B0604020202020204" pitchFamily="34" charset="0"/>
              </a:rPr>
              <a:t>attribute</a:t>
            </a:r>
            <a:r>
              <a:rPr lang="en-US" sz="2400" dirty="0">
                <a:latin typeface="Arial" panose="020B0604020202020204" pitchFamily="34" charset="0"/>
                <a:cs typeface="Arial" panose="020B0604020202020204" pitchFamily="34" charset="0"/>
              </a:rPr>
              <a:t> of an entity</a:t>
            </a:r>
          </a:p>
          <a:p>
            <a:pPr lvl="1"/>
            <a:r>
              <a:rPr lang="en-US" sz="2000" dirty="0">
                <a:latin typeface="Arial" panose="020B0604020202020204" pitchFamily="34" charset="0"/>
                <a:cs typeface="Arial" panose="020B0604020202020204" pitchFamily="34" charset="0"/>
              </a:rPr>
              <a:t>Each column has a </a:t>
            </a:r>
            <a:r>
              <a:rPr lang="en-US" sz="2000" u="sng" dirty="0">
                <a:latin typeface="Arial" panose="020B0604020202020204" pitchFamily="34" charset="0"/>
                <a:cs typeface="Arial" panose="020B0604020202020204" pitchFamily="34" charset="0"/>
              </a:rPr>
              <a:t>domain</a:t>
            </a:r>
            <a:r>
              <a:rPr lang="en-US" sz="2000" dirty="0">
                <a:latin typeface="Arial" panose="020B0604020202020204" pitchFamily="34" charset="0"/>
                <a:cs typeface="Arial" panose="020B0604020202020204" pitchFamily="34" charset="0"/>
              </a:rPr>
              <a:t> of possible values</a:t>
            </a:r>
          </a:p>
        </p:txBody>
      </p:sp>
    </p:spTree>
    <p:extLst>
      <p:ext uri="{BB962C8B-B14F-4D97-AF65-F5344CB8AC3E}">
        <p14:creationId xmlns:p14="http://schemas.microsoft.com/office/powerpoint/2010/main" val="348599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37CEA-1CAA-28F8-B03C-B4AD1589A27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AA22E90-4DDD-10D5-F08C-A081960891D0}"/>
              </a:ext>
            </a:extLst>
          </p:cNvPr>
          <p:cNvSpPr>
            <a:spLocks noGrp="1"/>
          </p:cNvSpPr>
          <p:nvPr>
            <p:ph type="title"/>
          </p:nvPr>
        </p:nvSpPr>
        <p:spPr>
          <a:xfrm>
            <a:off x="838200" y="365125"/>
            <a:ext cx="11353800" cy="1325563"/>
          </a:xfrm>
        </p:spPr>
        <p:txBody>
          <a:bodyPr/>
          <a:lstStyle/>
          <a:p>
            <a:r>
              <a:rPr lang="en-US" dirty="0">
                <a:latin typeface="Arial" panose="020B0604020202020204" pitchFamily="34" charset="0"/>
                <a:cs typeface="Arial" panose="020B0604020202020204" pitchFamily="34" charset="0"/>
              </a:rPr>
              <a:t>Writing Query with SQL?</a:t>
            </a:r>
          </a:p>
        </p:txBody>
      </p:sp>
      <p:sp>
        <p:nvSpPr>
          <p:cNvPr id="40" name="Slide Number Placeholder 8">
            <a:extLst>
              <a:ext uri="{FF2B5EF4-FFF2-40B4-BE49-F238E27FC236}">
                <a16:creationId xmlns:a16="http://schemas.microsoft.com/office/drawing/2014/main" id="{1BA04B4A-707A-0E95-40FB-DAE4ECAF6094}"/>
              </a:ext>
            </a:extLst>
          </p:cNvPr>
          <p:cNvSpPr>
            <a:spLocks noGrp="1"/>
          </p:cNvSpPr>
          <p:nvPr>
            <p:ph type="sldNum" sz="quarter" idx="12"/>
          </p:nvPr>
        </p:nvSpPr>
        <p:spPr>
          <a:xfrm>
            <a:off x="8610600" y="6356350"/>
            <a:ext cx="2743200" cy="365125"/>
          </a:xfrm>
        </p:spPr>
        <p:txBody>
          <a:bodyPr/>
          <a:lstStyle/>
          <a:p>
            <a:fld id="{B3533053-B928-004D-A0E8-A0A092123CEE}" type="slidenum">
              <a:rPr lang="en-US" smtClean="0"/>
              <a:t>3</a:t>
            </a:fld>
            <a:endParaRPr lang="en-US" dirty="0"/>
          </a:p>
        </p:txBody>
      </p:sp>
      <p:sp>
        <p:nvSpPr>
          <p:cNvPr id="3" name="Subtitle 2">
            <a:extLst>
              <a:ext uri="{FF2B5EF4-FFF2-40B4-BE49-F238E27FC236}">
                <a16:creationId xmlns:a16="http://schemas.microsoft.com/office/drawing/2014/main" id="{659DFFE8-2DC1-81F5-CBD8-D39B1CB6A6D1}"/>
              </a:ext>
            </a:extLst>
          </p:cNvPr>
          <p:cNvSpPr txBox="1">
            <a:spLocks/>
          </p:cNvSpPr>
          <p:nvPr/>
        </p:nvSpPr>
        <p:spPr>
          <a:xfrm>
            <a:off x="626900" y="1706479"/>
            <a:ext cx="10515601" cy="8090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u="sng" dirty="0">
                <a:solidFill>
                  <a:srgbClr val="C00000"/>
                </a:solidFill>
                <a:latin typeface="Arial" panose="020B0604020202020204" pitchFamily="34" charset="0"/>
                <a:cs typeface="Arial" panose="020B0604020202020204" pitchFamily="34" charset="0"/>
              </a:rPr>
              <a:t>Structured</a:t>
            </a:r>
            <a:r>
              <a:rPr lang="en-US" sz="2400" dirty="0">
                <a:latin typeface="Arial" panose="020B0604020202020204" pitchFamily="34" charset="0"/>
                <a:cs typeface="Arial" panose="020B0604020202020204" pitchFamily="34" charset="0"/>
              </a:rPr>
              <a:t> Query Language: A language via which you can </a:t>
            </a:r>
            <a:r>
              <a:rPr lang="en-US" sz="2400" u="sng" dirty="0">
                <a:latin typeface="Arial" panose="020B0604020202020204" pitchFamily="34" charset="0"/>
                <a:cs typeface="Arial" panose="020B0604020202020204" pitchFamily="34" charset="0"/>
              </a:rPr>
              <a:t>create</a:t>
            </a:r>
            <a:r>
              <a:rPr lang="en-US" sz="2400" dirty="0">
                <a:latin typeface="Arial" panose="020B0604020202020204" pitchFamily="34" charset="0"/>
                <a:cs typeface="Arial" panose="020B0604020202020204" pitchFamily="34" charset="0"/>
              </a:rPr>
              <a:t>, </a:t>
            </a:r>
            <a:r>
              <a:rPr lang="en-US" sz="2400" b="1" u="sng" dirty="0">
                <a:solidFill>
                  <a:srgbClr val="C00000"/>
                </a:solidFill>
                <a:latin typeface="Arial" panose="020B0604020202020204" pitchFamily="34" charset="0"/>
                <a:cs typeface="Arial" panose="020B0604020202020204" pitchFamily="34" charset="0"/>
              </a:rPr>
              <a:t>read</a:t>
            </a:r>
            <a:r>
              <a:rPr lang="en-US" sz="2400" dirty="0">
                <a:latin typeface="Arial" panose="020B0604020202020204" pitchFamily="34" charset="0"/>
                <a:cs typeface="Arial" panose="020B0604020202020204" pitchFamily="34" charset="0"/>
              </a:rPr>
              <a:t>, </a:t>
            </a:r>
            <a:r>
              <a:rPr lang="en-US" sz="2400" u="sng" dirty="0">
                <a:latin typeface="Arial" panose="020B0604020202020204" pitchFamily="34" charset="0"/>
                <a:cs typeface="Arial" panose="020B0604020202020204" pitchFamily="34" charset="0"/>
              </a:rPr>
              <a:t>update</a:t>
            </a:r>
            <a:r>
              <a:rPr lang="en-US" sz="2400" dirty="0">
                <a:latin typeface="Arial" panose="020B0604020202020204" pitchFamily="34" charset="0"/>
                <a:cs typeface="Arial" panose="020B0604020202020204" pitchFamily="34" charset="0"/>
              </a:rPr>
              <a:t>, and </a:t>
            </a:r>
            <a:r>
              <a:rPr lang="en-US" sz="2400" u="sng" dirty="0">
                <a:latin typeface="Arial" panose="020B0604020202020204" pitchFamily="34" charset="0"/>
                <a:cs typeface="Arial" panose="020B0604020202020204" pitchFamily="34" charset="0"/>
              </a:rPr>
              <a:t>delete</a:t>
            </a:r>
            <a:r>
              <a:rPr lang="en-US" sz="2400" dirty="0">
                <a:latin typeface="Arial" panose="020B0604020202020204" pitchFamily="34" charset="0"/>
                <a:cs typeface="Arial" panose="020B0604020202020204" pitchFamily="34" charset="0"/>
              </a:rPr>
              <a:t> data in a database. </a:t>
            </a:r>
          </a:p>
        </p:txBody>
      </p:sp>
      <p:grpSp>
        <p:nvGrpSpPr>
          <p:cNvPr id="12" name="Group 11">
            <a:extLst>
              <a:ext uri="{FF2B5EF4-FFF2-40B4-BE49-F238E27FC236}">
                <a16:creationId xmlns:a16="http://schemas.microsoft.com/office/drawing/2014/main" id="{FF7F098F-FEA5-272F-8053-7D4E9DD1CD7E}"/>
              </a:ext>
            </a:extLst>
          </p:cNvPr>
          <p:cNvGrpSpPr/>
          <p:nvPr/>
        </p:nvGrpSpPr>
        <p:grpSpPr>
          <a:xfrm>
            <a:off x="626900" y="5775312"/>
            <a:ext cx="11572100" cy="763600"/>
            <a:chOff x="626900" y="4953964"/>
            <a:chExt cx="11572100" cy="763600"/>
          </a:xfrm>
        </p:grpSpPr>
        <p:sp>
          <p:nvSpPr>
            <p:cNvPr id="10" name="Google Shape;184;p18">
              <a:extLst>
                <a:ext uri="{FF2B5EF4-FFF2-40B4-BE49-F238E27FC236}">
                  <a16:creationId xmlns:a16="http://schemas.microsoft.com/office/drawing/2014/main" id="{C854D93C-D397-73EB-EB23-FDF77147F0D2}"/>
                </a:ext>
              </a:extLst>
            </p:cNvPr>
            <p:cNvSpPr txBox="1">
              <a:spLocks/>
            </p:cNvSpPr>
            <p:nvPr/>
          </p:nvSpPr>
          <p:spPr>
            <a:xfrm>
              <a:off x="626900" y="4953964"/>
              <a:ext cx="11360800" cy="763600"/>
            </a:xfrm>
            <a:prstGeom prst="rect">
              <a:avLst/>
            </a:prstGeom>
            <a:noFill/>
            <a:ln>
              <a:noFill/>
            </a:ln>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600" dirty="0">
                  <a:latin typeface="Arial" panose="020B0604020202020204" pitchFamily="34" charset="0"/>
                  <a:cs typeface="Arial" panose="020B0604020202020204" pitchFamily="34" charset="0"/>
                </a:rPr>
                <a:t>Ordering:</a:t>
              </a:r>
              <a:r>
                <a:rPr lang="en-US" sz="2600" dirty="0">
                  <a:latin typeface="Courier New"/>
                  <a:ea typeface="Courier New"/>
                  <a:cs typeface="Courier New"/>
                  <a:sym typeface="Courier New"/>
                </a:rPr>
                <a:t> ORDER BY</a:t>
              </a:r>
              <a:endParaRPr lang="en-US" sz="2600" dirty="0">
                <a:latin typeface="Arial" panose="020B0604020202020204" pitchFamily="34" charset="0"/>
                <a:cs typeface="Arial" panose="020B0604020202020204" pitchFamily="34" charset="0"/>
              </a:endParaRPr>
            </a:p>
          </p:txBody>
        </p:sp>
        <p:sp>
          <p:nvSpPr>
            <p:cNvPr id="11" name="Google Shape;185;p18">
              <a:extLst>
                <a:ext uri="{FF2B5EF4-FFF2-40B4-BE49-F238E27FC236}">
                  <a16:creationId xmlns:a16="http://schemas.microsoft.com/office/drawing/2014/main" id="{8A54A9C0-1CAE-F00A-B754-2DDF8EC65263}"/>
                </a:ext>
              </a:extLst>
            </p:cNvPr>
            <p:cNvSpPr txBox="1">
              <a:spLocks/>
            </p:cNvSpPr>
            <p:nvPr/>
          </p:nvSpPr>
          <p:spPr>
            <a:xfrm>
              <a:off x="838200" y="5043482"/>
              <a:ext cx="11360800" cy="607477"/>
            </a:xfrm>
            <a:prstGeom prst="rect">
              <a:avLst/>
            </a:prstGeom>
            <a:noFill/>
            <a:ln>
              <a:noFill/>
            </a:ln>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133"/>
                </a:spcBef>
                <a:buFont typeface="Arial" panose="020B0604020202020204" pitchFamily="34" charset="0"/>
                <a:buNone/>
              </a:pPr>
              <a:r>
                <a:rPr lang="en" sz="2400" dirty="0">
                  <a:latin typeface="Courier New"/>
                  <a:ea typeface="Courier New"/>
                  <a:cs typeface="Courier New"/>
                  <a:sym typeface="Courier New"/>
                </a:rPr>
                <a:t>SELECT [columns] FROM [table] ORDER BY [column] [ASC|DESC]</a:t>
              </a:r>
            </a:p>
          </p:txBody>
        </p:sp>
      </p:grpSp>
      <p:grpSp>
        <p:nvGrpSpPr>
          <p:cNvPr id="15" name="Group 14">
            <a:extLst>
              <a:ext uri="{FF2B5EF4-FFF2-40B4-BE49-F238E27FC236}">
                <a16:creationId xmlns:a16="http://schemas.microsoft.com/office/drawing/2014/main" id="{2FB6DC89-CF7A-DEE9-975A-3A5840DF7C32}"/>
              </a:ext>
            </a:extLst>
          </p:cNvPr>
          <p:cNvGrpSpPr/>
          <p:nvPr/>
        </p:nvGrpSpPr>
        <p:grpSpPr>
          <a:xfrm>
            <a:off x="626900" y="3547842"/>
            <a:ext cx="11360800" cy="935161"/>
            <a:chOff x="838200" y="3531918"/>
            <a:chExt cx="11360800" cy="1004753"/>
          </a:xfrm>
        </p:grpSpPr>
        <p:sp>
          <p:nvSpPr>
            <p:cNvPr id="7" name="Google Shape;160;p15">
              <a:extLst>
                <a:ext uri="{FF2B5EF4-FFF2-40B4-BE49-F238E27FC236}">
                  <a16:creationId xmlns:a16="http://schemas.microsoft.com/office/drawing/2014/main" id="{CD43A550-0993-1F9E-AE6F-54A2BE5556F6}"/>
                </a:ext>
              </a:extLst>
            </p:cNvPr>
            <p:cNvSpPr txBox="1">
              <a:spLocks/>
            </p:cNvSpPr>
            <p:nvPr/>
          </p:nvSpPr>
          <p:spPr>
            <a:xfrm>
              <a:off x="838200" y="3531918"/>
              <a:ext cx="11360800" cy="959678"/>
            </a:xfrm>
            <a:prstGeom prst="rect">
              <a:avLst/>
            </a:prstGeom>
            <a:noFill/>
            <a:ln>
              <a:noFill/>
            </a:ln>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Arial" panose="020B0604020202020204" pitchFamily="34" charset="0"/>
                  <a:cs typeface="Arial" panose="020B0604020202020204" pitchFamily="34" charset="0"/>
                </a:rPr>
                <a:t>Filter: </a:t>
              </a:r>
              <a:r>
                <a:rPr lang="en-US" sz="2400" dirty="0">
                  <a:latin typeface="Courier New"/>
                  <a:ea typeface="Courier New"/>
                  <a:cs typeface="Courier New"/>
                  <a:sym typeface="Courier New"/>
                </a:rPr>
                <a:t>WHERE</a:t>
              </a:r>
              <a:endParaRPr lang="en-US" sz="24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DE7804B-A687-D1FB-74E3-517136A07D08}"/>
                </a:ext>
              </a:extLst>
            </p:cNvPr>
            <p:cNvSpPr txBox="1"/>
            <p:nvPr/>
          </p:nvSpPr>
          <p:spPr>
            <a:xfrm>
              <a:off x="1064367" y="4075006"/>
              <a:ext cx="9401783" cy="461665"/>
            </a:xfrm>
            <a:prstGeom prst="rect">
              <a:avLst/>
            </a:prstGeom>
            <a:noFill/>
          </p:spPr>
          <p:txBody>
            <a:bodyPr wrap="square">
              <a:spAutoFit/>
            </a:bodyPr>
            <a:lstStyle/>
            <a:p>
              <a:r>
                <a:rPr lang="en-US" sz="2400" dirty="0">
                  <a:latin typeface="Courier New"/>
                  <a:ea typeface="Courier New"/>
                  <a:cs typeface="Courier New"/>
                  <a:sym typeface="Courier New"/>
                </a:rPr>
                <a:t>SELECT [column names] FROM [table] WHERE [filter]</a:t>
              </a:r>
              <a:endParaRPr lang="en-US" sz="2400" dirty="0"/>
            </a:p>
          </p:txBody>
        </p:sp>
      </p:grpSp>
      <p:grpSp>
        <p:nvGrpSpPr>
          <p:cNvPr id="17" name="Group 16">
            <a:extLst>
              <a:ext uri="{FF2B5EF4-FFF2-40B4-BE49-F238E27FC236}">
                <a16:creationId xmlns:a16="http://schemas.microsoft.com/office/drawing/2014/main" id="{A7DF84C8-55DA-010C-CFAE-EB0549012877}"/>
              </a:ext>
            </a:extLst>
          </p:cNvPr>
          <p:cNvGrpSpPr/>
          <p:nvPr/>
        </p:nvGrpSpPr>
        <p:grpSpPr>
          <a:xfrm>
            <a:off x="626900" y="4495645"/>
            <a:ext cx="11879324" cy="1269903"/>
            <a:chOff x="626900" y="4599875"/>
            <a:chExt cx="11879324" cy="1269903"/>
          </a:xfrm>
        </p:grpSpPr>
        <p:sp>
          <p:nvSpPr>
            <p:cNvPr id="9" name="Google Shape;241;p25">
              <a:extLst>
                <a:ext uri="{FF2B5EF4-FFF2-40B4-BE49-F238E27FC236}">
                  <a16:creationId xmlns:a16="http://schemas.microsoft.com/office/drawing/2014/main" id="{BCEA8A8F-01AE-543D-62DE-8610CE5A03A7}"/>
                </a:ext>
              </a:extLst>
            </p:cNvPr>
            <p:cNvSpPr txBox="1">
              <a:spLocks/>
            </p:cNvSpPr>
            <p:nvPr/>
          </p:nvSpPr>
          <p:spPr>
            <a:xfrm>
              <a:off x="626900" y="4599875"/>
              <a:ext cx="11360800" cy="763600"/>
            </a:xfrm>
            <a:prstGeom prst="rect">
              <a:avLst/>
            </a:prstGeom>
            <a:noFill/>
            <a:ln>
              <a:noFill/>
            </a:ln>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Aggregating: </a:t>
              </a:r>
              <a:r>
                <a:rPr lang="en-US" sz="2400" dirty="0">
                  <a:latin typeface="Courier New"/>
                  <a:ea typeface="Courier New"/>
                  <a:cs typeface="Courier New"/>
                  <a:sym typeface="Courier New"/>
                </a:rPr>
                <a:t>GROUP BY</a:t>
              </a:r>
            </a:p>
          </p:txBody>
        </p:sp>
        <p:sp>
          <p:nvSpPr>
            <p:cNvPr id="16" name="Google Shape;244;p25">
              <a:extLst>
                <a:ext uri="{FF2B5EF4-FFF2-40B4-BE49-F238E27FC236}">
                  <a16:creationId xmlns:a16="http://schemas.microsoft.com/office/drawing/2014/main" id="{1A4EA1C6-58EC-8E49-B358-56AD50336387}"/>
                </a:ext>
              </a:extLst>
            </p:cNvPr>
            <p:cNvSpPr txBox="1"/>
            <p:nvPr/>
          </p:nvSpPr>
          <p:spPr>
            <a:xfrm>
              <a:off x="853067" y="4923778"/>
              <a:ext cx="11653157" cy="9460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 sz="2400" dirty="0">
                  <a:solidFill>
                    <a:srgbClr val="000000"/>
                  </a:solidFill>
                  <a:latin typeface="Courier New"/>
                  <a:ea typeface="Courier New"/>
                  <a:cs typeface="Courier New"/>
                  <a:sym typeface="Courier New"/>
                </a:rPr>
                <a:t>SELECT </a:t>
              </a:r>
              <a:r>
                <a:rPr lang="en-US" sz="2400" dirty="0">
                  <a:latin typeface="Courier New"/>
                  <a:ea typeface="Courier New"/>
                  <a:cs typeface="Courier New"/>
                  <a:sym typeface="Courier New"/>
                </a:rPr>
                <a:t>[column names]</a:t>
              </a:r>
              <a:r>
                <a:rPr lang="en" sz="2400" dirty="0">
                  <a:solidFill>
                    <a:srgbClr val="000000"/>
                  </a:solidFill>
                  <a:latin typeface="Courier New"/>
                  <a:ea typeface="Courier New"/>
                  <a:cs typeface="Courier New"/>
                  <a:sym typeface="Courier New"/>
                </a:rPr>
                <a:t>,[</a:t>
              </a:r>
              <a:r>
                <a:rPr lang="en" sz="2400" dirty="0" err="1">
                  <a:solidFill>
                    <a:srgbClr val="000000"/>
                  </a:solidFill>
                  <a:latin typeface="Courier New"/>
                  <a:ea typeface="Courier New"/>
                  <a:cs typeface="Courier New"/>
                  <a:sym typeface="Courier New"/>
                </a:rPr>
                <a:t>agg</a:t>
              </a:r>
              <a:r>
                <a:rPr lang="en" sz="2400" dirty="0">
                  <a:solidFill>
                    <a:srgbClr val="000000"/>
                  </a:solidFill>
                  <a:latin typeface="Courier New"/>
                  <a:ea typeface="Courier New"/>
                  <a:cs typeface="Courier New"/>
                  <a:sym typeface="Courier New"/>
                </a:rPr>
                <a:t> functions] FROM </a:t>
              </a:r>
              <a:r>
                <a:rPr lang="en-US" sz="2400" dirty="0">
                  <a:latin typeface="Courier New"/>
                  <a:ea typeface="Courier New"/>
                  <a:cs typeface="Courier New"/>
                  <a:sym typeface="Courier New"/>
                </a:rPr>
                <a:t>[table]</a:t>
              </a:r>
              <a:r>
                <a:rPr lang="en" sz="2400" dirty="0">
                  <a:solidFill>
                    <a:srgbClr val="000000"/>
                  </a:solidFill>
                  <a:latin typeface="Courier New"/>
                  <a:ea typeface="Courier New"/>
                  <a:cs typeface="Courier New"/>
                  <a:sym typeface="Courier New"/>
                </a:rPr>
                <a:t> GROUP BY </a:t>
              </a:r>
              <a:r>
                <a:rPr lang="en-US" sz="2400" dirty="0">
                  <a:latin typeface="Courier New"/>
                  <a:ea typeface="Courier New"/>
                  <a:cs typeface="Courier New"/>
                  <a:sym typeface="Courier New"/>
                </a:rPr>
                <a:t>[column names] </a:t>
              </a:r>
              <a:endParaRPr sz="2400" dirty="0">
                <a:solidFill>
                  <a:srgbClr val="000000"/>
                </a:solidFill>
                <a:latin typeface="Courier New"/>
                <a:ea typeface="Courier New"/>
                <a:cs typeface="Courier New"/>
                <a:sym typeface="Courier New"/>
              </a:endParaRPr>
            </a:p>
          </p:txBody>
        </p:sp>
      </p:grpSp>
      <p:grpSp>
        <p:nvGrpSpPr>
          <p:cNvPr id="20" name="Group 19">
            <a:extLst>
              <a:ext uri="{FF2B5EF4-FFF2-40B4-BE49-F238E27FC236}">
                <a16:creationId xmlns:a16="http://schemas.microsoft.com/office/drawing/2014/main" id="{A1883104-5FCF-C176-B84E-7E8464068DB5}"/>
              </a:ext>
            </a:extLst>
          </p:cNvPr>
          <p:cNvGrpSpPr/>
          <p:nvPr/>
        </p:nvGrpSpPr>
        <p:grpSpPr>
          <a:xfrm>
            <a:off x="626900" y="2503993"/>
            <a:ext cx="11360800" cy="1034085"/>
            <a:chOff x="626900" y="2696525"/>
            <a:chExt cx="11360800" cy="1034085"/>
          </a:xfrm>
        </p:grpSpPr>
        <p:sp>
          <p:nvSpPr>
            <p:cNvPr id="2" name="Google Shape;145;p13">
              <a:extLst>
                <a:ext uri="{FF2B5EF4-FFF2-40B4-BE49-F238E27FC236}">
                  <a16:creationId xmlns:a16="http://schemas.microsoft.com/office/drawing/2014/main" id="{5F0DE9AC-4C10-B235-71D9-58C9794E7D31}"/>
                </a:ext>
              </a:extLst>
            </p:cNvPr>
            <p:cNvSpPr txBox="1">
              <a:spLocks/>
            </p:cNvSpPr>
            <p:nvPr/>
          </p:nvSpPr>
          <p:spPr>
            <a:xfrm>
              <a:off x="626900" y="2696525"/>
              <a:ext cx="11360800" cy="763601"/>
            </a:xfrm>
            <a:prstGeom prst="rect">
              <a:avLst/>
            </a:prstGeom>
            <a:noFill/>
            <a:ln>
              <a:noFill/>
            </a:ln>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Arial" panose="020B0604020202020204" pitchFamily="34" charset="0"/>
                  <a:ea typeface="Courier New"/>
                  <a:cs typeface="Arial" panose="020B0604020202020204" pitchFamily="34" charset="0"/>
                  <a:sym typeface="Courier New"/>
                </a:rPr>
                <a:t>Basic extracting: </a:t>
              </a:r>
              <a:r>
                <a:rPr lang="en-US" sz="2400" dirty="0">
                  <a:latin typeface="Courier New"/>
                  <a:ea typeface="Courier New"/>
                  <a:cs typeface="Courier New"/>
                  <a:sym typeface="Courier New"/>
                </a:rPr>
                <a:t>SELECT</a:t>
              </a:r>
              <a:endParaRPr lang="en-US" dirty="0"/>
            </a:p>
          </p:txBody>
        </p:sp>
        <p:sp>
          <p:nvSpPr>
            <p:cNvPr id="19" name="TextBox 18">
              <a:extLst>
                <a:ext uri="{FF2B5EF4-FFF2-40B4-BE49-F238E27FC236}">
                  <a16:creationId xmlns:a16="http://schemas.microsoft.com/office/drawing/2014/main" id="{4024C82A-DAAC-EFC7-FF1D-1F20506E236A}"/>
                </a:ext>
              </a:extLst>
            </p:cNvPr>
            <p:cNvSpPr txBox="1"/>
            <p:nvPr/>
          </p:nvSpPr>
          <p:spPr>
            <a:xfrm>
              <a:off x="853067" y="3268945"/>
              <a:ext cx="8368754" cy="461665"/>
            </a:xfrm>
            <a:prstGeom prst="rect">
              <a:avLst/>
            </a:prstGeom>
            <a:noFill/>
          </p:spPr>
          <p:txBody>
            <a:bodyPr wrap="square">
              <a:spAutoFit/>
            </a:bodyPr>
            <a:lstStyle/>
            <a:p>
              <a:pPr marL="0" indent="0">
                <a:buFont typeface="Arial" panose="020B0604020202020204" pitchFamily="34" charset="0"/>
                <a:buNone/>
              </a:pPr>
              <a:r>
                <a:rPr lang="en-US" sz="2400" dirty="0">
                  <a:latin typeface="Courier New"/>
                  <a:ea typeface="Courier New"/>
                  <a:cs typeface="Courier New"/>
                  <a:sym typeface="Courier New"/>
                </a:rPr>
                <a:t>SELECT [column names] FROM [table]</a:t>
              </a:r>
            </a:p>
          </p:txBody>
        </p:sp>
      </p:grpSp>
      <p:sp>
        <p:nvSpPr>
          <p:cNvPr id="6" name="TextBox 5">
            <a:extLst>
              <a:ext uri="{FF2B5EF4-FFF2-40B4-BE49-F238E27FC236}">
                <a16:creationId xmlns:a16="http://schemas.microsoft.com/office/drawing/2014/main" id="{6882458F-B258-B507-3B85-9BC86E1D5189}"/>
              </a:ext>
            </a:extLst>
          </p:cNvPr>
          <p:cNvSpPr txBox="1"/>
          <p:nvPr/>
        </p:nvSpPr>
        <p:spPr>
          <a:xfrm>
            <a:off x="7854352" y="2524518"/>
            <a:ext cx="625415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More: </a:t>
            </a:r>
            <a:r>
              <a:rPr lang="en-US" dirty="0">
                <a:latin typeface="Arial" panose="020B0604020202020204" pitchFamily="34" charset="0"/>
                <a:cs typeface="Arial" panose="020B0604020202020204" pitchFamily="34" charset="0"/>
                <a:hlinkClick r:id="rId3"/>
              </a:rPr>
              <a:t>https://www.w3schools.com/sql/</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606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D8B2-7414-D2A9-FFDB-54F50A360CD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Recall the scope of this class</a:t>
            </a:r>
          </a:p>
        </p:txBody>
      </p:sp>
      <p:sp>
        <p:nvSpPr>
          <p:cNvPr id="8" name="Subtitle 2">
            <a:extLst>
              <a:ext uri="{FF2B5EF4-FFF2-40B4-BE49-F238E27FC236}">
                <a16:creationId xmlns:a16="http://schemas.microsoft.com/office/drawing/2014/main" id="{2954D4EB-3F54-6667-79F6-22423F1E515D}"/>
              </a:ext>
            </a:extLst>
          </p:cNvPr>
          <p:cNvSpPr txBox="1">
            <a:spLocks/>
          </p:cNvSpPr>
          <p:nvPr/>
        </p:nvSpPr>
        <p:spPr>
          <a:xfrm>
            <a:off x="838200" y="1590374"/>
            <a:ext cx="10814463" cy="46056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Arial" panose="020B0604020202020204" pitchFamily="34" charset="0"/>
                <a:cs typeface="Arial" panose="020B0604020202020204" pitchFamily="34" charset="0"/>
              </a:rPr>
              <a:t>Part 1: Introduction to Python</a:t>
            </a:r>
          </a:p>
          <a:p>
            <a:pPr marL="0" indent="0">
              <a:buNone/>
            </a:pPr>
            <a:r>
              <a:rPr lang="en-US" sz="2000" dirty="0">
                <a:latin typeface="Arial" panose="020B0604020202020204" pitchFamily="34" charset="0"/>
                <a:cs typeface="Arial" panose="020B0604020202020204" pitchFamily="34" charset="0"/>
              </a:rPr>
              <a:t>Data types, functions, classes, objects, functional programming </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400" b="1" dirty="0">
                <a:latin typeface="Arial" panose="020B0604020202020204" pitchFamily="34" charset="0"/>
                <a:cs typeface="Arial" panose="020B0604020202020204" pitchFamily="34" charset="0"/>
              </a:rPr>
              <a:t>Part 2: Numerical Computing and Data Visualization</a:t>
            </a:r>
          </a:p>
          <a:p>
            <a:pPr marL="0" indent="0">
              <a:buNone/>
            </a:pPr>
            <a:r>
              <a:rPr lang="en-US" sz="2000" dirty="0" err="1">
                <a:latin typeface="Arial" panose="020B0604020202020204" pitchFamily="34" charset="0"/>
                <a:cs typeface="Arial" panose="020B0604020202020204" pitchFamily="34" charset="0"/>
              </a:rPr>
              <a:t>numpy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scipy</a:t>
            </a:r>
            <a:r>
              <a:rPr lang="en-US" sz="2000" dirty="0">
                <a:latin typeface="Arial" panose="020B0604020202020204" pitchFamily="34" charset="0"/>
                <a:cs typeface="Arial" panose="020B0604020202020204" pitchFamily="34" charset="0"/>
              </a:rPr>
              <a:t>, scikit-learn, matplotlib, Seaborn</a:t>
            </a:r>
          </a:p>
          <a:p>
            <a:pPr marL="0" indent="0">
              <a:buNone/>
            </a:pPr>
            <a:endParaRPr lang="en-US" sz="2000" b="1" dirty="0">
              <a:latin typeface="Arial" panose="020B0604020202020204" pitchFamily="34" charset="0"/>
              <a:cs typeface="Arial" panose="020B0604020202020204" pitchFamily="34" charset="0"/>
            </a:endParaRPr>
          </a:p>
          <a:p>
            <a:pPr marL="0" indent="0">
              <a:buNone/>
            </a:pPr>
            <a:r>
              <a:rPr lang="en-US" sz="2400" b="1" dirty="0">
                <a:latin typeface="Arial" panose="020B0604020202020204" pitchFamily="34" charset="0"/>
                <a:cs typeface="Arial" panose="020B0604020202020204" pitchFamily="34" charset="0"/>
              </a:rPr>
              <a:t>Part 3: Dealing with structured data </a:t>
            </a:r>
          </a:p>
          <a:p>
            <a:pPr marL="0" indent="0">
              <a:buNone/>
            </a:pPr>
            <a:r>
              <a:rPr lang="en-US" sz="2000" dirty="0">
                <a:latin typeface="Arial" panose="020B0604020202020204" pitchFamily="34" charset="0"/>
                <a:cs typeface="Arial" panose="020B0604020202020204" pitchFamily="34" charset="0"/>
              </a:rPr>
              <a:t>pandas, SQL, real datasets</a:t>
            </a:r>
          </a:p>
          <a:p>
            <a:pPr marL="0" indent="0">
              <a:buNone/>
            </a:pPr>
            <a:endParaRPr lang="en-US" sz="2000" b="1" dirty="0">
              <a:latin typeface="Arial" panose="020B0604020202020204" pitchFamily="34" charset="0"/>
              <a:cs typeface="Arial" panose="020B0604020202020204" pitchFamily="34" charset="0"/>
            </a:endParaRPr>
          </a:p>
          <a:p>
            <a:pPr marL="0" indent="0">
              <a:buNone/>
            </a:pPr>
            <a:r>
              <a:rPr lang="en-US" sz="2400" b="1" dirty="0">
                <a:latin typeface="Arial" panose="020B0604020202020204" pitchFamily="34" charset="0"/>
                <a:cs typeface="Arial" panose="020B0604020202020204" pitchFamily="34" charset="0"/>
              </a:rPr>
              <a:t>Part4:  Intro to Deep Learning </a:t>
            </a:r>
          </a:p>
          <a:p>
            <a:pPr marL="0" indent="0">
              <a:buNone/>
            </a:pPr>
            <a:r>
              <a:rPr lang="en-US" sz="2000" dirty="0" err="1">
                <a:latin typeface="Arial" panose="020B0604020202020204" pitchFamily="34" charset="0"/>
                <a:cs typeface="Arial" panose="020B0604020202020204" pitchFamily="34" charset="0"/>
              </a:rPr>
              <a:t>PyTorch</a:t>
            </a:r>
            <a:r>
              <a:rPr lang="en-US" sz="2000" dirty="0">
                <a:latin typeface="Arial" panose="020B0604020202020204" pitchFamily="34" charset="0"/>
                <a:cs typeface="Arial" panose="020B0604020202020204" pitchFamily="34" charset="0"/>
              </a:rPr>
              <a:t>, Perceptron, Multi-layer perceptron, SGD, regularization, </a:t>
            </a:r>
            <a:r>
              <a:rPr lang="en-US" sz="2000" dirty="0" err="1">
                <a:latin typeface="Arial" panose="020B0604020202020204" pitchFamily="34" charset="0"/>
                <a:cs typeface="Arial" panose="020B0604020202020204" pitchFamily="34" charset="0"/>
              </a:rPr>
              <a:t>ConvNets</a:t>
            </a:r>
            <a:r>
              <a:rPr lang="en-US" sz="2000" dirty="0">
                <a:latin typeface="Arial" panose="020B0604020202020204" pitchFamily="34" charset="0"/>
                <a:cs typeface="Arial" panose="020B0604020202020204" pitchFamily="34" charset="0"/>
              </a:rPr>
              <a:t>   </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F4D66F27-A022-26C9-6CB3-CFC8A75803F8}"/>
              </a:ext>
            </a:extLst>
          </p:cNvPr>
          <p:cNvSpPr/>
          <p:nvPr/>
        </p:nvSpPr>
        <p:spPr>
          <a:xfrm>
            <a:off x="838200" y="5296395"/>
            <a:ext cx="10515600" cy="1045028"/>
          </a:xfrm>
          <a:prstGeom prst="rect">
            <a:avLst/>
          </a:prstGeom>
          <a:solidFill>
            <a:srgbClr val="002060">
              <a:alpha val="2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A34F4594-4031-5001-06B4-D5BEF5D4E997}"/>
              </a:ext>
            </a:extLst>
          </p:cNvPr>
          <p:cNvSpPr txBox="1">
            <a:spLocks/>
          </p:cNvSpPr>
          <p:nvPr/>
        </p:nvSpPr>
        <p:spPr>
          <a:xfrm>
            <a:off x="7857276" y="6383111"/>
            <a:ext cx="3795387" cy="4196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Jeffrey </a:t>
            </a:r>
            <a:r>
              <a:rPr lang="en-US" sz="1600" dirty="0" err="1">
                <a:latin typeface="Arial" panose="020B0604020202020204" pitchFamily="34" charset="0"/>
                <a:cs typeface="Arial" panose="020B0604020202020204" pitchFamily="34" charset="0"/>
              </a:rPr>
              <a:t>Regier</a:t>
            </a:r>
            <a:endParaRPr lang="en-US" sz="16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C3A7CC1-5BB8-4E6D-234A-EB544D06A5F0}"/>
              </a:ext>
            </a:extLst>
          </p:cNvPr>
          <p:cNvSpPr>
            <a:spLocks noGrp="1"/>
          </p:cNvSpPr>
          <p:nvPr>
            <p:ph type="sldNum" sz="quarter" idx="12"/>
          </p:nvPr>
        </p:nvSpPr>
        <p:spPr/>
        <p:txBody>
          <a:bodyPr/>
          <a:lstStyle/>
          <a:p>
            <a:fld id="{B3533053-B928-004D-A0E8-A0A092123CEE}" type="slidenum">
              <a:rPr lang="en-US" smtClean="0"/>
              <a:t>4</a:t>
            </a:fld>
            <a:endParaRPr lang="en-US"/>
          </a:p>
        </p:txBody>
      </p:sp>
    </p:spTree>
    <p:extLst>
      <p:ext uri="{BB962C8B-B14F-4D97-AF65-F5344CB8AC3E}">
        <p14:creationId xmlns:p14="http://schemas.microsoft.com/office/powerpoint/2010/main" val="1890185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B8958-09F5-D1AC-6831-68A95DE0ED6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18B438-5EFB-799C-EF6E-FEC7743048F6}"/>
              </a:ext>
            </a:extLst>
          </p:cNvPr>
          <p:cNvSpPr>
            <a:spLocks noGrp="1"/>
          </p:cNvSpPr>
          <p:nvPr>
            <p:ph type="sldNum" sz="quarter" idx="12"/>
          </p:nvPr>
        </p:nvSpPr>
        <p:spPr/>
        <p:txBody>
          <a:bodyPr/>
          <a:lstStyle/>
          <a:p>
            <a:fld id="{B3533053-B928-004D-A0E8-A0A092123CEE}" type="slidenum">
              <a:rPr lang="en-US" smtClean="0"/>
              <a:t>5</a:t>
            </a:fld>
            <a:endParaRPr lang="en-US"/>
          </a:p>
        </p:txBody>
      </p:sp>
      <p:sp>
        <p:nvSpPr>
          <p:cNvPr id="6" name="Title 1">
            <a:extLst>
              <a:ext uri="{FF2B5EF4-FFF2-40B4-BE49-F238E27FC236}">
                <a16:creationId xmlns:a16="http://schemas.microsoft.com/office/drawing/2014/main" id="{B67ADD8D-AA31-0C9F-9AA8-5E87FCA487C4}"/>
              </a:ext>
            </a:extLst>
          </p:cNvPr>
          <p:cNvSpPr>
            <a:spLocks noGrp="1"/>
          </p:cNvSpPr>
          <p:nvPr>
            <p:ph type="title"/>
          </p:nvPr>
        </p:nvSpPr>
        <p:spPr>
          <a:xfrm>
            <a:off x="741311" y="778933"/>
            <a:ext cx="11231613" cy="5577417"/>
          </a:xfrm>
        </p:spPr>
        <p:txBody>
          <a:bodyPr>
            <a:normAutofit/>
          </a:bodyPr>
          <a:lstStyle/>
          <a:p>
            <a:r>
              <a:rPr lang="en-US" altLang="zh-CN" sz="4000" dirty="0">
                <a:solidFill>
                  <a:srgbClr val="C00000"/>
                </a:solidFill>
                <a:latin typeface="Arial" panose="020B0604020202020204" pitchFamily="34" charset="0"/>
                <a:cs typeface="Arial" panose="020B0604020202020204" pitchFamily="34" charset="0"/>
              </a:rPr>
              <a:t>1. Deep Learning Concepts Recap</a:t>
            </a:r>
            <a:br>
              <a:rPr lang="en-US" altLang="zh-CN" sz="4000" dirty="0">
                <a:solidFill>
                  <a:srgbClr val="C00000"/>
                </a:solidFill>
                <a:latin typeface="Arial" panose="020B0604020202020204" pitchFamily="34" charset="0"/>
                <a:cs typeface="Arial" panose="020B0604020202020204" pitchFamily="34" charset="0"/>
              </a:rPr>
            </a:br>
            <a:br>
              <a:rPr lang="en-US" altLang="zh-CN" sz="4000" dirty="0">
                <a:latin typeface="Arial" panose="020B0604020202020204" pitchFamily="34" charset="0"/>
                <a:cs typeface="Arial" panose="020B0604020202020204" pitchFamily="34" charset="0"/>
              </a:rPr>
            </a:br>
            <a:r>
              <a:rPr lang="en-US" altLang="zh-CN" sz="4000" dirty="0">
                <a:latin typeface="Arial" panose="020B0604020202020204" pitchFamily="34" charset="0"/>
                <a:cs typeface="Arial" panose="020B0604020202020204" pitchFamily="34" charset="0"/>
              </a:rPr>
              <a:t>2. Intro to </a:t>
            </a:r>
            <a:r>
              <a:rPr lang="en-US" altLang="zh-CN" sz="4000" dirty="0" err="1">
                <a:latin typeface="Arial" panose="020B0604020202020204" pitchFamily="34" charset="0"/>
                <a:cs typeface="Arial" panose="020B0604020202020204" pitchFamily="34" charset="0"/>
              </a:rPr>
              <a:t>PyTorch</a:t>
            </a:r>
            <a:br>
              <a:rPr lang="en-US" altLang="zh-CN" sz="4000" dirty="0">
                <a:latin typeface="Arial" panose="020B0604020202020204" pitchFamily="34" charset="0"/>
                <a:cs typeface="Arial" panose="020B0604020202020204" pitchFamily="34" charset="0"/>
              </a:rPr>
            </a:br>
            <a:br>
              <a:rPr lang="en-US" altLang="zh-CN" sz="4000" dirty="0">
                <a:latin typeface="Arial" panose="020B0604020202020204" pitchFamily="34" charset="0"/>
                <a:cs typeface="Arial" panose="020B0604020202020204" pitchFamily="34" charset="0"/>
              </a:rPr>
            </a:br>
            <a:r>
              <a:rPr lang="en-US" altLang="zh-CN" sz="4000" dirty="0">
                <a:latin typeface="Arial" panose="020B0604020202020204" pitchFamily="34" charset="0"/>
                <a:cs typeface="Arial" panose="020B0604020202020204" pitchFamily="34" charset="0"/>
              </a:rPr>
              <a:t>3. Perceptron and MLP </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0826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3B04BC8F-9F15-FA6A-32F7-98B52BE368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26392" y="1690688"/>
            <a:ext cx="7144938" cy="4774909"/>
          </a:xfrm>
          <a:prstGeom prst="rect">
            <a:avLst/>
          </a:prstGeom>
        </p:spPr>
      </p:pic>
      <p:sp>
        <p:nvSpPr>
          <p:cNvPr id="3" name="Slide Number Placeholder 2">
            <a:extLst>
              <a:ext uri="{FF2B5EF4-FFF2-40B4-BE49-F238E27FC236}">
                <a16:creationId xmlns:a16="http://schemas.microsoft.com/office/drawing/2014/main" id="{37A20478-D40F-EE86-EB0E-3E1E1C1E149A}"/>
              </a:ext>
            </a:extLst>
          </p:cNvPr>
          <p:cNvSpPr>
            <a:spLocks noGrp="1"/>
          </p:cNvSpPr>
          <p:nvPr>
            <p:ph type="sldNum" sz="quarter" idx="12"/>
          </p:nvPr>
        </p:nvSpPr>
        <p:spPr/>
        <p:txBody>
          <a:bodyPr/>
          <a:lstStyle/>
          <a:p>
            <a:fld id="{B3533053-B928-004D-A0E8-A0A092123CEE}" type="slidenum">
              <a:rPr lang="en-US" smtClean="0"/>
              <a:t>6</a:t>
            </a:fld>
            <a:endParaRPr lang="en-US"/>
          </a:p>
        </p:txBody>
      </p:sp>
      <p:sp>
        <p:nvSpPr>
          <p:cNvPr id="9" name="TextBox 8">
            <a:extLst>
              <a:ext uri="{FF2B5EF4-FFF2-40B4-BE49-F238E27FC236}">
                <a16:creationId xmlns:a16="http://schemas.microsoft.com/office/drawing/2014/main" id="{6AC02C2E-6415-D196-0F58-763C0C26AE0E}"/>
              </a:ext>
            </a:extLst>
          </p:cNvPr>
          <p:cNvSpPr txBox="1"/>
          <p:nvPr/>
        </p:nvSpPr>
        <p:spPr>
          <a:xfrm>
            <a:off x="2533934" y="2457722"/>
            <a:ext cx="6329854" cy="646331"/>
          </a:xfrm>
          <a:prstGeom prst="rect">
            <a:avLst/>
          </a:prstGeom>
          <a:noFill/>
        </p:spPr>
        <p:txBody>
          <a:bodyPr wrap="square">
            <a:spAutoFit/>
          </a:bodyPr>
          <a:lstStyle/>
          <a:p>
            <a:r>
              <a:rPr lang="en-US" sz="1800" dirty="0">
                <a:effectLst/>
                <a:latin typeface="Arial" panose="020B0604020202020204" pitchFamily="34" charset="0"/>
                <a:cs typeface="Arial" panose="020B0604020202020204" pitchFamily="34" charset="0"/>
              </a:rPr>
              <a:t>Machine learning is a subset of AI that learns to make decisions by </a:t>
            </a:r>
            <a:r>
              <a:rPr lang="en-US" sz="1800" b="1" u="sng" dirty="0">
                <a:effectLst/>
                <a:latin typeface="Arial" panose="020B0604020202020204" pitchFamily="34" charset="0"/>
                <a:cs typeface="Arial" panose="020B0604020202020204" pitchFamily="34" charset="0"/>
              </a:rPr>
              <a:t>fitting mathematical models </a:t>
            </a:r>
            <a:r>
              <a:rPr lang="en-US" sz="1800" dirty="0">
                <a:effectLst/>
                <a:latin typeface="Arial" panose="020B0604020202020204" pitchFamily="34" charset="0"/>
                <a:cs typeface="Arial" panose="020B0604020202020204" pitchFamily="34" charset="0"/>
              </a:rPr>
              <a:t>to observed data </a:t>
            </a:r>
            <a:endParaRPr lang="en-US"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D00567A-8CE4-F565-0AA3-80942643B628}"/>
              </a:ext>
            </a:extLst>
          </p:cNvPr>
          <p:cNvSpPr txBox="1"/>
          <p:nvPr/>
        </p:nvSpPr>
        <p:spPr>
          <a:xfrm>
            <a:off x="2920669" y="5368396"/>
            <a:ext cx="1828801"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Regression</a:t>
            </a:r>
          </a:p>
          <a:p>
            <a:r>
              <a:rPr lang="en-US" sz="1400" dirty="0">
                <a:latin typeface="Arial" panose="020B0604020202020204" pitchFamily="34" charset="0"/>
                <a:cs typeface="Arial" panose="020B0604020202020204" pitchFamily="34" charset="0"/>
              </a:rPr>
              <a:t>Classification</a:t>
            </a:r>
          </a:p>
        </p:txBody>
      </p:sp>
      <p:sp>
        <p:nvSpPr>
          <p:cNvPr id="13" name="TextBox 12">
            <a:extLst>
              <a:ext uri="{FF2B5EF4-FFF2-40B4-BE49-F238E27FC236}">
                <a16:creationId xmlns:a16="http://schemas.microsoft.com/office/drawing/2014/main" id="{D3541E70-6948-AF15-F8B6-AB3CD45BFBD1}"/>
              </a:ext>
            </a:extLst>
          </p:cNvPr>
          <p:cNvSpPr txBox="1"/>
          <p:nvPr/>
        </p:nvSpPr>
        <p:spPr>
          <a:xfrm>
            <a:off x="2920670" y="4078142"/>
            <a:ext cx="1828801" cy="523220"/>
          </a:xfrm>
          <a:prstGeom prst="rect">
            <a:avLst/>
          </a:prstGeom>
          <a:noFill/>
        </p:spPr>
        <p:txBody>
          <a:bodyPr wrap="square" rtlCol="0">
            <a:spAutoFit/>
          </a:bodyPr>
          <a:lstStyle/>
          <a:p>
            <a:endParaRPr lang="en-US" sz="1400" dirty="0">
              <a:latin typeface="Arial" panose="020B0604020202020204" pitchFamily="34" charset="0"/>
              <a:cs typeface="Arial" panose="020B0604020202020204" pitchFamily="34" charset="0"/>
            </a:endParaRPr>
          </a:p>
          <a:p>
            <a:r>
              <a:rPr lang="en-US" sz="1400" b="1" dirty="0">
                <a:solidFill>
                  <a:srgbClr val="C00000"/>
                </a:solidFill>
                <a:latin typeface="Arial" panose="020B0604020202020204" pitchFamily="34" charset="0"/>
                <a:cs typeface="Arial" panose="020B0604020202020204" pitchFamily="34" charset="0"/>
              </a:rPr>
              <a:t>Has labels</a:t>
            </a:r>
          </a:p>
        </p:txBody>
      </p:sp>
      <p:sp>
        <p:nvSpPr>
          <p:cNvPr id="14" name="TextBox 13">
            <a:extLst>
              <a:ext uri="{FF2B5EF4-FFF2-40B4-BE49-F238E27FC236}">
                <a16:creationId xmlns:a16="http://schemas.microsoft.com/office/drawing/2014/main" id="{75D62BB7-1450-33C2-9511-F824DC68709F}"/>
              </a:ext>
            </a:extLst>
          </p:cNvPr>
          <p:cNvSpPr txBox="1"/>
          <p:nvPr/>
        </p:nvSpPr>
        <p:spPr>
          <a:xfrm>
            <a:off x="5123262" y="4078142"/>
            <a:ext cx="1828801" cy="523220"/>
          </a:xfrm>
          <a:prstGeom prst="rect">
            <a:avLst/>
          </a:prstGeom>
          <a:noFill/>
        </p:spPr>
        <p:txBody>
          <a:bodyPr wrap="square" rtlCol="0">
            <a:spAutoFit/>
          </a:bodyPr>
          <a:lstStyle/>
          <a:p>
            <a:endParaRPr lang="en-US" sz="1400" dirty="0">
              <a:latin typeface="Arial" panose="020B0604020202020204" pitchFamily="34" charset="0"/>
              <a:cs typeface="Arial" panose="020B0604020202020204" pitchFamily="34" charset="0"/>
            </a:endParaRPr>
          </a:p>
          <a:p>
            <a:r>
              <a:rPr lang="en-US" sz="1400" b="1" dirty="0">
                <a:solidFill>
                  <a:srgbClr val="C00000"/>
                </a:solidFill>
                <a:latin typeface="Arial" panose="020B0604020202020204" pitchFamily="34" charset="0"/>
                <a:cs typeface="Arial" panose="020B0604020202020204" pitchFamily="34" charset="0"/>
              </a:rPr>
              <a:t>No labels</a:t>
            </a:r>
          </a:p>
        </p:txBody>
      </p:sp>
      <p:sp>
        <p:nvSpPr>
          <p:cNvPr id="6" name="Title 1">
            <a:extLst>
              <a:ext uri="{FF2B5EF4-FFF2-40B4-BE49-F238E27FC236}">
                <a16:creationId xmlns:a16="http://schemas.microsoft.com/office/drawing/2014/main" id="{05DF476F-1EB5-0973-53CB-B64894653681}"/>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Recap: What is machine learning?  </a:t>
            </a:r>
          </a:p>
        </p:txBody>
      </p:sp>
    </p:spTree>
    <p:extLst>
      <p:ext uri="{BB962C8B-B14F-4D97-AF65-F5344CB8AC3E}">
        <p14:creationId xmlns:p14="http://schemas.microsoft.com/office/powerpoint/2010/main" val="3889125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7F39E-E592-1B0B-E695-385470D8013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92D8DC4-F5B2-EC16-225A-577E873118E0}"/>
              </a:ext>
            </a:extLst>
          </p:cNvPr>
          <p:cNvPicPr>
            <a:picLocks noChangeAspect="1"/>
          </p:cNvPicPr>
          <p:nvPr/>
        </p:nvPicPr>
        <p:blipFill>
          <a:blip r:embed="rId3"/>
          <a:stretch>
            <a:fillRect/>
          </a:stretch>
        </p:blipFill>
        <p:spPr>
          <a:xfrm>
            <a:off x="58365" y="2030089"/>
            <a:ext cx="4552310" cy="3155220"/>
          </a:xfrm>
          <a:prstGeom prst="rect">
            <a:avLst/>
          </a:prstGeom>
        </p:spPr>
      </p:pic>
      <p:pic>
        <p:nvPicPr>
          <p:cNvPr id="9" name="Picture 8">
            <a:extLst>
              <a:ext uri="{FF2B5EF4-FFF2-40B4-BE49-F238E27FC236}">
                <a16:creationId xmlns:a16="http://schemas.microsoft.com/office/drawing/2014/main" id="{8F51555D-1629-4F74-2693-4BA2A36FE8B6}"/>
              </a:ext>
            </a:extLst>
          </p:cNvPr>
          <p:cNvPicPr>
            <a:picLocks noChangeAspect="1"/>
          </p:cNvPicPr>
          <p:nvPr/>
        </p:nvPicPr>
        <p:blipFill>
          <a:blip r:embed="rId4"/>
          <a:stretch>
            <a:fillRect/>
          </a:stretch>
        </p:blipFill>
        <p:spPr>
          <a:xfrm>
            <a:off x="8047318" y="1947789"/>
            <a:ext cx="4019681" cy="3446547"/>
          </a:xfrm>
          <a:prstGeom prst="rect">
            <a:avLst/>
          </a:prstGeom>
        </p:spPr>
      </p:pic>
      <p:sp>
        <p:nvSpPr>
          <p:cNvPr id="12" name="TextBox 11">
            <a:extLst>
              <a:ext uri="{FF2B5EF4-FFF2-40B4-BE49-F238E27FC236}">
                <a16:creationId xmlns:a16="http://schemas.microsoft.com/office/drawing/2014/main" id="{600A5E62-0621-1CD6-0772-89C89331AD88}"/>
              </a:ext>
            </a:extLst>
          </p:cNvPr>
          <p:cNvSpPr txBox="1"/>
          <p:nvPr/>
        </p:nvSpPr>
        <p:spPr>
          <a:xfrm>
            <a:off x="527957" y="6029874"/>
            <a:ext cx="610222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Ref: </a:t>
            </a:r>
            <a:r>
              <a:rPr lang="en-US" dirty="0">
                <a:latin typeface="Arial" panose="020B0604020202020204" pitchFamily="34" charset="0"/>
                <a:cs typeface="Arial" panose="020B0604020202020204" pitchFamily="34" charset="0"/>
                <a:hlinkClick r:id="rId5"/>
              </a:rPr>
              <a:t>https://rail.eecs.berkeley.edu/deeprlcourse/</a:t>
            </a:r>
            <a:endParaRPr lang="en-US" dirty="0">
              <a:latin typeface="Arial" panose="020B0604020202020204" pitchFamily="34" charset="0"/>
              <a:cs typeface="Arial" panose="020B0604020202020204" pitchFamily="34" charset="0"/>
            </a:endParaRPr>
          </a:p>
          <a:p>
            <a:endParaRPr lang="en-US" dirty="0"/>
          </a:p>
        </p:txBody>
      </p:sp>
      <p:cxnSp>
        <p:nvCxnSpPr>
          <p:cNvPr id="5" name="Straight Connector 4">
            <a:extLst>
              <a:ext uri="{FF2B5EF4-FFF2-40B4-BE49-F238E27FC236}">
                <a16:creationId xmlns:a16="http://schemas.microsoft.com/office/drawing/2014/main" id="{871E082B-6E53-9495-3BDE-1393BAF4C359}"/>
              </a:ext>
            </a:extLst>
          </p:cNvPr>
          <p:cNvCxnSpPr/>
          <p:nvPr/>
        </p:nvCxnSpPr>
        <p:spPr>
          <a:xfrm>
            <a:off x="4537827" y="1679069"/>
            <a:ext cx="0" cy="4064625"/>
          </a:xfrm>
          <a:prstGeom prst="line">
            <a:avLst/>
          </a:prstGeom>
          <a:ln>
            <a:prstDash val="dash"/>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08F82940-62D1-CE71-8762-2FD43F0B6ADD}"/>
              </a:ext>
            </a:extLst>
          </p:cNvPr>
          <p:cNvPicPr>
            <a:picLocks noChangeAspect="1"/>
          </p:cNvPicPr>
          <p:nvPr/>
        </p:nvPicPr>
        <p:blipFill>
          <a:blip r:embed="rId6"/>
          <a:stretch>
            <a:fillRect/>
          </a:stretch>
        </p:blipFill>
        <p:spPr>
          <a:xfrm>
            <a:off x="4683522" y="2030089"/>
            <a:ext cx="3568700" cy="3086100"/>
          </a:xfrm>
          <a:prstGeom prst="rect">
            <a:avLst/>
          </a:prstGeom>
        </p:spPr>
      </p:pic>
      <p:cxnSp>
        <p:nvCxnSpPr>
          <p:cNvPr id="7" name="Straight Connector 6">
            <a:extLst>
              <a:ext uri="{FF2B5EF4-FFF2-40B4-BE49-F238E27FC236}">
                <a16:creationId xmlns:a16="http://schemas.microsoft.com/office/drawing/2014/main" id="{F454AD0B-52BC-A8E7-86BA-1FB4BF20C886}"/>
              </a:ext>
            </a:extLst>
          </p:cNvPr>
          <p:cNvCxnSpPr/>
          <p:nvPr/>
        </p:nvCxnSpPr>
        <p:spPr>
          <a:xfrm>
            <a:off x="8008735" y="1638751"/>
            <a:ext cx="0" cy="406462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A986ED79-D299-048D-2B0E-2DFA9DA3FAE9}"/>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Recap: What is machine learning?  </a:t>
            </a:r>
          </a:p>
        </p:txBody>
      </p:sp>
    </p:spTree>
    <p:extLst>
      <p:ext uri="{BB962C8B-B14F-4D97-AF65-F5344CB8AC3E}">
        <p14:creationId xmlns:p14="http://schemas.microsoft.com/office/powerpoint/2010/main" val="2614391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953CA3-C628-6805-2FF6-D00B405AE0B0}"/>
              </a:ext>
            </a:extLst>
          </p:cNvPr>
          <p:cNvPicPr>
            <a:picLocks noChangeAspect="1"/>
          </p:cNvPicPr>
          <p:nvPr/>
        </p:nvPicPr>
        <p:blipFill>
          <a:blip r:embed="rId3"/>
          <a:stretch>
            <a:fillRect/>
          </a:stretch>
        </p:blipFill>
        <p:spPr>
          <a:xfrm>
            <a:off x="838200" y="1217868"/>
            <a:ext cx="9448800" cy="5176663"/>
          </a:xfrm>
          <a:prstGeom prst="rect">
            <a:avLst/>
          </a:prstGeom>
        </p:spPr>
      </p:pic>
      <p:sp>
        <p:nvSpPr>
          <p:cNvPr id="2" name="Subtitle 2">
            <a:extLst>
              <a:ext uri="{FF2B5EF4-FFF2-40B4-BE49-F238E27FC236}">
                <a16:creationId xmlns:a16="http://schemas.microsoft.com/office/drawing/2014/main" id="{6D1E919D-A94A-018B-2A92-8CED5D80C888}"/>
              </a:ext>
            </a:extLst>
          </p:cNvPr>
          <p:cNvSpPr txBox="1">
            <a:spLocks/>
          </p:cNvSpPr>
          <p:nvPr/>
        </p:nvSpPr>
        <p:spPr>
          <a:xfrm>
            <a:off x="5710547" y="6210661"/>
            <a:ext cx="6615546" cy="51081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Alexander </a:t>
            </a:r>
            <a:r>
              <a:rPr lang="en-US" sz="1600" dirty="0" err="1">
                <a:latin typeface="Arial" panose="020B0604020202020204" pitchFamily="34" charset="0"/>
                <a:cs typeface="Arial" panose="020B0604020202020204" pitchFamily="34" charset="0"/>
              </a:rPr>
              <a:t>Amini</a:t>
            </a:r>
            <a:endParaRPr lang="en-US" sz="1600" dirty="0">
              <a:latin typeface="Arial" panose="020B0604020202020204" pitchFamily="34" charset="0"/>
              <a:cs typeface="Arial" panose="020B0604020202020204" pitchFamily="34" charset="0"/>
            </a:endParaRPr>
          </a:p>
          <a:p>
            <a:pPr marL="0" indent="0" algn="ctr">
              <a:buNone/>
            </a:pPr>
            <a:r>
              <a:rPr lang="en-US" sz="1600" dirty="0">
                <a:latin typeface="Arial" panose="020B0604020202020204" pitchFamily="34" charset="0"/>
                <a:cs typeface="Arial" panose="020B0604020202020204" pitchFamily="34" charset="0"/>
              </a:rPr>
              <a:t>Modified from  MIT open course: 6.S191 and Nvidia blog</a:t>
            </a:r>
          </a:p>
        </p:txBody>
      </p:sp>
      <p:sp>
        <p:nvSpPr>
          <p:cNvPr id="3" name="Slide Number Placeholder 2">
            <a:extLst>
              <a:ext uri="{FF2B5EF4-FFF2-40B4-BE49-F238E27FC236}">
                <a16:creationId xmlns:a16="http://schemas.microsoft.com/office/drawing/2014/main" id="{04525F97-E796-9FF2-A1F8-959E308766F4}"/>
              </a:ext>
            </a:extLst>
          </p:cNvPr>
          <p:cNvSpPr>
            <a:spLocks noGrp="1"/>
          </p:cNvSpPr>
          <p:nvPr>
            <p:ph type="sldNum" sz="quarter" idx="12"/>
          </p:nvPr>
        </p:nvSpPr>
        <p:spPr/>
        <p:txBody>
          <a:bodyPr/>
          <a:lstStyle/>
          <a:p>
            <a:fld id="{B3533053-B928-004D-A0E8-A0A092123CEE}" type="slidenum">
              <a:rPr lang="en-US" smtClean="0"/>
              <a:t>8</a:t>
            </a:fld>
            <a:endParaRPr lang="en-US"/>
          </a:p>
        </p:txBody>
      </p:sp>
      <p:sp>
        <p:nvSpPr>
          <p:cNvPr id="8" name="Title 1">
            <a:extLst>
              <a:ext uri="{FF2B5EF4-FFF2-40B4-BE49-F238E27FC236}">
                <a16:creationId xmlns:a16="http://schemas.microsoft.com/office/drawing/2014/main" id="{AC65BD01-1BFE-67A7-6FBD-7531825EB5B2}"/>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Recap: What is deep</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learning</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696454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706DE16-A4DF-50CA-47DC-92D4D63A7DCD}"/>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Why deep learning? </a:t>
            </a:r>
          </a:p>
        </p:txBody>
      </p:sp>
      <p:pic>
        <p:nvPicPr>
          <p:cNvPr id="5" name="Picture 4" descr="A diagram of a diagram of a model&#10;&#10;Description automatically generated">
            <a:extLst>
              <a:ext uri="{FF2B5EF4-FFF2-40B4-BE49-F238E27FC236}">
                <a16:creationId xmlns:a16="http://schemas.microsoft.com/office/drawing/2014/main" id="{36FA5ECE-93EE-57F3-05A8-96CC79110ECE}"/>
              </a:ext>
            </a:extLst>
          </p:cNvPr>
          <p:cNvPicPr>
            <a:picLocks noChangeAspect="1"/>
          </p:cNvPicPr>
          <p:nvPr/>
        </p:nvPicPr>
        <p:blipFill rotWithShape="1">
          <a:blip r:embed="rId3">
            <a:extLst>
              <a:ext uri="{28A0092B-C50C-407E-A947-70E740481C1C}">
                <a14:useLocalDpi xmlns:a14="http://schemas.microsoft.com/office/drawing/2010/main" val="0"/>
              </a:ext>
            </a:extLst>
          </a:blip>
          <a:srcRect l="3838" r="7142" b="82492"/>
          <a:stretch/>
        </p:blipFill>
        <p:spPr>
          <a:xfrm>
            <a:off x="493598" y="1772336"/>
            <a:ext cx="11204803" cy="2976293"/>
          </a:xfrm>
          <a:prstGeom prst="rect">
            <a:avLst/>
          </a:prstGeom>
        </p:spPr>
      </p:pic>
      <p:sp>
        <p:nvSpPr>
          <p:cNvPr id="6" name="Subtitle 2">
            <a:extLst>
              <a:ext uri="{FF2B5EF4-FFF2-40B4-BE49-F238E27FC236}">
                <a16:creationId xmlns:a16="http://schemas.microsoft.com/office/drawing/2014/main" id="{CDD17AB0-A360-24B1-9EDC-0667F04A989D}"/>
              </a:ext>
            </a:extLst>
          </p:cNvPr>
          <p:cNvSpPr txBox="1">
            <a:spLocks/>
          </p:cNvSpPr>
          <p:nvPr/>
        </p:nvSpPr>
        <p:spPr>
          <a:xfrm>
            <a:off x="6320147" y="6356350"/>
            <a:ext cx="6615546" cy="510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Simon J.D. Prince</a:t>
            </a:r>
          </a:p>
        </p:txBody>
      </p:sp>
      <p:sp>
        <p:nvSpPr>
          <p:cNvPr id="8" name="Subtitle 2">
            <a:extLst>
              <a:ext uri="{FF2B5EF4-FFF2-40B4-BE49-F238E27FC236}">
                <a16:creationId xmlns:a16="http://schemas.microsoft.com/office/drawing/2014/main" id="{AF6D22CA-4F90-1AC4-5C1A-1CDF5303526A}"/>
              </a:ext>
            </a:extLst>
          </p:cNvPr>
          <p:cNvSpPr txBox="1">
            <a:spLocks/>
          </p:cNvSpPr>
          <p:nvPr/>
        </p:nvSpPr>
        <p:spPr>
          <a:xfrm>
            <a:off x="493598" y="5214345"/>
            <a:ext cx="11204802" cy="9171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latin typeface="Arial" panose="020B0604020202020204" pitchFamily="34" charset="0"/>
                <a:cs typeface="Arial" panose="020B0604020202020204" pitchFamily="34" charset="0"/>
              </a:rPr>
              <a:t>Traditional machine learning needs </a:t>
            </a:r>
            <a:r>
              <a:rPr lang="en-US" sz="1600" b="1" dirty="0">
                <a:latin typeface="Arial" panose="020B0604020202020204" pitchFamily="34" charset="0"/>
                <a:cs typeface="Arial" panose="020B0604020202020204" pitchFamily="34" charset="0"/>
              </a:rPr>
              <a:t>hand-engineered features</a:t>
            </a:r>
            <a:r>
              <a:rPr lang="en-US" sz="1600" dirty="0">
                <a:latin typeface="Arial" panose="020B0604020202020204" pitchFamily="34" charset="0"/>
                <a:cs typeface="Arial" panose="020B0604020202020204" pitchFamily="34" charset="0"/>
              </a:rPr>
              <a:t>: time-consuming, brittle, and not scalable</a:t>
            </a:r>
          </a:p>
          <a:p>
            <a:r>
              <a:rPr lang="en-US" sz="1600" dirty="0">
                <a:latin typeface="Arial" panose="020B0604020202020204" pitchFamily="34" charset="0"/>
                <a:cs typeface="Arial" panose="020B0604020202020204" pitchFamily="34" charset="0"/>
              </a:rPr>
              <a:t>DP can learn the underlying feature directly from the data, little or no human intervention needed</a:t>
            </a:r>
          </a:p>
        </p:txBody>
      </p:sp>
      <p:sp>
        <p:nvSpPr>
          <p:cNvPr id="2" name="Slide Number Placeholder 1">
            <a:extLst>
              <a:ext uri="{FF2B5EF4-FFF2-40B4-BE49-F238E27FC236}">
                <a16:creationId xmlns:a16="http://schemas.microsoft.com/office/drawing/2014/main" id="{945F8872-A005-91D3-4836-8E4635311079}"/>
              </a:ext>
            </a:extLst>
          </p:cNvPr>
          <p:cNvSpPr>
            <a:spLocks noGrp="1"/>
          </p:cNvSpPr>
          <p:nvPr>
            <p:ph type="sldNum" sz="quarter" idx="12"/>
          </p:nvPr>
        </p:nvSpPr>
        <p:spPr/>
        <p:txBody>
          <a:bodyPr/>
          <a:lstStyle/>
          <a:p>
            <a:fld id="{B3533053-B928-004D-A0E8-A0A092123CEE}" type="slidenum">
              <a:rPr lang="en-US" smtClean="0"/>
              <a:t>9</a:t>
            </a:fld>
            <a:endParaRPr lang="en-US"/>
          </a:p>
        </p:txBody>
      </p:sp>
      <p:sp>
        <p:nvSpPr>
          <p:cNvPr id="3" name="Subtitle 2">
            <a:extLst>
              <a:ext uri="{FF2B5EF4-FFF2-40B4-BE49-F238E27FC236}">
                <a16:creationId xmlns:a16="http://schemas.microsoft.com/office/drawing/2014/main" id="{C084F28F-7735-0A80-6520-F83870B8C446}"/>
              </a:ext>
            </a:extLst>
          </p:cNvPr>
          <p:cNvSpPr txBox="1">
            <a:spLocks/>
          </p:cNvSpPr>
          <p:nvPr/>
        </p:nvSpPr>
        <p:spPr>
          <a:xfrm>
            <a:off x="717746" y="6140677"/>
            <a:ext cx="11204802" cy="4508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cs typeface="Arial" panose="020B0604020202020204" pitchFamily="34" charset="0"/>
              </a:rPr>
              <a:t>Note: This might be a good picture for your final project</a:t>
            </a:r>
          </a:p>
        </p:txBody>
      </p:sp>
      <p:sp>
        <p:nvSpPr>
          <p:cNvPr id="7" name="TextBox 6">
            <a:extLst>
              <a:ext uri="{FF2B5EF4-FFF2-40B4-BE49-F238E27FC236}">
                <a16:creationId xmlns:a16="http://schemas.microsoft.com/office/drawing/2014/main" id="{7323B2C9-6025-D0A7-12E2-140259A802C4}"/>
              </a:ext>
            </a:extLst>
          </p:cNvPr>
          <p:cNvSpPr txBox="1"/>
          <p:nvPr/>
        </p:nvSpPr>
        <p:spPr>
          <a:xfrm>
            <a:off x="4555067" y="6604000"/>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858407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3"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D2BB7CA-0856-AF09-93F7-94498572EF41}"/>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Can we actually do it now?</a:t>
            </a:r>
          </a:p>
        </p:txBody>
      </p:sp>
      <p:grpSp>
        <p:nvGrpSpPr>
          <p:cNvPr id="6" name="Group 5">
            <a:extLst>
              <a:ext uri="{FF2B5EF4-FFF2-40B4-BE49-F238E27FC236}">
                <a16:creationId xmlns:a16="http://schemas.microsoft.com/office/drawing/2014/main" id="{02B5F1C0-2710-7292-2920-F0AF0B261B46}"/>
              </a:ext>
            </a:extLst>
          </p:cNvPr>
          <p:cNvGrpSpPr/>
          <p:nvPr/>
        </p:nvGrpSpPr>
        <p:grpSpPr>
          <a:xfrm>
            <a:off x="9386453" y="1950340"/>
            <a:ext cx="2431472" cy="3690208"/>
            <a:chOff x="9386453" y="1950340"/>
            <a:chExt cx="2431472" cy="3690208"/>
          </a:xfrm>
        </p:grpSpPr>
        <p:sp>
          <p:nvSpPr>
            <p:cNvPr id="17" name="Rectangle 16">
              <a:extLst>
                <a:ext uri="{FF2B5EF4-FFF2-40B4-BE49-F238E27FC236}">
                  <a16:creationId xmlns:a16="http://schemas.microsoft.com/office/drawing/2014/main" id="{B8FC5502-AF19-C14C-4675-76D67154A714}"/>
                </a:ext>
              </a:extLst>
            </p:cNvPr>
            <p:cNvSpPr/>
            <p:nvPr/>
          </p:nvSpPr>
          <p:spPr>
            <a:xfrm>
              <a:off x="9386453" y="1950340"/>
              <a:ext cx="1842654" cy="40034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3. Software </a:t>
              </a:r>
            </a:p>
          </p:txBody>
        </p:sp>
        <p:pic>
          <p:nvPicPr>
            <p:cNvPr id="18" name="Picture 2" descr="pytorch vs tensorflow logo">
              <a:extLst>
                <a:ext uri="{FF2B5EF4-FFF2-40B4-BE49-F238E27FC236}">
                  <a16:creationId xmlns:a16="http://schemas.microsoft.com/office/drawing/2014/main" id="{3158D334-6749-F7D1-6B01-DE4EFF1C27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7593" y="4564013"/>
              <a:ext cx="1614055" cy="1076535"/>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D9471DCE-BDA8-C28E-3606-E35B5CFB98C2}"/>
                </a:ext>
              </a:extLst>
            </p:cNvPr>
            <p:cNvSpPr txBox="1">
              <a:spLocks/>
            </p:cNvSpPr>
            <p:nvPr/>
          </p:nvSpPr>
          <p:spPr>
            <a:xfrm>
              <a:off x="9386453" y="3005822"/>
              <a:ext cx="2431472" cy="15014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Arial" panose="020B0604020202020204" pitchFamily="34" charset="0"/>
                  <a:cs typeface="Arial" panose="020B0604020202020204" pitchFamily="34" charset="0"/>
                </a:rPr>
                <a:t>Improved techniques</a:t>
              </a:r>
            </a:p>
            <a:p>
              <a:r>
                <a:rPr lang="en-US" sz="1800" dirty="0">
                  <a:latin typeface="Arial" panose="020B0604020202020204" pitchFamily="34" charset="0"/>
                  <a:cs typeface="Arial" panose="020B0604020202020204" pitchFamily="34" charset="0"/>
                </a:rPr>
                <a:t>New models</a:t>
              </a:r>
            </a:p>
            <a:p>
              <a:r>
                <a:rPr lang="en-US" sz="1800" dirty="0">
                  <a:latin typeface="Arial" panose="020B0604020202020204" pitchFamily="34" charset="0"/>
                  <a:cs typeface="Arial" panose="020B0604020202020204" pitchFamily="34" charset="0"/>
                </a:rPr>
                <a:t>Toolboxes</a:t>
              </a:r>
            </a:p>
          </p:txBody>
        </p:sp>
      </p:grpSp>
      <p:sp>
        <p:nvSpPr>
          <p:cNvPr id="22" name="Subtitle 2">
            <a:extLst>
              <a:ext uri="{FF2B5EF4-FFF2-40B4-BE49-F238E27FC236}">
                <a16:creationId xmlns:a16="http://schemas.microsoft.com/office/drawing/2014/main" id="{6A0250C3-BF5B-9158-38CF-2D0BE144A0A3}"/>
              </a:ext>
            </a:extLst>
          </p:cNvPr>
          <p:cNvSpPr txBox="1">
            <a:spLocks/>
          </p:cNvSpPr>
          <p:nvPr/>
        </p:nvSpPr>
        <p:spPr>
          <a:xfrm>
            <a:off x="6286499" y="6237468"/>
            <a:ext cx="6615546" cy="51081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Slide Credit: Alexander </a:t>
            </a:r>
            <a:r>
              <a:rPr lang="en-US" sz="1600" dirty="0" err="1">
                <a:latin typeface="Arial" panose="020B0604020202020204" pitchFamily="34" charset="0"/>
                <a:cs typeface="Arial" panose="020B0604020202020204" pitchFamily="34" charset="0"/>
              </a:rPr>
              <a:t>Amini</a:t>
            </a:r>
            <a:endParaRPr lang="en-US" sz="1600" dirty="0">
              <a:latin typeface="Arial" panose="020B0604020202020204" pitchFamily="34" charset="0"/>
              <a:cs typeface="Arial" panose="020B0604020202020204" pitchFamily="34" charset="0"/>
            </a:endParaRPr>
          </a:p>
          <a:p>
            <a:pPr marL="0" indent="0" algn="ctr">
              <a:buNone/>
            </a:pPr>
            <a:r>
              <a:rPr lang="en-US" sz="1600" dirty="0">
                <a:latin typeface="Arial" panose="020B0604020202020204" pitchFamily="34" charset="0"/>
                <a:cs typeface="Arial" panose="020B0604020202020204" pitchFamily="34" charset="0"/>
              </a:rPr>
              <a:t>Modified from  MIT open course: 6.S191</a:t>
            </a:r>
          </a:p>
        </p:txBody>
      </p:sp>
      <p:sp>
        <p:nvSpPr>
          <p:cNvPr id="23" name="Subtitle 2">
            <a:extLst>
              <a:ext uri="{FF2B5EF4-FFF2-40B4-BE49-F238E27FC236}">
                <a16:creationId xmlns:a16="http://schemas.microsoft.com/office/drawing/2014/main" id="{8C6D2F4C-3DBA-9FAE-A666-8F1444118CD5}"/>
              </a:ext>
            </a:extLst>
          </p:cNvPr>
          <p:cNvSpPr txBox="1">
            <a:spLocks/>
          </p:cNvSpPr>
          <p:nvPr/>
        </p:nvSpPr>
        <p:spPr>
          <a:xfrm>
            <a:off x="-86707" y="2815088"/>
            <a:ext cx="2207171" cy="525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1958</a:t>
            </a:r>
          </a:p>
        </p:txBody>
      </p:sp>
      <p:sp>
        <p:nvSpPr>
          <p:cNvPr id="24" name="Subtitle 2">
            <a:extLst>
              <a:ext uri="{FF2B5EF4-FFF2-40B4-BE49-F238E27FC236}">
                <a16:creationId xmlns:a16="http://schemas.microsoft.com/office/drawing/2014/main" id="{03F24EDB-D78D-6648-9590-F02AF668A0DE}"/>
              </a:ext>
            </a:extLst>
          </p:cNvPr>
          <p:cNvSpPr txBox="1">
            <a:spLocks/>
          </p:cNvSpPr>
          <p:nvPr/>
        </p:nvSpPr>
        <p:spPr>
          <a:xfrm>
            <a:off x="-86708" y="2091559"/>
            <a:ext cx="2207171" cy="525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1952</a:t>
            </a:r>
          </a:p>
        </p:txBody>
      </p:sp>
      <p:sp>
        <p:nvSpPr>
          <p:cNvPr id="25" name="Subtitle 2">
            <a:extLst>
              <a:ext uri="{FF2B5EF4-FFF2-40B4-BE49-F238E27FC236}">
                <a16:creationId xmlns:a16="http://schemas.microsoft.com/office/drawing/2014/main" id="{E1F4ED24-7C7C-B716-0A1C-6E523B7C181C}"/>
              </a:ext>
            </a:extLst>
          </p:cNvPr>
          <p:cNvSpPr txBox="1">
            <a:spLocks/>
          </p:cNvSpPr>
          <p:nvPr/>
        </p:nvSpPr>
        <p:spPr>
          <a:xfrm>
            <a:off x="-86708" y="4064135"/>
            <a:ext cx="2207171" cy="525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1986</a:t>
            </a:r>
          </a:p>
        </p:txBody>
      </p:sp>
      <p:sp>
        <p:nvSpPr>
          <p:cNvPr id="26" name="Subtitle 2">
            <a:extLst>
              <a:ext uri="{FF2B5EF4-FFF2-40B4-BE49-F238E27FC236}">
                <a16:creationId xmlns:a16="http://schemas.microsoft.com/office/drawing/2014/main" id="{5AAA557B-EF5B-5AF2-28BA-EBAB3B078851}"/>
              </a:ext>
            </a:extLst>
          </p:cNvPr>
          <p:cNvSpPr txBox="1">
            <a:spLocks/>
          </p:cNvSpPr>
          <p:nvPr/>
        </p:nvSpPr>
        <p:spPr>
          <a:xfrm>
            <a:off x="-54342" y="4799914"/>
            <a:ext cx="2207171" cy="525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1995</a:t>
            </a:r>
          </a:p>
        </p:txBody>
      </p:sp>
      <p:grpSp>
        <p:nvGrpSpPr>
          <p:cNvPr id="8" name="Group 7">
            <a:extLst>
              <a:ext uri="{FF2B5EF4-FFF2-40B4-BE49-F238E27FC236}">
                <a16:creationId xmlns:a16="http://schemas.microsoft.com/office/drawing/2014/main" id="{1F8B70DE-10CB-ABC7-A073-655787E2E5E6}"/>
              </a:ext>
            </a:extLst>
          </p:cNvPr>
          <p:cNvGrpSpPr/>
          <p:nvPr/>
        </p:nvGrpSpPr>
        <p:grpSpPr>
          <a:xfrm>
            <a:off x="838200" y="1954923"/>
            <a:ext cx="3387205" cy="4537951"/>
            <a:chOff x="838200" y="1954923"/>
            <a:chExt cx="3387205" cy="4537951"/>
          </a:xfrm>
        </p:grpSpPr>
        <p:sp>
          <p:nvSpPr>
            <p:cNvPr id="2" name="Down Arrow 1">
              <a:extLst>
                <a:ext uri="{FF2B5EF4-FFF2-40B4-BE49-F238E27FC236}">
                  <a16:creationId xmlns:a16="http://schemas.microsoft.com/office/drawing/2014/main" id="{79224146-A18A-15B2-A667-F235774883F6}"/>
                </a:ext>
              </a:extLst>
            </p:cNvPr>
            <p:cNvSpPr/>
            <p:nvPr/>
          </p:nvSpPr>
          <p:spPr>
            <a:xfrm>
              <a:off x="1271752" y="1954923"/>
              <a:ext cx="304801" cy="4537951"/>
            </a:xfrm>
            <a:prstGeom prst="downArrow">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0" name="Subtitle 2">
              <a:extLst>
                <a:ext uri="{FF2B5EF4-FFF2-40B4-BE49-F238E27FC236}">
                  <a16:creationId xmlns:a16="http://schemas.microsoft.com/office/drawing/2014/main" id="{BFEE099E-31BC-C16D-96F9-AE396B024AD2}"/>
                </a:ext>
              </a:extLst>
            </p:cNvPr>
            <p:cNvSpPr txBox="1">
              <a:spLocks/>
            </p:cNvSpPr>
            <p:nvPr/>
          </p:nvSpPr>
          <p:spPr>
            <a:xfrm>
              <a:off x="1313308" y="2105414"/>
              <a:ext cx="2207171" cy="5255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Stochastic gradient descent </a:t>
              </a:r>
            </a:p>
          </p:txBody>
        </p:sp>
        <p:sp>
          <p:nvSpPr>
            <p:cNvPr id="11" name="Subtitle 2">
              <a:extLst>
                <a:ext uri="{FF2B5EF4-FFF2-40B4-BE49-F238E27FC236}">
                  <a16:creationId xmlns:a16="http://schemas.microsoft.com/office/drawing/2014/main" id="{20672AB9-3D0D-DA9E-5237-984756291F33}"/>
                </a:ext>
              </a:extLst>
            </p:cNvPr>
            <p:cNvSpPr txBox="1">
              <a:spLocks/>
            </p:cNvSpPr>
            <p:nvPr/>
          </p:nvSpPr>
          <p:spPr>
            <a:xfrm>
              <a:off x="1487215" y="2867231"/>
              <a:ext cx="2207171" cy="6701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cs typeface="Arial" panose="020B0604020202020204" pitchFamily="34" charset="0"/>
                </a:rPr>
                <a:t>Perceptron</a:t>
              </a:r>
            </a:p>
            <a:p>
              <a:r>
                <a:rPr lang="en-US" sz="1600" dirty="0">
                  <a:latin typeface="Arial" panose="020B0604020202020204" pitchFamily="34" charset="0"/>
                  <a:cs typeface="Arial" panose="020B0604020202020204" pitchFamily="34" charset="0"/>
                </a:rPr>
                <a:t>Learnable weights</a:t>
              </a:r>
            </a:p>
          </p:txBody>
        </p:sp>
        <p:sp>
          <p:nvSpPr>
            <p:cNvPr id="13" name="Subtitle 2">
              <a:extLst>
                <a:ext uri="{FF2B5EF4-FFF2-40B4-BE49-F238E27FC236}">
                  <a16:creationId xmlns:a16="http://schemas.microsoft.com/office/drawing/2014/main" id="{32B0CFFB-60B2-EFB1-BB08-920F7D6C30E9}"/>
                </a:ext>
              </a:extLst>
            </p:cNvPr>
            <p:cNvSpPr txBox="1">
              <a:spLocks/>
            </p:cNvSpPr>
            <p:nvPr/>
          </p:nvSpPr>
          <p:spPr>
            <a:xfrm>
              <a:off x="1424152" y="4787665"/>
              <a:ext cx="2381078" cy="5255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latin typeface="Arial" panose="020B0604020202020204" pitchFamily="34" charset="0"/>
                  <a:cs typeface="Arial" panose="020B0604020202020204" pitchFamily="34" charset="0"/>
                </a:rPr>
                <a:t>Deep convolutional NN</a:t>
              </a:r>
            </a:p>
          </p:txBody>
        </p:sp>
        <p:sp>
          <p:nvSpPr>
            <p:cNvPr id="14" name="Subtitle 2">
              <a:extLst>
                <a:ext uri="{FF2B5EF4-FFF2-40B4-BE49-F238E27FC236}">
                  <a16:creationId xmlns:a16="http://schemas.microsoft.com/office/drawing/2014/main" id="{9900B6A4-E48A-3C61-3950-D98D3C0C67A5}"/>
                </a:ext>
              </a:extLst>
            </p:cNvPr>
            <p:cNvSpPr txBox="1">
              <a:spLocks/>
            </p:cNvSpPr>
            <p:nvPr/>
          </p:nvSpPr>
          <p:spPr>
            <a:xfrm>
              <a:off x="945444" y="5813881"/>
              <a:ext cx="2207171" cy="525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err="1">
                  <a:latin typeface="Arial" panose="020B0604020202020204" pitchFamily="34" charset="0"/>
                  <a:cs typeface="Arial" panose="020B0604020202020204" pitchFamily="34" charset="0"/>
                </a:rPr>
                <a:t>ChatGPT</a:t>
              </a:r>
              <a:endParaRPr lang="en-US" sz="1600" dirty="0">
                <a:latin typeface="Arial" panose="020B0604020202020204" pitchFamily="34" charset="0"/>
                <a:cs typeface="Arial" panose="020B0604020202020204" pitchFamily="34" charset="0"/>
              </a:endParaRPr>
            </a:p>
          </p:txBody>
        </p:sp>
        <p:sp>
          <p:nvSpPr>
            <p:cNvPr id="27" name="Subtitle 2">
              <a:extLst>
                <a:ext uri="{FF2B5EF4-FFF2-40B4-BE49-F238E27FC236}">
                  <a16:creationId xmlns:a16="http://schemas.microsoft.com/office/drawing/2014/main" id="{9DD72632-F253-53C1-C22B-A3583486C087}"/>
                </a:ext>
              </a:extLst>
            </p:cNvPr>
            <p:cNvSpPr txBox="1">
              <a:spLocks/>
            </p:cNvSpPr>
            <p:nvPr/>
          </p:nvSpPr>
          <p:spPr>
            <a:xfrm>
              <a:off x="1487215" y="4050279"/>
              <a:ext cx="2738190" cy="8177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rial" panose="020B0604020202020204" pitchFamily="34" charset="0"/>
                  <a:cs typeface="Arial" panose="020B0604020202020204" pitchFamily="34" charset="0"/>
                </a:rPr>
                <a:t>Back propagation </a:t>
              </a:r>
            </a:p>
            <a:p>
              <a:r>
                <a:rPr lang="en-US" sz="1600" dirty="0">
                  <a:latin typeface="Arial" panose="020B0604020202020204" pitchFamily="34" charset="0"/>
                  <a:cs typeface="Arial" panose="020B0604020202020204" pitchFamily="34" charset="0"/>
                </a:rPr>
                <a:t>Multi-Layer perceptron </a:t>
              </a:r>
            </a:p>
          </p:txBody>
        </p:sp>
        <p:pic>
          <p:nvPicPr>
            <p:cNvPr id="28" name="Picture 27">
              <a:extLst>
                <a:ext uri="{FF2B5EF4-FFF2-40B4-BE49-F238E27FC236}">
                  <a16:creationId xmlns:a16="http://schemas.microsoft.com/office/drawing/2014/main" id="{082D54AF-CDB7-233A-32B4-1BD296322FBF}"/>
                </a:ext>
              </a:extLst>
            </p:cNvPr>
            <p:cNvPicPr>
              <a:picLocks noChangeAspect="1"/>
            </p:cNvPicPr>
            <p:nvPr/>
          </p:nvPicPr>
          <p:blipFill>
            <a:blip r:embed="rId4"/>
            <a:stretch>
              <a:fillRect/>
            </a:stretch>
          </p:blipFill>
          <p:spPr>
            <a:xfrm>
              <a:off x="838200" y="3422073"/>
              <a:ext cx="317500" cy="431800"/>
            </a:xfrm>
            <a:prstGeom prst="rect">
              <a:avLst/>
            </a:prstGeom>
          </p:spPr>
        </p:pic>
        <p:pic>
          <p:nvPicPr>
            <p:cNvPr id="29" name="Picture 28">
              <a:extLst>
                <a:ext uri="{FF2B5EF4-FFF2-40B4-BE49-F238E27FC236}">
                  <a16:creationId xmlns:a16="http://schemas.microsoft.com/office/drawing/2014/main" id="{7ED6E8E1-10C4-FFBB-9E79-9203BBBB32F2}"/>
                </a:ext>
              </a:extLst>
            </p:cNvPr>
            <p:cNvPicPr>
              <a:picLocks noChangeAspect="1"/>
            </p:cNvPicPr>
            <p:nvPr/>
          </p:nvPicPr>
          <p:blipFill>
            <a:blip r:embed="rId4"/>
            <a:stretch>
              <a:fillRect/>
            </a:stretch>
          </p:blipFill>
          <p:spPr>
            <a:xfrm>
              <a:off x="871702" y="5232316"/>
              <a:ext cx="317500" cy="431800"/>
            </a:xfrm>
            <a:prstGeom prst="rect">
              <a:avLst/>
            </a:prstGeom>
          </p:spPr>
        </p:pic>
      </p:grpSp>
      <p:grpSp>
        <p:nvGrpSpPr>
          <p:cNvPr id="3" name="Group 2">
            <a:extLst>
              <a:ext uri="{FF2B5EF4-FFF2-40B4-BE49-F238E27FC236}">
                <a16:creationId xmlns:a16="http://schemas.microsoft.com/office/drawing/2014/main" id="{71B555DE-3A7E-DC66-CB54-90C2ACBA4A9A}"/>
              </a:ext>
            </a:extLst>
          </p:cNvPr>
          <p:cNvGrpSpPr/>
          <p:nvPr/>
        </p:nvGrpSpPr>
        <p:grpSpPr>
          <a:xfrm>
            <a:off x="4707557" y="1954924"/>
            <a:ext cx="2431472" cy="4661863"/>
            <a:chOff x="4707557" y="1954924"/>
            <a:chExt cx="2431472" cy="4661863"/>
          </a:xfrm>
        </p:grpSpPr>
        <p:sp>
          <p:nvSpPr>
            <p:cNvPr id="15" name="Rectangle 14">
              <a:extLst>
                <a:ext uri="{FF2B5EF4-FFF2-40B4-BE49-F238E27FC236}">
                  <a16:creationId xmlns:a16="http://schemas.microsoft.com/office/drawing/2014/main" id="{B0B0E392-9972-DD6C-6C3A-E34EFB655ACE}"/>
                </a:ext>
              </a:extLst>
            </p:cNvPr>
            <p:cNvSpPr/>
            <p:nvPr/>
          </p:nvSpPr>
          <p:spPr>
            <a:xfrm>
              <a:off x="4724398" y="1954924"/>
              <a:ext cx="1842654" cy="40034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1. Big data</a:t>
              </a:r>
            </a:p>
          </p:txBody>
        </p:sp>
        <p:sp>
          <p:nvSpPr>
            <p:cNvPr id="21" name="Subtitle 2">
              <a:extLst>
                <a:ext uri="{FF2B5EF4-FFF2-40B4-BE49-F238E27FC236}">
                  <a16:creationId xmlns:a16="http://schemas.microsoft.com/office/drawing/2014/main" id="{1F2DA4FF-FF29-9ADD-BD4A-03BEA329B700}"/>
                </a:ext>
              </a:extLst>
            </p:cNvPr>
            <p:cNvSpPr txBox="1">
              <a:spLocks/>
            </p:cNvSpPr>
            <p:nvPr/>
          </p:nvSpPr>
          <p:spPr>
            <a:xfrm>
              <a:off x="4707557" y="2996654"/>
              <a:ext cx="2431472" cy="15014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Arial" panose="020B0604020202020204" pitchFamily="34" charset="0"/>
                  <a:cs typeface="Arial" panose="020B0604020202020204" pitchFamily="34" charset="0"/>
                </a:rPr>
                <a:t>Larger dataset</a:t>
              </a:r>
            </a:p>
            <a:p>
              <a:r>
                <a:rPr lang="en-US" sz="1800" dirty="0">
                  <a:latin typeface="Arial" panose="020B0604020202020204" pitchFamily="34" charset="0"/>
                  <a:cs typeface="Arial" panose="020B0604020202020204" pitchFamily="34" charset="0"/>
                </a:rPr>
                <a:t>Easier collection and storage</a:t>
              </a:r>
            </a:p>
          </p:txBody>
        </p:sp>
        <p:pic>
          <p:nvPicPr>
            <p:cNvPr id="7" name="Picture 6" descr="A logo with text on it&#10;&#10;Description automatically generated">
              <a:extLst>
                <a:ext uri="{FF2B5EF4-FFF2-40B4-BE49-F238E27FC236}">
                  <a16:creationId xmlns:a16="http://schemas.microsoft.com/office/drawing/2014/main" id="{CD4B52F4-3D14-ACF6-FAAA-AF4E3B6BF87F}"/>
                </a:ext>
              </a:extLst>
            </p:cNvPr>
            <p:cNvPicPr>
              <a:picLocks noChangeAspect="1"/>
            </p:cNvPicPr>
            <p:nvPr/>
          </p:nvPicPr>
          <p:blipFill>
            <a:blip r:embed="rId5"/>
            <a:stretch>
              <a:fillRect/>
            </a:stretch>
          </p:blipFill>
          <p:spPr>
            <a:xfrm>
              <a:off x="4865332" y="4498144"/>
              <a:ext cx="1752600" cy="514350"/>
            </a:xfrm>
            <a:prstGeom prst="rect">
              <a:avLst/>
            </a:prstGeom>
          </p:spPr>
        </p:pic>
        <p:pic>
          <p:nvPicPr>
            <p:cNvPr id="30" name="Picture 29" descr="A black text on a white background&#10;&#10;Description automatically generated">
              <a:extLst>
                <a:ext uri="{FF2B5EF4-FFF2-40B4-BE49-F238E27FC236}">
                  <a16:creationId xmlns:a16="http://schemas.microsoft.com/office/drawing/2014/main" id="{B2265365-F567-D418-546C-7ABB8C976806}"/>
                </a:ext>
              </a:extLst>
            </p:cNvPr>
            <p:cNvPicPr>
              <a:picLocks noChangeAspect="1"/>
            </p:cNvPicPr>
            <p:nvPr/>
          </p:nvPicPr>
          <p:blipFill>
            <a:blip r:embed="rId6"/>
            <a:stretch>
              <a:fillRect/>
            </a:stretch>
          </p:blipFill>
          <p:spPr>
            <a:xfrm>
              <a:off x="4865332" y="5116982"/>
              <a:ext cx="1813881" cy="525517"/>
            </a:xfrm>
            <a:prstGeom prst="rect">
              <a:avLst/>
            </a:prstGeom>
          </p:spPr>
        </p:pic>
        <p:pic>
          <p:nvPicPr>
            <p:cNvPr id="32" name="Picture 31" descr="A black and white sign with white text&#10;&#10;Description automatically generated">
              <a:extLst>
                <a:ext uri="{FF2B5EF4-FFF2-40B4-BE49-F238E27FC236}">
                  <a16:creationId xmlns:a16="http://schemas.microsoft.com/office/drawing/2014/main" id="{DA8A3CAF-BA6E-2DFE-E42A-2352086A0B80}"/>
                </a:ext>
              </a:extLst>
            </p:cNvPr>
            <p:cNvPicPr>
              <a:picLocks noChangeAspect="1"/>
            </p:cNvPicPr>
            <p:nvPr/>
          </p:nvPicPr>
          <p:blipFill>
            <a:blip r:embed="rId7"/>
            <a:stretch>
              <a:fillRect/>
            </a:stretch>
          </p:blipFill>
          <p:spPr>
            <a:xfrm>
              <a:off x="4976656" y="5783137"/>
              <a:ext cx="399621" cy="221249"/>
            </a:xfrm>
            <a:prstGeom prst="rect">
              <a:avLst/>
            </a:prstGeom>
          </p:spPr>
        </p:pic>
        <p:pic>
          <p:nvPicPr>
            <p:cNvPr id="34" name="Picture 33" descr="A white car on a street with blue dots&#10;&#10;Description automatically generated">
              <a:extLst>
                <a:ext uri="{FF2B5EF4-FFF2-40B4-BE49-F238E27FC236}">
                  <a16:creationId xmlns:a16="http://schemas.microsoft.com/office/drawing/2014/main" id="{3E93D0F3-419F-FDEA-B944-7AFA36FF692F}"/>
                </a:ext>
              </a:extLst>
            </p:cNvPr>
            <p:cNvPicPr>
              <a:picLocks noChangeAspect="1"/>
            </p:cNvPicPr>
            <p:nvPr/>
          </p:nvPicPr>
          <p:blipFill>
            <a:blip r:embed="rId8"/>
            <a:stretch>
              <a:fillRect/>
            </a:stretch>
          </p:blipFill>
          <p:spPr>
            <a:xfrm>
              <a:off x="5487644" y="5783136"/>
              <a:ext cx="798855" cy="833651"/>
            </a:xfrm>
            <a:prstGeom prst="rect">
              <a:avLst/>
            </a:prstGeom>
          </p:spPr>
        </p:pic>
      </p:grpSp>
      <p:grpSp>
        <p:nvGrpSpPr>
          <p:cNvPr id="5" name="Group 4">
            <a:extLst>
              <a:ext uri="{FF2B5EF4-FFF2-40B4-BE49-F238E27FC236}">
                <a16:creationId xmlns:a16="http://schemas.microsoft.com/office/drawing/2014/main" id="{60BF2354-6598-8A3B-D316-29072508844B}"/>
              </a:ext>
            </a:extLst>
          </p:cNvPr>
          <p:cNvGrpSpPr/>
          <p:nvPr/>
        </p:nvGrpSpPr>
        <p:grpSpPr>
          <a:xfrm>
            <a:off x="7038107" y="1954924"/>
            <a:ext cx="2431472" cy="4049463"/>
            <a:chOff x="7038107" y="1954924"/>
            <a:chExt cx="2431472" cy="4049463"/>
          </a:xfrm>
        </p:grpSpPr>
        <p:sp>
          <p:nvSpPr>
            <p:cNvPr id="16" name="Rectangle 15">
              <a:extLst>
                <a:ext uri="{FF2B5EF4-FFF2-40B4-BE49-F238E27FC236}">
                  <a16:creationId xmlns:a16="http://schemas.microsoft.com/office/drawing/2014/main" id="{77CE79F7-990C-B020-6925-BC9D408D147B}"/>
                </a:ext>
              </a:extLst>
            </p:cNvPr>
            <p:cNvSpPr/>
            <p:nvPr/>
          </p:nvSpPr>
          <p:spPr>
            <a:xfrm>
              <a:off x="7038107" y="1954924"/>
              <a:ext cx="1842654" cy="40034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2. Hardware</a:t>
              </a:r>
            </a:p>
          </p:txBody>
        </p:sp>
        <p:sp>
          <p:nvSpPr>
            <p:cNvPr id="20" name="Subtitle 2">
              <a:extLst>
                <a:ext uri="{FF2B5EF4-FFF2-40B4-BE49-F238E27FC236}">
                  <a16:creationId xmlns:a16="http://schemas.microsoft.com/office/drawing/2014/main" id="{F48546AB-483A-8244-CB80-DC8A87EC00D9}"/>
                </a:ext>
              </a:extLst>
            </p:cNvPr>
            <p:cNvSpPr txBox="1">
              <a:spLocks/>
            </p:cNvSpPr>
            <p:nvPr/>
          </p:nvSpPr>
          <p:spPr>
            <a:xfrm>
              <a:off x="7038107" y="3001238"/>
              <a:ext cx="2431472" cy="15014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Arial" panose="020B0604020202020204" pitchFamily="34" charset="0"/>
                  <a:cs typeface="Arial" panose="020B0604020202020204" pitchFamily="34" charset="0"/>
                </a:rPr>
                <a:t>GPUs</a:t>
              </a:r>
            </a:p>
            <a:p>
              <a:r>
                <a:rPr lang="en-US" sz="1800" dirty="0">
                  <a:latin typeface="Arial" panose="020B0604020202020204" pitchFamily="34" charset="0"/>
                  <a:cs typeface="Arial" panose="020B0604020202020204" pitchFamily="34" charset="0"/>
                </a:rPr>
                <a:t>Massively parallelizable </a:t>
              </a:r>
            </a:p>
          </p:txBody>
        </p:sp>
        <p:pic>
          <p:nvPicPr>
            <p:cNvPr id="1026" name="Picture 2" descr="Nvidia Quadro Rtx 5000 16Gb, 4X Dp + 1X Virtual Link, Rt Cores, Tensor Cores, V2, Kit - With Extender - G8M19">
              <a:extLst>
                <a:ext uri="{FF2B5EF4-FFF2-40B4-BE49-F238E27FC236}">
                  <a16:creationId xmlns:a16="http://schemas.microsoft.com/office/drawing/2014/main" id="{B05745DF-ED3F-832A-B105-C1F61A44DC01}"/>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250396" y="4091051"/>
              <a:ext cx="1698086" cy="1913336"/>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Slide Number Placeholder 8">
            <a:extLst>
              <a:ext uri="{FF2B5EF4-FFF2-40B4-BE49-F238E27FC236}">
                <a16:creationId xmlns:a16="http://schemas.microsoft.com/office/drawing/2014/main" id="{BBEACD6E-9169-8008-0AEF-6622CDD30732}"/>
              </a:ext>
            </a:extLst>
          </p:cNvPr>
          <p:cNvSpPr>
            <a:spLocks noGrp="1"/>
          </p:cNvSpPr>
          <p:nvPr>
            <p:ph type="sldNum" sz="quarter" idx="12"/>
          </p:nvPr>
        </p:nvSpPr>
        <p:spPr/>
        <p:txBody>
          <a:bodyPr/>
          <a:lstStyle/>
          <a:p>
            <a:fld id="{B3533053-B928-004D-A0E8-A0A092123CEE}" type="slidenum">
              <a:rPr lang="en-US" smtClean="0"/>
              <a:t>10</a:t>
            </a:fld>
            <a:endParaRPr lang="en-US"/>
          </a:p>
        </p:txBody>
      </p:sp>
      <p:sp>
        <p:nvSpPr>
          <p:cNvPr id="12" name="Rectangle 11">
            <a:extLst>
              <a:ext uri="{FF2B5EF4-FFF2-40B4-BE49-F238E27FC236}">
                <a16:creationId xmlns:a16="http://schemas.microsoft.com/office/drawing/2014/main" id="{D2EE472D-C26A-4750-5398-786176BA2B6F}"/>
              </a:ext>
            </a:extLst>
          </p:cNvPr>
          <p:cNvSpPr/>
          <p:nvPr/>
        </p:nvSpPr>
        <p:spPr>
          <a:xfrm>
            <a:off x="9055540" y="1604822"/>
            <a:ext cx="2869443" cy="4471817"/>
          </a:xfrm>
          <a:prstGeom prst="rect">
            <a:avLst/>
          </a:prstGeom>
          <a:noFill/>
          <a:ln w="476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839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593F1-E952-7A87-FD8B-5A6CF22B64A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F41C909-DC44-6F49-A3AE-D5ABF6B192C5}"/>
              </a:ext>
            </a:extLst>
          </p:cNvPr>
          <p:cNvSpPr>
            <a:spLocks noGrp="1"/>
          </p:cNvSpPr>
          <p:nvPr>
            <p:ph type="sldNum" sz="quarter" idx="12"/>
          </p:nvPr>
        </p:nvSpPr>
        <p:spPr/>
        <p:txBody>
          <a:bodyPr/>
          <a:lstStyle/>
          <a:p>
            <a:fld id="{B3533053-B928-004D-A0E8-A0A092123CEE}" type="slidenum">
              <a:rPr lang="en-US" smtClean="0"/>
              <a:t>11</a:t>
            </a:fld>
            <a:endParaRPr lang="en-US"/>
          </a:p>
        </p:txBody>
      </p:sp>
      <p:sp>
        <p:nvSpPr>
          <p:cNvPr id="6" name="Title 1">
            <a:extLst>
              <a:ext uri="{FF2B5EF4-FFF2-40B4-BE49-F238E27FC236}">
                <a16:creationId xmlns:a16="http://schemas.microsoft.com/office/drawing/2014/main" id="{ED6D6683-2703-5DA0-77DA-8526D4D0C213}"/>
              </a:ext>
            </a:extLst>
          </p:cNvPr>
          <p:cNvSpPr>
            <a:spLocks noGrp="1"/>
          </p:cNvSpPr>
          <p:nvPr>
            <p:ph type="title"/>
          </p:nvPr>
        </p:nvSpPr>
        <p:spPr>
          <a:xfrm>
            <a:off x="741311" y="778933"/>
            <a:ext cx="11231613" cy="5577417"/>
          </a:xfrm>
        </p:spPr>
        <p:txBody>
          <a:bodyPr>
            <a:normAutofit/>
          </a:bodyPr>
          <a:lstStyle/>
          <a:p>
            <a:r>
              <a:rPr lang="en-US" altLang="zh-CN" sz="4000" dirty="0">
                <a:latin typeface="Arial" panose="020B0604020202020204" pitchFamily="34" charset="0"/>
                <a:cs typeface="Arial" panose="020B0604020202020204" pitchFamily="34" charset="0"/>
              </a:rPr>
              <a:t>1. Deep Learning Concepts Recap</a:t>
            </a:r>
            <a:br>
              <a:rPr lang="en-US" altLang="zh-CN" sz="4000" dirty="0">
                <a:solidFill>
                  <a:srgbClr val="C00000"/>
                </a:solidFill>
                <a:latin typeface="Arial" panose="020B0604020202020204" pitchFamily="34" charset="0"/>
                <a:cs typeface="Arial" panose="020B0604020202020204" pitchFamily="34" charset="0"/>
              </a:rPr>
            </a:br>
            <a:br>
              <a:rPr lang="en-US" altLang="zh-CN" sz="4000" dirty="0">
                <a:latin typeface="Arial" panose="020B0604020202020204" pitchFamily="34" charset="0"/>
                <a:cs typeface="Arial" panose="020B0604020202020204" pitchFamily="34" charset="0"/>
              </a:rPr>
            </a:br>
            <a:r>
              <a:rPr lang="en-US" altLang="zh-CN" sz="4000" dirty="0">
                <a:solidFill>
                  <a:srgbClr val="C00000"/>
                </a:solidFill>
                <a:latin typeface="Arial" panose="020B0604020202020204" pitchFamily="34" charset="0"/>
                <a:cs typeface="Arial" panose="020B0604020202020204" pitchFamily="34" charset="0"/>
              </a:rPr>
              <a:t>2. Intro to </a:t>
            </a:r>
            <a:r>
              <a:rPr lang="en-US" altLang="zh-CN" sz="4000" dirty="0" err="1">
                <a:solidFill>
                  <a:srgbClr val="C00000"/>
                </a:solidFill>
                <a:latin typeface="Arial" panose="020B0604020202020204" pitchFamily="34" charset="0"/>
                <a:cs typeface="Arial" panose="020B0604020202020204" pitchFamily="34" charset="0"/>
              </a:rPr>
              <a:t>Pytorch</a:t>
            </a:r>
            <a:br>
              <a:rPr lang="en-US" altLang="zh-CN" sz="4000" dirty="0">
                <a:latin typeface="Arial" panose="020B0604020202020204" pitchFamily="34" charset="0"/>
                <a:cs typeface="Arial" panose="020B0604020202020204" pitchFamily="34" charset="0"/>
              </a:rPr>
            </a:br>
            <a:br>
              <a:rPr lang="en-US" altLang="zh-CN" sz="4000" dirty="0">
                <a:latin typeface="Arial" panose="020B0604020202020204" pitchFamily="34" charset="0"/>
                <a:cs typeface="Arial" panose="020B0604020202020204" pitchFamily="34" charset="0"/>
              </a:rPr>
            </a:br>
            <a:r>
              <a:rPr lang="en-US" altLang="zh-CN" sz="4000" dirty="0">
                <a:latin typeface="Arial" panose="020B0604020202020204" pitchFamily="34" charset="0"/>
                <a:cs typeface="Arial" panose="020B0604020202020204" pitchFamily="34" charset="0"/>
              </a:rPr>
              <a:t>3. Perceptron and MLP</a:t>
            </a:r>
            <a:br>
              <a:rPr lang="en-US" altLang="zh-CN" sz="4000" b="1" dirty="0">
                <a:latin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1767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91CED-6DFE-8A6C-2D77-49188CC639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B242E-C223-F03C-25E2-D5343A33348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What’s </a:t>
            </a:r>
            <a:r>
              <a:rPr lang="en-US" dirty="0" err="1">
                <a:latin typeface="Arial" panose="020B0604020202020204" pitchFamily="34" charset="0"/>
                <a:cs typeface="Arial" panose="020B0604020202020204" pitchFamily="34" charset="0"/>
                <a:hlinkClick r:id="rId3"/>
              </a:rPr>
              <a:t>PyTorch</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D224C5C-E631-A8DF-D3E8-A6AA12809A8C}"/>
              </a:ext>
            </a:extLst>
          </p:cNvPr>
          <p:cNvSpPr>
            <a:spLocks noGrp="1"/>
          </p:cNvSpPr>
          <p:nvPr>
            <p:ph idx="1"/>
          </p:nvPr>
        </p:nvSpPr>
        <p:spPr/>
        <p:txBody>
          <a:bodyPr/>
          <a:lstStyle/>
          <a:p>
            <a:pPr marL="0" indent="0">
              <a:buNone/>
            </a:pPr>
            <a:r>
              <a:rPr lang="en-US" dirty="0">
                <a:latin typeface="Arial" panose="020B0604020202020204" pitchFamily="34" charset="0"/>
                <a:cs typeface="Arial" panose="020B0604020202020204" pitchFamily="34" charset="0"/>
              </a:rPr>
              <a:t>It’s a Python-based open-sourced scientific computing package targeted at two sets of audiences:</a:t>
            </a:r>
          </a:p>
          <a:p>
            <a:pPr marL="0" indent="0">
              <a:buNone/>
            </a:pPr>
            <a:endParaRPr lang="en-US" dirty="0">
              <a:latin typeface="Arial" panose="020B0604020202020204" pitchFamily="34" charset="0"/>
              <a:cs typeface="Arial" panose="020B0604020202020204" pitchFamily="34" charset="0"/>
            </a:endParaRPr>
          </a:p>
          <a:p>
            <a:pPr marL="514350" indent="-514350">
              <a:buAutoNum type="arabicParenR"/>
            </a:pPr>
            <a:r>
              <a:rPr lang="en-US" dirty="0">
                <a:latin typeface="Arial" panose="020B0604020202020204" pitchFamily="34" charset="0"/>
                <a:cs typeface="Arial" panose="020B0604020202020204" pitchFamily="34" charset="0"/>
              </a:rPr>
              <a:t>A replacement for </a:t>
            </a:r>
            <a:r>
              <a:rPr lang="en-US" b="1" dirty="0">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to use the power of </a:t>
            </a:r>
            <a:r>
              <a:rPr lang="en-US" b="1" u="sng" dirty="0">
                <a:solidFill>
                  <a:srgbClr val="C00000"/>
                </a:solidFill>
                <a:latin typeface="Arial" panose="020B0604020202020204" pitchFamily="34" charset="0"/>
                <a:cs typeface="Arial" panose="020B0604020202020204" pitchFamily="34" charset="0"/>
              </a:rPr>
              <a:t>GPUs</a:t>
            </a:r>
          </a:p>
          <a:p>
            <a:pPr marL="514350" indent="-514350">
              <a:buAutoNum type="arabicParenR"/>
            </a:pPr>
            <a:endParaRPr lang="en-US" dirty="0">
              <a:latin typeface="Arial" panose="020B0604020202020204" pitchFamily="34" charset="0"/>
              <a:cs typeface="Arial" panose="020B0604020202020204" pitchFamily="34" charset="0"/>
            </a:endParaRPr>
          </a:p>
          <a:p>
            <a:pPr marL="514350" indent="-514350">
              <a:buAutoNum type="arabicParenR"/>
            </a:pPr>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deep learning </a:t>
            </a:r>
            <a:r>
              <a:rPr lang="en-US" dirty="0">
                <a:latin typeface="Arial" panose="020B0604020202020204" pitchFamily="34" charset="0"/>
                <a:cs typeface="Arial" panose="020B0604020202020204" pitchFamily="34" charset="0"/>
              </a:rPr>
              <a:t>research platform that provided maximum flexibility and speed </a:t>
            </a:r>
          </a:p>
          <a:p>
            <a:pPr marL="0" indent="0">
              <a:buNone/>
            </a:pPr>
            <a:endParaRPr lang="en-US"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FA11E6A-DC67-8011-5816-60B6E09EFD3B}"/>
              </a:ext>
            </a:extLst>
          </p:cNvPr>
          <p:cNvSpPr txBox="1"/>
          <p:nvPr/>
        </p:nvSpPr>
        <p:spPr>
          <a:xfrm>
            <a:off x="1042640" y="5938339"/>
            <a:ext cx="6099716" cy="646331"/>
          </a:xfrm>
          <a:prstGeom prst="rect">
            <a:avLst/>
          </a:prstGeom>
          <a:noFill/>
        </p:spPr>
        <p:txBody>
          <a:bodyPr wrap="square">
            <a:spAutoFit/>
          </a:bodyPr>
          <a:lstStyle/>
          <a:p>
            <a:r>
              <a:rPr lang="en-US" sz="1800" dirty="0">
                <a:solidFill>
                  <a:srgbClr val="0096A5"/>
                </a:solidFill>
                <a:effectLst/>
                <a:latin typeface="ArialMT"/>
                <a:hlinkClick r:id="rId4"/>
              </a:rPr>
              <a:t>https://pytorch.org/get-started/locally/</a:t>
            </a:r>
            <a:endParaRPr lang="en-US" sz="1800" dirty="0">
              <a:solidFill>
                <a:srgbClr val="0096A5"/>
              </a:solidFill>
              <a:effectLst/>
              <a:latin typeface="ArialMT"/>
            </a:endParaRPr>
          </a:p>
          <a:p>
            <a:r>
              <a:rPr lang="en-US" sz="1800" dirty="0">
                <a:solidFill>
                  <a:srgbClr val="0096A5"/>
                </a:solidFill>
                <a:effectLst/>
                <a:latin typeface="ArialMT"/>
              </a:rPr>
              <a:t> </a:t>
            </a:r>
            <a:endParaRPr lang="en-US" dirty="0">
              <a:effectLst/>
            </a:endParaRPr>
          </a:p>
        </p:txBody>
      </p:sp>
      <p:sp>
        <p:nvSpPr>
          <p:cNvPr id="5" name="Slide Number Placeholder 4">
            <a:extLst>
              <a:ext uri="{FF2B5EF4-FFF2-40B4-BE49-F238E27FC236}">
                <a16:creationId xmlns:a16="http://schemas.microsoft.com/office/drawing/2014/main" id="{7FE23256-5976-1BDF-D9BE-329E205F3FF9}"/>
              </a:ext>
            </a:extLst>
          </p:cNvPr>
          <p:cNvSpPr>
            <a:spLocks noGrp="1"/>
          </p:cNvSpPr>
          <p:nvPr>
            <p:ph type="sldNum" sz="quarter" idx="12"/>
          </p:nvPr>
        </p:nvSpPr>
        <p:spPr>
          <a:xfrm>
            <a:off x="8131629" y="6310312"/>
            <a:ext cx="2743200" cy="365125"/>
          </a:xfrm>
        </p:spPr>
        <p:txBody>
          <a:bodyPr/>
          <a:lstStyle/>
          <a:p>
            <a:fld id="{B3533053-B928-004D-A0E8-A0A092123CEE}" type="slidenum">
              <a:rPr lang="en-US" smtClean="0"/>
              <a:t>12</a:t>
            </a:fld>
            <a:endParaRPr lang="en-US" dirty="0"/>
          </a:p>
        </p:txBody>
      </p:sp>
      <p:sp>
        <p:nvSpPr>
          <p:cNvPr id="8" name="TextBox 7">
            <a:extLst>
              <a:ext uri="{FF2B5EF4-FFF2-40B4-BE49-F238E27FC236}">
                <a16:creationId xmlns:a16="http://schemas.microsoft.com/office/drawing/2014/main" id="{CD529B80-1895-C26B-D3E5-E0E1AA401922}"/>
              </a:ext>
            </a:extLst>
          </p:cNvPr>
          <p:cNvSpPr txBox="1"/>
          <p:nvPr/>
        </p:nvSpPr>
        <p:spPr>
          <a:xfrm>
            <a:off x="1042640" y="6299922"/>
            <a:ext cx="7512987"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hlinkClick r:id="rId5"/>
              </a:rPr>
              <a:t>https://docs.pytorch.org/tutorials/beginner/basics</a:t>
            </a:r>
            <a:endParaRPr lang="en-US" dirty="0">
              <a:latin typeface="Arial" panose="020B0604020202020204" pitchFamily="34" charset="0"/>
              <a:cs typeface="Arial" panose="020B0604020202020204" pitchFamily="34" charset="0"/>
            </a:endParaRPr>
          </a:p>
          <a:p>
            <a:endParaRPr lang="en-US" dirty="0">
              <a:solidFill>
                <a:srgbClr val="0096A5"/>
              </a:solidFill>
              <a:latin typeface="ArialMT"/>
            </a:endParaRPr>
          </a:p>
        </p:txBody>
      </p:sp>
    </p:spTree>
    <p:extLst>
      <p:ext uri="{BB962C8B-B14F-4D97-AF65-F5344CB8AC3E}">
        <p14:creationId xmlns:p14="http://schemas.microsoft.com/office/powerpoint/2010/main" val="424218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D9F5F-24FC-CB29-F2F0-771A74490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A482D-A975-BFC1-6CC9-430F257CD3E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Why </a:t>
            </a:r>
            <a:r>
              <a:rPr lang="en-US" dirty="0" err="1">
                <a:latin typeface="Arial" panose="020B0604020202020204" pitchFamily="34" charset="0"/>
                <a:cs typeface="Arial" panose="020B0604020202020204" pitchFamily="34" charset="0"/>
              </a:rPr>
              <a:t>PyTorch</a:t>
            </a:r>
            <a:endParaRPr lang="en-US"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AB791072-AC50-A61E-C755-24869E07785F}"/>
              </a:ext>
            </a:extLst>
          </p:cNvPr>
          <p:cNvPicPr>
            <a:picLocks noChangeAspect="1"/>
          </p:cNvPicPr>
          <p:nvPr/>
        </p:nvPicPr>
        <p:blipFill>
          <a:blip r:embed="rId3"/>
          <a:stretch>
            <a:fillRect/>
          </a:stretch>
        </p:blipFill>
        <p:spPr>
          <a:xfrm>
            <a:off x="1824840" y="1387623"/>
            <a:ext cx="7924801" cy="4314986"/>
          </a:xfrm>
          <a:prstGeom prst="rect">
            <a:avLst/>
          </a:prstGeom>
        </p:spPr>
      </p:pic>
      <p:sp>
        <p:nvSpPr>
          <p:cNvPr id="4" name="TextBox 3">
            <a:extLst>
              <a:ext uri="{FF2B5EF4-FFF2-40B4-BE49-F238E27FC236}">
                <a16:creationId xmlns:a16="http://schemas.microsoft.com/office/drawing/2014/main" id="{B8561D32-425F-2726-2F4D-65C9E899967F}"/>
              </a:ext>
            </a:extLst>
          </p:cNvPr>
          <p:cNvSpPr txBox="1"/>
          <p:nvPr/>
        </p:nvSpPr>
        <p:spPr>
          <a:xfrm>
            <a:off x="4572000" y="5285711"/>
            <a:ext cx="1524000" cy="369332"/>
          </a:xfrm>
          <a:prstGeom prst="rect">
            <a:avLst/>
          </a:prstGeom>
          <a:noFill/>
        </p:spPr>
        <p:txBody>
          <a:bodyPr wrap="square" rtlCol="0">
            <a:spAutoFit/>
          </a:bodyPr>
          <a:lstStyle/>
          <a:p>
            <a:r>
              <a:rPr lang="en-US" dirty="0">
                <a:hlinkClick r:id="rId4"/>
              </a:rPr>
              <a:t>From viso.ai</a:t>
            </a:r>
            <a:endParaRPr lang="en-US" dirty="0"/>
          </a:p>
        </p:txBody>
      </p:sp>
      <p:sp>
        <p:nvSpPr>
          <p:cNvPr id="5" name="Content Placeholder 2">
            <a:extLst>
              <a:ext uri="{FF2B5EF4-FFF2-40B4-BE49-F238E27FC236}">
                <a16:creationId xmlns:a16="http://schemas.microsoft.com/office/drawing/2014/main" id="{6321B596-CC93-56A2-4D32-1811395F3B8C}"/>
              </a:ext>
            </a:extLst>
          </p:cNvPr>
          <p:cNvSpPr>
            <a:spLocks noGrp="1"/>
          </p:cNvSpPr>
          <p:nvPr>
            <p:ph idx="1"/>
          </p:nvPr>
        </p:nvSpPr>
        <p:spPr>
          <a:xfrm>
            <a:off x="517566" y="5830093"/>
            <a:ext cx="11887199" cy="1325563"/>
          </a:xfrm>
        </p:spPr>
        <p:txBody>
          <a:bodyPr>
            <a:normAutofit/>
          </a:bodyPr>
          <a:lstStyle/>
          <a:p>
            <a:pPr marL="514350" indent="-514350">
              <a:buAutoNum type="arabicPeriod"/>
            </a:pPr>
            <a:r>
              <a:rPr lang="en-US" sz="2000" dirty="0">
                <a:latin typeface="Arial" panose="020B0604020202020204" pitchFamily="34" charset="0"/>
                <a:cs typeface="Arial" panose="020B0604020202020204" pitchFamily="34" charset="0"/>
              </a:rPr>
              <a:t>Many companies (especially open-sourced community) has standardized the usage of </a:t>
            </a:r>
            <a:r>
              <a:rPr lang="en-US" sz="2000" dirty="0" err="1">
                <a:latin typeface="Arial" panose="020B0604020202020204" pitchFamily="34" charset="0"/>
                <a:cs typeface="Arial" panose="020B0604020202020204" pitchFamily="34" charset="0"/>
              </a:rPr>
              <a:t>PyTorch</a:t>
            </a:r>
            <a:r>
              <a:rPr lang="en-US" sz="2000" dirty="0">
                <a:latin typeface="Arial" panose="020B0604020202020204" pitchFamily="34" charset="0"/>
                <a:cs typeface="Arial" panose="020B0604020202020204" pitchFamily="34" charset="0"/>
              </a:rPr>
              <a:t> internally (OpenAI… ) </a:t>
            </a:r>
          </a:p>
          <a:p>
            <a:pPr marL="514350" indent="-514350">
              <a:buAutoNum type="arabicPeriod"/>
            </a:pPr>
            <a:r>
              <a:rPr lang="en-US" sz="2000" dirty="0">
                <a:latin typeface="Arial" panose="020B0604020202020204" pitchFamily="34" charset="0"/>
                <a:cs typeface="Arial" panose="020B0604020202020204" pitchFamily="34" charset="0"/>
              </a:rPr>
              <a:t>Support varying input sizes, well-documented, favored for fast experimentational and prototyping</a:t>
            </a:r>
          </a:p>
        </p:txBody>
      </p:sp>
      <p:sp>
        <p:nvSpPr>
          <p:cNvPr id="6" name="Slide Number Placeholder 5">
            <a:extLst>
              <a:ext uri="{FF2B5EF4-FFF2-40B4-BE49-F238E27FC236}">
                <a16:creationId xmlns:a16="http://schemas.microsoft.com/office/drawing/2014/main" id="{D800CF85-962E-B457-26B5-B22BE113078F}"/>
              </a:ext>
            </a:extLst>
          </p:cNvPr>
          <p:cNvSpPr>
            <a:spLocks noGrp="1"/>
          </p:cNvSpPr>
          <p:nvPr>
            <p:ph type="sldNum" sz="quarter" idx="12"/>
          </p:nvPr>
        </p:nvSpPr>
        <p:spPr/>
        <p:txBody>
          <a:bodyPr/>
          <a:lstStyle/>
          <a:p>
            <a:fld id="{B3533053-B928-004D-A0E8-A0A092123CEE}" type="slidenum">
              <a:rPr lang="en-US" smtClean="0"/>
              <a:t>13</a:t>
            </a:fld>
            <a:endParaRPr lang="en-US"/>
          </a:p>
        </p:txBody>
      </p:sp>
    </p:spTree>
    <p:extLst>
      <p:ext uri="{BB962C8B-B14F-4D97-AF65-F5344CB8AC3E}">
        <p14:creationId xmlns:p14="http://schemas.microsoft.com/office/powerpoint/2010/main" val="167111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904C9-EABA-5A92-D280-05AB20600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D5DA0-BA50-9ADE-1139-EA81BFD7ED0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How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supports DL projects</a:t>
            </a:r>
          </a:p>
        </p:txBody>
      </p:sp>
      <p:sp>
        <p:nvSpPr>
          <p:cNvPr id="6" name="Slide Number Placeholder 5">
            <a:extLst>
              <a:ext uri="{FF2B5EF4-FFF2-40B4-BE49-F238E27FC236}">
                <a16:creationId xmlns:a16="http://schemas.microsoft.com/office/drawing/2014/main" id="{73B8C11F-54F3-B0E9-98A0-6A3B3DFA725D}"/>
              </a:ext>
            </a:extLst>
          </p:cNvPr>
          <p:cNvSpPr>
            <a:spLocks noGrp="1"/>
          </p:cNvSpPr>
          <p:nvPr>
            <p:ph type="sldNum" sz="quarter" idx="12"/>
          </p:nvPr>
        </p:nvSpPr>
        <p:spPr/>
        <p:txBody>
          <a:bodyPr/>
          <a:lstStyle/>
          <a:p>
            <a:fld id="{B3533053-B928-004D-A0E8-A0A092123CEE}" type="slidenum">
              <a:rPr lang="en-US" smtClean="0"/>
              <a:t>14</a:t>
            </a:fld>
            <a:endParaRPr lang="en-US"/>
          </a:p>
        </p:txBody>
      </p:sp>
      <p:pic>
        <p:nvPicPr>
          <p:cNvPr id="3" name="Picture 2">
            <a:extLst>
              <a:ext uri="{FF2B5EF4-FFF2-40B4-BE49-F238E27FC236}">
                <a16:creationId xmlns:a16="http://schemas.microsoft.com/office/drawing/2014/main" id="{F35CF21B-4DA7-A4CD-2092-0994E91EC7A6}"/>
              </a:ext>
            </a:extLst>
          </p:cNvPr>
          <p:cNvPicPr>
            <a:picLocks noChangeAspect="1"/>
          </p:cNvPicPr>
          <p:nvPr/>
        </p:nvPicPr>
        <p:blipFill>
          <a:blip r:embed="rId3"/>
          <a:stretch>
            <a:fillRect/>
          </a:stretch>
        </p:blipFill>
        <p:spPr>
          <a:xfrm>
            <a:off x="1743973" y="1397480"/>
            <a:ext cx="7942645" cy="4822320"/>
          </a:xfrm>
          <a:prstGeom prst="rect">
            <a:avLst/>
          </a:prstGeom>
        </p:spPr>
      </p:pic>
      <p:sp>
        <p:nvSpPr>
          <p:cNvPr id="4" name="Google Shape;88;p19">
            <a:extLst>
              <a:ext uri="{FF2B5EF4-FFF2-40B4-BE49-F238E27FC236}">
                <a16:creationId xmlns:a16="http://schemas.microsoft.com/office/drawing/2014/main" id="{77364A5A-BE0C-52D9-BB21-39CD2C66983C}"/>
              </a:ext>
            </a:extLst>
          </p:cNvPr>
          <p:cNvSpPr/>
          <p:nvPr/>
        </p:nvSpPr>
        <p:spPr>
          <a:xfrm>
            <a:off x="838200" y="6219800"/>
            <a:ext cx="9395794" cy="6656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 sz="1400" dirty="0">
                <a:solidFill>
                  <a:srgbClr val="000000"/>
                </a:solidFill>
                <a:latin typeface="Arial"/>
                <a:ea typeface="Arial"/>
                <a:cs typeface="Arial"/>
                <a:sym typeface="Arial"/>
              </a:rPr>
              <a:t>Credit: E. Stevens, L. </a:t>
            </a:r>
            <a:r>
              <a:rPr lang="en" sz="1400" dirty="0" err="1">
                <a:solidFill>
                  <a:srgbClr val="000000"/>
                </a:solidFill>
                <a:latin typeface="Arial"/>
                <a:ea typeface="Arial"/>
                <a:cs typeface="Arial"/>
                <a:sym typeface="Arial"/>
              </a:rPr>
              <a:t>Antiga</a:t>
            </a:r>
            <a:r>
              <a:rPr lang="en" sz="1400" dirty="0">
                <a:solidFill>
                  <a:srgbClr val="000000"/>
                </a:solidFill>
                <a:latin typeface="Arial"/>
                <a:ea typeface="Arial"/>
                <a:cs typeface="Arial"/>
                <a:sym typeface="Arial"/>
              </a:rPr>
              <a:t>, and T. </a:t>
            </a:r>
            <a:r>
              <a:rPr lang="en" sz="1400" dirty="0" err="1">
                <a:solidFill>
                  <a:srgbClr val="000000"/>
                </a:solidFill>
                <a:latin typeface="Arial"/>
                <a:ea typeface="Arial"/>
                <a:cs typeface="Arial"/>
                <a:sym typeface="Arial"/>
              </a:rPr>
              <a:t>Viehmann</a:t>
            </a:r>
            <a:r>
              <a:rPr lang="en" sz="1400" dirty="0">
                <a:solidFill>
                  <a:srgbClr val="000000"/>
                </a:solidFill>
                <a:latin typeface="Arial"/>
                <a:ea typeface="Arial"/>
                <a:cs typeface="Arial"/>
                <a:sym typeface="Arial"/>
              </a:rPr>
              <a:t>. </a:t>
            </a:r>
            <a:r>
              <a:rPr lang="en" sz="1400" i="1" dirty="0">
                <a:solidFill>
                  <a:srgbClr val="000000"/>
                </a:solidFill>
                <a:latin typeface="Arial"/>
                <a:ea typeface="Arial"/>
                <a:cs typeface="Arial"/>
                <a:sym typeface="Arial"/>
              </a:rPr>
              <a:t>Deep Learning with </a:t>
            </a:r>
            <a:r>
              <a:rPr lang="en" sz="1400" i="1" dirty="0" err="1">
                <a:solidFill>
                  <a:srgbClr val="000000"/>
                </a:solidFill>
                <a:latin typeface="Arial"/>
                <a:ea typeface="Arial"/>
                <a:cs typeface="Arial"/>
                <a:sym typeface="Arial"/>
              </a:rPr>
              <a:t>PyTorch</a:t>
            </a:r>
            <a:r>
              <a:rPr lang="en" sz="1400" dirty="0">
                <a:solidFill>
                  <a:srgbClr val="000000"/>
                </a:solidFill>
                <a:latin typeface="Arial"/>
                <a:ea typeface="Arial"/>
                <a:cs typeface="Arial"/>
                <a:sym typeface="Arial"/>
              </a:rPr>
              <a:t>. 2020.</a:t>
            </a:r>
            <a:endParaRPr sz="140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450567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CA7A6A80-41E8-3297-A30F-20337EB3F255}"/>
            </a:ext>
          </a:extLst>
        </p:cNvPr>
        <p:cNvGrpSpPr/>
        <p:nvPr/>
      </p:nvGrpSpPr>
      <p:grpSpPr>
        <a:xfrm>
          <a:off x="0" y="0"/>
          <a:ext cx="0" cy="0"/>
          <a:chOff x="0" y="0"/>
          <a:chExt cx="0" cy="0"/>
        </a:xfrm>
      </p:grpSpPr>
      <p:pic>
        <p:nvPicPr>
          <p:cNvPr id="79" name="Google Shape;79;p18">
            <a:extLst>
              <a:ext uri="{FF2B5EF4-FFF2-40B4-BE49-F238E27FC236}">
                <a16:creationId xmlns:a16="http://schemas.microsoft.com/office/drawing/2014/main" id="{FD50FCBD-938B-EE19-263D-DC9CBC1837B5}"/>
              </a:ext>
            </a:extLst>
          </p:cNvPr>
          <p:cNvPicPr preferRelativeResize="0"/>
          <p:nvPr/>
        </p:nvPicPr>
        <p:blipFill rotWithShape="1">
          <a:blip r:embed="rId3">
            <a:alphaModFix/>
          </a:blip>
          <a:srcRect/>
          <a:stretch/>
        </p:blipFill>
        <p:spPr>
          <a:xfrm>
            <a:off x="616321" y="251"/>
            <a:ext cx="10418404" cy="6857279"/>
          </a:xfrm>
          <a:prstGeom prst="rect">
            <a:avLst/>
          </a:prstGeom>
          <a:noFill/>
          <a:ln>
            <a:noFill/>
          </a:ln>
        </p:spPr>
      </p:pic>
      <p:sp>
        <p:nvSpPr>
          <p:cNvPr id="80" name="Google Shape;80;p18">
            <a:extLst>
              <a:ext uri="{FF2B5EF4-FFF2-40B4-BE49-F238E27FC236}">
                <a16:creationId xmlns:a16="http://schemas.microsoft.com/office/drawing/2014/main" id="{57B2193E-5BB2-F673-C3D4-2A592ED0B63E}"/>
              </a:ext>
            </a:extLst>
          </p:cNvPr>
          <p:cNvSpPr/>
          <p:nvPr/>
        </p:nvSpPr>
        <p:spPr>
          <a:xfrm rot="5400000">
            <a:off x="8315120" y="3034000"/>
            <a:ext cx="6771200" cy="7896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 sz="1867" b="1" dirty="0">
                <a:solidFill>
                  <a:srgbClr val="000000"/>
                </a:solidFill>
                <a:latin typeface="Arial"/>
                <a:ea typeface="Arial"/>
                <a:cs typeface="Arial"/>
                <a:sym typeface="Arial"/>
              </a:rPr>
              <a:t>Slide Credit: </a:t>
            </a:r>
            <a:r>
              <a:rPr lang="en" sz="1600" b="1" dirty="0" err="1">
                <a:solidFill>
                  <a:srgbClr val="24292E"/>
                </a:solidFill>
                <a:latin typeface="Arial"/>
                <a:ea typeface="Arial"/>
                <a:cs typeface="Arial"/>
                <a:sym typeface="Arial"/>
              </a:rPr>
              <a:t>Soumith</a:t>
            </a:r>
            <a:r>
              <a:rPr lang="en" sz="1600" b="1" dirty="0">
                <a:solidFill>
                  <a:srgbClr val="24292E"/>
                </a:solidFill>
                <a:latin typeface="Arial"/>
                <a:ea typeface="Arial"/>
                <a:cs typeface="Arial"/>
                <a:sym typeface="Arial"/>
              </a:rPr>
              <a:t> </a:t>
            </a:r>
            <a:r>
              <a:rPr lang="en" sz="1600" b="1" dirty="0" err="1">
                <a:solidFill>
                  <a:srgbClr val="24292E"/>
                </a:solidFill>
                <a:latin typeface="Arial"/>
                <a:ea typeface="Arial"/>
                <a:cs typeface="Arial"/>
                <a:sym typeface="Arial"/>
              </a:rPr>
              <a:t>Chintala</a:t>
            </a:r>
            <a:endParaRPr sz="1600" dirty="0">
              <a:solidFill>
                <a:srgbClr val="000000"/>
              </a:solidFill>
              <a:latin typeface="Arial"/>
              <a:ea typeface="Arial"/>
              <a:cs typeface="Arial"/>
              <a:sym typeface="Arial"/>
            </a:endParaRPr>
          </a:p>
          <a:p>
            <a:pPr>
              <a:buClr>
                <a:srgbClr val="000000"/>
              </a:buClr>
              <a:buSzPts val="1200"/>
            </a:pPr>
            <a:endParaRPr sz="1600" dirty="0">
              <a:solidFill>
                <a:srgbClr val="000000"/>
              </a:solidFill>
              <a:latin typeface="Arial"/>
              <a:ea typeface="Arial"/>
              <a:cs typeface="Arial"/>
              <a:sym typeface="Arial"/>
            </a:endParaRPr>
          </a:p>
        </p:txBody>
      </p:sp>
      <p:sp>
        <p:nvSpPr>
          <p:cNvPr id="81" name="Google Shape;81;p18">
            <a:extLst>
              <a:ext uri="{FF2B5EF4-FFF2-40B4-BE49-F238E27FC236}">
                <a16:creationId xmlns:a16="http://schemas.microsoft.com/office/drawing/2014/main" id="{969FFF12-EE49-84D9-1BD2-AF0F750B3A3E}"/>
              </a:ext>
            </a:extLst>
          </p:cNvPr>
          <p:cNvSpPr/>
          <p:nvPr/>
        </p:nvSpPr>
        <p:spPr>
          <a:xfrm>
            <a:off x="10011800" y="3490167"/>
            <a:ext cx="2006800" cy="1066335"/>
          </a:xfrm>
          <a:prstGeom prst="rect">
            <a:avLst/>
          </a:prstGeom>
          <a:solidFill>
            <a:srgbClr val="CFE2F3"/>
          </a:solidFill>
          <a:ln w="76300" cap="flat" cmpd="sng">
            <a:solidFill>
              <a:srgbClr val="073763"/>
            </a:solidFill>
            <a:prstDash val="solid"/>
            <a:round/>
            <a:headEnd type="none" w="sm" len="sm"/>
            <a:tailEnd type="none" w="sm" len="sm"/>
          </a:ln>
        </p:spPr>
        <p:txBody>
          <a:bodyPr spcFirstLastPara="1" wrap="square" lIns="121900" tIns="121900" rIns="121900" bIns="121900" anchor="t" anchorCtr="0">
            <a:noAutofit/>
          </a:bodyPr>
          <a:lstStyle/>
          <a:p>
            <a:pPr>
              <a:buClr>
                <a:srgbClr val="000000"/>
              </a:buClr>
              <a:buSzPts val="1400"/>
            </a:pPr>
            <a:r>
              <a:rPr lang="en" sz="1867" dirty="0" err="1">
                <a:solidFill>
                  <a:srgbClr val="000000"/>
                </a:solidFill>
                <a:latin typeface="Arial" panose="020B0604020202020204" pitchFamily="34" charset="0"/>
                <a:ea typeface="Courier New"/>
                <a:cs typeface="Arial" panose="020B0604020202020204" pitchFamily="34" charset="0"/>
                <a:sym typeface="Courier New"/>
              </a:rPr>
              <a:t>numpy</a:t>
            </a:r>
            <a:r>
              <a:rPr lang="en" sz="1867" dirty="0">
                <a:solidFill>
                  <a:srgbClr val="000000"/>
                </a:solidFill>
                <a:latin typeface="Arial" panose="020B0604020202020204" pitchFamily="34" charset="0"/>
                <a:ea typeface="Courier New"/>
                <a:cs typeface="Arial" panose="020B0604020202020204" pitchFamily="34" charset="0"/>
                <a:sym typeface="Courier New"/>
              </a:rPr>
              <a:t> and </a:t>
            </a:r>
            <a:r>
              <a:rPr lang="en" sz="1867" dirty="0" err="1">
                <a:solidFill>
                  <a:srgbClr val="000000"/>
                </a:solidFill>
                <a:latin typeface="Arial" panose="020B0604020202020204" pitchFamily="34" charset="0"/>
                <a:ea typeface="Courier New"/>
                <a:cs typeface="Arial" panose="020B0604020202020204" pitchFamily="34" charset="0"/>
                <a:sym typeface="Courier New"/>
              </a:rPr>
              <a:t>PyTorch</a:t>
            </a:r>
            <a:r>
              <a:rPr lang="en" sz="1867" dirty="0">
                <a:solidFill>
                  <a:srgbClr val="000000"/>
                </a:solidFill>
                <a:latin typeface="Arial" panose="020B0604020202020204" pitchFamily="34" charset="0"/>
                <a:ea typeface="Courier New"/>
                <a:cs typeface="Arial" panose="020B0604020202020204" pitchFamily="34" charset="0"/>
                <a:sym typeface="Courier New"/>
              </a:rPr>
              <a:t> have many similarities</a:t>
            </a:r>
            <a:endParaRPr sz="1867" dirty="0">
              <a:solidFill>
                <a:srgbClr val="000000"/>
              </a:solidFill>
              <a:latin typeface="Arial" panose="020B0604020202020204" pitchFamily="34" charset="0"/>
              <a:ea typeface="Arial"/>
              <a:cs typeface="Arial" panose="020B0604020202020204" pitchFamily="34" charset="0"/>
              <a:sym typeface="Arial"/>
            </a:endParaRPr>
          </a:p>
        </p:txBody>
      </p:sp>
    </p:spTree>
    <p:extLst>
      <p:ext uri="{BB962C8B-B14F-4D97-AF65-F5344CB8AC3E}">
        <p14:creationId xmlns:p14="http://schemas.microsoft.com/office/powerpoint/2010/main" val="2938855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CF2D77EF-BC38-8841-F261-147B36B04C27}"/>
            </a:ext>
          </a:extLst>
        </p:cNvPr>
        <p:cNvGrpSpPr/>
        <p:nvPr/>
      </p:nvGrpSpPr>
      <p:grpSpPr>
        <a:xfrm>
          <a:off x="0" y="0"/>
          <a:ext cx="0" cy="0"/>
          <a:chOff x="0" y="0"/>
          <a:chExt cx="0" cy="0"/>
        </a:xfrm>
      </p:grpSpPr>
      <p:sp>
        <p:nvSpPr>
          <p:cNvPr id="86" name="Google Shape;86;p19">
            <a:extLst>
              <a:ext uri="{FF2B5EF4-FFF2-40B4-BE49-F238E27FC236}">
                <a16:creationId xmlns:a16="http://schemas.microsoft.com/office/drawing/2014/main" id="{9D0C6A5C-E38D-BCD2-B059-136F72D44181}"/>
              </a:ext>
            </a:extLst>
          </p:cNvPr>
          <p:cNvSpPr txBox="1"/>
          <p:nvPr/>
        </p:nvSpPr>
        <p:spPr>
          <a:xfrm>
            <a:off x="415680" y="593280"/>
            <a:ext cx="11360000" cy="7632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4400" dirty="0">
                <a:solidFill>
                  <a:srgbClr val="000000"/>
                </a:solidFill>
                <a:latin typeface="Arial"/>
                <a:ea typeface="Arial"/>
                <a:cs typeface="Arial"/>
                <a:sym typeface="Arial"/>
              </a:rPr>
              <a:t>Basic Datatype: Tensors</a:t>
            </a:r>
            <a:endParaRPr sz="4400" dirty="0">
              <a:solidFill>
                <a:srgbClr val="000000"/>
              </a:solidFill>
              <a:latin typeface="Arial"/>
              <a:ea typeface="Arial"/>
              <a:cs typeface="Arial"/>
              <a:sym typeface="Arial"/>
            </a:endParaRPr>
          </a:p>
        </p:txBody>
      </p:sp>
      <p:pic>
        <p:nvPicPr>
          <p:cNvPr id="87" name="Google Shape;87;p19">
            <a:extLst>
              <a:ext uri="{FF2B5EF4-FFF2-40B4-BE49-F238E27FC236}">
                <a16:creationId xmlns:a16="http://schemas.microsoft.com/office/drawing/2014/main" id="{A282D6DC-0C52-F403-52B1-CD20D034D9E5}"/>
              </a:ext>
            </a:extLst>
          </p:cNvPr>
          <p:cNvPicPr preferRelativeResize="0"/>
          <p:nvPr/>
        </p:nvPicPr>
        <p:blipFill rotWithShape="1">
          <a:blip r:embed="rId3">
            <a:alphaModFix/>
          </a:blip>
          <a:srcRect/>
          <a:stretch/>
        </p:blipFill>
        <p:spPr>
          <a:xfrm>
            <a:off x="1099847" y="2018057"/>
            <a:ext cx="9991666" cy="3430289"/>
          </a:xfrm>
          <a:prstGeom prst="rect">
            <a:avLst/>
          </a:prstGeom>
          <a:noFill/>
          <a:ln>
            <a:noFill/>
          </a:ln>
        </p:spPr>
      </p:pic>
      <p:sp>
        <p:nvSpPr>
          <p:cNvPr id="88" name="Google Shape;88;p19">
            <a:extLst>
              <a:ext uri="{FF2B5EF4-FFF2-40B4-BE49-F238E27FC236}">
                <a16:creationId xmlns:a16="http://schemas.microsoft.com/office/drawing/2014/main" id="{641C1F2C-5EB4-81ED-D635-7BF84BD011DB}"/>
              </a:ext>
            </a:extLst>
          </p:cNvPr>
          <p:cNvSpPr/>
          <p:nvPr/>
        </p:nvSpPr>
        <p:spPr>
          <a:xfrm>
            <a:off x="415680" y="6215647"/>
            <a:ext cx="9395794" cy="6656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 sz="1400" dirty="0">
                <a:solidFill>
                  <a:srgbClr val="000000"/>
                </a:solidFill>
                <a:latin typeface="Arial"/>
                <a:ea typeface="Arial"/>
                <a:cs typeface="Arial"/>
                <a:sym typeface="Arial"/>
              </a:rPr>
              <a:t>Credit: E. Stevens, L. </a:t>
            </a:r>
            <a:r>
              <a:rPr lang="en" sz="1400" dirty="0" err="1">
                <a:solidFill>
                  <a:srgbClr val="000000"/>
                </a:solidFill>
                <a:latin typeface="Arial"/>
                <a:ea typeface="Arial"/>
                <a:cs typeface="Arial"/>
                <a:sym typeface="Arial"/>
              </a:rPr>
              <a:t>Antiga</a:t>
            </a:r>
            <a:r>
              <a:rPr lang="en" sz="1400" dirty="0">
                <a:solidFill>
                  <a:srgbClr val="000000"/>
                </a:solidFill>
                <a:latin typeface="Arial"/>
                <a:ea typeface="Arial"/>
                <a:cs typeface="Arial"/>
                <a:sym typeface="Arial"/>
              </a:rPr>
              <a:t>, and T. </a:t>
            </a:r>
            <a:r>
              <a:rPr lang="en" sz="1400" dirty="0" err="1">
                <a:solidFill>
                  <a:srgbClr val="000000"/>
                </a:solidFill>
                <a:latin typeface="Arial"/>
                <a:ea typeface="Arial"/>
                <a:cs typeface="Arial"/>
                <a:sym typeface="Arial"/>
              </a:rPr>
              <a:t>Viehmann</a:t>
            </a:r>
            <a:r>
              <a:rPr lang="en" sz="1400" dirty="0">
                <a:solidFill>
                  <a:srgbClr val="000000"/>
                </a:solidFill>
                <a:latin typeface="Arial"/>
                <a:ea typeface="Arial"/>
                <a:cs typeface="Arial"/>
                <a:sym typeface="Arial"/>
              </a:rPr>
              <a:t>. </a:t>
            </a:r>
            <a:r>
              <a:rPr lang="en" sz="1400" i="1" dirty="0">
                <a:solidFill>
                  <a:srgbClr val="000000"/>
                </a:solidFill>
                <a:latin typeface="Arial"/>
                <a:ea typeface="Arial"/>
                <a:cs typeface="Arial"/>
                <a:sym typeface="Arial"/>
              </a:rPr>
              <a:t>Deep Learning with </a:t>
            </a:r>
            <a:r>
              <a:rPr lang="en" sz="1400" i="1" dirty="0" err="1">
                <a:solidFill>
                  <a:srgbClr val="000000"/>
                </a:solidFill>
                <a:latin typeface="Arial"/>
                <a:ea typeface="Arial"/>
                <a:cs typeface="Arial"/>
                <a:sym typeface="Arial"/>
              </a:rPr>
              <a:t>PyTorch</a:t>
            </a:r>
            <a:r>
              <a:rPr lang="en" sz="1400" dirty="0">
                <a:solidFill>
                  <a:srgbClr val="000000"/>
                </a:solidFill>
                <a:latin typeface="Arial"/>
                <a:ea typeface="Arial"/>
                <a:cs typeface="Arial"/>
                <a:sym typeface="Arial"/>
              </a:rPr>
              <a:t>. 2020.</a:t>
            </a:r>
            <a:endParaRPr sz="1400" dirty="0">
              <a:solidFill>
                <a:srgbClr val="000000"/>
              </a:solidFill>
              <a:latin typeface="Arial"/>
              <a:ea typeface="Arial"/>
              <a:cs typeface="Arial"/>
              <a:sym typeface="Arial"/>
            </a:endParaRPr>
          </a:p>
        </p:txBody>
      </p:sp>
      <p:sp>
        <p:nvSpPr>
          <p:cNvPr id="2" name="Content Placeholder 2">
            <a:extLst>
              <a:ext uri="{FF2B5EF4-FFF2-40B4-BE49-F238E27FC236}">
                <a16:creationId xmlns:a16="http://schemas.microsoft.com/office/drawing/2014/main" id="{C90A033A-C09C-472B-030B-159A06222480}"/>
              </a:ext>
            </a:extLst>
          </p:cNvPr>
          <p:cNvSpPr>
            <a:spLocks noGrp="1"/>
          </p:cNvSpPr>
          <p:nvPr>
            <p:ph idx="1"/>
          </p:nvPr>
        </p:nvSpPr>
        <p:spPr>
          <a:xfrm>
            <a:off x="415680" y="1571966"/>
            <a:ext cx="11360000" cy="551815"/>
          </a:xfrm>
        </p:spPr>
        <p:txBody>
          <a:bodyPr>
            <a:normAutofit fontScale="85000" lnSpcReduction="10000"/>
          </a:bodyPr>
          <a:lstStyle/>
          <a:p>
            <a:pPr marL="0" indent="0">
              <a:buNone/>
            </a:pPr>
            <a:r>
              <a:rPr lang="en-US" dirty="0">
                <a:latin typeface="Arial" panose="020B0604020202020204" pitchFamily="34" charset="0"/>
                <a:cs typeface="Arial" panose="020B0604020202020204" pitchFamily="34" charset="0"/>
              </a:rPr>
              <a:t>Just like NumPy multi-dimensional array, tensors generated vector and matrix.</a:t>
            </a:r>
          </a:p>
          <a:p>
            <a:pPr marL="0" indent="0">
              <a:buNone/>
            </a:pP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5F33CD8-A6E4-E26D-9950-555F4A14F497}"/>
              </a:ext>
            </a:extLst>
          </p:cNvPr>
          <p:cNvSpPr txBox="1">
            <a:spLocks/>
          </p:cNvSpPr>
          <p:nvPr/>
        </p:nvSpPr>
        <p:spPr>
          <a:xfrm>
            <a:off x="415680" y="5618529"/>
            <a:ext cx="11360000" cy="551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latin typeface="Arial" panose="020B0604020202020204" pitchFamily="34" charset="0"/>
                <a:cs typeface="Arial" panose="020B0604020202020204" pitchFamily="34" charset="0"/>
              </a:rPr>
              <a:t>Tensors are the building blocks for representing data in </a:t>
            </a:r>
            <a:r>
              <a:rPr lang="en-US" sz="2200" dirty="0" err="1">
                <a:latin typeface="Arial" panose="020B0604020202020204" pitchFamily="34" charset="0"/>
                <a:cs typeface="Arial" panose="020B0604020202020204" pitchFamily="34" charset="0"/>
              </a:rPr>
              <a:t>PyTorch</a:t>
            </a:r>
            <a:r>
              <a:rPr lang="en-US" sz="2200" dirty="0">
                <a:latin typeface="Arial" panose="020B0604020202020204" pitchFamily="34" charset="0"/>
                <a:cs typeface="Arial" panose="020B0604020202020204" pitchFamily="34" charset="0"/>
              </a:rPr>
              <a:t>.</a:t>
            </a: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9601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00A867DD-7849-BF94-C6E1-B494CFCB3AE4}"/>
            </a:ext>
          </a:extLst>
        </p:cNvPr>
        <p:cNvGrpSpPr/>
        <p:nvPr/>
      </p:nvGrpSpPr>
      <p:grpSpPr>
        <a:xfrm>
          <a:off x="0" y="0"/>
          <a:ext cx="0" cy="0"/>
          <a:chOff x="0" y="0"/>
          <a:chExt cx="0" cy="0"/>
        </a:xfrm>
      </p:grpSpPr>
      <p:sp>
        <p:nvSpPr>
          <p:cNvPr id="93" name="Google Shape;93;p20">
            <a:extLst>
              <a:ext uri="{FF2B5EF4-FFF2-40B4-BE49-F238E27FC236}">
                <a16:creationId xmlns:a16="http://schemas.microsoft.com/office/drawing/2014/main" id="{A57C0261-8C54-9BBE-06C8-21F50D21D8A4}"/>
              </a:ext>
            </a:extLst>
          </p:cNvPr>
          <p:cNvSpPr txBox="1"/>
          <p:nvPr/>
        </p:nvSpPr>
        <p:spPr>
          <a:xfrm>
            <a:off x="415680" y="593280"/>
            <a:ext cx="11360000" cy="763200"/>
          </a:xfrm>
          <a:prstGeom prst="rect">
            <a:avLst/>
          </a:prstGeom>
          <a:noFill/>
          <a:ln>
            <a:noFill/>
          </a:ln>
        </p:spPr>
        <p:txBody>
          <a:bodyPr spcFirstLastPara="1" wrap="square" lIns="121900" tIns="121900" rIns="121900" bIns="121900" anchor="t" anchorCtr="0">
            <a:noAutofit/>
          </a:bodyPr>
          <a:lstStyle/>
          <a:p>
            <a:pPr>
              <a:buClr>
                <a:srgbClr val="000000"/>
              </a:buClr>
              <a:buSzPts val="2800"/>
            </a:pPr>
            <a:r>
              <a:rPr lang="en" sz="4400" dirty="0">
                <a:solidFill>
                  <a:srgbClr val="000000"/>
                </a:solidFill>
                <a:latin typeface="Arial"/>
                <a:ea typeface="Arial"/>
                <a:cs typeface="Arial"/>
                <a:sym typeface="Arial"/>
              </a:rPr>
              <a:t>Properties of Tensors</a:t>
            </a:r>
            <a:endParaRPr sz="4400" dirty="0">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F3733456-130E-3D0A-04EA-AFDBDAB28804}"/>
              </a:ext>
            </a:extLst>
          </p:cNvPr>
          <p:cNvPicPr>
            <a:picLocks noChangeAspect="1"/>
          </p:cNvPicPr>
          <p:nvPr/>
        </p:nvPicPr>
        <p:blipFill>
          <a:blip r:embed="rId3"/>
          <a:stretch>
            <a:fillRect/>
          </a:stretch>
        </p:blipFill>
        <p:spPr>
          <a:xfrm>
            <a:off x="653142" y="2526324"/>
            <a:ext cx="4872083" cy="3517749"/>
          </a:xfrm>
          <a:prstGeom prst="rect">
            <a:avLst/>
          </a:prstGeom>
        </p:spPr>
      </p:pic>
      <p:sp>
        <p:nvSpPr>
          <p:cNvPr id="3" name="Content Placeholder 2">
            <a:extLst>
              <a:ext uri="{FF2B5EF4-FFF2-40B4-BE49-F238E27FC236}">
                <a16:creationId xmlns:a16="http://schemas.microsoft.com/office/drawing/2014/main" id="{BE807525-98B6-A998-2231-2B4B3D6F4BE5}"/>
              </a:ext>
            </a:extLst>
          </p:cNvPr>
          <p:cNvSpPr>
            <a:spLocks noGrp="1"/>
          </p:cNvSpPr>
          <p:nvPr>
            <p:ph idx="1"/>
          </p:nvPr>
        </p:nvSpPr>
        <p:spPr>
          <a:xfrm>
            <a:off x="520184" y="1559802"/>
            <a:ext cx="11360000" cy="763200"/>
          </a:xfrm>
        </p:spPr>
        <p:txBody>
          <a:bodyPr>
            <a:normAutofit/>
          </a:bodyPr>
          <a:lstStyle/>
          <a:p>
            <a:pPr marL="0" indent="0">
              <a:buNone/>
            </a:pPr>
            <a:r>
              <a:rPr lang="en-US" sz="2200" dirty="0">
                <a:latin typeface="Courier New" panose="02070309020205020404" pitchFamily="49" charset="0"/>
                <a:cs typeface="Courier New" panose="02070309020205020404" pitchFamily="49" charset="0"/>
              </a:rPr>
              <a:t>TENSOR </a:t>
            </a:r>
            <a:r>
              <a:rPr lang="en-US" sz="2200" dirty="0">
                <a:latin typeface="Arial" panose="020B0604020202020204" pitchFamily="34" charset="0"/>
                <a:cs typeface="Arial" panose="020B0604020202020204" pitchFamily="34" charset="0"/>
              </a:rPr>
              <a:t>is a generalization of vectors and matrices. In </a:t>
            </a:r>
            <a:r>
              <a:rPr lang="en-US" sz="2200" dirty="0" err="1">
                <a:latin typeface="Courier New" panose="02070309020205020404" pitchFamily="49" charset="0"/>
                <a:cs typeface="Courier New" panose="02070309020205020404" pitchFamily="49" charset="0"/>
              </a:rPr>
              <a:t>PyTorch</a:t>
            </a:r>
            <a:r>
              <a:rPr lang="en-US" sz="2200" dirty="0">
                <a:latin typeface="Arial" panose="020B0604020202020204" pitchFamily="34" charset="0"/>
                <a:cs typeface="Arial" panose="020B0604020202020204" pitchFamily="34" charset="0"/>
              </a:rPr>
              <a:t>, they are a multi-dimensional matrix containing elements of a single data type. </a:t>
            </a:r>
          </a:p>
          <a:p>
            <a:pPr marL="0" indent="0">
              <a:buNone/>
            </a:pP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36332776-1F18-7A3A-4614-30EAF8EA6C6F}"/>
              </a:ext>
            </a:extLst>
          </p:cNvPr>
          <p:cNvSpPr/>
          <p:nvPr/>
        </p:nvSpPr>
        <p:spPr>
          <a:xfrm>
            <a:off x="653142" y="5812970"/>
            <a:ext cx="627018" cy="231103"/>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42CF8B0-1787-03B2-6FE8-7DB41F8DE35A}"/>
              </a:ext>
            </a:extLst>
          </p:cNvPr>
          <p:cNvSpPr/>
          <p:nvPr/>
        </p:nvSpPr>
        <p:spPr>
          <a:xfrm>
            <a:off x="1445622" y="3892732"/>
            <a:ext cx="1336768" cy="26125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02F079C8-5B19-79E0-2115-EF1551061144}"/>
              </a:ext>
            </a:extLst>
          </p:cNvPr>
          <p:cNvSpPr txBox="1">
            <a:spLocks/>
          </p:cNvSpPr>
          <p:nvPr/>
        </p:nvSpPr>
        <p:spPr>
          <a:xfrm>
            <a:off x="1761307" y="6044073"/>
            <a:ext cx="9056217" cy="763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latin typeface="Arial" panose="020B0604020202020204" pitchFamily="34" charset="0"/>
                <a:cs typeface="Arial" panose="020B0604020202020204" pitchFamily="34" charset="0"/>
              </a:rPr>
              <a:t>Can also be supported on GPU, one superpower that </a:t>
            </a:r>
            <a:r>
              <a:rPr lang="en-US" sz="2200" dirty="0" err="1">
                <a:latin typeface="Arial" panose="020B0604020202020204" pitchFamily="34" charset="0"/>
                <a:cs typeface="Arial" panose="020B0604020202020204" pitchFamily="34" charset="0"/>
              </a:rPr>
              <a:t>PyTorch</a:t>
            </a:r>
            <a:r>
              <a:rPr lang="en-US" sz="2200" dirty="0">
                <a:latin typeface="Arial" panose="020B0604020202020204" pitchFamily="34" charset="0"/>
                <a:cs typeface="Arial" panose="020B0604020202020204" pitchFamily="34" charset="0"/>
              </a:rPr>
              <a:t> </a:t>
            </a:r>
            <a:r>
              <a:rPr lang="en-US" sz="2200" dirty="0">
                <a:latin typeface="Courier New" panose="02070309020205020404" pitchFamily="49" charset="0"/>
                <a:cs typeface="Courier New" panose="02070309020205020404" pitchFamily="49" charset="0"/>
              </a:rPr>
              <a:t>tensor</a:t>
            </a:r>
            <a:r>
              <a:rPr lang="en-US" sz="2200" dirty="0">
                <a:latin typeface="Arial" panose="020B0604020202020204" pitchFamily="34" charset="0"/>
                <a:cs typeface="Arial" panose="020B0604020202020204" pitchFamily="34" charset="0"/>
              </a:rPr>
              <a:t> </a:t>
            </a: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4792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120DBE36-E130-C896-2885-933C82BD5257}"/>
            </a:ext>
          </a:extLst>
        </p:cNvPr>
        <p:cNvGrpSpPr/>
        <p:nvPr/>
      </p:nvGrpSpPr>
      <p:grpSpPr>
        <a:xfrm>
          <a:off x="0" y="0"/>
          <a:ext cx="0" cy="0"/>
          <a:chOff x="0" y="0"/>
          <a:chExt cx="0" cy="0"/>
        </a:xfrm>
      </p:grpSpPr>
      <p:sp>
        <p:nvSpPr>
          <p:cNvPr id="100" name="Google Shape;100;p21">
            <a:extLst>
              <a:ext uri="{FF2B5EF4-FFF2-40B4-BE49-F238E27FC236}">
                <a16:creationId xmlns:a16="http://schemas.microsoft.com/office/drawing/2014/main" id="{F0CA3DEA-5E72-14F5-02B0-F8306D3B7687}"/>
              </a:ext>
            </a:extLst>
          </p:cNvPr>
          <p:cNvSpPr txBox="1"/>
          <p:nvPr/>
        </p:nvSpPr>
        <p:spPr>
          <a:xfrm>
            <a:off x="415680" y="577440"/>
            <a:ext cx="11360000" cy="763200"/>
          </a:xfrm>
          <a:prstGeom prst="rect">
            <a:avLst/>
          </a:prstGeom>
          <a:noFill/>
          <a:ln>
            <a:noFill/>
          </a:ln>
        </p:spPr>
        <p:txBody>
          <a:bodyPr spcFirstLastPara="1" wrap="square" lIns="121900" tIns="121900" rIns="121900" bIns="121900" anchor="t" anchorCtr="0">
            <a:noAutofit/>
          </a:bodyPr>
          <a:lstStyle/>
          <a:p>
            <a:pPr>
              <a:buClr>
                <a:srgbClr val="000000"/>
              </a:buClr>
              <a:buSzPts val="2800"/>
            </a:pPr>
            <a:r>
              <a:rPr lang="en" sz="4400" dirty="0">
                <a:solidFill>
                  <a:srgbClr val="000000"/>
                </a:solidFill>
                <a:latin typeface="Arial"/>
                <a:ea typeface="Arial"/>
                <a:cs typeface="Arial"/>
                <a:sym typeface="Arial"/>
              </a:rPr>
              <a:t>Creating Tensors</a:t>
            </a:r>
            <a:endParaRPr sz="4400"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2817D13D-CAA6-08CC-3324-8186B2ADF623}"/>
              </a:ext>
            </a:extLst>
          </p:cNvPr>
          <p:cNvPicPr>
            <a:picLocks noChangeAspect="1"/>
          </p:cNvPicPr>
          <p:nvPr/>
        </p:nvPicPr>
        <p:blipFill>
          <a:blip r:embed="rId3"/>
          <a:stretch>
            <a:fillRect/>
          </a:stretch>
        </p:blipFill>
        <p:spPr>
          <a:xfrm>
            <a:off x="6095680" y="2926080"/>
            <a:ext cx="5159122" cy="2972880"/>
          </a:xfrm>
          <a:prstGeom prst="rect">
            <a:avLst/>
          </a:prstGeom>
        </p:spPr>
      </p:pic>
      <p:sp>
        <p:nvSpPr>
          <p:cNvPr id="5" name="Content Placeholder 2">
            <a:extLst>
              <a:ext uri="{FF2B5EF4-FFF2-40B4-BE49-F238E27FC236}">
                <a16:creationId xmlns:a16="http://schemas.microsoft.com/office/drawing/2014/main" id="{DAABE142-E830-AD27-CE9E-8DF2D38EE537}"/>
              </a:ext>
            </a:extLst>
          </p:cNvPr>
          <p:cNvSpPr>
            <a:spLocks noGrp="1"/>
          </p:cNvSpPr>
          <p:nvPr>
            <p:ph idx="1"/>
          </p:nvPr>
        </p:nvSpPr>
        <p:spPr>
          <a:xfrm>
            <a:off x="5779937" y="2544480"/>
            <a:ext cx="6172577" cy="763200"/>
          </a:xfrm>
        </p:spPr>
        <p:txBody>
          <a:bodyPr>
            <a:normAutofit/>
          </a:bodyPr>
          <a:lstStyle/>
          <a:p>
            <a:pPr marL="0" indent="0">
              <a:buNone/>
            </a:pPr>
            <a:r>
              <a:rPr lang="en-US" sz="2000" dirty="0">
                <a:latin typeface="Arial" panose="020B0604020202020204" pitchFamily="34" charset="0"/>
                <a:cs typeface="Arial" panose="020B0604020202020204" pitchFamily="34" charset="0"/>
              </a:rPr>
              <a:t>Can also be constructed based on existing tensor. </a:t>
            </a:r>
          </a:p>
          <a:p>
            <a:pPr marL="0" indent="0">
              <a:buNone/>
            </a:pPr>
            <a:endParaRPr lang="en-US"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CB527D0D-C52C-BA11-DC61-82E442264FE7}"/>
              </a:ext>
            </a:extLst>
          </p:cNvPr>
          <p:cNvGrpSpPr/>
          <p:nvPr/>
        </p:nvGrpSpPr>
        <p:grpSpPr>
          <a:xfrm>
            <a:off x="617445" y="1399680"/>
            <a:ext cx="6172577" cy="5429469"/>
            <a:chOff x="617445" y="1399680"/>
            <a:chExt cx="6172577" cy="5429469"/>
          </a:xfrm>
        </p:grpSpPr>
        <p:pic>
          <p:nvPicPr>
            <p:cNvPr id="3" name="Picture 2">
              <a:extLst>
                <a:ext uri="{FF2B5EF4-FFF2-40B4-BE49-F238E27FC236}">
                  <a16:creationId xmlns:a16="http://schemas.microsoft.com/office/drawing/2014/main" id="{B567790F-36B3-217A-875C-9558A269549B}"/>
                </a:ext>
              </a:extLst>
            </p:cNvPr>
            <p:cNvPicPr>
              <a:picLocks noChangeAspect="1"/>
            </p:cNvPicPr>
            <p:nvPr/>
          </p:nvPicPr>
          <p:blipFill>
            <a:blip r:embed="rId4"/>
            <a:stretch>
              <a:fillRect/>
            </a:stretch>
          </p:blipFill>
          <p:spPr>
            <a:xfrm>
              <a:off x="650588" y="1734721"/>
              <a:ext cx="4115894" cy="5094428"/>
            </a:xfrm>
            <a:prstGeom prst="rect">
              <a:avLst/>
            </a:prstGeom>
          </p:spPr>
        </p:pic>
        <p:sp>
          <p:nvSpPr>
            <p:cNvPr id="6" name="Content Placeholder 2">
              <a:extLst>
                <a:ext uri="{FF2B5EF4-FFF2-40B4-BE49-F238E27FC236}">
                  <a16:creationId xmlns:a16="http://schemas.microsoft.com/office/drawing/2014/main" id="{27384E91-3A5B-6BCC-BBE5-3E5B8819A4C3}"/>
                </a:ext>
              </a:extLst>
            </p:cNvPr>
            <p:cNvSpPr txBox="1">
              <a:spLocks/>
            </p:cNvSpPr>
            <p:nvPr/>
          </p:nvSpPr>
          <p:spPr>
            <a:xfrm>
              <a:off x="617445" y="1399680"/>
              <a:ext cx="6172577" cy="763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With built-in functions:</a:t>
              </a: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52423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64E5B13D-1470-DD27-DCDB-1A03A57159D2}"/>
            </a:ext>
          </a:extLst>
        </p:cNvPr>
        <p:cNvGrpSpPr/>
        <p:nvPr/>
      </p:nvGrpSpPr>
      <p:grpSpPr>
        <a:xfrm>
          <a:off x="0" y="0"/>
          <a:ext cx="0" cy="0"/>
          <a:chOff x="0" y="0"/>
          <a:chExt cx="0" cy="0"/>
        </a:xfrm>
      </p:grpSpPr>
      <p:sp>
        <p:nvSpPr>
          <p:cNvPr id="107" name="Google Shape;107;p22">
            <a:extLst>
              <a:ext uri="{FF2B5EF4-FFF2-40B4-BE49-F238E27FC236}">
                <a16:creationId xmlns:a16="http://schemas.microsoft.com/office/drawing/2014/main" id="{93AC58FA-1CDA-2383-7FBA-99BB926F9611}"/>
              </a:ext>
            </a:extLst>
          </p:cNvPr>
          <p:cNvSpPr txBox="1"/>
          <p:nvPr/>
        </p:nvSpPr>
        <p:spPr>
          <a:xfrm>
            <a:off x="415680" y="593280"/>
            <a:ext cx="11360000" cy="763200"/>
          </a:xfrm>
          <a:prstGeom prst="rect">
            <a:avLst/>
          </a:prstGeom>
          <a:noFill/>
          <a:ln>
            <a:noFill/>
          </a:ln>
        </p:spPr>
        <p:txBody>
          <a:bodyPr spcFirstLastPara="1" wrap="square" lIns="121900" tIns="121900" rIns="121900" bIns="121900" anchor="t" anchorCtr="0">
            <a:noAutofit/>
          </a:bodyPr>
          <a:lstStyle/>
          <a:p>
            <a:pPr>
              <a:buClr>
                <a:srgbClr val="000000"/>
              </a:buClr>
              <a:buSzPts val="2800"/>
            </a:pPr>
            <a:r>
              <a:rPr lang="en" sz="4400" dirty="0">
                <a:solidFill>
                  <a:srgbClr val="000000"/>
                </a:solidFill>
                <a:latin typeface="Arial"/>
                <a:ea typeface="Arial"/>
                <a:cs typeface="Arial"/>
                <a:sym typeface="Arial"/>
              </a:rPr>
              <a:t>Operation examples: add</a:t>
            </a:r>
            <a:endParaRPr sz="4400"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8269F98C-9A18-F2D7-4736-AD6A636015EF}"/>
              </a:ext>
            </a:extLst>
          </p:cNvPr>
          <p:cNvPicPr>
            <a:picLocks noChangeAspect="1"/>
          </p:cNvPicPr>
          <p:nvPr/>
        </p:nvPicPr>
        <p:blipFill>
          <a:blip r:embed="rId3"/>
          <a:stretch>
            <a:fillRect/>
          </a:stretch>
        </p:blipFill>
        <p:spPr>
          <a:xfrm>
            <a:off x="535577" y="2063183"/>
            <a:ext cx="5436326" cy="4056959"/>
          </a:xfrm>
          <a:prstGeom prst="rect">
            <a:avLst/>
          </a:prstGeom>
        </p:spPr>
      </p:pic>
      <p:sp>
        <p:nvSpPr>
          <p:cNvPr id="4" name="Content Placeholder 2">
            <a:extLst>
              <a:ext uri="{FF2B5EF4-FFF2-40B4-BE49-F238E27FC236}">
                <a16:creationId xmlns:a16="http://schemas.microsoft.com/office/drawing/2014/main" id="{2A660958-5E39-6C51-0199-A63ACE4D269F}"/>
              </a:ext>
            </a:extLst>
          </p:cNvPr>
          <p:cNvSpPr txBox="1">
            <a:spLocks/>
          </p:cNvSpPr>
          <p:nvPr/>
        </p:nvSpPr>
        <p:spPr>
          <a:xfrm>
            <a:off x="535577" y="1556434"/>
            <a:ext cx="6172577" cy="763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Add</a:t>
            </a: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6373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6EDD7130-8069-3EB8-0A1C-B8EFA796DC67}"/>
            </a:ext>
          </a:extLst>
        </p:cNvPr>
        <p:cNvGrpSpPr/>
        <p:nvPr/>
      </p:nvGrpSpPr>
      <p:grpSpPr>
        <a:xfrm>
          <a:off x="0" y="0"/>
          <a:ext cx="0" cy="0"/>
          <a:chOff x="0" y="0"/>
          <a:chExt cx="0" cy="0"/>
        </a:xfrm>
      </p:grpSpPr>
      <p:sp>
        <p:nvSpPr>
          <p:cNvPr id="4" name="Google Shape;107;p22">
            <a:extLst>
              <a:ext uri="{FF2B5EF4-FFF2-40B4-BE49-F238E27FC236}">
                <a16:creationId xmlns:a16="http://schemas.microsoft.com/office/drawing/2014/main" id="{D6795CD7-B934-8FAF-4AA7-F589B304B997}"/>
              </a:ext>
            </a:extLst>
          </p:cNvPr>
          <p:cNvSpPr txBox="1"/>
          <p:nvPr/>
        </p:nvSpPr>
        <p:spPr>
          <a:xfrm>
            <a:off x="415680" y="593280"/>
            <a:ext cx="11360000" cy="763200"/>
          </a:xfrm>
          <a:prstGeom prst="rect">
            <a:avLst/>
          </a:prstGeom>
          <a:noFill/>
          <a:ln>
            <a:noFill/>
          </a:ln>
        </p:spPr>
        <p:txBody>
          <a:bodyPr spcFirstLastPara="1" wrap="square" lIns="121900" tIns="121900" rIns="121900" bIns="121900" anchor="t" anchorCtr="0">
            <a:noAutofit/>
          </a:bodyPr>
          <a:lstStyle/>
          <a:p>
            <a:pPr>
              <a:buClr>
                <a:srgbClr val="000000"/>
              </a:buClr>
              <a:buSzPts val="2800"/>
            </a:pPr>
            <a:r>
              <a:rPr lang="en" sz="4400" dirty="0">
                <a:solidFill>
                  <a:srgbClr val="000000"/>
                </a:solidFill>
                <a:latin typeface="Arial"/>
                <a:ea typeface="Arial"/>
                <a:cs typeface="Arial"/>
                <a:sym typeface="Arial"/>
              </a:rPr>
              <a:t>Operation examples: reshape</a:t>
            </a:r>
            <a:endParaRPr sz="4400"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A1972698-4127-CDDB-3222-016B95E037B1}"/>
              </a:ext>
            </a:extLst>
          </p:cNvPr>
          <p:cNvPicPr>
            <a:picLocks noChangeAspect="1"/>
          </p:cNvPicPr>
          <p:nvPr/>
        </p:nvPicPr>
        <p:blipFill>
          <a:blip r:embed="rId3"/>
          <a:stretch>
            <a:fillRect/>
          </a:stretch>
        </p:blipFill>
        <p:spPr>
          <a:xfrm>
            <a:off x="746760" y="1930454"/>
            <a:ext cx="7772400" cy="2526829"/>
          </a:xfrm>
          <a:prstGeom prst="rect">
            <a:avLst/>
          </a:prstGeom>
        </p:spPr>
      </p:pic>
      <p:sp>
        <p:nvSpPr>
          <p:cNvPr id="6" name="Rectangle 5">
            <a:extLst>
              <a:ext uri="{FF2B5EF4-FFF2-40B4-BE49-F238E27FC236}">
                <a16:creationId xmlns:a16="http://schemas.microsoft.com/office/drawing/2014/main" id="{CBF289FA-9D9F-3F0F-332F-5D141EABB8B5}"/>
              </a:ext>
            </a:extLst>
          </p:cNvPr>
          <p:cNvSpPr/>
          <p:nvPr/>
        </p:nvSpPr>
        <p:spPr>
          <a:xfrm>
            <a:off x="2281644" y="3193868"/>
            <a:ext cx="383179" cy="23513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2766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149B273A-91CA-4DA6-E44C-E2DD5E3B39C7}"/>
            </a:ext>
          </a:extLst>
        </p:cNvPr>
        <p:cNvGrpSpPr/>
        <p:nvPr/>
      </p:nvGrpSpPr>
      <p:grpSpPr>
        <a:xfrm>
          <a:off x="0" y="0"/>
          <a:ext cx="0" cy="0"/>
          <a:chOff x="0" y="0"/>
          <a:chExt cx="0" cy="0"/>
        </a:xfrm>
      </p:grpSpPr>
      <p:sp>
        <p:nvSpPr>
          <p:cNvPr id="120" name="Google Shape;120;p24">
            <a:extLst>
              <a:ext uri="{FF2B5EF4-FFF2-40B4-BE49-F238E27FC236}">
                <a16:creationId xmlns:a16="http://schemas.microsoft.com/office/drawing/2014/main" id="{9994876B-25A5-00DA-CEB1-389BD233792D}"/>
              </a:ext>
            </a:extLst>
          </p:cNvPr>
          <p:cNvSpPr txBox="1"/>
          <p:nvPr/>
        </p:nvSpPr>
        <p:spPr>
          <a:xfrm>
            <a:off x="415680" y="593280"/>
            <a:ext cx="11360000" cy="763200"/>
          </a:xfrm>
          <a:prstGeom prst="rect">
            <a:avLst/>
          </a:prstGeom>
          <a:noFill/>
          <a:ln>
            <a:noFill/>
          </a:ln>
        </p:spPr>
        <p:txBody>
          <a:bodyPr spcFirstLastPara="1" wrap="square" lIns="121900" tIns="121900" rIns="121900" bIns="121900" anchor="t" anchorCtr="0">
            <a:noAutofit/>
          </a:bodyPr>
          <a:lstStyle/>
          <a:p>
            <a:pPr>
              <a:buClr>
                <a:srgbClr val="000000"/>
              </a:buClr>
              <a:buSzPts val="2400"/>
            </a:pPr>
            <a:r>
              <a:rPr lang="en" sz="4400" dirty="0">
                <a:solidFill>
                  <a:srgbClr val="000000"/>
                </a:solidFill>
                <a:latin typeface="Arial"/>
                <a:ea typeface="Arial"/>
                <a:cs typeface="Arial"/>
                <a:sym typeface="Arial"/>
              </a:rPr>
              <a:t>Tensor to and from a NumPy Array</a:t>
            </a:r>
            <a:endParaRPr sz="4400"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00259B4F-8B48-B863-FD03-7D847616CA43}"/>
              </a:ext>
            </a:extLst>
          </p:cNvPr>
          <p:cNvPicPr>
            <a:picLocks noChangeAspect="1"/>
          </p:cNvPicPr>
          <p:nvPr/>
        </p:nvPicPr>
        <p:blipFill>
          <a:blip r:embed="rId3"/>
          <a:stretch>
            <a:fillRect/>
          </a:stretch>
        </p:blipFill>
        <p:spPr>
          <a:xfrm>
            <a:off x="1373777" y="1689781"/>
            <a:ext cx="7772400" cy="2634434"/>
          </a:xfrm>
          <a:prstGeom prst="rect">
            <a:avLst/>
          </a:prstGeom>
        </p:spPr>
      </p:pic>
      <p:pic>
        <p:nvPicPr>
          <p:cNvPr id="4" name="Picture 3">
            <a:extLst>
              <a:ext uri="{FF2B5EF4-FFF2-40B4-BE49-F238E27FC236}">
                <a16:creationId xmlns:a16="http://schemas.microsoft.com/office/drawing/2014/main" id="{3B1053A3-BB7A-3982-EA0F-F535C9FFDD52}"/>
              </a:ext>
            </a:extLst>
          </p:cNvPr>
          <p:cNvPicPr>
            <a:picLocks noChangeAspect="1"/>
          </p:cNvPicPr>
          <p:nvPr/>
        </p:nvPicPr>
        <p:blipFill>
          <a:blip r:embed="rId4"/>
          <a:stretch>
            <a:fillRect/>
          </a:stretch>
        </p:blipFill>
        <p:spPr>
          <a:xfrm>
            <a:off x="1280159" y="4657517"/>
            <a:ext cx="7474131" cy="1807697"/>
          </a:xfrm>
          <a:prstGeom prst="rect">
            <a:avLst/>
          </a:prstGeom>
        </p:spPr>
      </p:pic>
      <p:sp>
        <p:nvSpPr>
          <p:cNvPr id="7" name="Rectangle 6">
            <a:extLst>
              <a:ext uri="{FF2B5EF4-FFF2-40B4-BE49-F238E27FC236}">
                <a16:creationId xmlns:a16="http://schemas.microsoft.com/office/drawing/2014/main" id="{E605EFE0-1110-98AC-716A-B5358B2BF9E0}"/>
              </a:ext>
            </a:extLst>
          </p:cNvPr>
          <p:cNvSpPr/>
          <p:nvPr/>
        </p:nvSpPr>
        <p:spPr>
          <a:xfrm>
            <a:off x="2020387" y="2057399"/>
            <a:ext cx="764179" cy="23513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4E1E5BF-28F5-C4CE-283F-C5AAA4A80D95}"/>
              </a:ext>
            </a:extLst>
          </p:cNvPr>
          <p:cNvSpPr/>
          <p:nvPr/>
        </p:nvSpPr>
        <p:spPr>
          <a:xfrm>
            <a:off x="2512422" y="5222490"/>
            <a:ext cx="1432561" cy="37107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1239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3D871819-310A-1AE5-FA35-025A01B94804}"/>
            </a:ext>
          </a:extLst>
        </p:cNvPr>
        <p:cNvGrpSpPr/>
        <p:nvPr/>
      </p:nvGrpSpPr>
      <p:grpSpPr>
        <a:xfrm>
          <a:off x="0" y="0"/>
          <a:ext cx="0" cy="0"/>
          <a:chOff x="0" y="0"/>
          <a:chExt cx="0" cy="0"/>
        </a:xfrm>
      </p:grpSpPr>
      <p:sp>
        <p:nvSpPr>
          <p:cNvPr id="135" name="Google Shape;135;p26">
            <a:extLst>
              <a:ext uri="{FF2B5EF4-FFF2-40B4-BE49-F238E27FC236}">
                <a16:creationId xmlns:a16="http://schemas.microsoft.com/office/drawing/2014/main" id="{2A076C67-ADB3-3247-5AE0-EAD5363B7026}"/>
              </a:ext>
            </a:extLst>
          </p:cNvPr>
          <p:cNvSpPr txBox="1"/>
          <p:nvPr/>
        </p:nvSpPr>
        <p:spPr>
          <a:xfrm>
            <a:off x="415680" y="593280"/>
            <a:ext cx="11360000" cy="763200"/>
          </a:xfrm>
          <a:prstGeom prst="rect">
            <a:avLst/>
          </a:prstGeom>
          <a:noFill/>
          <a:ln>
            <a:noFill/>
          </a:ln>
        </p:spPr>
        <p:txBody>
          <a:bodyPr spcFirstLastPara="1" wrap="square" lIns="121900" tIns="121900" rIns="121900" bIns="121900" anchor="t" anchorCtr="0">
            <a:noAutofit/>
          </a:bodyPr>
          <a:lstStyle/>
          <a:p>
            <a:pPr>
              <a:buClr>
                <a:srgbClr val="000000"/>
              </a:buClr>
              <a:buSzPts val="2800"/>
            </a:pPr>
            <a:r>
              <a:rPr lang="en" sz="4400" dirty="0">
                <a:solidFill>
                  <a:srgbClr val="000000"/>
                </a:solidFill>
                <a:latin typeface="Arial"/>
                <a:ea typeface="Arial"/>
                <a:cs typeface="Arial"/>
                <a:sym typeface="Arial"/>
              </a:rPr>
              <a:t>CUDA Tensors</a:t>
            </a:r>
            <a:endParaRPr sz="4400" dirty="0">
              <a:solidFill>
                <a:srgbClr val="000000"/>
              </a:solidFill>
              <a:latin typeface="Arial"/>
              <a:ea typeface="Arial"/>
              <a:cs typeface="Arial"/>
              <a:sym typeface="Arial"/>
            </a:endParaRPr>
          </a:p>
        </p:txBody>
      </p:sp>
      <p:pic>
        <p:nvPicPr>
          <p:cNvPr id="136" name="Google Shape;136;p26">
            <a:extLst>
              <a:ext uri="{FF2B5EF4-FFF2-40B4-BE49-F238E27FC236}">
                <a16:creationId xmlns:a16="http://schemas.microsoft.com/office/drawing/2014/main" id="{24191C8B-91A5-64E2-D868-10C032CDC902}"/>
              </a:ext>
            </a:extLst>
          </p:cNvPr>
          <p:cNvPicPr preferRelativeResize="0"/>
          <p:nvPr/>
        </p:nvPicPr>
        <p:blipFill rotWithShape="1">
          <a:blip r:embed="rId3">
            <a:alphaModFix/>
          </a:blip>
          <a:srcRect/>
          <a:stretch/>
        </p:blipFill>
        <p:spPr>
          <a:xfrm>
            <a:off x="330240" y="1917120"/>
            <a:ext cx="10920963" cy="2863200"/>
          </a:xfrm>
          <a:prstGeom prst="rect">
            <a:avLst/>
          </a:prstGeom>
          <a:noFill/>
          <a:ln>
            <a:noFill/>
          </a:ln>
        </p:spPr>
      </p:pic>
      <p:grpSp>
        <p:nvGrpSpPr>
          <p:cNvPr id="4" name="Group 3">
            <a:extLst>
              <a:ext uri="{FF2B5EF4-FFF2-40B4-BE49-F238E27FC236}">
                <a16:creationId xmlns:a16="http://schemas.microsoft.com/office/drawing/2014/main" id="{B58868A9-65C0-2B60-8A94-FC77D0B9F935}"/>
              </a:ext>
            </a:extLst>
          </p:cNvPr>
          <p:cNvGrpSpPr/>
          <p:nvPr/>
        </p:nvGrpSpPr>
        <p:grpSpPr>
          <a:xfrm>
            <a:off x="136968" y="3775109"/>
            <a:ext cx="4180000" cy="2117691"/>
            <a:chOff x="136968" y="3775109"/>
            <a:chExt cx="4180000" cy="2117691"/>
          </a:xfrm>
        </p:grpSpPr>
        <p:sp>
          <p:nvSpPr>
            <p:cNvPr id="137" name="Google Shape;137;p26">
              <a:extLst>
                <a:ext uri="{FF2B5EF4-FFF2-40B4-BE49-F238E27FC236}">
                  <a16:creationId xmlns:a16="http://schemas.microsoft.com/office/drawing/2014/main" id="{30C42BB6-24DF-FF2A-006C-6F41196C3FCA}"/>
                </a:ext>
              </a:extLst>
            </p:cNvPr>
            <p:cNvSpPr/>
            <p:nvPr/>
          </p:nvSpPr>
          <p:spPr>
            <a:xfrm>
              <a:off x="136968" y="5460404"/>
              <a:ext cx="4180000" cy="432396"/>
            </a:xfrm>
            <a:prstGeom prst="rect">
              <a:avLst/>
            </a:prstGeom>
            <a:solidFill>
              <a:srgbClr val="CFE2F3"/>
            </a:solidFill>
            <a:ln w="76300" cap="flat" cmpd="sng">
              <a:solidFill>
                <a:srgbClr val="073763"/>
              </a:solidFill>
              <a:prstDash val="solid"/>
              <a:round/>
              <a:headEnd type="none" w="sm" len="sm"/>
              <a:tailEnd type="none" w="sm" len="sm"/>
            </a:ln>
          </p:spPr>
          <p:txBody>
            <a:bodyPr spcFirstLastPara="1" wrap="square" lIns="121900" tIns="121900" rIns="121900" bIns="121900" anchor="t" anchorCtr="0">
              <a:noAutofit/>
            </a:bodyPr>
            <a:lstStyle/>
            <a:p>
              <a:pPr>
                <a:buClr>
                  <a:srgbClr val="000000"/>
                </a:buClr>
                <a:buSzPts val="1400"/>
              </a:pPr>
              <a:r>
                <a:rPr lang="en" sz="1867" dirty="0">
                  <a:solidFill>
                    <a:srgbClr val="000000"/>
                  </a:solidFill>
                  <a:latin typeface="Arial" panose="020B0604020202020204" pitchFamily="34" charset="0"/>
                  <a:ea typeface="Courier New"/>
                  <a:cs typeface="Arial" panose="020B0604020202020204" pitchFamily="34" charset="0"/>
                  <a:sym typeface="Courier New"/>
                </a:rPr>
                <a:t>x is now stored on the GPU</a:t>
              </a:r>
              <a:endParaRPr sz="1867" dirty="0">
                <a:solidFill>
                  <a:srgbClr val="000000"/>
                </a:solidFill>
                <a:latin typeface="Arial" panose="020B0604020202020204" pitchFamily="34" charset="0"/>
                <a:ea typeface="Arial"/>
                <a:cs typeface="Arial" panose="020B0604020202020204" pitchFamily="34" charset="0"/>
                <a:sym typeface="Arial"/>
              </a:endParaRPr>
            </a:p>
          </p:txBody>
        </p:sp>
        <p:sp>
          <p:nvSpPr>
            <p:cNvPr id="138" name="Google Shape;138;p26">
              <a:extLst>
                <a:ext uri="{FF2B5EF4-FFF2-40B4-BE49-F238E27FC236}">
                  <a16:creationId xmlns:a16="http://schemas.microsoft.com/office/drawing/2014/main" id="{73022156-F6A7-7895-F315-26DF43D69D22}"/>
                </a:ext>
              </a:extLst>
            </p:cNvPr>
            <p:cNvSpPr/>
            <p:nvPr/>
          </p:nvSpPr>
          <p:spPr>
            <a:xfrm rot="10800000" flipH="1">
              <a:off x="889532" y="3775109"/>
              <a:ext cx="444672" cy="1685304"/>
            </a:xfrm>
            <a:custGeom>
              <a:avLst/>
              <a:gdLst/>
              <a:ahLst/>
              <a:cxnLst/>
              <a:rect l="l" t="t" r="r" b="b"/>
              <a:pathLst>
                <a:path w="21600" h="21600" extrusionOk="0">
                  <a:moveTo>
                    <a:pt x="0" y="0"/>
                  </a:moveTo>
                  <a:lnTo>
                    <a:pt x="21600" y="21600"/>
                  </a:lnTo>
                </a:path>
              </a:pathLst>
            </a:custGeom>
            <a:noFill/>
            <a:ln w="38150" cap="flat" cmpd="sng">
              <a:solidFill>
                <a:srgbClr val="073763"/>
              </a:solidFill>
              <a:prstDash val="solid"/>
              <a:round/>
              <a:headEnd type="none" w="sm" len="sm"/>
              <a:tailEnd type="triangle" w="med" len="med"/>
            </a:ln>
          </p:spPr>
          <p:txBody>
            <a:bodyPr/>
            <a:lstStyle/>
            <a:p>
              <a:endParaRPr lang="en-US" sz="2400"/>
            </a:p>
          </p:txBody>
        </p:sp>
      </p:grpSp>
      <p:grpSp>
        <p:nvGrpSpPr>
          <p:cNvPr id="3" name="Group 2">
            <a:extLst>
              <a:ext uri="{FF2B5EF4-FFF2-40B4-BE49-F238E27FC236}">
                <a16:creationId xmlns:a16="http://schemas.microsoft.com/office/drawing/2014/main" id="{81C2D5E5-1E8C-BA5C-66E1-F1538EA769B3}"/>
              </a:ext>
            </a:extLst>
          </p:cNvPr>
          <p:cNvGrpSpPr/>
          <p:nvPr/>
        </p:nvGrpSpPr>
        <p:grpSpPr>
          <a:xfrm>
            <a:off x="4962982" y="3525686"/>
            <a:ext cx="6924218" cy="2527118"/>
            <a:chOff x="4962982" y="3525686"/>
            <a:chExt cx="6924218" cy="2527118"/>
          </a:xfrm>
        </p:grpSpPr>
        <p:sp>
          <p:nvSpPr>
            <p:cNvPr id="139" name="Google Shape;139;p26">
              <a:extLst>
                <a:ext uri="{FF2B5EF4-FFF2-40B4-BE49-F238E27FC236}">
                  <a16:creationId xmlns:a16="http://schemas.microsoft.com/office/drawing/2014/main" id="{B815364F-EAA2-5132-4B19-F56890531093}"/>
                </a:ext>
              </a:extLst>
            </p:cNvPr>
            <p:cNvSpPr/>
            <p:nvPr/>
          </p:nvSpPr>
          <p:spPr>
            <a:xfrm>
              <a:off x="4962982" y="5112514"/>
              <a:ext cx="6924218" cy="940290"/>
            </a:xfrm>
            <a:prstGeom prst="rect">
              <a:avLst/>
            </a:prstGeom>
            <a:solidFill>
              <a:srgbClr val="CFE2F3"/>
            </a:solidFill>
            <a:ln w="76300" cap="flat" cmpd="sng">
              <a:solidFill>
                <a:srgbClr val="073763"/>
              </a:solidFill>
              <a:prstDash val="solid"/>
              <a:round/>
              <a:headEnd type="none" w="sm" len="sm"/>
              <a:tailEnd type="none" w="sm" len="sm"/>
            </a:ln>
          </p:spPr>
          <p:txBody>
            <a:bodyPr spcFirstLastPara="1" wrap="square" lIns="121900" tIns="121900" rIns="121900" bIns="121900" anchor="t" anchorCtr="0">
              <a:noAutofit/>
            </a:bodyPr>
            <a:lstStyle/>
            <a:p>
              <a:pPr>
                <a:buClr>
                  <a:srgbClr val="000000"/>
                </a:buClr>
                <a:buSzPts val="1400"/>
              </a:pPr>
              <a:r>
                <a:rPr lang="en" sz="1600" dirty="0">
                  <a:solidFill>
                    <a:srgbClr val="000000"/>
                  </a:solidFill>
                  <a:latin typeface="Arial" panose="020B0604020202020204" pitchFamily="34" charset="0"/>
                  <a:ea typeface="Courier New"/>
                  <a:cs typeface="Arial" panose="020B0604020202020204" pitchFamily="34" charset="0"/>
                  <a:sym typeface="Courier New"/>
                </a:rPr>
                <a:t>“</a:t>
              </a:r>
              <a:r>
                <a:rPr lang="en" sz="1600" dirty="0" err="1">
                  <a:solidFill>
                    <a:srgbClr val="000000"/>
                  </a:solidFill>
                  <a:latin typeface="Arial" panose="020B0604020202020204" pitchFamily="34" charset="0"/>
                  <a:ea typeface="Courier New"/>
                  <a:cs typeface="Arial" panose="020B0604020202020204" pitchFamily="34" charset="0"/>
                  <a:sym typeface="Courier New"/>
                </a:rPr>
                <a:t>cuda</a:t>
              </a:r>
              <a:r>
                <a:rPr lang="en" sz="1600" dirty="0">
                  <a:solidFill>
                    <a:srgbClr val="000000"/>
                  </a:solidFill>
                  <a:latin typeface="Arial" panose="020B0604020202020204" pitchFamily="34" charset="0"/>
                  <a:ea typeface="Courier New"/>
                  <a:cs typeface="Arial" panose="020B0604020202020204" pitchFamily="34" charset="0"/>
                  <a:sym typeface="Courier New"/>
                </a:rPr>
                <a:t>” stands for “Compute Unified Device Architecture”. </a:t>
              </a:r>
              <a:r>
                <a:rPr lang="en-US" sz="1600" dirty="0">
                  <a:latin typeface="Arial" panose="020B0604020202020204" pitchFamily="34" charset="0"/>
                  <a:cs typeface="Arial" panose="020B0604020202020204" pitchFamily="34" charset="0"/>
                </a:rPr>
                <a:t> NVIDIA's parallel computing platform and programming model that allows developers to use NVIDIA GPUs for general-purpose computing</a:t>
              </a:r>
              <a:r>
                <a:rPr lang="en-US" sz="2000" dirty="0">
                  <a:latin typeface="Arial" panose="020B0604020202020204" pitchFamily="34" charset="0"/>
                  <a:cs typeface="Arial" panose="020B0604020202020204" pitchFamily="34" charset="0"/>
                </a:rPr>
                <a:t>.</a:t>
              </a:r>
              <a:endParaRPr sz="1867" dirty="0">
                <a:solidFill>
                  <a:srgbClr val="000000"/>
                </a:solidFill>
                <a:latin typeface="Arial" panose="020B0604020202020204" pitchFamily="34" charset="0"/>
                <a:ea typeface="Arial"/>
                <a:cs typeface="Arial" panose="020B0604020202020204" pitchFamily="34" charset="0"/>
                <a:sym typeface="Arial"/>
              </a:endParaRPr>
            </a:p>
          </p:txBody>
        </p:sp>
        <p:sp>
          <p:nvSpPr>
            <p:cNvPr id="140" name="Google Shape;140;p26">
              <a:extLst>
                <a:ext uri="{FF2B5EF4-FFF2-40B4-BE49-F238E27FC236}">
                  <a16:creationId xmlns:a16="http://schemas.microsoft.com/office/drawing/2014/main" id="{0989A7A2-1D65-E9C8-6E0B-F394911A23C4}"/>
                </a:ext>
              </a:extLst>
            </p:cNvPr>
            <p:cNvSpPr/>
            <p:nvPr/>
          </p:nvSpPr>
          <p:spPr>
            <a:xfrm rot="10800000">
              <a:off x="5249988" y="3525686"/>
              <a:ext cx="846011" cy="1477387"/>
            </a:xfrm>
            <a:custGeom>
              <a:avLst/>
              <a:gdLst/>
              <a:ahLst/>
              <a:cxnLst/>
              <a:rect l="l" t="t" r="r" b="b"/>
              <a:pathLst>
                <a:path w="21600" h="21600" extrusionOk="0">
                  <a:moveTo>
                    <a:pt x="0" y="0"/>
                  </a:moveTo>
                  <a:lnTo>
                    <a:pt x="21600" y="21600"/>
                  </a:lnTo>
                </a:path>
              </a:pathLst>
            </a:custGeom>
            <a:noFill/>
            <a:ln w="38150" cap="flat" cmpd="sng">
              <a:solidFill>
                <a:srgbClr val="073763"/>
              </a:solidFill>
              <a:prstDash val="solid"/>
              <a:round/>
              <a:headEnd type="none" w="sm" len="sm"/>
              <a:tailEnd type="triangle" w="med" len="med"/>
            </a:ln>
          </p:spPr>
          <p:txBody>
            <a:bodyPr/>
            <a:lstStyle/>
            <a:p>
              <a:endParaRPr lang="en-US" sz="2400"/>
            </a:p>
          </p:txBody>
        </p:sp>
      </p:grpSp>
      <p:sp>
        <p:nvSpPr>
          <p:cNvPr id="2" name="Google Shape;95;p20">
            <a:extLst>
              <a:ext uri="{FF2B5EF4-FFF2-40B4-BE49-F238E27FC236}">
                <a16:creationId xmlns:a16="http://schemas.microsoft.com/office/drawing/2014/main" id="{BD4EBF71-AF7B-A531-862B-D825BFD5A340}"/>
              </a:ext>
            </a:extLst>
          </p:cNvPr>
          <p:cNvSpPr/>
          <p:nvPr/>
        </p:nvSpPr>
        <p:spPr>
          <a:xfrm>
            <a:off x="8359200" y="6267840"/>
            <a:ext cx="3703200" cy="5324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 sz="1867" dirty="0">
                <a:solidFill>
                  <a:srgbClr val="000000"/>
                </a:solidFill>
                <a:latin typeface="Arial"/>
                <a:ea typeface="Arial"/>
                <a:cs typeface="Arial"/>
                <a:sym typeface="Arial"/>
              </a:rPr>
              <a:t>Slide credit: Christian S. Perone</a:t>
            </a:r>
            <a:endParaRPr sz="1867"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84155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1F629DB1-24E9-FFC3-48C7-4CCF4232A281}"/>
            </a:ext>
          </a:extLst>
        </p:cNvPr>
        <p:cNvGrpSpPr/>
        <p:nvPr/>
      </p:nvGrpSpPr>
      <p:grpSpPr>
        <a:xfrm>
          <a:off x="0" y="0"/>
          <a:ext cx="0" cy="0"/>
          <a:chOff x="0" y="0"/>
          <a:chExt cx="0" cy="0"/>
        </a:xfrm>
      </p:grpSpPr>
      <p:sp>
        <p:nvSpPr>
          <p:cNvPr id="145" name="Google Shape;145;p27">
            <a:extLst>
              <a:ext uri="{FF2B5EF4-FFF2-40B4-BE49-F238E27FC236}">
                <a16:creationId xmlns:a16="http://schemas.microsoft.com/office/drawing/2014/main" id="{7A29A7B5-7561-1421-D2B6-DFC079B10D43}"/>
              </a:ext>
            </a:extLst>
          </p:cNvPr>
          <p:cNvSpPr txBox="1">
            <a:spLocks noGrp="1"/>
          </p:cNvSpPr>
          <p:nvPr>
            <p:ph type="title"/>
          </p:nvPr>
        </p:nvSpPr>
        <p:spPr>
          <a:xfrm>
            <a:off x="415680" y="593280"/>
            <a:ext cx="11360000" cy="763200"/>
          </a:xfrm>
          <a:prstGeom prst="rect">
            <a:avLst/>
          </a:prstGeom>
          <a:noFill/>
          <a:ln>
            <a:noFill/>
          </a:ln>
        </p:spPr>
        <p:txBody>
          <a:bodyPr spcFirstLastPara="1" vert="horz" wrap="square" lIns="0" tIns="0" rIns="0" bIns="0" rtlCol="0" anchor="ctr" anchorCtr="0">
            <a:noAutofit/>
          </a:bodyPr>
          <a:lstStyle/>
          <a:p>
            <a:pPr>
              <a:lnSpc>
                <a:spcPct val="100000"/>
              </a:lnSpc>
              <a:spcBef>
                <a:spcPts val="0"/>
              </a:spcBef>
              <a:buSzPts val="1400"/>
            </a:pPr>
            <a:r>
              <a:rPr lang="en" dirty="0">
                <a:latin typeface="Arial" panose="020B0604020202020204" pitchFamily="34" charset="0"/>
                <a:cs typeface="Arial" panose="020B0604020202020204" pitchFamily="34" charset="0"/>
              </a:rPr>
              <a:t>GPU speedup on Google </a:t>
            </a:r>
            <a:r>
              <a:rPr lang="en" dirty="0" err="1">
                <a:latin typeface="Arial" panose="020B0604020202020204" pitchFamily="34" charset="0"/>
                <a:cs typeface="Arial" panose="020B0604020202020204" pitchFamily="34" charset="0"/>
              </a:rPr>
              <a:t>colab</a:t>
            </a:r>
            <a:endParaRPr dirty="0">
              <a:latin typeface="Arial" panose="020B0604020202020204" pitchFamily="34" charset="0"/>
              <a:cs typeface="Arial" panose="020B0604020202020204" pitchFamily="34" charset="0"/>
            </a:endParaRPr>
          </a:p>
        </p:txBody>
      </p:sp>
      <p:pic>
        <p:nvPicPr>
          <p:cNvPr id="146" name="Google Shape;146;p27">
            <a:extLst>
              <a:ext uri="{FF2B5EF4-FFF2-40B4-BE49-F238E27FC236}">
                <a16:creationId xmlns:a16="http://schemas.microsoft.com/office/drawing/2014/main" id="{9F668D94-9C18-A5CD-D30C-94061486BE98}"/>
              </a:ext>
            </a:extLst>
          </p:cNvPr>
          <p:cNvPicPr preferRelativeResize="0"/>
          <p:nvPr/>
        </p:nvPicPr>
        <p:blipFill rotWithShape="1">
          <a:blip r:embed="rId3">
            <a:alphaModFix/>
          </a:blip>
          <a:srcRect/>
          <a:stretch/>
        </p:blipFill>
        <p:spPr>
          <a:xfrm>
            <a:off x="365900" y="1356467"/>
            <a:ext cx="4309200" cy="5348968"/>
          </a:xfrm>
          <a:prstGeom prst="rect">
            <a:avLst/>
          </a:prstGeom>
          <a:noFill/>
          <a:ln>
            <a:noFill/>
          </a:ln>
        </p:spPr>
      </p:pic>
      <p:sp>
        <p:nvSpPr>
          <p:cNvPr id="147" name="Google Shape;147;p27">
            <a:extLst>
              <a:ext uri="{FF2B5EF4-FFF2-40B4-BE49-F238E27FC236}">
                <a16:creationId xmlns:a16="http://schemas.microsoft.com/office/drawing/2014/main" id="{4474E902-0B33-1B83-9ED9-53539CA70ABA}"/>
              </a:ext>
            </a:extLst>
          </p:cNvPr>
          <p:cNvSpPr txBox="1"/>
          <p:nvPr/>
        </p:nvSpPr>
        <p:spPr>
          <a:xfrm>
            <a:off x="7538700" y="3243600"/>
            <a:ext cx="6248000" cy="728800"/>
          </a:xfrm>
          <a:prstGeom prst="rect">
            <a:avLst/>
          </a:prstGeom>
          <a:noFill/>
          <a:ln>
            <a:noFill/>
          </a:ln>
        </p:spPr>
        <p:txBody>
          <a:bodyPr spcFirstLastPara="1" wrap="square" lIns="121900" tIns="121900" rIns="121900" bIns="121900" anchor="t"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148" name="Google Shape;148;p27">
            <a:extLst>
              <a:ext uri="{FF2B5EF4-FFF2-40B4-BE49-F238E27FC236}">
                <a16:creationId xmlns:a16="http://schemas.microsoft.com/office/drawing/2014/main" id="{476B643E-E722-95E1-2BCC-D0895AE85C5F}"/>
              </a:ext>
            </a:extLst>
          </p:cNvPr>
          <p:cNvSpPr/>
          <p:nvPr/>
        </p:nvSpPr>
        <p:spPr>
          <a:xfrm>
            <a:off x="5723173" y="4419080"/>
            <a:ext cx="4518107" cy="848800"/>
          </a:xfrm>
          <a:prstGeom prst="rect">
            <a:avLst/>
          </a:prstGeom>
          <a:solidFill>
            <a:srgbClr val="CFE2F3"/>
          </a:solidFill>
          <a:ln w="76300" cap="flat" cmpd="sng">
            <a:solidFill>
              <a:srgbClr val="073763"/>
            </a:solidFill>
            <a:prstDash val="solid"/>
            <a:round/>
            <a:headEnd type="none" w="sm" len="sm"/>
            <a:tailEnd type="none" w="sm" len="sm"/>
          </a:ln>
        </p:spPr>
        <p:txBody>
          <a:bodyPr spcFirstLastPara="1" wrap="square" lIns="121900" tIns="121900" rIns="121900" bIns="121900" anchor="t" anchorCtr="0">
            <a:noAutofit/>
          </a:bodyPr>
          <a:lstStyle/>
          <a:p>
            <a:pPr>
              <a:buClr>
                <a:srgbClr val="000000"/>
              </a:buClr>
              <a:buSzPts val="1400"/>
            </a:pPr>
            <a:r>
              <a:rPr lang="en" sz="1867" dirty="0">
                <a:solidFill>
                  <a:srgbClr val="000000"/>
                </a:solidFill>
                <a:latin typeface="Arial" panose="020B0604020202020204" pitchFamily="34" charset="0"/>
                <a:ea typeface="Courier New"/>
                <a:cs typeface="Arial" panose="020B0604020202020204" pitchFamily="34" charset="0"/>
                <a:sym typeface="Courier New"/>
              </a:rPr>
              <a:t>Matrix-vector multiplication on the GPU is nearly 100x faster!</a:t>
            </a:r>
            <a:endParaRPr sz="1867" dirty="0">
              <a:solidFill>
                <a:srgbClr val="000000"/>
              </a:solidFill>
              <a:latin typeface="Arial" panose="020B0604020202020204" pitchFamily="34" charset="0"/>
              <a:ea typeface="Arial"/>
              <a:cs typeface="Arial" panose="020B0604020202020204" pitchFamily="34" charset="0"/>
              <a:sym typeface="Arial"/>
            </a:endParaRPr>
          </a:p>
        </p:txBody>
      </p:sp>
      <p:sp>
        <p:nvSpPr>
          <p:cNvPr id="149" name="Google Shape;149;p27">
            <a:extLst>
              <a:ext uri="{FF2B5EF4-FFF2-40B4-BE49-F238E27FC236}">
                <a16:creationId xmlns:a16="http://schemas.microsoft.com/office/drawing/2014/main" id="{C2F99551-1DE1-1EA2-FFC6-D15C7DBEA5E5}"/>
              </a:ext>
            </a:extLst>
          </p:cNvPr>
          <p:cNvSpPr/>
          <p:nvPr/>
        </p:nvSpPr>
        <p:spPr>
          <a:xfrm flipH="1">
            <a:off x="3210725" y="4924896"/>
            <a:ext cx="2512440" cy="1507680"/>
          </a:xfrm>
          <a:custGeom>
            <a:avLst/>
            <a:gdLst/>
            <a:ahLst/>
            <a:cxnLst/>
            <a:rect l="l" t="t" r="r" b="b"/>
            <a:pathLst>
              <a:path w="21600" h="21600" extrusionOk="0">
                <a:moveTo>
                  <a:pt x="0" y="0"/>
                </a:moveTo>
                <a:lnTo>
                  <a:pt x="21600" y="21600"/>
                </a:lnTo>
              </a:path>
            </a:pathLst>
          </a:custGeom>
          <a:noFill/>
          <a:ln w="38150" cap="flat" cmpd="sng">
            <a:solidFill>
              <a:srgbClr val="073763"/>
            </a:solidFill>
            <a:prstDash val="solid"/>
            <a:round/>
            <a:headEnd type="none" w="sm" len="sm"/>
            <a:tailEnd type="triangle" w="med" len="med"/>
          </a:ln>
        </p:spPr>
        <p:txBody>
          <a:bodyPr/>
          <a:lstStyle/>
          <a:p>
            <a:endParaRPr lang="en-US" sz="2400"/>
          </a:p>
        </p:txBody>
      </p:sp>
      <p:sp>
        <p:nvSpPr>
          <p:cNvPr id="150" name="Google Shape;150;p27">
            <a:extLst>
              <a:ext uri="{FF2B5EF4-FFF2-40B4-BE49-F238E27FC236}">
                <a16:creationId xmlns:a16="http://schemas.microsoft.com/office/drawing/2014/main" id="{DD61BA19-2E57-0866-CEE0-734685F5422A}"/>
              </a:ext>
            </a:extLst>
          </p:cNvPr>
          <p:cNvSpPr/>
          <p:nvPr/>
        </p:nvSpPr>
        <p:spPr>
          <a:xfrm flipH="1">
            <a:off x="2904080" y="4718808"/>
            <a:ext cx="2819088" cy="300816"/>
          </a:xfrm>
          <a:custGeom>
            <a:avLst/>
            <a:gdLst/>
            <a:ahLst/>
            <a:cxnLst/>
            <a:rect l="l" t="t" r="r" b="b"/>
            <a:pathLst>
              <a:path w="21600" h="21600" extrusionOk="0">
                <a:moveTo>
                  <a:pt x="0" y="0"/>
                </a:moveTo>
                <a:lnTo>
                  <a:pt x="21600" y="21600"/>
                </a:lnTo>
              </a:path>
            </a:pathLst>
          </a:custGeom>
          <a:noFill/>
          <a:ln w="38150" cap="flat" cmpd="sng">
            <a:solidFill>
              <a:srgbClr val="073763"/>
            </a:solidFill>
            <a:prstDash val="solid"/>
            <a:round/>
            <a:headEnd type="none" w="sm" len="sm"/>
            <a:tailEnd type="triangle" w="med" len="med"/>
          </a:ln>
        </p:spPr>
        <p:txBody>
          <a:bodyPr/>
          <a:lstStyle/>
          <a:p>
            <a:endParaRPr lang="en-US" sz="2400"/>
          </a:p>
        </p:txBody>
      </p:sp>
      <p:sp>
        <p:nvSpPr>
          <p:cNvPr id="2" name="Google Shape;95;p20">
            <a:extLst>
              <a:ext uri="{FF2B5EF4-FFF2-40B4-BE49-F238E27FC236}">
                <a16:creationId xmlns:a16="http://schemas.microsoft.com/office/drawing/2014/main" id="{E8930AD3-F481-C24E-D653-6E439335468B}"/>
              </a:ext>
            </a:extLst>
          </p:cNvPr>
          <p:cNvSpPr/>
          <p:nvPr/>
        </p:nvSpPr>
        <p:spPr>
          <a:xfrm>
            <a:off x="8359200" y="6267840"/>
            <a:ext cx="3703200" cy="5324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 sz="1867" dirty="0">
                <a:solidFill>
                  <a:srgbClr val="000000"/>
                </a:solidFill>
                <a:latin typeface="Arial"/>
                <a:ea typeface="Arial"/>
                <a:cs typeface="Arial"/>
                <a:sym typeface="Arial"/>
              </a:rPr>
              <a:t>Slide credit: Christian S. Perone</a:t>
            </a:r>
            <a:endParaRPr sz="1867"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999349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E17AA711-0E8B-1F73-7A22-587BBCBA103D}"/>
            </a:ext>
          </a:extLst>
        </p:cNvPr>
        <p:cNvGrpSpPr/>
        <p:nvPr/>
      </p:nvGrpSpPr>
      <p:grpSpPr>
        <a:xfrm>
          <a:off x="0" y="0"/>
          <a:ext cx="0" cy="0"/>
          <a:chOff x="0" y="0"/>
          <a:chExt cx="0" cy="0"/>
        </a:xfrm>
      </p:grpSpPr>
      <p:sp>
        <p:nvSpPr>
          <p:cNvPr id="155" name="Google Shape;155;p28">
            <a:extLst>
              <a:ext uri="{FF2B5EF4-FFF2-40B4-BE49-F238E27FC236}">
                <a16:creationId xmlns:a16="http://schemas.microsoft.com/office/drawing/2014/main" id="{C45A38DC-780B-20BE-725B-39D3527715A0}"/>
              </a:ext>
            </a:extLst>
          </p:cNvPr>
          <p:cNvSpPr txBox="1"/>
          <p:nvPr/>
        </p:nvSpPr>
        <p:spPr>
          <a:xfrm>
            <a:off x="415680" y="593280"/>
            <a:ext cx="11360000" cy="763200"/>
          </a:xfrm>
          <a:prstGeom prst="rect">
            <a:avLst/>
          </a:prstGeom>
          <a:noFill/>
          <a:ln>
            <a:noFill/>
          </a:ln>
        </p:spPr>
        <p:txBody>
          <a:bodyPr spcFirstLastPara="1" wrap="square" lIns="121900" tIns="121900" rIns="121900" bIns="121900" anchor="t" anchorCtr="0">
            <a:noAutofit/>
          </a:bodyPr>
          <a:lstStyle/>
          <a:p>
            <a:pPr>
              <a:buClr>
                <a:srgbClr val="000000"/>
              </a:buClr>
              <a:buSzPts val="2800"/>
            </a:pPr>
            <a:r>
              <a:rPr lang="en" sz="4400" dirty="0">
                <a:solidFill>
                  <a:srgbClr val="000000"/>
                </a:solidFill>
                <a:latin typeface="Arial"/>
                <a:ea typeface="Arial"/>
                <a:cs typeface="Arial"/>
                <a:sym typeface="Arial"/>
              </a:rPr>
              <a:t>Automatic Differentiation</a:t>
            </a:r>
            <a:endParaRPr sz="4400" dirty="0">
              <a:solidFill>
                <a:srgbClr val="000000"/>
              </a:solidFill>
              <a:latin typeface="Arial"/>
              <a:ea typeface="Arial"/>
              <a:cs typeface="Arial"/>
              <a:sym typeface="Arial"/>
            </a:endParaRPr>
          </a:p>
        </p:txBody>
      </p:sp>
      <p:sp>
        <p:nvSpPr>
          <p:cNvPr id="2" name="Google Shape;95;p20">
            <a:extLst>
              <a:ext uri="{FF2B5EF4-FFF2-40B4-BE49-F238E27FC236}">
                <a16:creationId xmlns:a16="http://schemas.microsoft.com/office/drawing/2014/main" id="{A3945C9D-0934-7BB2-69B0-6712324581A8}"/>
              </a:ext>
            </a:extLst>
          </p:cNvPr>
          <p:cNvSpPr/>
          <p:nvPr/>
        </p:nvSpPr>
        <p:spPr>
          <a:xfrm>
            <a:off x="8359200" y="6267840"/>
            <a:ext cx="3703200" cy="5324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 sz="1867" dirty="0">
                <a:solidFill>
                  <a:srgbClr val="000000"/>
                </a:solidFill>
                <a:latin typeface="Arial"/>
                <a:ea typeface="Arial"/>
                <a:cs typeface="Arial"/>
                <a:sym typeface="Arial"/>
              </a:rPr>
              <a:t>Slide credit: Christian S. Perone</a:t>
            </a:r>
            <a:endParaRPr sz="1867" dirty="0">
              <a:solidFill>
                <a:srgbClr val="000000"/>
              </a:solidFill>
              <a:latin typeface="Arial"/>
              <a:ea typeface="Arial"/>
              <a:cs typeface="Arial"/>
              <a:sym typeface="Arial"/>
            </a:endParaRPr>
          </a:p>
        </p:txBody>
      </p:sp>
      <p:sp>
        <p:nvSpPr>
          <p:cNvPr id="6" name="TextBox 5">
            <a:extLst>
              <a:ext uri="{FF2B5EF4-FFF2-40B4-BE49-F238E27FC236}">
                <a16:creationId xmlns:a16="http://schemas.microsoft.com/office/drawing/2014/main" id="{A2CA00A7-3A13-2970-E0F1-AED3B4302409}"/>
              </a:ext>
            </a:extLst>
          </p:cNvPr>
          <p:cNvSpPr txBox="1"/>
          <p:nvPr/>
        </p:nvSpPr>
        <p:spPr>
          <a:xfrm>
            <a:off x="5311200" y="1735586"/>
            <a:ext cx="6096000" cy="1200329"/>
          </a:xfrm>
          <a:prstGeom prst="rect">
            <a:avLst/>
          </a:prstGeom>
          <a:noFill/>
        </p:spPr>
        <p:txBody>
          <a:bodyPr wrap="square">
            <a:spAutoFit/>
          </a:bodyPr>
          <a:lstStyle/>
          <a:p>
            <a:r>
              <a:rPr lang="en-US" dirty="0" err="1">
                <a:latin typeface="Courier New" panose="02070309020205020404" pitchFamily="49" charset="0"/>
                <a:cs typeface="Courier New" panose="02070309020205020404" pitchFamily="49" charset="0"/>
              </a:rPr>
              <a:t>requires_grad</a:t>
            </a:r>
            <a:r>
              <a:rPr lang="en-US" dirty="0">
                <a:latin typeface="Courier New" panose="02070309020205020404" pitchFamily="49" charset="0"/>
                <a:cs typeface="Courier New" panose="02070309020205020404" pitchFamily="49" charset="0"/>
              </a:rPr>
              <a:t>=True </a:t>
            </a:r>
            <a:r>
              <a:rPr lang="en-US" dirty="0">
                <a:latin typeface="Arial" panose="020B0604020202020204" pitchFamily="34" charset="0"/>
                <a:cs typeface="Arial" panose="020B0604020202020204" pitchFamily="34" charset="0"/>
              </a:rPr>
              <a:t>tells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to track all operations performed on this tensor so that we can compute gradients (derivatives) with respect to it later. It's essential for automatic differentiation (</a:t>
            </a:r>
            <a:r>
              <a:rPr lang="en-US" dirty="0" err="1">
                <a:solidFill>
                  <a:srgbClr val="C00000"/>
                </a:solidFill>
                <a:latin typeface="Arial" panose="020B0604020202020204" pitchFamily="34" charset="0"/>
                <a:cs typeface="Arial" panose="020B0604020202020204" pitchFamily="34" charset="0"/>
              </a:rPr>
              <a:t>autodiff</a:t>
            </a:r>
            <a:r>
              <a:rPr lang="en-US" dirty="0">
                <a:latin typeface="Arial" panose="020B0604020202020204" pitchFamily="34" charset="0"/>
                <a:cs typeface="Arial" panose="020B0604020202020204" pitchFamily="34" charset="0"/>
              </a:rPr>
              <a:t>).</a:t>
            </a:r>
          </a:p>
        </p:txBody>
      </p:sp>
      <p:pic>
        <p:nvPicPr>
          <p:cNvPr id="7" name="Picture 6">
            <a:extLst>
              <a:ext uri="{FF2B5EF4-FFF2-40B4-BE49-F238E27FC236}">
                <a16:creationId xmlns:a16="http://schemas.microsoft.com/office/drawing/2014/main" id="{6A1A1512-5D93-D2FE-4F08-1DE4FF2DE7C9}"/>
              </a:ext>
            </a:extLst>
          </p:cNvPr>
          <p:cNvPicPr>
            <a:picLocks noChangeAspect="1"/>
          </p:cNvPicPr>
          <p:nvPr/>
        </p:nvPicPr>
        <p:blipFill>
          <a:blip r:embed="rId3"/>
          <a:stretch>
            <a:fillRect/>
          </a:stretch>
        </p:blipFill>
        <p:spPr>
          <a:xfrm>
            <a:off x="709621" y="1686062"/>
            <a:ext cx="3980911" cy="1335967"/>
          </a:xfrm>
          <a:prstGeom prst="rect">
            <a:avLst/>
          </a:prstGeom>
        </p:spPr>
      </p:pic>
      <p:pic>
        <p:nvPicPr>
          <p:cNvPr id="8" name="Picture 7">
            <a:extLst>
              <a:ext uri="{FF2B5EF4-FFF2-40B4-BE49-F238E27FC236}">
                <a16:creationId xmlns:a16="http://schemas.microsoft.com/office/drawing/2014/main" id="{B3F93938-D988-BE2A-3514-C6F343414344}"/>
              </a:ext>
            </a:extLst>
          </p:cNvPr>
          <p:cNvPicPr>
            <a:picLocks noChangeAspect="1"/>
          </p:cNvPicPr>
          <p:nvPr/>
        </p:nvPicPr>
        <p:blipFill>
          <a:blip r:embed="rId4"/>
          <a:stretch>
            <a:fillRect/>
          </a:stretch>
        </p:blipFill>
        <p:spPr>
          <a:xfrm>
            <a:off x="709622" y="3190562"/>
            <a:ext cx="3980911" cy="1649412"/>
          </a:xfrm>
          <a:prstGeom prst="rect">
            <a:avLst/>
          </a:prstGeom>
        </p:spPr>
      </p:pic>
      <p:sp>
        <p:nvSpPr>
          <p:cNvPr id="11" name="TextBox 10">
            <a:extLst>
              <a:ext uri="{FF2B5EF4-FFF2-40B4-BE49-F238E27FC236}">
                <a16:creationId xmlns:a16="http://schemas.microsoft.com/office/drawing/2014/main" id="{408C0F00-BA51-CD7F-0286-7700F2160026}"/>
              </a:ext>
            </a:extLst>
          </p:cNvPr>
          <p:cNvSpPr txBox="1"/>
          <p:nvPr/>
        </p:nvSpPr>
        <p:spPr>
          <a:xfrm>
            <a:off x="5440020" y="3253171"/>
            <a:ext cx="633566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y was created as a result of operation and it has a </a:t>
            </a:r>
            <a:r>
              <a:rPr lang="en-US" dirty="0" err="1">
                <a:latin typeface="Courier New" panose="02070309020205020404" pitchFamily="49" charset="0"/>
                <a:cs typeface="Courier New" panose="02070309020205020404" pitchFamily="49" charset="0"/>
              </a:rPr>
              <a:t>grad_fn</a:t>
            </a:r>
            <a:endParaRPr lang="en-US"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B3CD9073-2BBC-5B0B-DFC5-5A2725898722}"/>
              </a:ext>
            </a:extLst>
          </p:cNvPr>
          <p:cNvSpPr txBox="1"/>
          <p:nvPr/>
        </p:nvSpPr>
        <p:spPr>
          <a:xfrm>
            <a:off x="5440020" y="3584422"/>
            <a:ext cx="6096000" cy="1200329"/>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Gradient function for addition operations in </a:t>
            </a:r>
            <a:r>
              <a:rPr lang="en-US" dirty="0" err="1">
                <a:latin typeface="Arial" panose="020B0604020202020204" pitchFamily="34" charset="0"/>
                <a:cs typeface="Arial" panose="020B0604020202020204" pitchFamily="34" charset="0"/>
              </a:rPr>
              <a:t>PyTorch's</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autograd</a:t>
            </a:r>
            <a:r>
              <a:rPr lang="en-US" dirty="0">
                <a:latin typeface="Arial" panose="020B0604020202020204" pitchFamily="34" charset="0"/>
                <a:cs typeface="Arial" panose="020B0604020202020204" pitchFamily="34" charset="0"/>
              </a:rPr>
              <a:t> system. It tells </a:t>
            </a:r>
            <a:r>
              <a:rPr lang="en-US" dirty="0" err="1">
                <a:latin typeface="Courier New" panose="02070309020205020404" pitchFamily="49" charset="0"/>
                <a:cs typeface="Courier New" panose="02070309020205020404" pitchFamily="49" charset="0"/>
              </a:rPr>
              <a:t>PyTorch</a:t>
            </a:r>
            <a:r>
              <a:rPr lang="en-US" dirty="0">
                <a:latin typeface="Arial" panose="020B0604020202020204" pitchFamily="34" charset="0"/>
                <a:cs typeface="Arial" panose="020B0604020202020204" pitchFamily="34" charset="0"/>
              </a:rPr>
              <a:t> how to compute derivatives when going "backward" through an addition operation during backpropagation.</a:t>
            </a:r>
          </a:p>
        </p:txBody>
      </p:sp>
      <p:grpSp>
        <p:nvGrpSpPr>
          <p:cNvPr id="19" name="Group 18">
            <a:extLst>
              <a:ext uri="{FF2B5EF4-FFF2-40B4-BE49-F238E27FC236}">
                <a16:creationId xmlns:a16="http://schemas.microsoft.com/office/drawing/2014/main" id="{0FEF184B-1071-D166-DE5A-3E4671BF06B8}"/>
              </a:ext>
            </a:extLst>
          </p:cNvPr>
          <p:cNvGrpSpPr/>
          <p:nvPr/>
        </p:nvGrpSpPr>
        <p:grpSpPr>
          <a:xfrm>
            <a:off x="709621" y="5000727"/>
            <a:ext cx="10826399" cy="1840689"/>
            <a:chOff x="709621" y="5000727"/>
            <a:chExt cx="10826399" cy="1840689"/>
          </a:xfrm>
        </p:grpSpPr>
        <p:pic>
          <p:nvPicPr>
            <p:cNvPr id="17" name="Picture 16">
              <a:extLst>
                <a:ext uri="{FF2B5EF4-FFF2-40B4-BE49-F238E27FC236}">
                  <a16:creationId xmlns:a16="http://schemas.microsoft.com/office/drawing/2014/main" id="{13137EAB-6785-EB6A-3E47-AD8D1359B228}"/>
                </a:ext>
              </a:extLst>
            </p:cNvPr>
            <p:cNvPicPr>
              <a:picLocks noChangeAspect="1"/>
            </p:cNvPicPr>
            <p:nvPr/>
          </p:nvPicPr>
          <p:blipFill>
            <a:blip r:embed="rId5"/>
            <a:stretch>
              <a:fillRect/>
            </a:stretch>
          </p:blipFill>
          <p:spPr>
            <a:xfrm>
              <a:off x="709621" y="5000727"/>
              <a:ext cx="5260550" cy="1840689"/>
            </a:xfrm>
            <a:prstGeom prst="rect">
              <a:avLst/>
            </a:prstGeom>
          </p:spPr>
        </p:pic>
        <p:sp>
          <p:nvSpPr>
            <p:cNvPr id="18" name="TextBox 17">
              <a:extLst>
                <a:ext uri="{FF2B5EF4-FFF2-40B4-BE49-F238E27FC236}">
                  <a16:creationId xmlns:a16="http://schemas.microsoft.com/office/drawing/2014/main" id="{DA34CDB9-B6FC-FFDE-1140-7A382D695C37}"/>
                </a:ext>
              </a:extLst>
            </p:cNvPr>
            <p:cNvSpPr txBox="1"/>
            <p:nvPr/>
          </p:nvSpPr>
          <p:spPr>
            <a:xfrm>
              <a:off x="5440020" y="5466556"/>
              <a:ext cx="6096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Can add more operations.</a:t>
              </a:r>
            </a:p>
          </p:txBody>
        </p:sp>
      </p:grpSp>
    </p:spTree>
    <p:extLst>
      <p:ext uri="{BB962C8B-B14F-4D97-AF65-F5344CB8AC3E}">
        <p14:creationId xmlns:p14="http://schemas.microsoft.com/office/powerpoint/2010/main" val="350569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4BBEF855-CA54-F11F-32CA-424E4992B538}"/>
            </a:ext>
          </a:extLst>
        </p:cNvPr>
        <p:cNvGrpSpPr/>
        <p:nvPr/>
      </p:nvGrpSpPr>
      <p:grpSpPr>
        <a:xfrm>
          <a:off x="0" y="0"/>
          <a:ext cx="0" cy="0"/>
          <a:chOff x="0" y="0"/>
          <a:chExt cx="0" cy="0"/>
        </a:xfrm>
      </p:grpSpPr>
      <p:sp>
        <p:nvSpPr>
          <p:cNvPr id="162" name="Google Shape;162;p29">
            <a:extLst>
              <a:ext uri="{FF2B5EF4-FFF2-40B4-BE49-F238E27FC236}">
                <a16:creationId xmlns:a16="http://schemas.microsoft.com/office/drawing/2014/main" id="{8F2619E8-6333-6A00-B26D-2E139BF28973}"/>
              </a:ext>
            </a:extLst>
          </p:cNvPr>
          <p:cNvSpPr txBox="1"/>
          <p:nvPr/>
        </p:nvSpPr>
        <p:spPr>
          <a:xfrm>
            <a:off x="415680" y="593280"/>
            <a:ext cx="11360000" cy="763200"/>
          </a:xfrm>
          <a:prstGeom prst="rect">
            <a:avLst/>
          </a:prstGeom>
          <a:noFill/>
          <a:ln>
            <a:noFill/>
          </a:ln>
        </p:spPr>
        <p:txBody>
          <a:bodyPr spcFirstLastPara="1" wrap="square" lIns="121900" tIns="121900" rIns="121900" bIns="121900" anchor="t" anchorCtr="0">
            <a:noAutofit/>
          </a:bodyPr>
          <a:lstStyle/>
          <a:p>
            <a:pPr>
              <a:buClr>
                <a:srgbClr val="000000"/>
              </a:buClr>
              <a:buSzPts val="2800"/>
            </a:pPr>
            <a:r>
              <a:rPr lang="en" sz="3733">
                <a:solidFill>
                  <a:srgbClr val="000000"/>
                </a:solidFill>
                <a:latin typeface="Arial"/>
                <a:ea typeface="Arial"/>
                <a:cs typeface="Arial"/>
                <a:sym typeface="Arial"/>
              </a:rPr>
              <a:t>Gradients</a:t>
            </a:r>
            <a:endParaRPr sz="3733">
              <a:solidFill>
                <a:srgbClr val="000000"/>
              </a:solidFill>
              <a:latin typeface="Arial"/>
              <a:ea typeface="Arial"/>
              <a:cs typeface="Arial"/>
              <a:sym typeface="Arial"/>
            </a:endParaRPr>
          </a:p>
        </p:txBody>
      </p:sp>
      <p:sp>
        <p:nvSpPr>
          <p:cNvPr id="164" name="Google Shape;164;p29">
            <a:extLst>
              <a:ext uri="{FF2B5EF4-FFF2-40B4-BE49-F238E27FC236}">
                <a16:creationId xmlns:a16="http://schemas.microsoft.com/office/drawing/2014/main" id="{D35D43C3-941D-1E5B-B203-A9CA03325497}"/>
              </a:ext>
            </a:extLst>
          </p:cNvPr>
          <p:cNvSpPr txBox="1"/>
          <p:nvPr/>
        </p:nvSpPr>
        <p:spPr>
          <a:xfrm>
            <a:off x="415680" y="5759521"/>
            <a:ext cx="10566400" cy="615513"/>
          </a:xfrm>
          <a:prstGeom prst="rect">
            <a:avLst/>
          </a:prstGeom>
          <a:noFill/>
          <a:ln>
            <a:noFill/>
          </a:ln>
        </p:spPr>
        <p:txBody>
          <a:bodyPr spcFirstLastPara="1" wrap="square" lIns="121900" tIns="121900" rIns="121900" bIns="121900" anchor="t" anchorCtr="0">
            <a:spAutoFit/>
          </a:bodyPr>
          <a:lstStyle/>
          <a:p>
            <a:r>
              <a:rPr lang="en" sz="2400" dirty="0">
                <a:latin typeface="Arial" panose="020B0604020202020204" pitchFamily="34" charset="0"/>
                <a:cs typeface="Arial" panose="020B0604020202020204" pitchFamily="34" charset="0"/>
              </a:rPr>
              <a:t>Reference:</a:t>
            </a:r>
            <a:r>
              <a:rPr lang="en" sz="2400" u="sng" dirty="0">
                <a:solidFill>
                  <a:schemeClr val="hlink"/>
                </a:solidFill>
                <a:latin typeface="Arial" panose="020B0604020202020204" pitchFamily="34" charset="0"/>
                <a:cs typeface="Arial" panose="020B0604020202020204" pitchFamily="34" charset="0"/>
                <a:hlinkClick r:id="rId3"/>
              </a:rPr>
              <a:t> https://pytorch.org/tutorials/beginner/blitz/autograd_tutorial.html</a:t>
            </a:r>
            <a:endParaRPr sz="2400" dirty="0">
              <a:latin typeface="Arial" panose="020B0604020202020204" pitchFamily="34" charset="0"/>
              <a:cs typeface="Arial" panose="020B0604020202020204" pitchFamily="34" charset="0"/>
            </a:endParaRPr>
          </a:p>
        </p:txBody>
      </p:sp>
      <p:sp>
        <p:nvSpPr>
          <p:cNvPr id="2" name="Google Shape;95;p20">
            <a:extLst>
              <a:ext uri="{FF2B5EF4-FFF2-40B4-BE49-F238E27FC236}">
                <a16:creationId xmlns:a16="http://schemas.microsoft.com/office/drawing/2014/main" id="{A389A071-0835-3BEF-28D4-D2434B6BA81C}"/>
              </a:ext>
            </a:extLst>
          </p:cNvPr>
          <p:cNvSpPr/>
          <p:nvPr/>
        </p:nvSpPr>
        <p:spPr>
          <a:xfrm>
            <a:off x="8359200" y="6267840"/>
            <a:ext cx="3703200" cy="532400"/>
          </a:xfrm>
          <a:prstGeom prst="rect">
            <a:avLst/>
          </a:prstGeom>
          <a:noFill/>
          <a:ln>
            <a:noFill/>
          </a:ln>
        </p:spPr>
        <p:txBody>
          <a:bodyPr spcFirstLastPara="1" wrap="square" lIns="121900" tIns="121900" rIns="121900" bIns="121900" anchor="t" anchorCtr="0">
            <a:noAutofit/>
          </a:bodyPr>
          <a:lstStyle/>
          <a:p>
            <a:pPr>
              <a:buClr>
                <a:srgbClr val="000000"/>
              </a:buClr>
              <a:buSzPts val="1400"/>
            </a:pPr>
            <a:r>
              <a:rPr lang="en" sz="1867" dirty="0">
                <a:solidFill>
                  <a:srgbClr val="000000"/>
                </a:solidFill>
                <a:latin typeface="Arial"/>
                <a:ea typeface="Arial"/>
                <a:cs typeface="Arial"/>
                <a:sym typeface="Arial"/>
              </a:rPr>
              <a:t>Slide credit: Christian S. Perone</a:t>
            </a:r>
            <a:endParaRPr sz="1867"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B3461FEC-0B2B-2F01-5C13-843A6B0426CA}"/>
              </a:ext>
            </a:extLst>
          </p:cNvPr>
          <p:cNvSpPr txBox="1"/>
          <p:nvPr/>
        </p:nvSpPr>
        <p:spPr>
          <a:xfrm>
            <a:off x="863601" y="1568445"/>
            <a:ext cx="8128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When we call backward(), </a:t>
            </a:r>
            <a:r>
              <a:rPr lang="en-US" dirty="0" err="1">
                <a:latin typeface="Arial" panose="020B0604020202020204" pitchFamily="34" charset="0"/>
                <a:cs typeface="Arial" panose="020B0604020202020204" pitchFamily="34" charset="0"/>
              </a:rPr>
              <a:t>PyTorch</a:t>
            </a:r>
            <a:r>
              <a:rPr lang="en-US" dirty="0">
                <a:latin typeface="Arial" panose="020B0604020202020204" pitchFamily="34" charset="0"/>
                <a:cs typeface="Arial" panose="020B0604020202020204" pitchFamily="34" charset="0"/>
              </a:rPr>
              <a:t> uses these </a:t>
            </a:r>
            <a:r>
              <a:rPr lang="en-US" dirty="0" err="1">
                <a:solidFill>
                  <a:srgbClr val="C00000"/>
                </a:solidFill>
                <a:latin typeface="Courier New" panose="02070309020205020404" pitchFamily="49" charset="0"/>
                <a:cs typeface="Courier New" panose="02070309020205020404" pitchFamily="49" charset="0"/>
              </a:rPr>
              <a:t>grad_fns</a:t>
            </a:r>
            <a:r>
              <a:rPr lang="en-US" dirty="0">
                <a:latin typeface="Arial" panose="020B0604020202020204" pitchFamily="34" charset="0"/>
                <a:cs typeface="Arial" panose="020B0604020202020204" pitchFamily="34" charset="0"/>
              </a:rPr>
              <a:t> to compute:</a:t>
            </a:r>
          </a:p>
        </p:txBody>
      </p:sp>
      <p:sp>
        <p:nvSpPr>
          <p:cNvPr id="5" name="Content Placeholder 2">
            <a:extLst>
              <a:ext uri="{FF2B5EF4-FFF2-40B4-BE49-F238E27FC236}">
                <a16:creationId xmlns:a16="http://schemas.microsoft.com/office/drawing/2014/main" id="{56E55411-BD46-A9E9-4FBA-8C94483FF147}"/>
              </a:ext>
            </a:extLst>
          </p:cNvPr>
          <p:cNvSpPr txBox="1">
            <a:spLocks/>
          </p:cNvSpPr>
          <p:nvPr/>
        </p:nvSpPr>
        <p:spPr>
          <a:xfrm>
            <a:off x="2915403" y="4096366"/>
            <a:ext cx="5566954" cy="4484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rgbClr val="C00000"/>
                </a:solidFill>
                <a:latin typeface="Arial" panose="020B0604020202020204" pitchFamily="34" charset="0"/>
                <a:cs typeface="Arial" panose="020B0604020202020204" pitchFamily="34" charset="0"/>
              </a:rPr>
              <a:t>Results?</a:t>
            </a: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CDFC2DE3-606D-C742-10B4-B606DD3A7DA1}"/>
              </a:ext>
            </a:extLst>
          </p:cNvPr>
          <p:cNvPicPr>
            <a:picLocks noChangeAspect="1"/>
          </p:cNvPicPr>
          <p:nvPr/>
        </p:nvPicPr>
        <p:blipFill>
          <a:blip r:embed="rId4"/>
          <a:stretch>
            <a:fillRect/>
          </a:stretch>
        </p:blipFill>
        <p:spPr>
          <a:xfrm>
            <a:off x="1286935" y="2073542"/>
            <a:ext cx="7772400" cy="1970467"/>
          </a:xfrm>
          <a:prstGeom prst="rect">
            <a:avLst/>
          </a:prstGeom>
        </p:spPr>
      </p:pic>
      <p:grpSp>
        <p:nvGrpSpPr>
          <p:cNvPr id="9" name="Group 8">
            <a:extLst>
              <a:ext uri="{FF2B5EF4-FFF2-40B4-BE49-F238E27FC236}">
                <a16:creationId xmlns:a16="http://schemas.microsoft.com/office/drawing/2014/main" id="{2C3E8BB4-8FE6-B188-0F21-0951F4F80899}"/>
              </a:ext>
            </a:extLst>
          </p:cNvPr>
          <p:cNvGrpSpPr/>
          <p:nvPr/>
        </p:nvGrpSpPr>
        <p:grpSpPr>
          <a:xfrm>
            <a:off x="2744014" y="4673165"/>
            <a:ext cx="6172200" cy="994044"/>
            <a:chOff x="2744014" y="4673165"/>
            <a:chExt cx="6172200" cy="994044"/>
          </a:xfrm>
        </p:grpSpPr>
        <p:pic>
          <p:nvPicPr>
            <p:cNvPr id="6" name="Picture 5">
              <a:extLst>
                <a:ext uri="{FF2B5EF4-FFF2-40B4-BE49-F238E27FC236}">
                  <a16:creationId xmlns:a16="http://schemas.microsoft.com/office/drawing/2014/main" id="{A1B45313-242A-5280-32D8-D2C5FF38104B}"/>
                </a:ext>
              </a:extLst>
            </p:cNvPr>
            <p:cNvPicPr>
              <a:picLocks noChangeAspect="1"/>
            </p:cNvPicPr>
            <p:nvPr/>
          </p:nvPicPr>
          <p:blipFill>
            <a:blip r:embed="rId5"/>
            <a:stretch>
              <a:fillRect/>
            </a:stretch>
          </p:blipFill>
          <p:spPr>
            <a:xfrm>
              <a:off x="2744014" y="5130365"/>
              <a:ext cx="2269386" cy="536844"/>
            </a:xfrm>
            <a:prstGeom prst="rect">
              <a:avLst/>
            </a:prstGeom>
          </p:spPr>
        </p:pic>
        <p:pic>
          <p:nvPicPr>
            <p:cNvPr id="8" name="Picture 7">
              <a:extLst>
                <a:ext uri="{FF2B5EF4-FFF2-40B4-BE49-F238E27FC236}">
                  <a16:creationId xmlns:a16="http://schemas.microsoft.com/office/drawing/2014/main" id="{2D72CD43-03A5-7B90-B18E-FEA740C53089}"/>
                </a:ext>
              </a:extLst>
            </p:cNvPr>
            <p:cNvPicPr>
              <a:picLocks noChangeAspect="1"/>
            </p:cNvPicPr>
            <p:nvPr/>
          </p:nvPicPr>
          <p:blipFill>
            <a:blip r:embed="rId6"/>
            <a:stretch>
              <a:fillRect/>
            </a:stretch>
          </p:blipFill>
          <p:spPr>
            <a:xfrm>
              <a:off x="2744014" y="4673165"/>
              <a:ext cx="6172200" cy="457200"/>
            </a:xfrm>
            <a:prstGeom prst="rect">
              <a:avLst/>
            </a:prstGeom>
          </p:spPr>
        </p:pic>
      </p:grpSp>
    </p:spTree>
    <p:extLst>
      <p:ext uri="{BB962C8B-B14F-4D97-AF65-F5344CB8AC3E}">
        <p14:creationId xmlns:p14="http://schemas.microsoft.com/office/powerpoint/2010/main" val="295147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DE77FB26-1419-E218-1E93-321551C6DB42}"/>
            </a:ext>
          </a:extLst>
        </p:cNvPr>
        <p:cNvGrpSpPr/>
        <p:nvPr/>
      </p:nvGrpSpPr>
      <p:grpSpPr>
        <a:xfrm>
          <a:off x="0" y="0"/>
          <a:ext cx="0" cy="0"/>
          <a:chOff x="0" y="0"/>
          <a:chExt cx="0" cy="0"/>
        </a:xfrm>
      </p:grpSpPr>
      <p:sp>
        <p:nvSpPr>
          <p:cNvPr id="162" name="Google Shape;162;p29">
            <a:extLst>
              <a:ext uri="{FF2B5EF4-FFF2-40B4-BE49-F238E27FC236}">
                <a16:creationId xmlns:a16="http://schemas.microsoft.com/office/drawing/2014/main" id="{C74E9854-EABD-6139-EF9F-B9E59868A063}"/>
              </a:ext>
            </a:extLst>
          </p:cNvPr>
          <p:cNvSpPr txBox="1"/>
          <p:nvPr/>
        </p:nvSpPr>
        <p:spPr>
          <a:xfrm>
            <a:off x="415680" y="593280"/>
            <a:ext cx="11360000" cy="763200"/>
          </a:xfrm>
          <a:prstGeom prst="rect">
            <a:avLst/>
          </a:prstGeom>
          <a:noFill/>
          <a:ln>
            <a:noFill/>
          </a:ln>
        </p:spPr>
        <p:txBody>
          <a:bodyPr spcFirstLastPara="1" wrap="square" lIns="121900" tIns="121900" rIns="121900" bIns="121900" anchor="t" anchorCtr="0">
            <a:noAutofit/>
          </a:bodyPr>
          <a:lstStyle/>
          <a:p>
            <a:pPr>
              <a:buClr>
                <a:srgbClr val="000000"/>
              </a:buClr>
              <a:buSzPts val="2800"/>
            </a:pPr>
            <a:r>
              <a:rPr lang="en" sz="3733" dirty="0">
                <a:solidFill>
                  <a:srgbClr val="000000"/>
                </a:solidFill>
                <a:latin typeface="Arial"/>
                <a:ea typeface="Arial"/>
                <a:cs typeface="Arial"/>
                <a:sym typeface="Arial"/>
              </a:rPr>
              <a:t>Test your understanding about </a:t>
            </a:r>
            <a:r>
              <a:rPr lang="en" sz="3733" dirty="0" err="1">
                <a:solidFill>
                  <a:srgbClr val="000000"/>
                </a:solidFill>
                <a:latin typeface="Arial"/>
                <a:ea typeface="Arial"/>
                <a:cs typeface="Arial"/>
                <a:sym typeface="Arial"/>
              </a:rPr>
              <a:t>autograd</a:t>
            </a:r>
            <a:endParaRPr sz="3733" dirty="0">
              <a:solidFill>
                <a:srgbClr val="000000"/>
              </a:solidFill>
              <a:latin typeface="Arial"/>
              <a:ea typeface="Arial"/>
              <a:cs typeface="Arial"/>
              <a:sym typeface="Arial"/>
            </a:endParaRPr>
          </a:p>
        </p:txBody>
      </p:sp>
      <p:pic>
        <p:nvPicPr>
          <p:cNvPr id="9" name="Picture 8">
            <a:extLst>
              <a:ext uri="{FF2B5EF4-FFF2-40B4-BE49-F238E27FC236}">
                <a16:creationId xmlns:a16="http://schemas.microsoft.com/office/drawing/2014/main" id="{D15F1C6A-EF3E-195C-D9F4-B09F3BA1EECC}"/>
              </a:ext>
            </a:extLst>
          </p:cNvPr>
          <p:cNvPicPr>
            <a:picLocks noChangeAspect="1"/>
          </p:cNvPicPr>
          <p:nvPr/>
        </p:nvPicPr>
        <p:blipFill>
          <a:blip r:embed="rId3"/>
          <a:stretch>
            <a:fillRect/>
          </a:stretch>
        </p:blipFill>
        <p:spPr>
          <a:xfrm>
            <a:off x="795866" y="1729360"/>
            <a:ext cx="5300134" cy="1552182"/>
          </a:xfrm>
          <a:prstGeom prst="rect">
            <a:avLst/>
          </a:prstGeom>
        </p:spPr>
      </p:pic>
      <p:pic>
        <p:nvPicPr>
          <p:cNvPr id="10" name="Picture 9">
            <a:extLst>
              <a:ext uri="{FF2B5EF4-FFF2-40B4-BE49-F238E27FC236}">
                <a16:creationId xmlns:a16="http://schemas.microsoft.com/office/drawing/2014/main" id="{8CBBB205-C9E9-9F5D-E10C-30A13B183A52}"/>
              </a:ext>
            </a:extLst>
          </p:cNvPr>
          <p:cNvPicPr>
            <a:picLocks noChangeAspect="1"/>
          </p:cNvPicPr>
          <p:nvPr/>
        </p:nvPicPr>
        <p:blipFill>
          <a:blip r:embed="rId4"/>
          <a:stretch>
            <a:fillRect/>
          </a:stretch>
        </p:blipFill>
        <p:spPr>
          <a:xfrm>
            <a:off x="795866" y="3281542"/>
            <a:ext cx="5660052" cy="1781525"/>
          </a:xfrm>
          <a:prstGeom prst="rect">
            <a:avLst/>
          </a:prstGeom>
        </p:spPr>
      </p:pic>
      <p:pic>
        <p:nvPicPr>
          <p:cNvPr id="11" name="Picture 10">
            <a:extLst>
              <a:ext uri="{FF2B5EF4-FFF2-40B4-BE49-F238E27FC236}">
                <a16:creationId xmlns:a16="http://schemas.microsoft.com/office/drawing/2014/main" id="{5227F551-7A4F-A277-A5A3-24E8A0C9EF29}"/>
              </a:ext>
            </a:extLst>
          </p:cNvPr>
          <p:cNvPicPr>
            <a:picLocks noChangeAspect="1"/>
          </p:cNvPicPr>
          <p:nvPr/>
        </p:nvPicPr>
        <p:blipFill>
          <a:blip r:embed="rId5"/>
          <a:stretch>
            <a:fillRect/>
          </a:stretch>
        </p:blipFill>
        <p:spPr>
          <a:xfrm>
            <a:off x="795866" y="5145270"/>
            <a:ext cx="8360101" cy="1488785"/>
          </a:xfrm>
          <a:prstGeom prst="rect">
            <a:avLst/>
          </a:prstGeom>
        </p:spPr>
      </p:pic>
      <p:sp>
        <p:nvSpPr>
          <p:cNvPr id="12" name="Content Placeholder 2">
            <a:extLst>
              <a:ext uri="{FF2B5EF4-FFF2-40B4-BE49-F238E27FC236}">
                <a16:creationId xmlns:a16="http://schemas.microsoft.com/office/drawing/2014/main" id="{D76E6FB9-7C98-4469-6066-43316D4D9F62}"/>
              </a:ext>
            </a:extLst>
          </p:cNvPr>
          <p:cNvSpPr txBox="1">
            <a:spLocks/>
          </p:cNvSpPr>
          <p:nvPr/>
        </p:nvSpPr>
        <p:spPr>
          <a:xfrm>
            <a:off x="8115180" y="2281244"/>
            <a:ext cx="5566954" cy="4484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rgbClr val="C00000"/>
                </a:solidFill>
                <a:latin typeface="Arial" panose="020B0604020202020204" pitchFamily="34" charset="0"/>
                <a:cs typeface="Arial" panose="020B0604020202020204" pitchFamily="34" charset="0"/>
              </a:rPr>
              <a:t>2</a:t>
            </a: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sp>
        <p:nvSpPr>
          <p:cNvPr id="13" name="Content Placeholder 2">
            <a:extLst>
              <a:ext uri="{FF2B5EF4-FFF2-40B4-BE49-F238E27FC236}">
                <a16:creationId xmlns:a16="http://schemas.microsoft.com/office/drawing/2014/main" id="{067B2A8A-36D8-CF79-BDDB-83A272C1F729}"/>
              </a:ext>
            </a:extLst>
          </p:cNvPr>
          <p:cNvSpPr txBox="1">
            <a:spLocks/>
          </p:cNvSpPr>
          <p:nvPr/>
        </p:nvSpPr>
        <p:spPr>
          <a:xfrm>
            <a:off x="8115180" y="3638416"/>
            <a:ext cx="5566954" cy="4484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rgbClr val="C00000"/>
                </a:solidFill>
                <a:latin typeface="Arial" panose="020B0604020202020204" pitchFamily="34" charset="0"/>
                <a:cs typeface="Arial" panose="020B0604020202020204" pitchFamily="34" charset="0"/>
              </a:rPr>
              <a:t>4</a:t>
            </a: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CDD2F4C1-B387-524C-09CB-E5B874149AB6}"/>
              </a:ext>
            </a:extLst>
          </p:cNvPr>
          <p:cNvSpPr txBox="1"/>
          <p:nvPr/>
        </p:nvSpPr>
        <p:spPr>
          <a:xfrm>
            <a:off x="5291668" y="6452445"/>
            <a:ext cx="6900332"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hlinkClick r:id="rId6"/>
              </a:rPr>
              <a:t>https://pytorch.org/docs/stable/generated/torch.autograd.grad.html</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17" name="Content Placeholder 2">
            <a:extLst>
              <a:ext uri="{FF2B5EF4-FFF2-40B4-BE49-F238E27FC236}">
                <a16:creationId xmlns:a16="http://schemas.microsoft.com/office/drawing/2014/main" id="{CEEE20DF-8BB0-927F-C97C-886CAE7BEA26}"/>
              </a:ext>
            </a:extLst>
          </p:cNvPr>
          <p:cNvSpPr txBox="1">
            <a:spLocks/>
          </p:cNvSpPr>
          <p:nvPr/>
        </p:nvSpPr>
        <p:spPr>
          <a:xfrm>
            <a:off x="8115180" y="5256197"/>
            <a:ext cx="5566954" cy="4484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rgbClr val="C00000"/>
                </a:solidFill>
                <a:latin typeface="Arial" panose="020B0604020202020204" pitchFamily="34" charset="0"/>
                <a:cs typeface="Arial" panose="020B0604020202020204" pitchFamily="34" charset="0"/>
              </a:rPr>
              <a:t>2</a:t>
            </a: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3824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EF3E-AAC8-854F-9A59-8672B4056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60079-1C1A-3618-6828-5F4A5A82913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In-class practice</a:t>
            </a:r>
          </a:p>
        </p:txBody>
      </p:sp>
      <p:sp>
        <p:nvSpPr>
          <p:cNvPr id="6" name="Slide Number Placeholder 5">
            <a:extLst>
              <a:ext uri="{FF2B5EF4-FFF2-40B4-BE49-F238E27FC236}">
                <a16:creationId xmlns:a16="http://schemas.microsoft.com/office/drawing/2014/main" id="{019C34B3-64DC-A520-2CC1-AD86E6ABB5EF}"/>
              </a:ext>
            </a:extLst>
          </p:cNvPr>
          <p:cNvSpPr>
            <a:spLocks noGrp="1"/>
          </p:cNvSpPr>
          <p:nvPr>
            <p:ph type="sldNum" sz="quarter" idx="12"/>
          </p:nvPr>
        </p:nvSpPr>
        <p:spPr/>
        <p:txBody>
          <a:bodyPr/>
          <a:lstStyle/>
          <a:p>
            <a:fld id="{B3533053-B928-004D-A0E8-A0A092123CEE}" type="slidenum">
              <a:rPr lang="en-US" smtClean="0"/>
              <a:t>27</a:t>
            </a:fld>
            <a:endParaRPr lang="en-US"/>
          </a:p>
        </p:txBody>
      </p:sp>
    </p:spTree>
    <p:extLst>
      <p:ext uri="{BB962C8B-B14F-4D97-AF65-F5344CB8AC3E}">
        <p14:creationId xmlns:p14="http://schemas.microsoft.com/office/powerpoint/2010/main" val="1233532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ED1E-D097-ACF2-F95A-B6495CAD872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75E912-D120-2295-3275-900A627BC0C7}"/>
              </a:ext>
            </a:extLst>
          </p:cNvPr>
          <p:cNvSpPr>
            <a:spLocks noGrp="1"/>
          </p:cNvSpPr>
          <p:nvPr>
            <p:ph type="sldNum" sz="quarter" idx="12"/>
          </p:nvPr>
        </p:nvSpPr>
        <p:spPr/>
        <p:txBody>
          <a:bodyPr/>
          <a:lstStyle/>
          <a:p>
            <a:fld id="{B3533053-B928-004D-A0E8-A0A092123CEE}" type="slidenum">
              <a:rPr lang="en-US" smtClean="0"/>
              <a:t>28</a:t>
            </a:fld>
            <a:endParaRPr lang="en-US"/>
          </a:p>
        </p:txBody>
      </p:sp>
      <p:sp>
        <p:nvSpPr>
          <p:cNvPr id="6" name="Title 1">
            <a:extLst>
              <a:ext uri="{FF2B5EF4-FFF2-40B4-BE49-F238E27FC236}">
                <a16:creationId xmlns:a16="http://schemas.microsoft.com/office/drawing/2014/main" id="{8D03300E-7BAF-00B8-586D-08F588D9F9A0}"/>
              </a:ext>
            </a:extLst>
          </p:cNvPr>
          <p:cNvSpPr>
            <a:spLocks noGrp="1"/>
          </p:cNvSpPr>
          <p:nvPr>
            <p:ph type="title"/>
          </p:nvPr>
        </p:nvSpPr>
        <p:spPr>
          <a:xfrm>
            <a:off x="741311" y="778933"/>
            <a:ext cx="11231613" cy="5577417"/>
          </a:xfrm>
        </p:spPr>
        <p:txBody>
          <a:bodyPr>
            <a:normAutofit/>
          </a:bodyPr>
          <a:lstStyle/>
          <a:p>
            <a:r>
              <a:rPr lang="en-US" altLang="zh-CN" sz="4000" dirty="0">
                <a:latin typeface="Arial" panose="020B0604020202020204" pitchFamily="34" charset="0"/>
                <a:cs typeface="Arial" panose="020B0604020202020204" pitchFamily="34" charset="0"/>
              </a:rPr>
              <a:t>1. Deep Learning Concepts Recap</a:t>
            </a:r>
            <a:br>
              <a:rPr lang="en-US" altLang="zh-CN" sz="4000" dirty="0">
                <a:solidFill>
                  <a:srgbClr val="C00000"/>
                </a:solidFill>
                <a:latin typeface="Arial" panose="020B0604020202020204" pitchFamily="34" charset="0"/>
                <a:cs typeface="Arial" panose="020B0604020202020204" pitchFamily="34" charset="0"/>
              </a:rPr>
            </a:br>
            <a:br>
              <a:rPr lang="en-US" altLang="zh-CN" sz="4000" dirty="0">
                <a:latin typeface="Arial" panose="020B0604020202020204" pitchFamily="34" charset="0"/>
                <a:cs typeface="Arial" panose="020B0604020202020204" pitchFamily="34" charset="0"/>
              </a:rPr>
            </a:br>
            <a:r>
              <a:rPr lang="en-US" altLang="zh-CN" sz="4000" dirty="0">
                <a:latin typeface="Arial" panose="020B0604020202020204" pitchFamily="34" charset="0"/>
                <a:cs typeface="Arial" panose="020B0604020202020204" pitchFamily="34" charset="0"/>
              </a:rPr>
              <a:t>2. Intro to </a:t>
            </a:r>
            <a:r>
              <a:rPr lang="en-US" altLang="zh-CN" sz="4000" dirty="0" err="1">
                <a:latin typeface="Arial" panose="020B0604020202020204" pitchFamily="34" charset="0"/>
                <a:cs typeface="Arial" panose="020B0604020202020204" pitchFamily="34" charset="0"/>
              </a:rPr>
              <a:t>Pytorch</a:t>
            </a:r>
            <a:br>
              <a:rPr lang="en-US" altLang="zh-CN" sz="4000" dirty="0">
                <a:latin typeface="Arial" panose="020B0604020202020204" pitchFamily="34" charset="0"/>
                <a:cs typeface="Arial" panose="020B0604020202020204" pitchFamily="34" charset="0"/>
              </a:rPr>
            </a:br>
            <a:br>
              <a:rPr lang="en-US" altLang="zh-CN" sz="4000" dirty="0">
                <a:latin typeface="Arial" panose="020B0604020202020204" pitchFamily="34" charset="0"/>
                <a:cs typeface="Arial" panose="020B0604020202020204" pitchFamily="34" charset="0"/>
              </a:rPr>
            </a:br>
            <a:r>
              <a:rPr lang="en-US" altLang="zh-CN" sz="4000" dirty="0">
                <a:solidFill>
                  <a:srgbClr val="C00000"/>
                </a:solidFill>
                <a:latin typeface="Arial" panose="020B0604020202020204" pitchFamily="34" charset="0"/>
                <a:cs typeface="Arial" panose="020B0604020202020204" pitchFamily="34" charset="0"/>
              </a:rPr>
              <a:t>3. Perceptron and MLP</a:t>
            </a:r>
            <a:br>
              <a:rPr lang="en-US" altLang="zh-CN" sz="4000" b="1" dirty="0">
                <a:latin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309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8C83-D0AA-209F-6031-6166E113CFD5}"/>
              </a:ext>
            </a:extLst>
          </p:cNvPr>
          <p:cNvSpPr>
            <a:spLocks noGrp="1"/>
          </p:cNvSpPr>
          <p:nvPr>
            <p:ph type="title"/>
          </p:nvPr>
        </p:nvSpPr>
        <p:spPr>
          <a:xfrm>
            <a:off x="703289" y="2008681"/>
            <a:ext cx="10515600" cy="3567660"/>
          </a:xfrm>
        </p:spPr>
        <p:txBody>
          <a:bodyPr>
            <a:normAutofit fontScale="90000"/>
          </a:bodyPr>
          <a:lstStyle/>
          <a:p>
            <a:pPr algn="ctr"/>
            <a:r>
              <a:rPr lang="en-US" dirty="0">
                <a:latin typeface="Arial" panose="020B0604020202020204" pitchFamily="34" charset="0"/>
                <a:cs typeface="Arial" panose="020B0604020202020204" pitchFamily="34" charset="0"/>
              </a:rPr>
              <a:t>The perceptron (a single neuron)</a:t>
            </a: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The structural building block of deep learning</a:t>
            </a: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ECD4F25A-EA76-683E-CC3B-D9BEFCAB8A26}"/>
              </a:ext>
            </a:extLst>
          </p:cNvPr>
          <p:cNvSpPr>
            <a:spLocks noGrp="1"/>
          </p:cNvSpPr>
          <p:nvPr>
            <p:ph type="sldNum" sz="quarter" idx="12"/>
          </p:nvPr>
        </p:nvSpPr>
        <p:spPr/>
        <p:txBody>
          <a:bodyPr/>
          <a:lstStyle/>
          <a:p>
            <a:fld id="{B3533053-B928-004D-A0E8-A0A092123CEE}" type="slidenum">
              <a:rPr lang="en-US" smtClean="0"/>
              <a:t>29</a:t>
            </a:fld>
            <a:endParaRPr lang="en-US"/>
          </a:p>
        </p:txBody>
      </p:sp>
    </p:spTree>
    <p:extLst>
      <p:ext uri="{BB962C8B-B14F-4D97-AF65-F5344CB8AC3E}">
        <p14:creationId xmlns:p14="http://schemas.microsoft.com/office/powerpoint/2010/main" val="895500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46E5DC-C9BC-44F8-FC9C-3B7B6708784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The perceptron (forward propagation)</a:t>
            </a:r>
          </a:p>
        </p:txBody>
      </p:sp>
      <p:sp>
        <p:nvSpPr>
          <p:cNvPr id="21" name="Text Box 68">
            <a:extLst>
              <a:ext uri="{FF2B5EF4-FFF2-40B4-BE49-F238E27FC236}">
                <a16:creationId xmlns:a16="http://schemas.microsoft.com/office/drawing/2014/main" id="{8E09F9F9-3902-0F39-3F5F-5B93FA045F78}"/>
              </a:ext>
            </a:extLst>
          </p:cNvPr>
          <p:cNvSpPr txBox="1">
            <a:spLocks noChangeArrowheads="1"/>
          </p:cNvSpPr>
          <p:nvPr/>
        </p:nvSpPr>
        <p:spPr bwMode="auto">
          <a:xfrm>
            <a:off x="2010277" y="2634311"/>
            <a:ext cx="414338" cy="400050"/>
          </a:xfrm>
          <a:prstGeom prst="rect">
            <a:avLst/>
          </a:prstGeom>
          <a:noFill/>
          <a:ln w="9525">
            <a:noFill/>
            <a:miter lim="800000"/>
            <a:headEnd/>
            <a:tailEnd/>
          </a:ln>
        </p:spPr>
        <p:txBody>
          <a:bodyPr wrap="none">
            <a:prstTxWarp prst="textNoShape">
              <a:avLst/>
            </a:prstTxWarp>
            <a:spAutoFit/>
          </a:bodyPr>
          <a:lstStyle/>
          <a:p>
            <a:r>
              <a:rPr lang="en-US" sz="2000" b="0" i="1"/>
              <a:t>x</a:t>
            </a:r>
            <a:r>
              <a:rPr lang="en-US" sz="2000" b="0" baseline="-25000"/>
              <a:t>1</a:t>
            </a:r>
            <a:endParaRPr lang="en-US" sz="2000" b="0"/>
          </a:p>
        </p:txBody>
      </p:sp>
      <p:sp>
        <p:nvSpPr>
          <p:cNvPr id="22" name="Text Box 69">
            <a:extLst>
              <a:ext uri="{FF2B5EF4-FFF2-40B4-BE49-F238E27FC236}">
                <a16:creationId xmlns:a16="http://schemas.microsoft.com/office/drawing/2014/main" id="{16F79206-47CE-5343-503D-F913F6951509}"/>
              </a:ext>
            </a:extLst>
          </p:cNvPr>
          <p:cNvSpPr txBox="1">
            <a:spLocks noChangeArrowheads="1"/>
          </p:cNvSpPr>
          <p:nvPr/>
        </p:nvSpPr>
        <p:spPr bwMode="auto">
          <a:xfrm>
            <a:off x="2010277" y="3991624"/>
            <a:ext cx="419100" cy="400050"/>
          </a:xfrm>
          <a:prstGeom prst="rect">
            <a:avLst/>
          </a:prstGeom>
          <a:noFill/>
          <a:ln w="9525">
            <a:noFill/>
            <a:miter lim="800000"/>
            <a:headEnd/>
            <a:tailEnd/>
          </a:ln>
        </p:spPr>
        <p:txBody>
          <a:bodyPr wrap="none">
            <a:prstTxWarp prst="textNoShape">
              <a:avLst/>
            </a:prstTxWarp>
            <a:spAutoFit/>
          </a:bodyPr>
          <a:lstStyle/>
          <a:p>
            <a:r>
              <a:rPr lang="en-US" sz="2000" b="0" i="1"/>
              <a:t>x</a:t>
            </a:r>
            <a:r>
              <a:rPr lang="en-US" sz="2000" b="0" i="1" baseline="-25000"/>
              <a:t>n</a:t>
            </a:r>
            <a:endParaRPr lang="en-US" sz="2000" b="0"/>
          </a:p>
        </p:txBody>
      </p:sp>
      <p:sp>
        <p:nvSpPr>
          <p:cNvPr id="23" name="Text Box 70">
            <a:extLst>
              <a:ext uri="{FF2B5EF4-FFF2-40B4-BE49-F238E27FC236}">
                <a16:creationId xmlns:a16="http://schemas.microsoft.com/office/drawing/2014/main" id="{B916E72A-248B-BA56-DE01-B542CCAC0DD0}"/>
              </a:ext>
            </a:extLst>
          </p:cNvPr>
          <p:cNvSpPr txBox="1">
            <a:spLocks noChangeArrowheads="1"/>
          </p:cNvSpPr>
          <p:nvPr/>
        </p:nvSpPr>
        <p:spPr bwMode="auto">
          <a:xfrm>
            <a:off x="2010277" y="3274074"/>
            <a:ext cx="414338" cy="400050"/>
          </a:xfrm>
          <a:prstGeom prst="rect">
            <a:avLst/>
          </a:prstGeom>
          <a:noFill/>
          <a:ln w="9525">
            <a:noFill/>
            <a:miter lim="800000"/>
            <a:headEnd/>
            <a:tailEnd/>
          </a:ln>
        </p:spPr>
        <p:txBody>
          <a:bodyPr wrap="none">
            <a:prstTxWarp prst="textNoShape">
              <a:avLst/>
            </a:prstTxWarp>
            <a:spAutoFit/>
          </a:bodyPr>
          <a:lstStyle/>
          <a:p>
            <a:r>
              <a:rPr lang="en-US" sz="2000" b="0" i="1"/>
              <a:t>x</a:t>
            </a:r>
            <a:r>
              <a:rPr lang="en-US" sz="2000" b="0" baseline="-25000"/>
              <a:t>2</a:t>
            </a:r>
            <a:endParaRPr lang="en-US" sz="2000" b="0"/>
          </a:p>
        </p:txBody>
      </p:sp>
      <mc:AlternateContent xmlns:mc="http://schemas.openxmlformats.org/markup-compatibility/2006" xmlns:a14="http://schemas.microsoft.com/office/drawing/2010/main">
        <mc:Choice Requires="a14">
          <p:sp>
            <p:nvSpPr>
              <p:cNvPr id="47" name="Text Box 77">
                <a:extLst>
                  <a:ext uri="{FF2B5EF4-FFF2-40B4-BE49-F238E27FC236}">
                    <a16:creationId xmlns:a16="http://schemas.microsoft.com/office/drawing/2014/main" id="{F39A5D57-5F4C-60A3-BD31-AB9ADA71C8C7}"/>
                  </a:ext>
                </a:extLst>
              </p:cNvPr>
              <p:cNvSpPr txBox="1">
                <a:spLocks noChangeArrowheads="1"/>
              </p:cNvSpPr>
              <p:nvPr/>
            </p:nvSpPr>
            <p:spPr bwMode="auto">
              <a:xfrm>
                <a:off x="8316516" y="3301621"/>
                <a:ext cx="425450" cy="369332"/>
              </a:xfrm>
              <a:prstGeom prst="rect">
                <a:avLst/>
              </a:prstGeom>
              <a:solidFill>
                <a:schemeClr val="bg1"/>
              </a:solidFill>
              <a:ln w="9525">
                <a:noFill/>
                <a:miter lim="800000"/>
                <a:headEnd/>
                <a:tailEnd/>
              </a:ln>
            </p:spPr>
            <p:txBody>
              <a:bodyPr>
                <a:prstTxWarp prst="textNoShape">
                  <a:avLst/>
                </a:prstTxWarp>
                <a:spAutoFit/>
              </a:bodyPr>
              <a:lstStyle/>
              <a:p>
                <a:pPr/>
                <a14:m>
                  <m:oMathPara xmlns:m="http://schemas.openxmlformats.org/officeDocument/2006/math">
                    <m:oMathParaPr>
                      <m:jc m:val="centerGroup"/>
                    </m:oMathParaPr>
                    <m:oMath xmlns:m="http://schemas.openxmlformats.org/officeDocument/2006/math">
                      <m:acc>
                        <m:accPr>
                          <m:chr m:val="̂"/>
                          <m:ctrlPr>
                            <a:rPr lang="en-US" b="0" i="1" dirty="0" smtClean="0">
                              <a:latin typeface="Cambria Math" panose="02040503050406030204" pitchFamily="18" charset="0"/>
                              <a:ea typeface="Cambria Math" panose="02040503050406030204" pitchFamily="18" charset="0"/>
                            </a:rPr>
                          </m:ctrlPr>
                        </m:accPr>
                        <m:e>
                          <m:r>
                            <a:rPr lang="en-US" b="0" i="1" dirty="0" smtClean="0">
                              <a:latin typeface="Cambria Math" panose="02040503050406030204" pitchFamily="18" charset="0"/>
                              <a:ea typeface="Cambria Math" panose="02040503050406030204" pitchFamily="18" charset="0"/>
                            </a:rPr>
                            <m:t>𝑦</m:t>
                          </m:r>
                        </m:e>
                      </m:acc>
                    </m:oMath>
                  </m:oMathPara>
                </a14:m>
                <a:endParaRPr lang="en-US" b="0" dirty="0"/>
              </a:p>
            </p:txBody>
          </p:sp>
        </mc:Choice>
        <mc:Fallback xmlns="">
          <p:sp>
            <p:nvSpPr>
              <p:cNvPr id="47" name="Text Box 77">
                <a:extLst>
                  <a:ext uri="{FF2B5EF4-FFF2-40B4-BE49-F238E27FC236}">
                    <a16:creationId xmlns:a16="http://schemas.microsoft.com/office/drawing/2014/main" id="{F39A5D57-5F4C-60A3-BD31-AB9ADA71C8C7}"/>
                  </a:ext>
                </a:extLst>
              </p:cNvPr>
              <p:cNvSpPr txBox="1">
                <a:spLocks noRot="1" noChangeAspect="1" noMove="1" noResize="1" noEditPoints="1" noAdjustHandles="1" noChangeArrowheads="1" noChangeShapeType="1" noTextEdit="1"/>
              </p:cNvSpPr>
              <p:nvPr/>
            </p:nvSpPr>
            <p:spPr bwMode="auto">
              <a:xfrm>
                <a:off x="8316516" y="3301621"/>
                <a:ext cx="425450" cy="369332"/>
              </a:xfrm>
              <a:prstGeom prst="rect">
                <a:avLst/>
              </a:prstGeom>
              <a:blipFill>
                <a:blip r:embed="rId3"/>
                <a:stretch>
                  <a:fillRect b="-10345"/>
                </a:stretch>
              </a:blipFill>
              <a:ln w="9525">
                <a:noFill/>
                <a:miter lim="800000"/>
                <a:headEnd/>
                <a:tailEnd/>
              </a:ln>
            </p:spPr>
            <p:txBody>
              <a:bodyPr/>
              <a:lstStyle/>
              <a:p>
                <a:r>
                  <a:rPr lang="en-US">
                    <a:noFill/>
                  </a:rPr>
                  <a:t> </a:t>
                </a:r>
              </a:p>
            </p:txBody>
          </p:sp>
        </mc:Fallback>
      </mc:AlternateContent>
      <p:sp>
        <p:nvSpPr>
          <p:cNvPr id="61" name="TextBox 60">
            <a:extLst>
              <a:ext uri="{FF2B5EF4-FFF2-40B4-BE49-F238E27FC236}">
                <a16:creationId xmlns:a16="http://schemas.microsoft.com/office/drawing/2014/main" id="{868D9D6B-B266-E94C-F55C-C8C4A6F00867}"/>
              </a:ext>
            </a:extLst>
          </p:cNvPr>
          <p:cNvSpPr txBox="1"/>
          <p:nvPr/>
        </p:nvSpPr>
        <p:spPr>
          <a:xfrm>
            <a:off x="1820910" y="1878917"/>
            <a:ext cx="8130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Inputs</a:t>
            </a:r>
          </a:p>
        </p:txBody>
      </p:sp>
      <p:sp>
        <p:nvSpPr>
          <p:cNvPr id="63" name="TextBox 62">
            <a:extLst>
              <a:ext uri="{FF2B5EF4-FFF2-40B4-BE49-F238E27FC236}">
                <a16:creationId xmlns:a16="http://schemas.microsoft.com/office/drawing/2014/main" id="{A63A8EB3-A0D1-7FF0-710F-D535234E64C1}"/>
              </a:ext>
            </a:extLst>
          </p:cNvPr>
          <p:cNvSpPr txBox="1"/>
          <p:nvPr/>
        </p:nvSpPr>
        <p:spPr>
          <a:xfrm>
            <a:off x="8034924" y="1886307"/>
            <a:ext cx="99257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Outputs</a:t>
            </a:r>
          </a:p>
        </p:txBody>
      </p:sp>
      <p:sp>
        <p:nvSpPr>
          <p:cNvPr id="3" name="Oval 2">
            <a:extLst>
              <a:ext uri="{FF2B5EF4-FFF2-40B4-BE49-F238E27FC236}">
                <a16:creationId xmlns:a16="http://schemas.microsoft.com/office/drawing/2014/main" id="{EFE57543-73ED-865B-7902-910BBEC34216}"/>
              </a:ext>
            </a:extLst>
          </p:cNvPr>
          <p:cNvSpPr/>
          <p:nvPr/>
        </p:nvSpPr>
        <p:spPr>
          <a:xfrm>
            <a:off x="4068251" y="5341779"/>
            <a:ext cx="337493" cy="32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 name="Oval 4">
            <a:extLst>
              <a:ext uri="{FF2B5EF4-FFF2-40B4-BE49-F238E27FC236}">
                <a16:creationId xmlns:a16="http://schemas.microsoft.com/office/drawing/2014/main" id="{C180C47A-22A1-6B5E-6C97-A91EA3E15EE9}"/>
              </a:ext>
            </a:extLst>
          </p:cNvPr>
          <p:cNvSpPr/>
          <p:nvPr/>
        </p:nvSpPr>
        <p:spPr>
          <a:xfrm>
            <a:off x="2893912" y="5535748"/>
            <a:ext cx="337493" cy="3219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 name="Oval 5">
            <a:extLst>
              <a:ext uri="{FF2B5EF4-FFF2-40B4-BE49-F238E27FC236}">
                <a16:creationId xmlns:a16="http://schemas.microsoft.com/office/drawing/2014/main" id="{DD01EA66-D78C-E5B8-5BB0-F6E6796DC4D7}"/>
              </a:ext>
            </a:extLst>
          </p:cNvPr>
          <p:cNvSpPr/>
          <p:nvPr/>
        </p:nvSpPr>
        <p:spPr>
          <a:xfrm>
            <a:off x="2379945" y="5369032"/>
            <a:ext cx="337493" cy="3219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3FF64DCE-8132-13E2-4C33-96ED53A55BAA}"/>
                  </a:ext>
                </a:extLst>
              </p:cNvPr>
              <p:cNvSpPr txBox="1"/>
              <p:nvPr/>
            </p:nvSpPr>
            <p:spPr>
              <a:xfrm>
                <a:off x="-1269253" y="5678048"/>
                <a:ext cx="10229850" cy="9326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r>
                        <a:rPr lang="en-US" sz="2000" b="0" i="1" smtClean="0">
                          <a:latin typeface="Cambria Math" panose="02040503050406030204" pitchFamily="18" charset="0"/>
                        </a:rPr>
                        <m:t>= </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𝑔</m:t>
                          </m:r>
                          <m:r>
                            <a:rPr lang="en-US" sz="2000" b="0" i="1" smtClean="0">
                              <a:latin typeface="Cambria Math" panose="02040503050406030204" pitchFamily="18" charset="0"/>
                            </a:rPr>
                            <m:t>(</m:t>
                          </m:r>
                          <m:r>
                            <a:rPr lang="en-US" sz="2000" b="0" i="1" smtClean="0">
                              <a:latin typeface="Cambria Math" panose="02040503050406030204" pitchFamily="18" charset="0"/>
                            </a:rPr>
                            <m:t>𝑤</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sup>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sSub>
                            <m:sSubPr>
                              <m:ctrlPr>
                                <a:rPr lang="en-US" sz="2000" i="1">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r>
                            <a:rPr lang="en-US" sz="2000" b="0" i="1" smtClean="0">
                              <a:latin typeface="Cambria Math" panose="02040503050406030204" pitchFamily="18" charset="0"/>
                            </a:rPr>
                            <m:t>𝑔</m:t>
                          </m:r>
                          <m:r>
                            <a:rPr lang="en-US" sz="2000" b="0" i="1" smtClean="0">
                              <a:latin typeface="Cambria Math" panose="02040503050406030204" pitchFamily="18" charset="0"/>
                            </a:rPr>
                            <m:t>(</m:t>
                          </m:r>
                          <m:r>
                            <a:rPr lang="en-US" sz="2000" b="0" i="1" smtClean="0">
                              <a:latin typeface="Cambria Math" panose="02040503050406030204" pitchFamily="18" charset="0"/>
                            </a:rPr>
                            <m:t>𝑧</m:t>
                          </m:r>
                          <m:r>
                            <a:rPr lang="en-US" sz="2000" b="0" i="1" smtClean="0">
                              <a:latin typeface="Cambria Math" panose="02040503050406030204" pitchFamily="18" charset="0"/>
                            </a:rPr>
                            <m:t>)</m:t>
                          </m:r>
                        </m:e>
                      </m:nary>
                    </m:oMath>
                  </m:oMathPara>
                </a14:m>
                <a:endParaRPr lang="en-US" sz="2000" dirty="0"/>
              </a:p>
            </p:txBody>
          </p:sp>
        </mc:Choice>
        <mc:Fallback xmlns="">
          <p:sp>
            <p:nvSpPr>
              <p:cNvPr id="60" name="TextBox 59">
                <a:extLst>
                  <a:ext uri="{FF2B5EF4-FFF2-40B4-BE49-F238E27FC236}">
                    <a16:creationId xmlns:a16="http://schemas.microsoft.com/office/drawing/2014/main" id="{3FF64DCE-8132-13E2-4C33-96ED53A55BAA}"/>
                  </a:ext>
                </a:extLst>
              </p:cNvPr>
              <p:cNvSpPr txBox="1">
                <a:spLocks noRot="1" noChangeAspect="1" noMove="1" noResize="1" noEditPoints="1" noAdjustHandles="1" noChangeArrowheads="1" noChangeShapeType="1" noTextEdit="1"/>
              </p:cNvSpPr>
              <p:nvPr/>
            </p:nvSpPr>
            <p:spPr>
              <a:xfrm>
                <a:off x="-1269253" y="5678048"/>
                <a:ext cx="10229850" cy="932628"/>
              </a:xfrm>
              <a:prstGeom prst="rect">
                <a:avLst/>
              </a:prstGeom>
              <a:blipFill>
                <a:blip r:embed="rId4"/>
                <a:stretch>
                  <a:fillRect t="-101333" b="-154667"/>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7BE64400-250F-56A4-4AFD-0324CF01E6E8}"/>
              </a:ext>
            </a:extLst>
          </p:cNvPr>
          <p:cNvGrpSpPr/>
          <p:nvPr/>
        </p:nvGrpSpPr>
        <p:grpSpPr>
          <a:xfrm>
            <a:off x="2509440" y="1878917"/>
            <a:ext cx="3505201" cy="2307969"/>
            <a:chOff x="2509440" y="1878917"/>
            <a:chExt cx="3505201" cy="2307969"/>
          </a:xfrm>
        </p:grpSpPr>
        <p:sp>
          <p:nvSpPr>
            <p:cNvPr id="32" name="Text Box 71">
              <a:extLst>
                <a:ext uri="{FF2B5EF4-FFF2-40B4-BE49-F238E27FC236}">
                  <a16:creationId xmlns:a16="http://schemas.microsoft.com/office/drawing/2014/main" id="{30804D5F-BBB9-233D-F4E8-FD3480B3DBB2}"/>
                </a:ext>
              </a:extLst>
            </p:cNvPr>
            <p:cNvSpPr txBox="1">
              <a:spLocks noChangeArrowheads="1"/>
            </p:cNvSpPr>
            <p:nvPr/>
          </p:nvSpPr>
          <p:spPr bwMode="auto">
            <a:xfrm>
              <a:off x="3544736" y="3797742"/>
              <a:ext cx="425450" cy="369332"/>
            </a:xfrm>
            <a:prstGeom prst="rect">
              <a:avLst/>
            </a:prstGeom>
            <a:solidFill>
              <a:schemeClr val="bg1"/>
            </a:solidFill>
            <a:ln w="9525">
              <a:noFill/>
              <a:miter lim="800000"/>
              <a:headEnd/>
              <a:tailEnd/>
            </a:ln>
          </p:spPr>
          <p:txBody>
            <a:bodyPr wrap="square">
              <a:prstTxWarp prst="textNoShape">
                <a:avLst/>
              </a:prstTxWarp>
              <a:spAutoFit/>
            </a:bodyPr>
            <a:lstStyle/>
            <a:p>
              <a:r>
                <a:rPr lang="en-US" b="0" i="1" dirty="0" err="1"/>
                <a:t>w</a:t>
              </a:r>
              <a:r>
                <a:rPr lang="en-US" i="1" baseline="-25000" dirty="0" err="1"/>
                <a:t>n</a:t>
              </a:r>
              <a:endParaRPr lang="en-US" b="0" dirty="0"/>
            </a:p>
          </p:txBody>
        </p:sp>
        <p:sp>
          <p:nvSpPr>
            <p:cNvPr id="14" name="Oval 52">
              <a:extLst>
                <a:ext uri="{FF2B5EF4-FFF2-40B4-BE49-F238E27FC236}">
                  <a16:creationId xmlns:a16="http://schemas.microsoft.com/office/drawing/2014/main" id="{7E121FE7-F90F-14A0-F415-D4001F91B1C9}"/>
                </a:ext>
              </a:extLst>
            </p:cNvPr>
            <p:cNvSpPr>
              <a:spLocks noChangeArrowheads="1"/>
            </p:cNvSpPr>
            <p:nvPr/>
          </p:nvSpPr>
          <p:spPr bwMode="auto">
            <a:xfrm>
              <a:off x="5024041" y="3024836"/>
              <a:ext cx="990600" cy="990600"/>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24" name="Text Box 71">
              <a:extLst>
                <a:ext uri="{FF2B5EF4-FFF2-40B4-BE49-F238E27FC236}">
                  <a16:creationId xmlns:a16="http://schemas.microsoft.com/office/drawing/2014/main" id="{023CCCEE-1210-66B0-9CF4-46FE7CF10F7F}"/>
                </a:ext>
              </a:extLst>
            </p:cNvPr>
            <p:cNvSpPr txBox="1">
              <a:spLocks noChangeArrowheads="1"/>
            </p:cNvSpPr>
            <p:nvPr/>
          </p:nvSpPr>
          <p:spPr bwMode="auto">
            <a:xfrm>
              <a:off x="3544736" y="2631888"/>
              <a:ext cx="425450" cy="369332"/>
            </a:xfrm>
            <a:prstGeom prst="rect">
              <a:avLst/>
            </a:prstGeom>
            <a:solidFill>
              <a:schemeClr val="bg1"/>
            </a:solidFill>
            <a:ln w="9525">
              <a:noFill/>
              <a:miter lim="800000"/>
              <a:headEnd/>
              <a:tailEnd/>
            </a:ln>
          </p:spPr>
          <p:txBody>
            <a:bodyPr wrap="square">
              <a:prstTxWarp prst="textNoShape">
                <a:avLst/>
              </a:prstTxWarp>
              <a:spAutoFit/>
            </a:bodyPr>
            <a:lstStyle/>
            <a:p>
              <a:r>
                <a:rPr lang="en-US" b="0" i="1" dirty="0"/>
                <a:t>w</a:t>
              </a:r>
              <a:r>
                <a:rPr lang="en-US" b="0" baseline="-25000" dirty="0"/>
                <a:t>1</a:t>
              </a:r>
              <a:endParaRPr lang="en-US" b="0" dirty="0"/>
            </a:p>
          </p:txBody>
        </p:sp>
        <p:sp>
          <p:nvSpPr>
            <p:cNvPr id="26" name="Text Box 77">
              <a:extLst>
                <a:ext uri="{FF2B5EF4-FFF2-40B4-BE49-F238E27FC236}">
                  <a16:creationId xmlns:a16="http://schemas.microsoft.com/office/drawing/2014/main" id="{E591EB57-71CF-602A-9599-A2F6448F4AB1}"/>
                </a:ext>
              </a:extLst>
            </p:cNvPr>
            <p:cNvSpPr txBox="1">
              <a:spLocks noChangeArrowheads="1"/>
            </p:cNvSpPr>
            <p:nvPr/>
          </p:nvSpPr>
          <p:spPr bwMode="auto">
            <a:xfrm>
              <a:off x="3544736" y="3157871"/>
              <a:ext cx="425450" cy="366713"/>
            </a:xfrm>
            <a:prstGeom prst="rect">
              <a:avLst/>
            </a:prstGeom>
            <a:solidFill>
              <a:schemeClr val="bg1"/>
            </a:solidFill>
            <a:ln w="9525">
              <a:noFill/>
              <a:miter lim="800000"/>
              <a:headEnd/>
              <a:tailEnd/>
            </a:ln>
          </p:spPr>
          <p:txBody>
            <a:bodyPr>
              <a:prstTxWarp prst="textNoShape">
                <a:avLst/>
              </a:prstTxWarp>
              <a:spAutoFit/>
            </a:bodyPr>
            <a:lstStyle/>
            <a:p>
              <a:r>
                <a:rPr lang="en-US" b="0" i="1" dirty="0"/>
                <a:t>w</a:t>
              </a:r>
              <a:r>
                <a:rPr lang="en-US" b="0" baseline="-25000" dirty="0"/>
                <a:t>2</a:t>
              </a:r>
              <a:endParaRPr lang="en-US" b="0" dirty="0"/>
            </a:p>
          </p:txBody>
        </p:sp>
        <mc:AlternateContent xmlns:mc="http://schemas.openxmlformats.org/markup-compatibility/2006" xmlns:a14="http://schemas.microsoft.com/office/drawing/2010/main">
          <mc:Choice Requires="a14">
            <p:sp>
              <p:nvSpPr>
                <p:cNvPr id="30" name="Text Box 77">
                  <a:extLst>
                    <a:ext uri="{FF2B5EF4-FFF2-40B4-BE49-F238E27FC236}">
                      <a16:creationId xmlns:a16="http://schemas.microsoft.com/office/drawing/2014/main" id="{0892A6D0-CDEB-66CB-AFB0-549E995948E5}"/>
                    </a:ext>
                  </a:extLst>
                </p:cNvPr>
                <p:cNvSpPr txBox="1">
                  <a:spLocks noChangeArrowheads="1"/>
                </p:cNvSpPr>
                <p:nvPr/>
              </p:nvSpPr>
              <p:spPr bwMode="auto">
                <a:xfrm>
                  <a:off x="5313102" y="3305370"/>
                  <a:ext cx="425450" cy="369332"/>
                </a:xfrm>
                <a:prstGeom prst="rect">
                  <a:avLst/>
                </a:prstGeom>
                <a:solidFill>
                  <a:schemeClr val="bg1"/>
                </a:solidFill>
                <a:ln w="9525">
                  <a:noFill/>
                  <a:miter lim="800000"/>
                  <a:headEnd/>
                  <a:tailEnd/>
                </a:ln>
              </p:spPr>
              <p:txBody>
                <a:bodyPr>
                  <a:prstTxWarp prst="textNoShape">
                    <a:avLst/>
                  </a:prstTxWarp>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ea typeface="Cambria Math" panose="02040503050406030204" pitchFamily="18" charset="0"/>
                          </a:rPr>
                          <m:t>∑</m:t>
                        </m:r>
                      </m:oMath>
                    </m:oMathPara>
                  </a14:m>
                  <a:endParaRPr lang="en-US" b="0" dirty="0"/>
                </a:p>
              </p:txBody>
            </p:sp>
          </mc:Choice>
          <mc:Fallback xmlns="">
            <p:sp>
              <p:nvSpPr>
                <p:cNvPr id="30" name="Text Box 77">
                  <a:extLst>
                    <a:ext uri="{FF2B5EF4-FFF2-40B4-BE49-F238E27FC236}">
                      <a16:creationId xmlns:a16="http://schemas.microsoft.com/office/drawing/2014/main" id="{0892A6D0-CDEB-66CB-AFB0-549E995948E5}"/>
                    </a:ext>
                  </a:extLst>
                </p:cNvPr>
                <p:cNvSpPr txBox="1">
                  <a:spLocks noRot="1" noChangeAspect="1" noMove="1" noResize="1" noEditPoints="1" noAdjustHandles="1" noChangeArrowheads="1" noChangeShapeType="1" noTextEdit="1"/>
                </p:cNvSpPr>
                <p:nvPr/>
              </p:nvSpPr>
              <p:spPr bwMode="auto">
                <a:xfrm>
                  <a:off x="5313102" y="3305370"/>
                  <a:ext cx="425450" cy="369332"/>
                </a:xfrm>
                <a:prstGeom prst="rect">
                  <a:avLst/>
                </a:prstGeom>
                <a:blipFill>
                  <a:blip r:embed="rId5"/>
                  <a:stretch>
                    <a:fillRect b="-13333"/>
                  </a:stretch>
                </a:blipFill>
                <a:ln w="9525">
                  <a:noFill/>
                  <a:miter lim="800000"/>
                  <a:headEnd/>
                  <a:tailEnd/>
                </a:ln>
              </p:spPr>
              <p:txBody>
                <a:bodyPr/>
                <a:lstStyle/>
                <a:p>
                  <a:r>
                    <a:rPr lang="en-US">
                      <a:noFill/>
                    </a:rPr>
                    <a:t> </a:t>
                  </a:r>
                </a:p>
              </p:txBody>
            </p:sp>
          </mc:Fallback>
        </mc:AlternateContent>
        <p:sp>
          <p:nvSpPr>
            <p:cNvPr id="62" name="TextBox 61">
              <a:extLst>
                <a:ext uri="{FF2B5EF4-FFF2-40B4-BE49-F238E27FC236}">
                  <a16:creationId xmlns:a16="http://schemas.microsoft.com/office/drawing/2014/main" id="{9A142370-C5B5-C11B-FEAD-EC1321CFEE2A}"/>
                </a:ext>
              </a:extLst>
            </p:cNvPr>
            <p:cNvSpPr txBox="1"/>
            <p:nvPr/>
          </p:nvSpPr>
          <p:spPr>
            <a:xfrm>
              <a:off x="3383629" y="1886307"/>
              <a:ext cx="101406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Weights</a:t>
              </a:r>
            </a:p>
          </p:txBody>
        </p:sp>
        <p:sp>
          <p:nvSpPr>
            <p:cNvPr id="65" name="TextBox 64">
              <a:extLst>
                <a:ext uri="{FF2B5EF4-FFF2-40B4-BE49-F238E27FC236}">
                  <a16:creationId xmlns:a16="http://schemas.microsoft.com/office/drawing/2014/main" id="{16A18F20-4BDD-3246-78FB-AA08F9DF490E}"/>
                </a:ext>
              </a:extLst>
            </p:cNvPr>
            <p:cNvSpPr txBox="1"/>
            <p:nvPr/>
          </p:nvSpPr>
          <p:spPr>
            <a:xfrm>
              <a:off x="4992394" y="1878917"/>
              <a:ext cx="65915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Sum</a:t>
              </a:r>
            </a:p>
          </p:txBody>
        </p:sp>
        <p:sp>
          <p:nvSpPr>
            <p:cNvPr id="18" name="Line 62">
              <a:extLst>
                <a:ext uri="{FF2B5EF4-FFF2-40B4-BE49-F238E27FC236}">
                  <a16:creationId xmlns:a16="http://schemas.microsoft.com/office/drawing/2014/main" id="{E3641B70-D1D5-6070-3B96-14E7B679FDBE}"/>
                </a:ext>
              </a:extLst>
            </p:cNvPr>
            <p:cNvSpPr>
              <a:spLocks noChangeShapeType="1"/>
            </p:cNvSpPr>
            <p:nvPr/>
          </p:nvSpPr>
          <p:spPr bwMode="auto">
            <a:xfrm>
              <a:off x="2509441" y="2845448"/>
              <a:ext cx="2514600" cy="609001"/>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sp>
          <p:nvSpPr>
            <p:cNvPr id="19" name="Line 63">
              <a:extLst>
                <a:ext uri="{FF2B5EF4-FFF2-40B4-BE49-F238E27FC236}">
                  <a16:creationId xmlns:a16="http://schemas.microsoft.com/office/drawing/2014/main" id="{94D34D16-36B0-5181-6397-AA21DB35781C}"/>
                </a:ext>
              </a:extLst>
            </p:cNvPr>
            <p:cNvSpPr>
              <a:spLocks noChangeShapeType="1"/>
            </p:cNvSpPr>
            <p:nvPr/>
          </p:nvSpPr>
          <p:spPr bwMode="auto">
            <a:xfrm flipV="1">
              <a:off x="2509440" y="3468760"/>
              <a:ext cx="2514601" cy="13275"/>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sp>
          <p:nvSpPr>
            <p:cNvPr id="20" name="Line 64">
              <a:extLst>
                <a:ext uri="{FF2B5EF4-FFF2-40B4-BE49-F238E27FC236}">
                  <a16:creationId xmlns:a16="http://schemas.microsoft.com/office/drawing/2014/main" id="{27CBBA2F-E030-2420-9567-99DB6C1F7E54}"/>
                </a:ext>
              </a:extLst>
            </p:cNvPr>
            <p:cNvSpPr>
              <a:spLocks noChangeShapeType="1"/>
            </p:cNvSpPr>
            <p:nvPr/>
          </p:nvSpPr>
          <p:spPr bwMode="auto">
            <a:xfrm flipV="1">
              <a:off x="2509440" y="3503036"/>
              <a:ext cx="2514599" cy="683850"/>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grpSp>
      <p:grpSp>
        <p:nvGrpSpPr>
          <p:cNvPr id="33" name="Group 32">
            <a:extLst>
              <a:ext uri="{FF2B5EF4-FFF2-40B4-BE49-F238E27FC236}">
                <a16:creationId xmlns:a16="http://schemas.microsoft.com/office/drawing/2014/main" id="{375982BF-3597-DD42-A144-728ABE08CE28}"/>
              </a:ext>
            </a:extLst>
          </p:cNvPr>
          <p:cNvGrpSpPr/>
          <p:nvPr/>
        </p:nvGrpSpPr>
        <p:grpSpPr>
          <a:xfrm>
            <a:off x="5176441" y="4012732"/>
            <a:ext cx="1483742" cy="1238301"/>
            <a:chOff x="5176441" y="4012732"/>
            <a:chExt cx="1483742" cy="1238301"/>
          </a:xfrm>
        </p:grpSpPr>
        <p:grpSp>
          <p:nvGrpSpPr>
            <p:cNvPr id="28" name="Group 27">
              <a:extLst>
                <a:ext uri="{FF2B5EF4-FFF2-40B4-BE49-F238E27FC236}">
                  <a16:creationId xmlns:a16="http://schemas.microsoft.com/office/drawing/2014/main" id="{3C9867A2-20FF-DED3-3E6F-65C8EE76EA2D}"/>
                </a:ext>
              </a:extLst>
            </p:cNvPr>
            <p:cNvGrpSpPr/>
            <p:nvPr/>
          </p:nvGrpSpPr>
          <p:grpSpPr>
            <a:xfrm>
              <a:off x="5176441" y="4012732"/>
              <a:ext cx="1483742" cy="1238301"/>
              <a:chOff x="5176441" y="4012732"/>
              <a:chExt cx="1483742" cy="1238301"/>
            </a:xfrm>
          </p:grpSpPr>
          <p:cxnSp>
            <p:nvCxnSpPr>
              <p:cNvPr id="38" name="Straight Arrow Connector 37">
                <a:extLst>
                  <a:ext uri="{FF2B5EF4-FFF2-40B4-BE49-F238E27FC236}">
                    <a16:creationId xmlns:a16="http://schemas.microsoft.com/office/drawing/2014/main" id="{A2A348A2-3986-A827-16E5-01D3B562FB81}"/>
                  </a:ext>
                </a:extLst>
              </p:cNvPr>
              <p:cNvCxnSpPr>
                <a:cxnSpLocks/>
              </p:cNvCxnSpPr>
              <p:nvPr/>
            </p:nvCxnSpPr>
            <p:spPr>
              <a:xfrm flipV="1">
                <a:off x="5524692" y="4012732"/>
                <a:ext cx="0" cy="7944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53">
                <a:extLst>
                  <a:ext uri="{FF2B5EF4-FFF2-40B4-BE49-F238E27FC236}">
                    <a16:creationId xmlns:a16="http://schemas.microsoft.com/office/drawing/2014/main" id="{248B1541-8992-417B-7ECE-68A4848FA8D7}"/>
                  </a:ext>
                </a:extLst>
              </p:cNvPr>
              <p:cNvSpPr>
                <a:spLocks noChangeArrowheads="1"/>
              </p:cNvSpPr>
              <p:nvPr/>
            </p:nvSpPr>
            <p:spPr bwMode="auto">
              <a:xfrm>
                <a:off x="5176441" y="4836695"/>
                <a:ext cx="685800" cy="414338"/>
              </a:xfrm>
              <a:prstGeom prst="rect">
                <a:avLst/>
              </a:prstGeom>
              <a:solidFill>
                <a:schemeClr val="bg1"/>
              </a:solidFill>
              <a:ln w="9525">
                <a:solidFill>
                  <a:schemeClr val="tx1"/>
                </a:solidFill>
                <a:miter lim="800000"/>
                <a:headEnd/>
                <a:tailEnd/>
              </a:ln>
            </p:spPr>
            <p:txBody>
              <a:bodyPr wrap="none" anchor="ctr">
                <a:prstTxWarp prst="textNoShape">
                  <a:avLst/>
                </a:prstTxWarp>
              </a:bodyPr>
              <a:lstStyle/>
              <a:p>
                <a:endParaRPr lang="en-US" b="0"/>
              </a:p>
            </p:txBody>
          </p:sp>
          <p:sp>
            <p:nvSpPr>
              <p:cNvPr id="64" name="TextBox 63">
                <a:extLst>
                  <a:ext uri="{FF2B5EF4-FFF2-40B4-BE49-F238E27FC236}">
                    <a16:creationId xmlns:a16="http://schemas.microsoft.com/office/drawing/2014/main" id="{B94A45A0-B6CF-D717-1EB4-4A5A560757CF}"/>
                  </a:ext>
                </a:extLst>
              </p:cNvPr>
              <p:cNvSpPr txBox="1"/>
              <p:nvPr/>
            </p:nvSpPr>
            <p:spPr>
              <a:xfrm>
                <a:off x="6026676" y="4878064"/>
                <a:ext cx="633507"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Bias</a:t>
                </a:r>
              </a:p>
            </p:txBody>
          </p:sp>
        </p:grpSp>
        <p:sp>
          <p:nvSpPr>
            <p:cNvPr id="43" name="Text Box 71">
              <a:extLst>
                <a:ext uri="{FF2B5EF4-FFF2-40B4-BE49-F238E27FC236}">
                  <a16:creationId xmlns:a16="http://schemas.microsoft.com/office/drawing/2014/main" id="{B1B3FEDE-5954-B2CC-2563-08FC0AA14087}"/>
                </a:ext>
              </a:extLst>
            </p:cNvPr>
            <p:cNvSpPr txBox="1">
              <a:spLocks noChangeArrowheads="1"/>
            </p:cNvSpPr>
            <p:nvPr/>
          </p:nvSpPr>
          <p:spPr bwMode="auto">
            <a:xfrm>
              <a:off x="5302522" y="4859198"/>
              <a:ext cx="425450" cy="369332"/>
            </a:xfrm>
            <a:prstGeom prst="rect">
              <a:avLst/>
            </a:prstGeom>
            <a:solidFill>
              <a:schemeClr val="bg1"/>
            </a:solidFill>
            <a:ln w="9525">
              <a:noFill/>
              <a:miter lim="800000"/>
              <a:headEnd/>
              <a:tailEnd/>
            </a:ln>
          </p:spPr>
          <p:txBody>
            <a:bodyPr wrap="square">
              <a:prstTxWarp prst="textNoShape">
                <a:avLst/>
              </a:prstTxWarp>
              <a:spAutoFit/>
            </a:bodyPr>
            <a:lstStyle/>
            <a:p>
              <a:r>
                <a:rPr lang="en-US" b="0" i="1" dirty="0"/>
                <a:t>w</a:t>
              </a:r>
              <a:r>
                <a:rPr lang="en-US" i="1" baseline="-25000" dirty="0"/>
                <a:t>0</a:t>
              </a:r>
              <a:endParaRPr lang="en-US" b="0" dirty="0"/>
            </a:p>
          </p:txBody>
        </p:sp>
      </p:grpSp>
      <p:grpSp>
        <p:nvGrpSpPr>
          <p:cNvPr id="35" name="Group 34">
            <a:extLst>
              <a:ext uri="{FF2B5EF4-FFF2-40B4-BE49-F238E27FC236}">
                <a16:creationId xmlns:a16="http://schemas.microsoft.com/office/drawing/2014/main" id="{13D8DDC6-C088-6610-C6AD-3FEB7DC258F9}"/>
              </a:ext>
            </a:extLst>
          </p:cNvPr>
          <p:cNvGrpSpPr/>
          <p:nvPr/>
        </p:nvGrpSpPr>
        <p:grpSpPr>
          <a:xfrm>
            <a:off x="5885667" y="1881704"/>
            <a:ext cx="2116943" cy="2093255"/>
            <a:chOff x="5885667" y="1881704"/>
            <a:chExt cx="2116943" cy="2093255"/>
          </a:xfrm>
        </p:grpSpPr>
        <p:grpSp>
          <p:nvGrpSpPr>
            <p:cNvPr id="31" name="Group 30">
              <a:extLst>
                <a:ext uri="{FF2B5EF4-FFF2-40B4-BE49-F238E27FC236}">
                  <a16:creationId xmlns:a16="http://schemas.microsoft.com/office/drawing/2014/main" id="{6B8D3471-2471-4994-64F1-0C5C180E8FB9}"/>
                </a:ext>
              </a:extLst>
            </p:cNvPr>
            <p:cNvGrpSpPr/>
            <p:nvPr/>
          </p:nvGrpSpPr>
          <p:grpSpPr>
            <a:xfrm>
              <a:off x="5885667" y="1881704"/>
              <a:ext cx="2116943" cy="2093255"/>
              <a:chOff x="5885667" y="1881704"/>
              <a:chExt cx="2116943" cy="2093255"/>
            </a:xfrm>
          </p:grpSpPr>
          <p:sp>
            <p:nvSpPr>
              <p:cNvPr id="27" name="Line 80">
                <a:extLst>
                  <a:ext uri="{FF2B5EF4-FFF2-40B4-BE49-F238E27FC236}">
                    <a16:creationId xmlns:a16="http://schemas.microsoft.com/office/drawing/2014/main" id="{714F6E26-C90D-1825-8D2E-D6A59645A645}"/>
                  </a:ext>
                </a:extLst>
              </p:cNvPr>
              <p:cNvSpPr>
                <a:spLocks noChangeShapeType="1"/>
              </p:cNvSpPr>
              <p:nvPr/>
            </p:nvSpPr>
            <p:spPr bwMode="auto">
              <a:xfrm>
                <a:off x="6014641" y="3482036"/>
                <a:ext cx="457200" cy="0"/>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sp>
            <p:nvSpPr>
              <p:cNvPr id="34" name="Oval 52">
                <a:extLst>
                  <a:ext uri="{FF2B5EF4-FFF2-40B4-BE49-F238E27FC236}">
                    <a16:creationId xmlns:a16="http://schemas.microsoft.com/office/drawing/2014/main" id="{8EE64B5C-7902-E172-D4D7-E64192EB5A49}"/>
                  </a:ext>
                </a:extLst>
              </p:cNvPr>
              <p:cNvSpPr>
                <a:spLocks noChangeArrowheads="1"/>
              </p:cNvSpPr>
              <p:nvPr/>
            </p:nvSpPr>
            <p:spPr bwMode="auto">
              <a:xfrm>
                <a:off x="6540522" y="2984359"/>
                <a:ext cx="990600" cy="990600"/>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45" name="Line 80">
                <a:extLst>
                  <a:ext uri="{FF2B5EF4-FFF2-40B4-BE49-F238E27FC236}">
                    <a16:creationId xmlns:a16="http://schemas.microsoft.com/office/drawing/2014/main" id="{0354089E-37EA-DBC3-40C8-55333EAB8D4F}"/>
                  </a:ext>
                </a:extLst>
              </p:cNvPr>
              <p:cNvSpPr>
                <a:spLocks noChangeShapeType="1"/>
              </p:cNvSpPr>
              <p:nvPr/>
            </p:nvSpPr>
            <p:spPr bwMode="auto">
              <a:xfrm>
                <a:off x="7545410" y="3490036"/>
                <a:ext cx="457200" cy="0"/>
              </a:xfrm>
              <a:prstGeom prst="line">
                <a:avLst/>
              </a:prstGeom>
              <a:noFill/>
              <a:ln w="9525">
                <a:solidFill>
                  <a:schemeClr val="tx1"/>
                </a:solidFill>
                <a:round/>
                <a:headEnd/>
                <a:tailEnd type="triangle" w="med" len="med"/>
              </a:ln>
            </p:spPr>
            <p:txBody>
              <a:bodyPr wrap="none">
                <a:prstTxWarp prst="textNoShape">
                  <a:avLst/>
                </a:prstTxWarp>
              </a:bodyPr>
              <a:lstStyle/>
              <a:p>
                <a:endParaRPr lang="en-US"/>
              </a:p>
            </p:txBody>
          </p:sp>
          <p:sp>
            <p:nvSpPr>
              <p:cNvPr id="66" name="TextBox 65">
                <a:extLst>
                  <a:ext uri="{FF2B5EF4-FFF2-40B4-BE49-F238E27FC236}">
                    <a16:creationId xmlns:a16="http://schemas.microsoft.com/office/drawing/2014/main" id="{53FA8C34-EE11-E175-90EF-7B1EF8881466}"/>
                  </a:ext>
                </a:extLst>
              </p:cNvPr>
              <p:cNvSpPr txBox="1"/>
              <p:nvPr/>
            </p:nvSpPr>
            <p:spPr>
              <a:xfrm>
                <a:off x="5885667" y="1881704"/>
                <a:ext cx="2031325" cy="646331"/>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Non-linear</a:t>
                </a:r>
              </a:p>
              <a:p>
                <a:pPr algn="ctr"/>
                <a:r>
                  <a:rPr lang="en-US" dirty="0">
                    <a:latin typeface="Arial" panose="020B0604020202020204" pitchFamily="34" charset="0"/>
                    <a:cs typeface="Arial" panose="020B0604020202020204" pitchFamily="34" charset="0"/>
                  </a:rPr>
                  <a:t>activation function</a:t>
                </a:r>
              </a:p>
            </p:txBody>
          </p:sp>
        </p:grpSp>
        <mc:AlternateContent xmlns:mc="http://schemas.openxmlformats.org/markup-compatibility/2006" xmlns:a14="http://schemas.microsoft.com/office/drawing/2010/main">
          <mc:Choice Requires="a14">
            <p:sp>
              <p:nvSpPr>
                <p:cNvPr id="44" name="Text Box 77">
                  <a:extLst>
                    <a:ext uri="{FF2B5EF4-FFF2-40B4-BE49-F238E27FC236}">
                      <a16:creationId xmlns:a16="http://schemas.microsoft.com/office/drawing/2014/main" id="{6D64EC7E-B1A2-AE93-0657-38D310D5CD66}"/>
                    </a:ext>
                  </a:extLst>
                </p:cNvPr>
                <p:cNvSpPr txBox="1">
                  <a:spLocks noChangeArrowheads="1"/>
                </p:cNvSpPr>
                <p:nvPr/>
              </p:nvSpPr>
              <p:spPr bwMode="auto">
                <a:xfrm>
                  <a:off x="6852841" y="3297886"/>
                  <a:ext cx="425450" cy="369332"/>
                </a:xfrm>
                <a:prstGeom prst="rect">
                  <a:avLst/>
                </a:prstGeom>
                <a:solidFill>
                  <a:schemeClr val="bg1"/>
                </a:solidFill>
                <a:ln w="9525">
                  <a:noFill/>
                  <a:miter lim="800000"/>
                  <a:headEnd/>
                  <a:tailEnd/>
                </a:ln>
              </p:spPr>
              <p:txBody>
                <a:bodyPr>
                  <a:prstTxWarp prst="textNoShape">
                    <a:avLst/>
                  </a:prstTxWarp>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oMath>
                    </m:oMathPara>
                  </a14:m>
                  <a:endParaRPr lang="en-US" b="0" dirty="0"/>
                </a:p>
              </p:txBody>
            </p:sp>
          </mc:Choice>
          <mc:Fallback xmlns="">
            <p:sp>
              <p:nvSpPr>
                <p:cNvPr id="44" name="Text Box 77">
                  <a:extLst>
                    <a:ext uri="{FF2B5EF4-FFF2-40B4-BE49-F238E27FC236}">
                      <a16:creationId xmlns:a16="http://schemas.microsoft.com/office/drawing/2014/main" id="{6D64EC7E-B1A2-AE93-0657-38D310D5CD66}"/>
                    </a:ext>
                  </a:extLst>
                </p:cNvPr>
                <p:cNvSpPr txBox="1">
                  <a:spLocks noRot="1" noChangeAspect="1" noMove="1" noResize="1" noEditPoints="1" noAdjustHandles="1" noChangeArrowheads="1" noChangeShapeType="1" noTextEdit="1"/>
                </p:cNvSpPr>
                <p:nvPr/>
              </p:nvSpPr>
              <p:spPr bwMode="auto">
                <a:xfrm>
                  <a:off x="6852841" y="3297886"/>
                  <a:ext cx="425450" cy="369332"/>
                </a:xfrm>
                <a:prstGeom prst="rect">
                  <a:avLst/>
                </a:prstGeom>
                <a:blipFill>
                  <a:blip r:embed="rId6"/>
                  <a:stretch>
                    <a:fillRect b="-6667"/>
                  </a:stretch>
                </a:blipFill>
                <a:ln w="9525">
                  <a:noFill/>
                  <a:miter lim="800000"/>
                  <a:headEnd/>
                  <a:tailEnd/>
                </a:ln>
              </p:spPr>
              <p:txBody>
                <a:bodyPr/>
                <a:lstStyle/>
                <a:p>
                  <a:r>
                    <a:rPr lang="en-US">
                      <a:noFill/>
                    </a:rPr>
                    <a:t> </a:t>
                  </a:r>
                </a:p>
              </p:txBody>
            </p:sp>
          </mc:Fallback>
        </mc:AlternateContent>
      </p:grpSp>
      <p:sp>
        <p:nvSpPr>
          <p:cNvPr id="2" name="Slide Number Placeholder 1">
            <a:extLst>
              <a:ext uri="{FF2B5EF4-FFF2-40B4-BE49-F238E27FC236}">
                <a16:creationId xmlns:a16="http://schemas.microsoft.com/office/drawing/2014/main" id="{60A2EDCB-F3BC-A5A3-4F54-7B2823E53B9C}"/>
              </a:ext>
            </a:extLst>
          </p:cNvPr>
          <p:cNvSpPr>
            <a:spLocks noGrp="1"/>
          </p:cNvSpPr>
          <p:nvPr>
            <p:ph type="sldNum" sz="quarter" idx="12"/>
          </p:nvPr>
        </p:nvSpPr>
        <p:spPr/>
        <p:txBody>
          <a:bodyPr/>
          <a:lstStyle/>
          <a:p>
            <a:fld id="{B3533053-B928-004D-A0E8-A0A092123CEE}" type="slidenum">
              <a:rPr lang="en-US" smtClean="0"/>
              <a:t>30</a:t>
            </a:fld>
            <a:endParaRPr lang="en-US"/>
          </a:p>
        </p:txBody>
      </p:sp>
    </p:spTree>
    <p:extLst>
      <p:ext uri="{BB962C8B-B14F-4D97-AF65-F5344CB8AC3E}">
        <p14:creationId xmlns:p14="http://schemas.microsoft.com/office/powerpoint/2010/main" val="2447022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6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xample of linear and nonlinear data: green points are a cluster and the blue ones are another. Linear data can be separated by a line while non linear data can not.">
            <a:extLst>
              <a:ext uri="{FF2B5EF4-FFF2-40B4-BE49-F238E27FC236}">
                <a16:creationId xmlns:a16="http://schemas.microsoft.com/office/drawing/2014/main" id="{EB2D660E-D1BB-C939-F489-F89F7085D9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2833" y="3952094"/>
            <a:ext cx="2303706" cy="173681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CD13EDA-B0C0-79CB-E166-17D120EE7771}"/>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More on activation functions</a:t>
            </a:r>
          </a:p>
        </p:txBody>
      </p:sp>
      <p:sp>
        <p:nvSpPr>
          <p:cNvPr id="3" name="TextBox 2">
            <a:extLst>
              <a:ext uri="{FF2B5EF4-FFF2-40B4-BE49-F238E27FC236}">
                <a16:creationId xmlns:a16="http://schemas.microsoft.com/office/drawing/2014/main" id="{C7AD824C-9304-FDA0-5C74-4C1196830DE0}"/>
              </a:ext>
            </a:extLst>
          </p:cNvPr>
          <p:cNvSpPr txBox="1"/>
          <p:nvPr/>
        </p:nvSpPr>
        <p:spPr>
          <a:xfrm>
            <a:off x="838200" y="1506022"/>
            <a:ext cx="3536301" cy="1569660"/>
          </a:xfrm>
          <a:prstGeom prst="rect">
            <a:avLst/>
          </a:prstGeom>
          <a:noFill/>
        </p:spPr>
        <p:txBody>
          <a:bodyPr wrap="square" rtlCol="0">
            <a:spAutoFit/>
          </a:bodyPr>
          <a:lstStyle/>
          <a:p>
            <a:pPr marL="457200" indent="-457200">
              <a:buAutoNum type="arabicPeriod"/>
            </a:pPr>
            <a:r>
              <a:rPr lang="en-US" sz="2400" dirty="0">
                <a:latin typeface="Arial" panose="020B0604020202020204" pitchFamily="34" charset="0"/>
                <a:cs typeface="Arial" panose="020B0604020202020204" pitchFamily="34" charset="0"/>
              </a:rPr>
              <a:t>It is important to introduce non-linearity when analyze data</a:t>
            </a:r>
          </a:p>
        </p:txBody>
      </p:sp>
      <p:sp>
        <p:nvSpPr>
          <p:cNvPr id="6" name="Slide Number Placeholder 5">
            <a:extLst>
              <a:ext uri="{FF2B5EF4-FFF2-40B4-BE49-F238E27FC236}">
                <a16:creationId xmlns:a16="http://schemas.microsoft.com/office/drawing/2014/main" id="{45C927F3-8722-60FA-FAA1-526394104C19}"/>
              </a:ext>
            </a:extLst>
          </p:cNvPr>
          <p:cNvSpPr>
            <a:spLocks noGrp="1"/>
          </p:cNvSpPr>
          <p:nvPr>
            <p:ph type="sldNum" sz="quarter" idx="12"/>
          </p:nvPr>
        </p:nvSpPr>
        <p:spPr/>
        <p:txBody>
          <a:bodyPr/>
          <a:lstStyle/>
          <a:p>
            <a:fld id="{B3533053-B928-004D-A0E8-A0A092123CEE}" type="slidenum">
              <a:rPr lang="en-US" smtClean="0"/>
              <a:t>31</a:t>
            </a:fld>
            <a:endParaRPr lang="en-US"/>
          </a:p>
        </p:txBody>
      </p:sp>
      <p:grpSp>
        <p:nvGrpSpPr>
          <p:cNvPr id="10" name="Group 9">
            <a:extLst>
              <a:ext uri="{FF2B5EF4-FFF2-40B4-BE49-F238E27FC236}">
                <a16:creationId xmlns:a16="http://schemas.microsoft.com/office/drawing/2014/main" id="{EA8B13A8-0E94-E9B5-0AE9-5FE46B4F7EA2}"/>
              </a:ext>
            </a:extLst>
          </p:cNvPr>
          <p:cNvGrpSpPr/>
          <p:nvPr/>
        </p:nvGrpSpPr>
        <p:grpSpPr>
          <a:xfrm>
            <a:off x="4143124" y="1533764"/>
            <a:ext cx="8329859" cy="4137272"/>
            <a:chOff x="4143124" y="1533764"/>
            <a:chExt cx="8329859" cy="4137272"/>
          </a:xfrm>
        </p:grpSpPr>
        <p:sp>
          <p:nvSpPr>
            <p:cNvPr id="4" name="TextBox 3">
              <a:extLst>
                <a:ext uri="{FF2B5EF4-FFF2-40B4-BE49-F238E27FC236}">
                  <a16:creationId xmlns:a16="http://schemas.microsoft.com/office/drawing/2014/main" id="{0BDC56B8-9F3F-C026-6824-D1CAC0A05A1F}"/>
                </a:ext>
              </a:extLst>
            </p:cNvPr>
            <p:cNvSpPr txBox="1"/>
            <p:nvPr/>
          </p:nvSpPr>
          <p:spPr>
            <a:xfrm>
              <a:off x="4143124" y="1533764"/>
              <a:ext cx="7926956" cy="470429"/>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2. Common activation functions</a:t>
              </a:r>
              <a:r>
                <a:rPr lang="zh-CN" altLang="en-US" sz="2400"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to introduce </a:t>
              </a:r>
              <a:r>
                <a:rPr lang="en-US" sz="2400" dirty="0">
                  <a:latin typeface="Arial" panose="020B0604020202020204" pitchFamily="34" charset="0"/>
                  <a:cs typeface="Arial" panose="020B0604020202020204" pitchFamily="34" charset="0"/>
                </a:rPr>
                <a:t>non-linearity</a:t>
              </a:r>
            </a:p>
          </p:txBody>
        </p:sp>
        <p:grpSp>
          <p:nvGrpSpPr>
            <p:cNvPr id="22" name="Group 21">
              <a:extLst>
                <a:ext uri="{FF2B5EF4-FFF2-40B4-BE49-F238E27FC236}">
                  <a16:creationId xmlns:a16="http://schemas.microsoft.com/office/drawing/2014/main" id="{E4A73DCF-1FE3-5BCD-47F9-7A85B9358210}"/>
                </a:ext>
              </a:extLst>
            </p:cNvPr>
            <p:cNvGrpSpPr/>
            <p:nvPr/>
          </p:nvGrpSpPr>
          <p:grpSpPr>
            <a:xfrm>
              <a:off x="4516313" y="5355647"/>
              <a:ext cx="1878205" cy="315381"/>
              <a:chOff x="1455071" y="6368526"/>
              <a:chExt cx="2493626" cy="309506"/>
            </a:xfrm>
          </p:grpSpPr>
          <p:sp>
            <p:nvSpPr>
              <p:cNvPr id="14" name="Rectangle 13">
                <a:extLst>
                  <a:ext uri="{FF2B5EF4-FFF2-40B4-BE49-F238E27FC236}">
                    <a16:creationId xmlns:a16="http://schemas.microsoft.com/office/drawing/2014/main" id="{785340A0-8AC8-1850-61B9-5ACD373B22F0}"/>
                  </a:ext>
                </a:extLst>
              </p:cNvPr>
              <p:cNvSpPr/>
              <p:nvPr/>
            </p:nvSpPr>
            <p:spPr>
              <a:xfrm>
                <a:off x="1661565" y="6376818"/>
                <a:ext cx="2287132" cy="3012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0" i="0" dirty="0" err="1">
                    <a:solidFill>
                      <a:srgbClr val="FFFFFF"/>
                    </a:solidFill>
                    <a:effectLst/>
                    <a:latin typeface="Söhne Mono"/>
                  </a:rPr>
                  <a:t>torch.sigmoid</a:t>
                </a:r>
                <a:r>
                  <a:rPr lang="en-US" b="0" i="0" dirty="0">
                    <a:solidFill>
                      <a:srgbClr val="FFFFFF"/>
                    </a:solidFill>
                    <a:effectLst/>
                    <a:latin typeface="Söhne Mono"/>
                  </a:rPr>
                  <a:t>(x)</a:t>
                </a:r>
                <a:endParaRPr lang="en-US" dirty="0"/>
              </a:p>
            </p:txBody>
          </p:sp>
          <p:pic>
            <p:nvPicPr>
              <p:cNvPr id="17" name="Picture 16">
                <a:extLst>
                  <a:ext uri="{FF2B5EF4-FFF2-40B4-BE49-F238E27FC236}">
                    <a16:creationId xmlns:a16="http://schemas.microsoft.com/office/drawing/2014/main" id="{2C9A043F-7A74-420D-B280-3F4E80ECF65B}"/>
                  </a:ext>
                </a:extLst>
              </p:cNvPr>
              <p:cNvPicPr>
                <a:picLocks noChangeAspect="1"/>
              </p:cNvPicPr>
              <p:nvPr/>
            </p:nvPicPr>
            <p:blipFill>
              <a:blip r:embed="rId4"/>
              <a:stretch>
                <a:fillRect/>
              </a:stretch>
            </p:blipFill>
            <p:spPr>
              <a:xfrm>
                <a:off x="1455071" y="6368526"/>
                <a:ext cx="270260" cy="301214"/>
              </a:xfrm>
              <a:prstGeom prst="rect">
                <a:avLst/>
              </a:prstGeom>
            </p:spPr>
          </p:pic>
        </p:grpSp>
        <p:grpSp>
          <p:nvGrpSpPr>
            <p:cNvPr id="23" name="Group 22">
              <a:extLst>
                <a:ext uri="{FF2B5EF4-FFF2-40B4-BE49-F238E27FC236}">
                  <a16:creationId xmlns:a16="http://schemas.microsoft.com/office/drawing/2014/main" id="{17C556F1-0EE7-D3CE-F8B1-7D75FDC58DC2}"/>
                </a:ext>
              </a:extLst>
            </p:cNvPr>
            <p:cNvGrpSpPr/>
            <p:nvPr/>
          </p:nvGrpSpPr>
          <p:grpSpPr>
            <a:xfrm>
              <a:off x="7259905" y="5364104"/>
              <a:ext cx="1730775" cy="306932"/>
              <a:chOff x="4413425" y="6368526"/>
              <a:chExt cx="2297889" cy="301214"/>
            </a:xfrm>
          </p:grpSpPr>
          <p:sp>
            <p:nvSpPr>
              <p:cNvPr id="18" name="Rectangle 17">
                <a:extLst>
                  <a:ext uri="{FF2B5EF4-FFF2-40B4-BE49-F238E27FC236}">
                    <a16:creationId xmlns:a16="http://schemas.microsoft.com/office/drawing/2014/main" id="{54B17364-3988-52D5-70E4-1F2AF232FB1C}"/>
                  </a:ext>
                </a:extLst>
              </p:cNvPr>
              <p:cNvSpPr/>
              <p:nvPr/>
            </p:nvSpPr>
            <p:spPr>
              <a:xfrm>
                <a:off x="4424182" y="6368526"/>
                <a:ext cx="2287132" cy="3012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solidFill>
                      <a:srgbClr val="FFFFFF"/>
                    </a:solidFill>
                    <a:latin typeface="Söhne Mono"/>
                  </a:rPr>
                  <a:t>t</a:t>
                </a:r>
                <a:r>
                  <a:rPr lang="en-US" b="0" i="0" dirty="0" err="1">
                    <a:solidFill>
                      <a:srgbClr val="FFFFFF"/>
                    </a:solidFill>
                    <a:effectLst/>
                    <a:latin typeface="Söhne Mono"/>
                  </a:rPr>
                  <a:t>orch</a:t>
                </a:r>
                <a:r>
                  <a:rPr lang="en-US" dirty="0" err="1">
                    <a:solidFill>
                      <a:srgbClr val="FFFFFF"/>
                    </a:solidFill>
                    <a:latin typeface="Söhne Mono"/>
                  </a:rPr>
                  <a:t>.tanh</a:t>
                </a:r>
                <a:r>
                  <a:rPr lang="en-US" b="0" i="0" dirty="0">
                    <a:solidFill>
                      <a:srgbClr val="FFFFFF"/>
                    </a:solidFill>
                    <a:effectLst/>
                    <a:latin typeface="Söhne Mono"/>
                  </a:rPr>
                  <a:t>(x)</a:t>
                </a:r>
                <a:endParaRPr lang="en-US" dirty="0"/>
              </a:p>
            </p:txBody>
          </p:sp>
          <p:pic>
            <p:nvPicPr>
              <p:cNvPr id="19" name="Picture 18">
                <a:extLst>
                  <a:ext uri="{FF2B5EF4-FFF2-40B4-BE49-F238E27FC236}">
                    <a16:creationId xmlns:a16="http://schemas.microsoft.com/office/drawing/2014/main" id="{0DC5D84F-6AA8-025D-0CA6-430F0ACAA147}"/>
                  </a:ext>
                </a:extLst>
              </p:cNvPr>
              <p:cNvPicPr>
                <a:picLocks noChangeAspect="1"/>
              </p:cNvPicPr>
              <p:nvPr/>
            </p:nvPicPr>
            <p:blipFill>
              <a:blip r:embed="rId4"/>
              <a:stretch>
                <a:fillRect/>
              </a:stretch>
            </p:blipFill>
            <p:spPr>
              <a:xfrm>
                <a:off x="4413425" y="6368526"/>
                <a:ext cx="270260" cy="301214"/>
              </a:xfrm>
              <a:prstGeom prst="rect">
                <a:avLst/>
              </a:prstGeom>
            </p:spPr>
          </p:pic>
        </p:grpSp>
        <p:grpSp>
          <p:nvGrpSpPr>
            <p:cNvPr id="24" name="Group 23">
              <a:extLst>
                <a:ext uri="{FF2B5EF4-FFF2-40B4-BE49-F238E27FC236}">
                  <a16:creationId xmlns:a16="http://schemas.microsoft.com/office/drawing/2014/main" id="{63B7A754-3624-E1A3-0594-E7C5AFBE3B38}"/>
                </a:ext>
              </a:extLst>
            </p:cNvPr>
            <p:cNvGrpSpPr/>
            <p:nvPr/>
          </p:nvGrpSpPr>
          <p:grpSpPr>
            <a:xfrm>
              <a:off x="9898950" y="5351973"/>
              <a:ext cx="1730776" cy="306936"/>
              <a:chOff x="7195994" y="6369489"/>
              <a:chExt cx="2297890" cy="301218"/>
            </a:xfrm>
          </p:grpSpPr>
          <p:sp>
            <p:nvSpPr>
              <p:cNvPr id="20" name="Rectangle 19">
                <a:extLst>
                  <a:ext uri="{FF2B5EF4-FFF2-40B4-BE49-F238E27FC236}">
                    <a16:creationId xmlns:a16="http://schemas.microsoft.com/office/drawing/2014/main" id="{F53463FC-24C3-9344-8D8D-6FCB3BFA8183}"/>
                  </a:ext>
                </a:extLst>
              </p:cNvPr>
              <p:cNvSpPr/>
              <p:nvPr/>
            </p:nvSpPr>
            <p:spPr>
              <a:xfrm>
                <a:off x="7206752" y="6369489"/>
                <a:ext cx="2287132" cy="3012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0" i="0" dirty="0" err="1">
                    <a:solidFill>
                      <a:srgbClr val="FFFFFF"/>
                    </a:solidFill>
                    <a:effectLst/>
                    <a:latin typeface="Söhne Mono"/>
                  </a:rPr>
                  <a:t>torch.</a:t>
                </a:r>
                <a:r>
                  <a:rPr lang="en-US" dirty="0" err="1">
                    <a:solidFill>
                      <a:srgbClr val="FFFFFF"/>
                    </a:solidFill>
                    <a:latin typeface="Söhne Mono"/>
                  </a:rPr>
                  <a:t>relu</a:t>
                </a:r>
                <a:r>
                  <a:rPr lang="en-US" b="0" i="0" dirty="0">
                    <a:solidFill>
                      <a:srgbClr val="FFFFFF"/>
                    </a:solidFill>
                    <a:effectLst/>
                    <a:latin typeface="Söhne Mono"/>
                  </a:rPr>
                  <a:t>(x)</a:t>
                </a:r>
                <a:endParaRPr lang="en-US" dirty="0"/>
              </a:p>
            </p:txBody>
          </p:sp>
          <p:pic>
            <p:nvPicPr>
              <p:cNvPr id="21" name="Picture 20">
                <a:extLst>
                  <a:ext uri="{FF2B5EF4-FFF2-40B4-BE49-F238E27FC236}">
                    <a16:creationId xmlns:a16="http://schemas.microsoft.com/office/drawing/2014/main" id="{D06BF82E-1118-7300-9270-D6DC463357A7}"/>
                  </a:ext>
                </a:extLst>
              </p:cNvPr>
              <p:cNvPicPr>
                <a:picLocks noChangeAspect="1"/>
              </p:cNvPicPr>
              <p:nvPr/>
            </p:nvPicPr>
            <p:blipFill>
              <a:blip r:embed="rId4"/>
              <a:stretch>
                <a:fillRect/>
              </a:stretch>
            </p:blipFill>
            <p:spPr>
              <a:xfrm>
                <a:off x="7195994" y="6369493"/>
                <a:ext cx="270259" cy="301214"/>
              </a:xfrm>
              <a:prstGeom prst="rect">
                <a:avLst/>
              </a:prstGeom>
            </p:spPr>
          </p:pic>
        </p:grpSp>
        <p:pic>
          <p:nvPicPr>
            <p:cNvPr id="9" name="Picture 8">
              <a:extLst>
                <a:ext uri="{FF2B5EF4-FFF2-40B4-BE49-F238E27FC236}">
                  <a16:creationId xmlns:a16="http://schemas.microsoft.com/office/drawing/2014/main" id="{BE38A3DF-8ABA-147C-8C91-44BBC7D7075A}"/>
                </a:ext>
              </a:extLst>
            </p:cNvPr>
            <p:cNvPicPr>
              <a:picLocks noChangeAspect="1"/>
            </p:cNvPicPr>
            <p:nvPr/>
          </p:nvPicPr>
          <p:blipFill>
            <a:blip r:embed="rId5"/>
            <a:stretch>
              <a:fillRect/>
            </a:stretch>
          </p:blipFill>
          <p:spPr>
            <a:xfrm>
              <a:off x="4143124" y="2169785"/>
              <a:ext cx="8329859" cy="3182193"/>
            </a:xfrm>
            <a:prstGeom prst="rect">
              <a:avLst/>
            </a:prstGeom>
          </p:spPr>
        </p:pic>
      </p:grpSp>
    </p:spTree>
    <p:extLst>
      <p:ext uri="{BB962C8B-B14F-4D97-AF65-F5344CB8AC3E}">
        <p14:creationId xmlns:p14="http://schemas.microsoft.com/office/powerpoint/2010/main" val="589214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val 52">
            <a:extLst>
              <a:ext uri="{FF2B5EF4-FFF2-40B4-BE49-F238E27FC236}">
                <a16:creationId xmlns:a16="http://schemas.microsoft.com/office/drawing/2014/main" id="{995FB47A-1174-EAEF-FAE9-8E511F05BF5C}"/>
              </a:ext>
            </a:extLst>
          </p:cNvPr>
          <p:cNvSpPr>
            <a:spLocks noChangeArrowheads="1"/>
          </p:cNvSpPr>
          <p:nvPr/>
        </p:nvSpPr>
        <p:spPr bwMode="auto">
          <a:xfrm>
            <a:off x="779182" y="4212638"/>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5" name="Title 1">
            <a:extLst>
              <a:ext uri="{FF2B5EF4-FFF2-40B4-BE49-F238E27FC236}">
                <a16:creationId xmlns:a16="http://schemas.microsoft.com/office/drawing/2014/main" id="{6A1963C2-0442-0BFE-B796-93C7E8FF552C}"/>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panose="020B0604020202020204" pitchFamily="34" charset="0"/>
                <a:cs typeface="Arial" panose="020B0604020202020204" pitchFamily="34" charset="0"/>
              </a:rPr>
              <a:t>Multi-output perceptron</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0E46174-92FE-E047-EA5F-D5C2D66E7627}"/>
                  </a:ext>
                </a:extLst>
              </p:cNvPr>
              <p:cNvSpPr txBox="1"/>
              <p:nvPr/>
            </p:nvSpPr>
            <p:spPr>
              <a:xfrm>
                <a:off x="3163270" y="3050743"/>
                <a:ext cx="241935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US" dirty="0"/>
              </a:p>
            </p:txBody>
          </p:sp>
        </mc:Choice>
        <mc:Fallback xmlns="">
          <p:sp>
            <p:nvSpPr>
              <p:cNvPr id="27" name="TextBox 26">
                <a:extLst>
                  <a:ext uri="{FF2B5EF4-FFF2-40B4-BE49-F238E27FC236}">
                    <a16:creationId xmlns:a16="http://schemas.microsoft.com/office/drawing/2014/main" id="{00E46174-92FE-E047-EA5F-D5C2D66E7627}"/>
                  </a:ext>
                </a:extLst>
              </p:cNvPr>
              <p:cNvSpPr txBox="1">
                <a:spLocks noRot="1" noChangeAspect="1" noMove="1" noResize="1" noEditPoints="1" noAdjustHandles="1" noChangeArrowheads="1" noChangeShapeType="1" noTextEdit="1"/>
              </p:cNvSpPr>
              <p:nvPr/>
            </p:nvSpPr>
            <p:spPr>
              <a:xfrm>
                <a:off x="3163270" y="3050743"/>
                <a:ext cx="2419350" cy="276999"/>
              </a:xfrm>
              <a:prstGeom prst="rect">
                <a:avLst/>
              </a:prstGeom>
              <a:blipFill>
                <a:blip r:embed="rId3"/>
                <a:stretch>
                  <a:fillRect t="-4348" b="-30435"/>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9FFEEC51-7A06-66DF-9137-55188F02B1BC}"/>
              </a:ext>
            </a:extLst>
          </p:cNvPr>
          <p:cNvGrpSpPr/>
          <p:nvPr/>
        </p:nvGrpSpPr>
        <p:grpSpPr>
          <a:xfrm>
            <a:off x="784490" y="1813008"/>
            <a:ext cx="4336758" cy="4284251"/>
            <a:chOff x="663719" y="1813008"/>
            <a:chExt cx="4336758" cy="4284251"/>
          </a:xfrm>
        </p:grpSpPr>
        <p:grpSp>
          <p:nvGrpSpPr>
            <p:cNvPr id="2" name="Group 1">
              <a:extLst>
                <a:ext uri="{FF2B5EF4-FFF2-40B4-BE49-F238E27FC236}">
                  <a16:creationId xmlns:a16="http://schemas.microsoft.com/office/drawing/2014/main" id="{FF26AEA6-E0A2-9264-9046-BB69EDA0F9A8}"/>
                </a:ext>
              </a:extLst>
            </p:cNvPr>
            <p:cNvGrpSpPr/>
            <p:nvPr/>
          </p:nvGrpSpPr>
          <p:grpSpPr>
            <a:xfrm>
              <a:off x="663719" y="1813008"/>
              <a:ext cx="4141172" cy="3453254"/>
              <a:chOff x="2944521" y="1987081"/>
              <a:chExt cx="4141172" cy="3453254"/>
            </a:xfrm>
          </p:grpSpPr>
          <p:sp>
            <p:nvSpPr>
              <p:cNvPr id="3" name="Oval 52">
                <a:extLst>
                  <a:ext uri="{FF2B5EF4-FFF2-40B4-BE49-F238E27FC236}">
                    <a16:creationId xmlns:a16="http://schemas.microsoft.com/office/drawing/2014/main" id="{C3E6E6E7-0F93-8866-1519-DBE87DC934BA}"/>
                  </a:ext>
                </a:extLst>
              </p:cNvPr>
              <p:cNvSpPr>
                <a:spLocks noChangeArrowheads="1"/>
              </p:cNvSpPr>
              <p:nvPr/>
            </p:nvSpPr>
            <p:spPr bwMode="auto">
              <a:xfrm>
                <a:off x="2944521" y="1987081"/>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4" name="Oval 52">
                <a:extLst>
                  <a:ext uri="{FF2B5EF4-FFF2-40B4-BE49-F238E27FC236}">
                    <a16:creationId xmlns:a16="http://schemas.microsoft.com/office/drawing/2014/main" id="{12F8787B-728F-51F1-8BAA-6B476ED1727E}"/>
                  </a:ext>
                </a:extLst>
              </p:cNvPr>
              <p:cNvSpPr>
                <a:spLocks noChangeArrowheads="1"/>
              </p:cNvSpPr>
              <p:nvPr/>
            </p:nvSpPr>
            <p:spPr bwMode="auto">
              <a:xfrm>
                <a:off x="2944521" y="3168740"/>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6" name="Line 56">
                <a:extLst>
                  <a:ext uri="{FF2B5EF4-FFF2-40B4-BE49-F238E27FC236}">
                    <a16:creationId xmlns:a16="http://schemas.microsoft.com/office/drawing/2014/main" id="{C17D4A6A-F49E-2F79-6F93-C9E6F7D65CBC}"/>
                  </a:ext>
                </a:extLst>
              </p:cNvPr>
              <p:cNvSpPr>
                <a:spLocks noChangeShapeType="1"/>
              </p:cNvSpPr>
              <p:nvPr/>
            </p:nvSpPr>
            <p:spPr bwMode="auto">
              <a:xfrm>
                <a:off x="3821565" y="2522032"/>
                <a:ext cx="1223163" cy="954107"/>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grpSp>
            <p:nvGrpSpPr>
              <p:cNvPr id="7" name="Group 6">
                <a:extLst>
                  <a:ext uri="{FF2B5EF4-FFF2-40B4-BE49-F238E27FC236}">
                    <a16:creationId xmlns:a16="http://schemas.microsoft.com/office/drawing/2014/main" id="{20E24007-F24D-C047-0069-4460151F82A6}"/>
                  </a:ext>
                </a:extLst>
              </p:cNvPr>
              <p:cNvGrpSpPr/>
              <p:nvPr/>
            </p:nvGrpSpPr>
            <p:grpSpPr>
              <a:xfrm>
                <a:off x="5030360" y="3047155"/>
                <a:ext cx="850106" cy="858368"/>
                <a:chOff x="327897" y="2403942"/>
                <a:chExt cx="850106" cy="858368"/>
              </a:xfrm>
            </p:grpSpPr>
            <p:sp>
              <p:nvSpPr>
                <p:cNvPr id="23" name="Oval 52">
                  <a:extLst>
                    <a:ext uri="{FF2B5EF4-FFF2-40B4-BE49-F238E27FC236}">
                      <a16:creationId xmlns:a16="http://schemas.microsoft.com/office/drawing/2014/main" id="{E098C3C8-2B0E-CC70-19CD-BA0598310830}"/>
                    </a:ext>
                  </a:extLst>
                </p:cNvPr>
                <p:cNvSpPr>
                  <a:spLocks noChangeArrowheads="1"/>
                </p:cNvSpPr>
                <p:nvPr/>
              </p:nvSpPr>
              <p:spPr bwMode="auto">
                <a:xfrm>
                  <a:off x="327897" y="2403942"/>
                  <a:ext cx="850106" cy="858368"/>
                </a:xfrm>
                <a:prstGeom prst="ellipse">
                  <a:avLst/>
                </a:prstGeom>
                <a:solidFill>
                  <a:schemeClr val="accent1">
                    <a:lumMod val="60000"/>
                    <a:lumOff val="40000"/>
                  </a:schemeClr>
                </a:solidFill>
                <a:ln w="9525">
                  <a:solidFill>
                    <a:schemeClr val="tx1"/>
                  </a:solidFill>
                  <a:round/>
                  <a:headEnd/>
                  <a:tailEnd/>
                </a:ln>
              </p:spPr>
              <p:txBody>
                <a:bodyPr wrap="none" anchor="ctr">
                  <a:prstTxWarp prst="textNoShape">
                    <a:avLst/>
                  </a:prstTxWarp>
                </a:bodyPr>
                <a:lstStyle/>
                <a:p>
                  <a:endParaRPr lang="en-US" b="0" dirty="0">
                    <a:highlight>
                      <a:srgbClr val="000080"/>
                    </a:highlight>
                  </a:endParaRPr>
                </a:p>
              </p:txBody>
            </p:sp>
            <mc:AlternateContent xmlns:mc="http://schemas.openxmlformats.org/markup-compatibility/2006" xmlns:a14="http://schemas.microsoft.com/office/drawing/2010/main">
              <mc:Choice Requires="a14">
                <p:sp>
                  <p:nvSpPr>
                    <p:cNvPr id="24" name="Text Box 68">
                      <a:extLst>
                        <a:ext uri="{FF2B5EF4-FFF2-40B4-BE49-F238E27FC236}">
                          <a16:creationId xmlns:a16="http://schemas.microsoft.com/office/drawing/2014/main" id="{148202D8-520A-E888-F49D-BB07FC32304F}"/>
                        </a:ext>
                      </a:extLst>
                    </p:cNvPr>
                    <p:cNvSpPr txBox="1">
                      <a:spLocks noChangeArrowheads="1"/>
                    </p:cNvSpPr>
                    <p:nvPr/>
                  </p:nvSpPr>
                  <p:spPr bwMode="auto">
                    <a:xfrm>
                      <a:off x="503802" y="2540010"/>
                      <a:ext cx="589649" cy="523220"/>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1</m:t>
                                </m:r>
                              </m:sub>
                            </m:sSub>
                          </m:oMath>
                        </m:oMathPara>
                      </a14:m>
                      <a:endParaRPr lang="en-US" sz="2800" b="0" dirty="0"/>
                    </a:p>
                  </p:txBody>
                </p:sp>
              </mc:Choice>
              <mc:Fallback xmlns="">
                <p:sp>
                  <p:nvSpPr>
                    <p:cNvPr id="24" name="Text Box 68">
                      <a:extLst>
                        <a:ext uri="{FF2B5EF4-FFF2-40B4-BE49-F238E27FC236}">
                          <a16:creationId xmlns:a16="http://schemas.microsoft.com/office/drawing/2014/main" id="{148202D8-520A-E888-F49D-BB07FC32304F}"/>
                        </a:ext>
                      </a:extLst>
                    </p:cNvPr>
                    <p:cNvSpPr txBox="1">
                      <a:spLocks noRot="1" noChangeAspect="1" noMove="1" noResize="1" noEditPoints="1" noAdjustHandles="1" noChangeArrowheads="1" noChangeShapeType="1" noTextEdit="1"/>
                    </p:cNvSpPr>
                    <p:nvPr/>
                  </p:nvSpPr>
                  <p:spPr bwMode="auto">
                    <a:xfrm>
                      <a:off x="503802" y="2540010"/>
                      <a:ext cx="589649" cy="523220"/>
                    </a:xfrm>
                    <a:prstGeom prst="rect">
                      <a:avLst/>
                    </a:prstGeom>
                    <a:blipFill>
                      <a:blip r:embed="rId11"/>
                      <a:stretch>
                        <a:fillRect b="-2439"/>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Text Box 68">
                    <a:extLst>
                      <a:ext uri="{FF2B5EF4-FFF2-40B4-BE49-F238E27FC236}">
                        <a16:creationId xmlns:a16="http://schemas.microsoft.com/office/drawing/2014/main" id="{E7CF083F-74D1-E4C7-B8EC-D30E0E3B5060}"/>
                      </a:ext>
                    </a:extLst>
                  </p:cNvPr>
                  <p:cNvSpPr txBox="1">
                    <a:spLocks noChangeArrowheads="1"/>
                  </p:cNvSpPr>
                  <p:nvPr/>
                </p:nvSpPr>
                <p:spPr bwMode="auto">
                  <a:xfrm>
                    <a:off x="3058533" y="2111091"/>
                    <a:ext cx="750462"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oMath>
                      </m:oMathPara>
                    </a14:m>
                    <a:endParaRPr lang="en-US" sz="2800" b="0" dirty="0"/>
                  </a:p>
                  <a:p>
                    <a:endParaRPr lang="en-US" sz="2800" b="0" dirty="0"/>
                  </a:p>
                </p:txBody>
              </p:sp>
            </mc:Choice>
            <mc:Fallback xmlns="">
              <p:sp>
                <p:nvSpPr>
                  <p:cNvPr id="76" name="Text Box 68">
                    <a:extLst>
                      <a:ext uri="{FF2B5EF4-FFF2-40B4-BE49-F238E27FC236}">
                        <a16:creationId xmlns:a16="http://schemas.microsoft.com/office/drawing/2014/main" id="{3F4E46D6-EB89-2C10-8707-20BB0716A217}"/>
                      </a:ext>
                    </a:extLst>
                  </p:cNvPr>
                  <p:cNvSpPr txBox="1">
                    <a:spLocks noRot="1" noChangeAspect="1" noMove="1" noResize="1" noEditPoints="1" noAdjustHandles="1" noChangeArrowheads="1" noChangeShapeType="1" noTextEdit="1"/>
                  </p:cNvSpPr>
                  <p:nvPr/>
                </p:nvSpPr>
                <p:spPr bwMode="auto">
                  <a:xfrm>
                    <a:off x="3058533" y="2111091"/>
                    <a:ext cx="750462" cy="954107"/>
                  </a:xfrm>
                  <a:prstGeom prst="rect">
                    <a:avLst/>
                  </a:prstGeom>
                  <a:blipFill>
                    <a:blip r:embed="rId5"/>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68">
                    <a:extLst>
                      <a:ext uri="{FF2B5EF4-FFF2-40B4-BE49-F238E27FC236}">
                        <a16:creationId xmlns:a16="http://schemas.microsoft.com/office/drawing/2014/main" id="{B329BAD3-499F-56BD-3123-0D421D04441D}"/>
                      </a:ext>
                    </a:extLst>
                  </p:cNvPr>
                  <p:cNvSpPr txBox="1">
                    <a:spLocks noChangeArrowheads="1"/>
                  </p:cNvSpPr>
                  <p:nvPr/>
                </p:nvSpPr>
                <p:spPr bwMode="auto">
                  <a:xfrm>
                    <a:off x="3041434" y="3268915"/>
                    <a:ext cx="742576"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2</m:t>
                              </m:r>
                            </m:sub>
                          </m:sSub>
                        </m:oMath>
                      </m:oMathPara>
                    </a14:m>
                    <a:endParaRPr lang="en-US" sz="2800" b="0" dirty="0"/>
                  </a:p>
                  <a:p>
                    <a:endParaRPr lang="en-US" sz="2800" b="0" dirty="0"/>
                  </a:p>
                </p:txBody>
              </p:sp>
            </mc:Choice>
            <mc:Fallback xmlns="">
              <p:sp>
                <p:nvSpPr>
                  <p:cNvPr id="9" name="Text Box 68">
                    <a:extLst>
                      <a:ext uri="{FF2B5EF4-FFF2-40B4-BE49-F238E27FC236}">
                        <a16:creationId xmlns:a16="http://schemas.microsoft.com/office/drawing/2014/main" id="{B329BAD3-499F-56BD-3123-0D421D04441D}"/>
                      </a:ext>
                    </a:extLst>
                  </p:cNvPr>
                  <p:cNvSpPr txBox="1">
                    <a:spLocks noRot="1" noChangeAspect="1" noMove="1" noResize="1" noEditPoints="1" noAdjustHandles="1" noChangeArrowheads="1" noChangeShapeType="1" noTextEdit="1"/>
                  </p:cNvSpPr>
                  <p:nvPr/>
                </p:nvSpPr>
                <p:spPr bwMode="auto">
                  <a:xfrm>
                    <a:off x="3041434" y="3268915"/>
                    <a:ext cx="742576" cy="954107"/>
                  </a:xfrm>
                  <a:prstGeom prst="rect">
                    <a:avLst/>
                  </a:prstGeom>
                  <a:blipFill>
                    <a:blip r:embed="rId12"/>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68">
                    <a:extLst>
                      <a:ext uri="{FF2B5EF4-FFF2-40B4-BE49-F238E27FC236}">
                        <a16:creationId xmlns:a16="http://schemas.microsoft.com/office/drawing/2014/main" id="{BA67B73C-4D91-07EB-7D28-56DF2E4BE0F0}"/>
                      </a:ext>
                    </a:extLst>
                  </p:cNvPr>
                  <p:cNvSpPr txBox="1">
                    <a:spLocks noChangeArrowheads="1"/>
                  </p:cNvSpPr>
                  <p:nvPr/>
                </p:nvSpPr>
                <p:spPr bwMode="auto">
                  <a:xfrm>
                    <a:off x="2980754" y="4486228"/>
                    <a:ext cx="740139"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3</m:t>
                              </m:r>
                            </m:sub>
                          </m:sSub>
                        </m:oMath>
                      </m:oMathPara>
                    </a14:m>
                    <a:endParaRPr lang="en-US" sz="2800" b="0" dirty="0"/>
                  </a:p>
                  <a:p>
                    <a:endParaRPr lang="en-US" sz="2800" b="0" dirty="0"/>
                  </a:p>
                </p:txBody>
              </p:sp>
            </mc:Choice>
            <mc:Fallback xmlns="">
              <p:sp>
                <p:nvSpPr>
                  <p:cNvPr id="10" name="Text Box 68">
                    <a:extLst>
                      <a:ext uri="{FF2B5EF4-FFF2-40B4-BE49-F238E27FC236}">
                        <a16:creationId xmlns:a16="http://schemas.microsoft.com/office/drawing/2014/main" id="{BA67B73C-4D91-07EB-7D28-56DF2E4BE0F0}"/>
                      </a:ext>
                    </a:extLst>
                  </p:cNvPr>
                  <p:cNvSpPr txBox="1">
                    <a:spLocks noRot="1" noChangeAspect="1" noMove="1" noResize="1" noEditPoints="1" noAdjustHandles="1" noChangeArrowheads="1" noChangeShapeType="1" noTextEdit="1"/>
                  </p:cNvSpPr>
                  <p:nvPr/>
                </p:nvSpPr>
                <p:spPr bwMode="auto">
                  <a:xfrm>
                    <a:off x="2980754" y="4486228"/>
                    <a:ext cx="740139" cy="954107"/>
                  </a:xfrm>
                  <a:prstGeom prst="rect">
                    <a:avLst/>
                  </a:prstGeom>
                  <a:blipFill>
                    <a:blip r:embed="rId13"/>
                    <a:stretch>
                      <a:fillRect/>
                    </a:stretch>
                  </a:blipFill>
                  <a:ln w="9525">
                    <a:noFill/>
                    <a:miter lim="800000"/>
                    <a:headEnd/>
                    <a:tailEnd/>
                  </a:ln>
                </p:spPr>
                <p:txBody>
                  <a:bodyPr/>
                  <a:lstStyle/>
                  <a:p>
                    <a:r>
                      <a:rPr lang="en-US">
                        <a:noFill/>
                      </a:rPr>
                      <a:t> </a:t>
                    </a:r>
                  </a:p>
                </p:txBody>
              </p:sp>
            </mc:Fallback>
          </mc:AlternateContent>
          <p:sp>
            <p:nvSpPr>
              <p:cNvPr id="11" name="Line 56">
                <a:extLst>
                  <a:ext uri="{FF2B5EF4-FFF2-40B4-BE49-F238E27FC236}">
                    <a16:creationId xmlns:a16="http://schemas.microsoft.com/office/drawing/2014/main" id="{0D631171-BF6A-4063-C101-E08AA4C8EB1B}"/>
                  </a:ext>
                </a:extLst>
              </p:cNvPr>
              <p:cNvSpPr>
                <a:spLocks noChangeShapeType="1"/>
              </p:cNvSpPr>
              <p:nvPr/>
            </p:nvSpPr>
            <p:spPr bwMode="auto">
              <a:xfrm flipV="1">
                <a:off x="3784011" y="3534813"/>
                <a:ext cx="1245050" cy="1"/>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12" name="Line 56">
                <a:extLst>
                  <a:ext uri="{FF2B5EF4-FFF2-40B4-BE49-F238E27FC236}">
                    <a16:creationId xmlns:a16="http://schemas.microsoft.com/office/drawing/2014/main" id="{9BF9071F-1B93-739B-7D28-5BD4C7E734AA}"/>
                  </a:ext>
                </a:extLst>
              </p:cNvPr>
              <p:cNvSpPr>
                <a:spLocks noChangeShapeType="1"/>
              </p:cNvSpPr>
              <p:nvPr/>
            </p:nvSpPr>
            <p:spPr bwMode="auto">
              <a:xfrm flipV="1">
                <a:off x="3790618" y="3597919"/>
                <a:ext cx="1222425" cy="1137331"/>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17" name="Line 56">
                <a:extLst>
                  <a:ext uri="{FF2B5EF4-FFF2-40B4-BE49-F238E27FC236}">
                    <a16:creationId xmlns:a16="http://schemas.microsoft.com/office/drawing/2014/main" id="{5022C334-E5F1-FDBA-D407-D06AD1B30B91}"/>
                  </a:ext>
                </a:extLst>
              </p:cNvPr>
              <p:cNvSpPr>
                <a:spLocks noChangeShapeType="1"/>
              </p:cNvSpPr>
              <p:nvPr/>
            </p:nvSpPr>
            <p:spPr bwMode="auto">
              <a:xfrm flipV="1">
                <a:off x="5892826" y="3569849"/>
                <a:ext cx="1192867" cy="6626"/>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grpSp>
        <p:sp>
          <p:nvSpPr>
            <p:cNvPr id="13" name="TextBox 12">
              <a:extLst>
                <a:ext uri="{FF2B5EF4-FFF2-40B4-BE49-F238E27FC236}">
                  <a16:creationId xmlns:a16="http://schemas.microsoft.com/office/drawing/2014/main" id="{482C3AC3-38FF-3088-A66B-4FDA4DBC2767}"/>
                </a:ext>
              </a:extLst>
            </p:cNvPr>
            <p:cNvSpPr txBox="1"/>
            <p:nvPr/>
          </p:nvSpPr>
          <p:spPr>
            <a:xfrm>
              <a:off x="783656" y="5266262"/>
              <a:ext cx="4216821" cy="830997"/>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one simplified perceptron</a:t>
              </a:r>
            </a:p>
            <a:p>
              <a:endParaRPr lang="en-US" sz="2400" dirty="0">
                <a:latin typeface="Arial" panose="020B0604020202020204" pitchFamily="34" charset="0"/>
                <a:cs typeface="Arial" panose="020B0604020202020204" pitchFamily="34" charset="0"/>
              </a:endParaRPr>
            </a:p>
          </p:txBody>
        </p:sp>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8AA5646-9C51-6918-7D5A-5AE5B305AAB1}"/>
                  </a:ext>
                </a:extLst>
              </p:cNvPr>
              <p:cNvSpPr txBox="1"/>
              <p:nvPr/>
            </p:nvSpPr>
            <p:spPr>
              <a:xfrm>
                <a:off x="-1118273" y="5701225"/>
                <a:ext cx="6228270"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r>
                            <a:rPr lang="en-US" sz="1800" b="0" i="1" smtClean="0">
                              <a:latin typeface="Cambria Math" panose="02040503050406030204" pitchFamily="18" charset="0"/>
                            </a:rPr>
                            <m:t>= </m:t>
                          </m:r>
                          <m:r>
                            <a:rPr lang="en-US" sz="1800" b="0" i="1" smtClean="0">
                              <a:latin typeface="Cambria Math" panose="02040503050406030204" pitchFamily="18" charset="0"/>
                            </a:rPr>
                            <m:t>𝑤</m:t>
                          </m:r>
                        </m:e>
                        <m:sub>
                          <m:r>
                            <a:rPr lang="en-US" sz="1800" b="0" i="1" smtClean="0">
                              <a:latin typeface="Cambria Math" panose="02040503050406030204" pitchFamily="18" charset="0"/>
                            </a:rPr>
                            <m:t>0</m:t>
                          </m:r>
                        </m:sub>
                      </m:sSub>
                      <m:r>
                        <a:rPr lang="en-US" sz="1800" b="0" i="1" smtClean="0">
                          <a:latin typeface="Cambria Math" panose="02040503050406030204" pitchFamily="18" charset="0"/>
                        </a:rPr>
                        <m:t>+</m:t>
                      </m:r>
                      <m:nary>
                        <m:naryPr>
                          <m:chr m:val="∑"/>
                          <m:ctrlPr>
                            <a:rPr lang="en-US" sz="1800" i="1" smtClean="0">
                              <a:latin typeface="Cambria Math" panose="02040503050406030204" pitchFamily="18" charset="0"/>
                            </a:rPr>
                          </m:ctrlPr>
                        </m:naryPr>
                        <m:sub>
                          <m:r>
                            <m:rPr>
                              <m:brk m:alnAt="23"/>
                            </m:rPr>
                            <a:rPr lang="en-US" sz="1800" b="0" i="1" smtClean="0">
                              <a:latin typeface="Cambria Math" panose="02040503050406030204" pitchFamily="18" charset="0"/>
                            </a:rPr>
                            <m:t>𝑖</m:t>
                          </m:r>
                          <m:r>
                            <a:rPr lang="en-US" sz="1800" b="0" i="1" smtClean="0">
                              <a:latin typeface="Cambria Math" panose="02040503050406030204" pitchFamily="18" charset="0"/>
                            </a:rPr>
                            <m:t>=1</m:t>
                          </m:r>
                        </m:sub>
                        <m:sup>
                          <m:r>
                            <a:rPr lang="en-US" sz="1800" b="0" i="1" smtClean="0">
                              <a:latin typeface="Cambria Math" panose="02040503050406030204" pitchFamily="18" charset="0"/>
                            </a:rPr>
                            <m:t>𝑛</m:t>
                          </m:r>
                        </m:sup>
                        <m:e>
                          <m:sSub>
                            <m:sSubPr>
                              <m:ctrlPr>
                                <a:rPr lang="en-US" sz="1800" i="1">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sSub>
                            <m:sSubPr>
                              <m:ctrlPr>
                                <a:rPr lang="en-US" sz="1800" i="1">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𝑖</m:t>
                              </m:r>
                            </m:sub>
                          </m:sSub>
                        </m:e>
                      </m:nary>
                    </m:oMath>
                  </m:oMathPara>
                </a14:m>
                <a:endParaRPr lang="en-US" dirty="0"/>
              </a:p>
            </p:txBody>
          </p:sp>
        </mc:Choice>
        <mc:Fallback xmlns="">
          <p:sp>
            <p:nvSpPr>
              <p:cNvPr id="19" name="TextBox 18">
                <a:extLst>
                  <a:ext uri="{FF2B5EF4-FFF2-40B4-BE49-F238E27FC236}">
                    <a16:creationId xmlns:a16="http://schemas.microsoft.com/office/drawing/2014/main" id="{68AA5646-9C51-6918-7D5A-5AE5B305AAB1}"/>
                  </a:ext>
                </a:extLst>
              </p:cNvPr>
              <p:cNvSpPr txBox="1">
                <a:spLocks noRot="1" noChangeAspect="1" noMove="1" noResize="1" noEditPoints="1" noAdjustHandles="1" noChangeArrowheads="1" noChangeShapeType="1" noTextEdit="1"/>
              </p:cNvSpPr>
              <p:nvPr/>
            </p:nvSpPr>
            <p:spPr>
              <a:xfrm>
                <a:off x="-1118273" y="5701225"/>
                <a:ext cx="6228270" cy="848566"/>
              </a:xfrm>
              <a:prstGeom prst="rect">
                <a:avLst/>
              </a:prstGeom>
              <a:blipFill>
                <a:blip r:embed="rId14"/>
                <a:stretch>
                  <a:fillRect t="-98529" b="-152941"/>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A16A1F23-126D-544E-9339-A868B29E0F1E}"/>
              </a:ext>
            </a:extLst>
          </p:cNvPr>
          <p:cNvGrpSpPr/>
          <p:nvPr/>
        </p:nvGrpSpPr>
        <p:grpSpPr>
          <a:xfrm>
            <a:off x="6096000" y="1624388"/>
            <a:ext cx="5691479" cy="5053153"/>
            <a:chOff x="6096000" y="1624388"/>
            <a:chExt cx="5691479" cy="5053153"/>
          </a:xfrm>
        </p:grpSpPr>
        <p:grpSp>
          <p:nvGrpSpPr>
            <p:cNvPr id="16" name="Group 15">
              <a:extLst>
                <a:ext uri="{FF2B5EF4-FFF2-40B4-BE49-F238E27FC236}">
                  <a16:creationId xmlns:a16="http://schemas.microsoft.com/office/drawing/2014/main" id="{F73C7E24-FF22-7B01-8912-8835706D25E1}"/>
                </a:ext>
              </a:extLst>
            </p:cNvPr>
            <p:cNvGrpSpPr/>
            <p:nvPr/>
          </p:nvGrpSpPr>
          <p:grpSpPr>
            <a:xfrm>
              <a:off x="6216650" y="1624388"/>
              <a:ext cx="5570829" cy="4380271"/>
              <a:chOff x="6337421" y="1641641"/>
              <a:chExt cx="5570829" cy="4380271"/>
            </a:xfrm>
          </p:grpSpPr>
          <p:sp>
            <p:nvSpPr>
              <p:cNvPr id="67" name="Oval 52">
                <a:extLst>
                  <a:ext uri="{FF2B5EF4-FFF2-40B4-BE49-F238E27FC236}">
                    <a16:creationId xmlns:a16="http://schemas.microsoft.com/office/drawing/2014/main" id="{6D4D12AD-4982-6FF8-853A-E483D74BE1EC}"/>
                  </a:ext>
                </a:extLst>
              </p:cNvPr>
              <p:cNvSpPr>
                <a:spLocks noChangeArrowheads="1"/>
              </p:cNvSpPr>
              <p:nvPr/>
            </p:nvSpPr>
            <p:spPr bwMode="auto">
              <a:xfrm>
                <a:off x="6371927" y="4281387"/>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grpSp>
            <p:nvGrpSpPr>
              <p:cNvPr id="28" name="Group 27">
                <a:extLst>
                  <a:ext uri="{FF2B5EF4-FFF2-40B4-BE49-F238E27FC236}">
                    <a16:creationId xmlns:a16="http://schemas.microsoft.com/office/drawing/2014/main" id="{92FD87C6-9960-94F5-5B1B-D5741167EC18}"/>
                  </a:ext>
                </a:extLst>
              </p:cNvPr>
              <p:cNvGrpSpPr/>
              <p:nvPr/>
            </p:nvGrpSpPr>
            <p:grpSpPr>
              <a:xfrm>
                <a:off x="6337421" y="1641641"/>
                <a:ext cx="5570829" cy="4380271"/>
                <a:chOff x="6337421" y="1641641"/>
                <a:chExt cx="5570829" cy="4380271"/>
              </a:xfrm>
            </p:grpSpPr>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88F3D98-DF5A-6750-F04F-DC823FDD6A00}"/>
                        </a:ext>
                      </a:extLst>
                    </p:cNvPr>
                    <p:cNvSpPr txBox="1"/>
                    <p:nvPr/>
                  </p:nvSpPr>
                  <p:spPr>
                    <a:xfrm>
                      <a:off x="7631796" y="5254458"/>
                      <a:ext cx="3353162" cy="7674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𝑧</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𝑜</m:t>
                                </m:r>
                                <m:r>
                                  <a:rPr lang="en-US" sz="2400" b="0" i="1" smtClean="0">
                                    <a:latin typeface="Cambria Math" panose="02040503050406030204" pitchFamily="18" charset="0"/>
                                  </a:rPr>
                                  <m:t>,</m:t>
                                </m:r>
                                <m:r>
                                  <a:rPr lang="en-US" sz="2400" b="0" i="1" smtClean="0">
                                    <a:latin typeface="Cambria Math" panose="02040503050406030204" pitchFamily="18" charset="0"/>
                                  </a:rPr>
                                  <m:t>𝑖</m:t>
                                </m:r>
                              </m:sub>
                            </m:sSub>
                            <m:r>
                              <a:rPr lang="en-US" sz="2400" b="0" i="1" smtClean="0">
                                <a:latin typeface="Cambria Math" panose="02040503050406030204" pitchFamily="18" charset="0"/>
                              </a:rPr>
                              <m:t>+ </m:t>
                            </m:r>
                            <m:nary>
                              <m:naryPr>
                                <m:chr m:val="∑"/>
                                <m:limLoc m:val="subSup"/>
                                <m:ctrlPr>
                                  <a:rPr lang="en-US" sz="2400" b="0" i="1" smtClean="0">
                                    <a:latin typeface="Cambria Math" panose="02040503050406030204" pitchFamily="18" charset="0"/>
                                  </a:rPr>
                                </m:ctrlPr>
                              </m:naryPr>
                              <m:sub>
                                <m:r>
                                  <m:rPr>
                                    <m:brk m:alnAt="25"/>
                                  </m:rPr>
                                  <a:rPr lang="en-US" sz="2400" b="0" i="1" smtClean="0">
                                    <a:latin typeface="Cambria Math" panose="02040503050406030204" pitchFamily="18" charset="0"/>
                                  </a:rPr>
                                  <m:t>𝑗</m:t>
                                </m:r>
                                <m:r>
                                  <a:rPr lang="en-US" sz="2400" b="0" i="1" smtClean="0">
                                    <a:latin typeface="Cambria Math" panose="02040503050406030204" pitchFamily="18" charset="0"/>
                                  </a:rPr>
                                  <m:t>=1</m:t>
                                </m:r>
                              </m:sub>
                              <m:sup>
                                <m:r>
                                  <a:rPr lang="en-US" sz="2400" b="0" i="1" smtClean="0">
                                    <a:latin typeface="Cambria Math" panose="02040503050406030204" pitchFamily="18" charset="0"/>
                                  </a:rPr>
                                  <m:t>𝑚</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𝑗</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𝑗</m:t>
                                    </m:r>
                                    <m:r>
                                      <a:rPr lang="en-US" sz="2400" b="0" i="1" smtClean="0">
                                        <a:latin typeface="Cambria Math" panose="02040503050406030204" pitchFamily="18" charset="0"/>
                                      </a:rPr>
                                      <m:t>,</m:t>
                                    </m:r>
                                    <m:r>
                                      <a:rPr lang="en-US" sz="2400" b="0" i="1" smtClean="0">
                                        <a:latin typeface="Cambria Math" panose="02040503050406030204" pitchFamily="18" charset="0"/>
                                      </a:rPr>
                                      <m:t>𝑖</m:t>
                                    </m:r>
                                  </m:sub>
                                </m:sSub>
                                <m:r>
                                  <a:rPr lang="en-US" sz="2400" b="0" i="1" smtClean="0">
                                    <a:latin typeface="Cambria Math" panose="02040503050406030204" pitchFamily="18" charset="0"/>
                                  </a:rPr>
                                  <m:t> </m:t>
                                </m:r>
                              </m:e>
                            </m:nary>
                          </m:oMath>
                        </m:oMathPara>
                      </a14:m>
                      <a:endParaRPr lang="en-US" sz="2400" dirty="0"/>
                    </a:p>
                  </p:txBody>
                </p:sp>
              </mc:Choice>
              <mc:Fallback xmlns="">
                <p:sp>
                  <p:nvSpPr>
                    <p:cNvPr id="92" name="TextBox 91">
                      <a:extLst>
                        <a:ext uri="{FF2B5EF4-FFF2-40B4-BE49-F238E27FC236}">
                          <a16:creationId xmlns:a16="http://schemas.microsoft.com/office/drawing/2014/main" id="{888F3D98-DF5A-6750-F04F-DC823FDD6A00}"/>
                        </a:ext>
                      </a:extLst>
                    </p:cNvPr>
                    <p:cNvSpPr txBox="1">
                      <a:spLocks noRot="1" noChangeAspect="1" noMove="1" noResize="1" noEditPoints="1" noAdjustHandles="1" noChangeArrowheads="1" noChangeShapeType="1" noTextEdit="1"/>
                    </p:cNvSpPr>
                    <p:nvPr/>
                  </p:nvSpPr>
                  <p:spPr>
                    <a:xfrm>
                      <a:off x="7631796" y="5254458"/>
                      <a:ext cx="3353162" cy="767454"/>
                    </a:xfrm>
                    <a:prstGeom prst="rect">
                      <a:avLst/>
                    </a:prstGeom>
                    <a:blipFill>
                      <a:blip r:embed="rId15"/>
                      <a:stretch>
                        <a:fillRect l="-755" t="-177049" r="-3019" b="-252459"/>
                      </a:stretch>
                    </a:blipFill>
                  </p:spPr>
                  <p:txBody>
                    <a:bodyPr/>
                    <a:lstStyle/>
                    <a:p>
                      <a:r>
                        <a:rPr lang="en-US">
                          <a:noFill/>
                        </a:rPr>
                        <a:t> </a:t>
                      </a:r>
                    </a:p>
                  </p:txBody>
                </p:sp>
              </mc:Fallback>
            </mc:AlternateContent>
            <p:grpSp>
              <p:nvGrpSpPr>
                <p:cNvPr id="99" name="Group 98">
                  <a:extLst>
                    <a:ext uri="{FF2B5EF4-FFF2-40B4-BE49-F238E27FC236}">
                      <a16:creationId xmlns:a16="http://schemas.microsoft.com/office/drawing/2014/main" id="{E605B0FF-D39B-1C6E-FD31-B9EEBD96AC0E}"/>
                    </a:ext>
                  </a:extLst>
                </p:cNvPr>
                <p:cNvGrpSpPr/>
                <p:nvPr/>
              </p:nvGrpSpPr>
              <p:grpSpPr>
                <a:xfrm>
                  <a:off x="6337421" y="1641641"/>
                  <a:ext cx="5570829" cy="3728573"/>
                  <a:chOff x="2944521" y="1987081"/>
                  <a:chExt cx="5570829" cy="3728573"/>
                </a:xfrm>
              </p:grpSpPr>
              <p:sp>
                <p:nvSpPr>
                  <p:cNvPr id="60" name="Oval 52">
                    <a:extLst>
                      <a:ext uri="{FF2B5EF4-FFF2-40B4-BE49-F238E27FC236}">
                        <a16:creationId xmlns:a16="http://schemas.microsoft.com/office/drawing/2014/main" id="{414C9A97-97B0-E474-BCA5-41799E046F6D}"/>
                      </a:ext>
                    </a:extLst>
                  </p:cNvPr>
                  <p:cNvSpPr>
                    <a:spLocks noChangeArrowheads="1"/>
                  </p:cNvSpPr>
                  <p:nvPr/>
                </p:nvSpPr>
                <p:spPr bwMode="auto">
                  <a:xfrm>
                    <a:off x="2944521" y="1987081"/>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64" name="Oval 52">
                    <a:extLst>
                      <a:ext uri="{FF2B5EF4-FFF2-40B4-BE49-F238E27FC236}">
                        <a16:creationId xmlns:a16="http://schemas.microsoft.com/office/drawing/2014/main" id="{3FCFC292-398F-A353-7E7C-31F4435F066B}"/>
                      </a:ext>
                    </a:extLst>
                  </p:cNvPr>
                  <p:cNvSpPr>
                    <a:spLocks noChangeArrowheads="1"/>
                  </p:cNvSpPr>
                  <p:nvPr/>
                </p:nvSpPr>
                <p:spPr bwMode="auto">
                  <a:xfrm>
                    <a:off x="2944521" y="3168740"/>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69" name="Line 56">
                    <a:extLst>
                      <a:ext uri="{FF2B5EF4-FFF2-40B4-BE49-F238E27FC236}">
                        <a16:creationId xmlns:a16="http://schemas.microsoft.com/office/drawing/2014/main" id="{0841C2AC-42FC-0548-3D61-F02A81B3B9D5}"/>
                      </a:ext>
                    </a:extLst>
                  </p:cNvPr>
                  <p:cNvSpPr>
                    <a:spLocks noChangeShapeType="1"/>
                  </p:cNvSpPr>
                  <p:nvPr/>
                </p:nvSpPr>
                <p:spPr bwMode="auto">
                  <a:xfrm>
                    <a:off x="3794627" y="2416264"/>
                    <a:ext cx="1618825" cy="725577"/>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grpSp>
                <p:nvGrpSpPr>
                  <p:cNvPr id="73" name="Group 72">
                    <a:extLst>
                      <a:ext uri="{FF2B5EF4-FFF2-40B4-BE49-F238E27FC236}">
                        <a16:creationId xmlns:a16="http://schemas.microsoft.com/office/drawing/2014/main" id="{8F55A976-4F3F-0288-2128-E2DDCC276BAF}"/>
                      </a:ext>
                    </a:extLst>
                  </p:cNvPr>
                  <p:cNvGrpSpPr/>
                  <p:nvPr/>
                </p:nvGrpSpPr>
                <p:grpSpPr>
                  <a:xfrm>
                    <a:off x="5399084" y="2630294"/>
                    <a:ext cx="850106" cy="858368"/>
                    <a:chOff x="696621" y="1987081"/>
                    <a:chExt cx="850106" cy="858368"/>
                  </a:xfrm>
                </p:grpSpPr>
                <p:sp>
                  <p:nvSpPr>
                    <p:cNvPr id="74" name="Oval 52">
                      <a:extLst>
                        <a:ext uri="{FF2B5EF4-FFF2-40B4-BE49-F238E27FC236}">
                          <a16:creationId xmlns:a16="http://schemas.microsoft.com/office/drawing/2014/main" id="{5B21C832-39FD-A2FE-12F3-060C36666AB8}"/>
                        </a:ext>
                      </a:extLst>
                    </p:cNvPr>
                    <p:cNvSpPr>
                      <a:spLocks noChangeArrowheads="1"/>
                    </p:cNvSpPr>
                    <p:nvPr/>
                  </p:nvSpPr>
                  <p:spPr bwMode="auto">
                    <a:xfrm>
                      <a:off x="696621" y="1987081"/>
                      <a:ext cx="850106" cy="858368"/>
                    </a:xfrm>
                    <a:prstGeom prst="ellipse">
                      <a:avLst/>
                    </a:prstGeom>
                    <a:solidFill>
                      <a:schemeClr val="accent1">
                        <a:lumMod val="60000"/>
                        <a:lumOff val="40000"/>
                      </a:schemeClr>
                    </a:solidFill>
                    <a:ln w="9525">
                      <a:solidFill>
                        <a:schemeClr val="tx1"/>
                      </a:solidFill>
                      <a:round/>
                      <a:headEnd/>
                      <a:tailEnd/>
                    </a:ln>
                  </p:spPr>
                  <p:txBody>
                    <a:bodyPr wrap="none" anchor="ctr">
                      <a:prstTxWarp prst="textNoShape">
                        <a:avLst/>
                      </a:prstTxWarp>
                    </a:bodyPr>
                    <a:lstStyle/>
                    <a:p>
                      <a:endParaRPr lang="en-US" b="0"/>
                    </a:p>
                  </p:txBody>
                </p:sp>
                <mc:AlternateContent xmlns:mc="http://schemas.openxmlformats.org/markup-compatibility/2006" xmlns:a14="http://schemas.microsoft.com/office/drawing/2010/main">
                  <mc:Choice Requires="a14">
                    <p:sp>
                      <p:nvSpPr>
                        <p:cNvPr id="75" name="Text Box 68">
                          <a:extLst>
                            <a:ext uri="{FF2B5EF4-FFF2-40B4-BE49-F238E27FC236}">
                              <a16:creationId xmlns:a16="http://schemas.microsoft.com/office/drawing/2014/main" id="{CA2ED046-5A28-4365-40B8-4B7DE0DD0258}"/>
                            </a:ext>
                          </a:extLst>
                        </p:cNvPr>
                        <p:cNvSpPr txBox="1">
                          <a:spLocks noChangeArrowheads="1"/>
                        </p:cNvSpPr>
                        <p:nvPr/>
                      </p:nvSpPr>
                      <p:spPr bwMode="auto">
                        <a:xfrm>
                          <a:off x="870452" y="2129956"/>
                          <a:ext cx="589649" cy="523220"/>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1</m:t>
                                    </m:r>
                                  </m:sub>
                                </m:sSub>
                              </m:oMath>
                            </m:oMathPara>
                          </a14:m>
                          <a:endParaRPr lang="en-US" sz="2800" b="0" dirty="0"/>
                        </a:p>
                      </p:txBody>
                    </p:sp>
                  </mc:Choice>
                  <mc:Fallback xmlns="">
                    <p:sp>
                      <p:nvSpPr>
                        <p:cNvPr id="75" name="Text Box 68">
                          <a:extLst>
                            <a:ext uri="{FF2B5EF4-FFF2-40B4-BE49-F238E27FC236}">
                              <a16:creationId xmlns:a16="http://schemas.microsoft.com/office/drawing/2014/main" id="{CA2ED046-5A28-4365-40B8-4B7DE0DD0258}"/>
                            </a:ext>
                          </a:extLst>
                        </p:cNvPr>
                        <p:cNvSpPr txBox="1">
                          <a:spLocks noRot="1" noChangeAspect="1" noMove="1" noResize="1" noEditPoints="1" noAdjustHandles="1" noChangeArrowheads="1" noChangeShapeType="1" noTextEdit="1"/>
                        </p:cNvSpPr>
                        <p:nvPr/>
                      </p:nvSpPr>
                      <p:spPr bwMode="auto">
                        <a:xfrm>
                          <a:off x="870452" y="2129956"/>
                          <a:ext cx="589649" cy="523220"/>
                        </a:xfrm>
                        <a:prstGeom prst="rect">
                          <a:avLst/>
                        </a:prstGeom>
                        <a:blipFill>
                          <a:blip r:embed="rId4"/>
                          <a:stretch>
                            <a:fillRect b="-2381"/>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6" name="Text Box 68">
                        <a:extLst>
                          <a:ext uri="{FF2B5EF4-FFF2-40B4-BE49-F238E27FC236}">
                            <a16:creationId xmlns:a16="http://schemas.microsoft.com/office/drawing/2014/main" id="{3F4E46D6-EB89-2C10-8707-20BB0716A217}"/>
                          </a:ext>
                        </a:extLst>
                      </p:cNvPr>
                      <p:cNvSpPr txBox="1">
                        <a:spLocks noChangeArrowheads="1"/>
                      </p:cNvSpPr>
                      <p:nvPr/>
                    </p:nvSpPr>
                    <p:spPr bwMode="auto">
                      <a:xfrm>
                        <a:off x="3058533" y="2111091"/>
                        <a:ext cx="750462"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oMath>
                          </m:oMathPara>
                        </a14:m>
                        <a:endParaRPr lang="en-US" sz="2800" b="0" dirty="0"/>
                      </a:p>
                      <a:p>
                        <a:endParaRPr lang="en-US" sz="2800" b="0" dirty="0"/>
                      </a:p>
                    </p:txBody>
                  </p:sp>
                </mc:Choice>
                <mc:Fallback xmlns="">
                  <p:sp>
                    <p:nvSpPr>
                      <p:cNvPr id="76" name="Text Box 68">
                        <a:extLst>
                          <a:ext uri="{FF2B5EF4-FFF2-40B4-BE49-F238E27FC236}">
                            <a16:creationId xmlns:a16="http://schemas.microsoft.com/office/drawing/2014/main" id="{3F4E46D6-EB89-2C10-8707-20BB0716A217}"/>
                          </a:ext>
                        </a:extLst>
                      </p:cNvPr>
                      <p:cNvSpPr txBox="1">
                        <a:spLocks noRot="1" noChangeAspect="1" noMove="1" noResize="1" noEditPoints="1" noAdjustHandles="1" noChangeArrowheads="1" noChangeShapeType="1" noTextEdit="1"/>
                      </p:cNvSpPr>
                      <p:nvPr/>
                    </p:nvSpPr>
                    <p:spPr bwMode="auto">
                      <a:xfrm>
                        <a:off x="3058533" y="2111091"/>
                        <a:ext cx="750462" cy="954107"/>
                      </a:xfrm>
                      <a:prstGeom prst="rect">
                        <a:avLst/>
                      </a:prstGeom>
                      <a:blipFill>
                        <a:blip r:embed="rId5"/>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 Box 68">
                        <a:extLst>
                          <a:ext uri="{FF2B5EF4-FFF2-40B4-BE49-F238E27FC236}">
                            <a16:creationId xmlns:a16="http://schemas.microsoft.com/office/drawing/2014/main" id="{C82F8669-DE5D-C5CC-B5FB-6A6FA0202B95}"/>
                          </a:ext>
                        </a:extLst>
                      </p:cNvPr>
                      <p:cNvSpPr txBox="1">
                        <a:spLocks noChangeArrowheads="1"/>
                      </p:cNvSpPr>
                      <p:nvPr/>
                    </p:nvSpPr>
                    <p:spPr bwMode="auto">
                      <a:xfrm>
                        <a:off x="3041434" y="3292978"/>
                        <a:ext cx="742576"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2</m:t>
                                  </m:r>
                                </m:sub>
                              </m:sSub>
                            </m:oMath>
                          </m:oMathPara>
                        </a14:m>
                        <a:endParaRPr lang="en-US" sz="2800" b="0" dirty="0"/>
                      </a:p>
                      <a:p>
                        <a:endParaRPr lang="en-US" sz="2800" b="0" dirty="0"/>
                      </a:p>
                    </p:txBody>
                  </p:sp>
                </mc:Choice>
                <mc:Fallback xmlns="">
                  <p:sp>
                    <p:nvSpPr>
                      <p:cNvPr id="77" name="Text Box 68">
                        <a:extLst>
                          <a:ext uri="{FF2B5EF4-FFF2-40B4-BE49-F238E27FC236}">
                            <a16:creationId xmlns:a16="http://schemas.microsoft.com/office/drawing/2014/main" id="{C82F8669-DE5D-C5CC-B5FB-6A6FA0202B95}"/>
                          </a:ext>
                        </a:extLst>
                      </p:cNvPr>
                      <p:cNvSpPr txBox="1">
                        <a:spLocks noRot="1" noChangeAspect="1" noMove="1" noResize="1" noEditPoints="1" noAdjustHandles="1" noChangeArrowheads="1" noChangeShapeType="1" noTextEdit="1"/>
                      </p:cNvSpPr>
                      <p:nvPr/>
                    </p:nvSpPr>
                    <p:spPr bwMode="auto">
                      <a:xfrm>
                        <a:off x="3041434" y="3292978"/>
                        <a:ext cx="742576" cy="954107"/>
                      </a:xfrm>
                      <a:prstGeom prst="rect">
                        <a:avLst/>
                      </a:prstGeom>
                      <a:blipFill>
                        <a:blip r:embed="rId6"/>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 Box 68">
                        <a:extLst>
                          <a:ext uri="{FF2B5EF4-FFF2-40B4-BE49-F238E27FC236}">
                            <a16:creationId xmlns:a16="http://schemas.microsoft.com/office/drawing/2014/main" id="{63526AD1-7C13-7660-95B2-66D74787F69F}"/>
                          </a:ext>
                        </a:extLst>
                      </p:cNvPr>
                      <p:cNvSpPr txBox="1">
                        <a:spLocks noChangeArrowheads="1"/>
                      </p:cNvSpPr>
                      <p:nvPr/>
                    </p:nvSpPr>
                    <p:spPr bwMode="auto">
                      <a:xfrm>
                        <a:off x="3054488" y="4761547"/>
                        <a:ext cx="740139"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3</m:t>
                                  </m:r>
                                </m:sub>
                              </m:sSub>
                            </m:oMath>
                          </m:oMathPara>
                        </a14:m>
                        <a:endParaRPr lang="en-US" sz="2800" b="0" dirty="0"/>
                      </a:p>
                      <a:p>
                        <a:endParaRPr lang="en-US" sz="2800" b="0" dirty="0"/>
                      </a:p>
                    </p:txBody>
                  </p:sp>
                </mc:Choice>
                <mc:Fallback xmlns="">
                  <p:sp>
                    <p:nvSpPr>
                      <p:cNvPr id="78" name="Text Box 68">
                        <a:extLst>
                          <a:ext uri="{FF2B5EF4-FFF2-40B4-BE49-F238E27FC236}">
                            <a16:creationId xmlns:a16="http://schemas.microsoft.com/office/drawing/2014/main" id="{63526AD1-7C13-7660-95B2-66D74787F69F}"/>
                          </a:ext>
                        </a:extLst>
                      </p:cNvPr>
                      <p:cNvSpPr txBox="1">
                        <a:spLocks noRot="1" noChangeAspect="1" noMove="1" noResize="1" noEditPoints="1" noAdjustHandles="1" noChangeArrowheads="1" noChangeShapeType="1" noTextEdit="1"/>
                      </p:cNvSpPr>
                      <p:nvPr/>
                    </p:nvSpPr>
                    <p:spPr bwMode="auto">
                      <a:xfrm>
                        <a:off x="3054488" y="4761547"/>
                        <a:ext cx="740139" cy="954107"/>
                      </a:xfrm>
                      <a:prstGeom prst="rect">
                        <a:avLst/>
                      </a:prstGeom>
                      <a:blipFill>
                        <a:blip r:embed="rId16"/>
                        <a:stretch>
                          <a:fillRect/>
                        </a:stretch>
                      </a:blipFill>
                      <a:ln w="9525">
                        <a:noFill/>
                        <a:miter lim="800000"/>
                        <a:headEnd/>
                        <a:tailEnd/>
                      </a:ln>
                    </p:spPr>
                    <p:txBody>
                      <a:bodyPr/>
                      <a:lstStyle/>
                      <a:p>
                        <a:r>
                          <a:rPr lang="en-US">
                            <a:noFill/>
                          </a:rPr>
                          <a:t> </a:t>
                        </a:r>
                      </a:p>
                    </p:txBody>
                  </p:sp>
                </mc:Fallback>
              </mc:AlternateContent>
              <p:sp>
                <p:nvSpPr>
                  <p:cNvPr id="79" name="Line 56">
                    <a:extLst>
                      <a:ext uri="{FF2B5EF4-FFF2-40B4-BE49-F238E27FC236}">
                        <a16:creationId xmlns:a16="http://schemas.microsoft.com/office/drawing/2014/main" id="{B2391806-9690-CE7B-948E-80A62D35E170}"/>
                      </a:ext>
                    </a:extLst>
                  </p:cNvPr>
                  <p:cNvSpPr>
                    <a:spLocks noChangeShapeType="1"/>
                  </p:cNvSpPr>
                  <p:nvPr/>
                </p:nvSpPr>
                <p:spPr bwMode="auto">
                  <a:xfrm flipV="1">
                    <a:off x="3829261" y="3168741"/>
                    <a:ext cx="1584192" cy="429184"/>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80" name="Line 56">
                    <a:extLst>
                      <a:ext uri="{FF2B5EF4-FFF2-40B4-BE49-F238E27FC236}">
                        <a16:creationId xmlns:a16="http://schemas.microsoft.com/office/drawing/2014/main" id="{984EA15F-48BB-0752-68FA-22C922734364}"/>
                      </a:ext>
                    </a:extLst>
                  </p:cNvPr>
                  <p:cNvSpPr>
                    <a:spLocks noChangeShapeType="1"/>
                  </p:cNvSpPr>
                  <p:nvPr/>
                </p:nvSpPr>
                <p:spPr bwMode="auto">
                  <a:xfrm flipV="1">
                    <a:off x="3784010" y="3245155"/>
                    <a:ext cx="1629442" cy="1632429"/>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grpSp>
                <p:nvGrpSpPr>
                  <p:cNvPr id="81" name="Group 80">
                    <a:extLst>
                      <a:ext uri="{FF2B5EF4-FFF2-40B4-BE49-F238E27FC236}">
                        <a16:creationId xmlns:a16="http://schemas.microsoft.com/office/drawing/2014/main" id="{E914F9FE-246D-A7D3-2581-ABE4B12AD3B6}"/>
                      </a:ext>
                    </a:extLst>
                  </p:cNvPr>
                  <p:cNvGrpSpPr/>
                  <p:nvPr/>
                </p:nvGrpSpPr>
                <p:grpSpPr>
                  <a:xfrm>
                    <a:off x="5442686" y="3817901"/>
                    <a:ext cx="850106" cy="858368"/>
                    <a:chOff x="696621" y="1987081"/>
                    <a:chExt cx="850106" cy="858368"/>
                  </a:xfrm>
                </p:grpSpPr>
                <p:sp>
                  <p:nvSpPr>
                    <p:cNvPr id="82" name="Oval 52">
                      <a:extLst>
                        <a:ext uri="{FF2B5EF4-FFF2-40B4-BE49-F238E27FC236}">
                          <a16:creationId xmlns:a16="http://schemas.microsoft.com/office/drawing/2014/main" id="{E12745AD-1E13-6196-893F-24266101EFD0}"/>
                        </a:ext>
                      </a:extLst>
                    </p:cNvPr>
                    <p:cNvSpPr>
                      <a:spLocks noChangeArrowheads="1"/>
                    </p:cNvSpPr>
                    <p:nvPr/>
                  </p:nvSpPr>
                  <p:spPr bwMode="auto">
                    <a:xfrm>
                      <a:off x="696621" y="1987081"/>
                      <a:ext cx="850106" cy="858368"/>
                    </a:xfrm>
                    <a:prstGeom prst="ellipse">
                      <a:avLst/>
                    </a:prstGeom>
                    <a:solidFill>
                      <a:schemeClr val="accent1">
                        <a:lumMod val="60000"/>
                        <a:lumOff val="40000"/>
                      </a:schemeClr>
                    </a:solidFill>
                    <a:ln w="9525">
                      <a:solidFill>
                        <a:schemeClr val="tx1"/>
                      </a:solidFill>
                      <a:round/>
                      <a:headEnd/>
                      <a:tailEnd/>
                    </a:ln>
                  </p:spPr>
                  <p:txBody>
                    <a:bodyPr wrap="none" anchor="ctr">
                      <a:prstTxWarp prst="textNoShape">
                        <a:avLst/>
                      </a:prstTxWarp>
                    </a:bodyPr>
                    <a:lstStyle/>
                    <a:p>
                      <a:endParaRPr lang="en-US" b="0"/>
                    </a:p>
                  </p:txBody>
                </p:sp>
                <mc:AlternateContent xmlns:mc="http://schemas.openxmlformats.org/markup-compatibility/2006" xmlns:a14="http://schemas.microsoft.com/office/drawing/2010/main">
                  <mc:Choice Requires="a14">
                    <p:sp>
                      <p:nvSpPr>
                        <p:cNvPr id="83" name="Text Box 68">
                          <a:extLst>
                            <a:ext uri="{FF2B5EF4-FFF2-40B4-BE49-F238E27FC236}">
                              <a16:creationId xmlns:a16="http://schemas.microsoft.com/office/drawing/2014/main" id="{A684D744-72F4-4707-0C84-4F1F5263BA45}"/>
                            </a:ext>
                          </a:extLst>
                        </p:cNvPr>
                        <p:cNvSpPr txBox="1">
                          <a:spLocks noChangeArrowheads="1"/>
                        </p:cNvSpPr>
                        <p:nvPr/>
                      </p:nvSpPr>
                      <p:spPr bwMode="auto">
                        <a:xfrm>
                          <a:off x="870452" y="2129956"/>
                          <a:ext cx="597921" cy="523220"/>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2</m:t>
                                    </m:r>
                                  </m:sub>
                                </m:sSub>
                              </m:oMath>
                            </m:oMathPara>
                          </a14:m>
                          <a:endParaRPr lang="en-US" sz="2800" b="0" dirty="0"/>
                        </a:p>
                      </p:txBody>
                    </p:sp>
                  </mc:Choice>
                  <mc:Fallback xmlns="">
                    <p:sp>
                      <p:nvSpPr>
                        <p:cNvPr id="83" name="Text Box 68">
                          <a:extLst>
                            <a:ext uri="{FF2B5EF4-FFF2-40B4-BE49-F238E27FC236}">
                              <a16:creationId xmlns:a16="http://schemas.microsoft.com/office/drawing/2014/main" id="{A684D744-72F4-4707-0C84-4F1F5263BA45}"/>
                            </a:ext>
                          </a:extLst>
                        </p:cNvPr>
                        <p:cNvSpPr txBox="1">
                          <a:spLocks noRot="1" noChangeAspect="1" noMove="1" noResize="1" noEditPoints="1" noAdjustHandles="1" noChangeArrowheads="1" noChangeShapeType="1" noTextEdit="1"/>
                        </p:cNvSpPr>
                        <p:nvPr/>
                      </p:nvSpPr>
                      <p:spPr bwMode="auto">
                        <a:xfrm>
                          <a:off x="870452" y="2129956"/>
                          <a:ext cx="597921" cy="523220"/>
                        </a:xfrm>
                        <a:prstGeom prst="rect">
                          <a:avLst/>
                        </a:prstGeom>
                        <a:blipFill>
                          <a:blip r:embed="rId8"/>
                          <a:stretch>
                            <a:fillRect b="-2381"/>
                          </a:stretch>
                        </a:blipFill>
                        <a:ln w="9525">
                          <a:noFill/>
                          <a:miter lim="800000"/>
                          <a:headEnd/>
                          <a:tailEnd/>
                        </a:ln>
                      </p:spPr>
                      <p:txBody>
                        <a:bodyPr/>
                        <a:lstStyle/>
                        <a:p>
                          <a:r>
                            <a:rPr lang="en-US">
                              <a:noFill/>
                            </a:rPr>
                            <a:t> </a:t>
                          </a:r>
                        </a:p>
                      </p:txBody>
                    </p:sp>
                  </mc:Fallback>
                </mc:AlternateContent>
              </p:grpSp>
              <p:sp>
                <p:nvSpPr>
                  <p:cNvPr id="84" name="Line 56">
                    <a:extLst>
                      <a:ext uri="{FF2B5EF4-FFF2-40B4-BE49-F238E27FC236}">
                        <a16:creationId xmlns:a16="http://schemas.microsoft.com/office/drawing/2014/main" id="{8B3745CA-FA78-B157-33AF-61A4C445CEA1}"/>
                      </a:ext>
                    </a:extLst>
                  </p:cNvPr>
                  <p:cNvSpPr>
                    <a:spLocks noChangeShapeType="1"/>
                  </p:cNvSpPr>
                  <p:nvPr/>
                </p:nvSpPr>
                <p:spPr bwMode="auto">
                  <a:xfrm>
                    <a:off x="3811944" y="2429713"/>
                    <a:ext cx="1629442" cy="1632429"/>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85" name="Line 56">
                    <a:extLst>
                      <a:ext uri="{FF2B5EF4-FFF2-40B4-BE49-F238E27FC236}">
                        <a16:creationId xmlns:a16="http://schemas.microsoft.com/office/drawing/2014/main" id="{FFC725EE-6AB0-C41C-AAA8-4CEAB74A90CF}"/>
                      </a:ext>
                    </a:extLst>
                  </p:cNvPr>
                  <p:cNvSpPr>
                    <a:spLocks noChangeShapeType="1"/>
                  </p:cNvSpPr>
                  <p:nvPr/>
                </p:nvSpPr>
                <p:spPr bwMode="auto">
                  <a:xfrm>
                    <a:off x="3811043" y="3634699"/>
                    <a:ext cx="1646775" cy="440892"/>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86" name="Line 56">
                    <a:extLst>
                      <a:ext uri="{FF2B5EF4-FFF2-40B4-BE49-F238E27FC236}">
                        <a16:creationId xmlns:a16="http://schemas.microsoft.com/office/drawing/2014/main" id="{3507C8F3-71FB-A1B4-3DE0-D47FDCFF7E60}"/>
                      </a:ext>
                    </a:extLst>
                  </p:cNvPr>
                  <p:cNvSpPr>
                    <a:spLocks noChangeShapeType="1"/>
                  </p:cNvSpPr>
                  <p:nvPr/>
                </p:nvSpPr>
                <p:spPr bwMode="auto">
                  <a:xfrm flipV="1">
                    <a:off x="3811043" y="4112365"/>
                    <a:ext cx="1629443" cy="764970"/>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87" name="Line 56">
                    <a:extLst>
                      <a:ext uri="{FF2B5EF4-FFF2-40B4-BE49-F238E27FC236}">
                        <a16:creationId xmlns:a16="http://schemas.microsoft.com/office/drawing/2014/main" id="{9C94E392-6D50-7CB0-1B5F-B45EA497D8C0}"/>
                      </a:ext>
                    </a:extLst>
                  </p:cNvPr>
                  <p:cNvSpPr>
                    <a:spLocks noChangeShapeType="1"/>
                  </p:cNvSpPr>
                  <p:nvPr/>
                </p:nvSpPr>
                <p:spPr bwMode="auto">
                  <a:xfrm>
                    <a:off x="6325692" y="3038931"/>
                    <a:ext cx="1574906" cy="26267"/>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91" name="Line 56">
                    <a:extLst>
                      <a:ext uri="{FF2B5EF4-FFF2-40B4-BE49-F238E27FC236}">
                        <a16:creationId xmlns:a16="http://schemas.microsoft.com/office/drawing/2014/main" id="{F713451C-49A4-ECA0-80D3-A79B5AE97F34}"/>
                      </a:ext>
                    </a:extLst>
                  </p:cNvPr>
                  <p:cNvSpPr>
                    <a:spLocks noChangeShapeType="1"/>
                  </p:cNvSpPr>
                  <p:nvPr/>
                </p:nvSpPr>
                <p:spPr bwMode="auto">
                  <a:xfrm>
                    <a:off x="6325692" y="4248090"/>
                    <a:ext cx="1574906" cy="36935"/>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E1EC06E0-FBA0-932A-6C86-F8313775BA2D}"/>
                          </a:ext>
                        </a:extLst>
                      </p:cNvPr>
                      <p:cNvSpPr txBox="1"/>
                      <p:nvPr/>
                    </p:nvSpPr>
                    <p:spPr>
                      <a:xfrm>
                        <a:off x="6065044" y="2699365"/>
                        <a:ext cx="241935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US" dirty="0"/>
                      </a:p>
                    </p:txBody>
                  </p:sp>
                </mc:Choice>
                <mc:Fallback xmlns="">
                  <p:sp>
                    <p:nvSpPr>
                      <p:cNvPr id="93" name="TextBox 92">
                        <a:extLst>
                          <a:ext uri="{FF2B5EF4-FFF2-40B4-BE49-F238E27FC236}">
                            <a16:creationId xmlns:a16="http://schemas.microsoft.com/office/drawing/2014/main" id="{E1EC06E0-FBA0-932A-6C86-F8313775BA2D}"/>
                          </a:ext>
                        </a:extLst>
                      </p:cNvPr>
                      <p:cNvSpPr txBox="1">
                        <a:spLocks noRot="1" noChangeAspect="1" noMove="1" noResize="1" noEditPoints="1" noAdjustHandles="1" noChangeArrowheads="1" noChangeShapeType="1" noTextEdit="1"/>
                      </p:cNvSpPr>
                      <p:nvPr/>
                    </p:nvSpPr>
                    <p:spPr>
                      <a:xfrm>
                        <a:off x="6065044" y="2699365"/>
                        <a:ext cx="2419350" cy="276999"/>
                      </a:xfrm>
                      <a:prstGeom prst="rect">
                        <a:avLst/>
                      </a:prstGeom>
                      <a:blipFill>
                        <a:blip r:embed="rId9"/>
                        <a:stretch>
                          <a:fillRect t="-4348" b="-347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FA870B7D-8EAF-B556-E044-1A5F20FACF69}"/>
                          </a:ext>
                        </a:extLst>
                      </p:cNvPr>
                      <p:cNvSpPr txBox="1"/>
                      <p:nvPr/>
                    </p:nvSpPr>
                    <p:spPr>
                      <a:xfrm>
                        <a:off x="6096000" y="3899654"/>
                        <a:ext cx="241935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m:oMathPara>
                        </a14:m>
                        <a:endParaRPr lang="en-US" dirty="0"/>
                      </a:p>
                    </p:txBody>
                  </p:sp>
                </mc:Choice>
                <mc:Fallback xmlns="">
                  <p:sp>
                    <p:nvSpPr>
                      <p:cNvPr id="94" name="TextBox 93">
                        <a:extLst>
                          <a:ext uri="{FF2B5EF4-FFF2-40B4-BE49-F238E27FC236}">
                            <a16:creationId xmlns:a16="http://schemas.microsoft.com/office/drawing/2014/main" id="{FA870B7D-8EAF-B556-E044-1A5F20FACF69}"/>
                          </a:ext>
                        </a:extLst>
                      </p:cNvPr>
                      <p:cNvSpPr txBox="1">
                        <a:spLocks noRot="1" noChangeAspect="1" noMove="1" noResize="1" noEditPoints="1" noAdjustHandles="1" noChangeArrowheads="1" noChangeShapeType="1" noTextEdit="1"/>
                      </p:cNvSpPr>
                      <p:nvPr/>
                    </p:nvSpPr>
                    <p:spPr>
                      <a:xfrm>
                        <a:off x="6096000" y="3899654"/>
                        <a:ext cx="2419350" cy="276999"/>
                      </a:xfrm>
                      <a:prstGeom prst="rect">
                        <a:avLst/>
                      </a:prstGeom>
                      <a:blipFill>
                        <a:blip r:embed="rId10"/>
                        <a:stretch>
                          <a:fillRect b="-34783"/>
                        </a:stretch>
                      </a:blipFill>
                    </p:spPr>
                    <p:txBody>
                      <a:bodyPr/>
                      <a:lstStyle/>
                      <a:p>
                        <a:r>
                          <a:rPr lang="en-US">
                            <a:noFill/>
                          </a:rPr>
                          <a:t> </a:t>
                        </a:r>
                      </a:p>
                    </p:txBody>
                  </p:sp>
                </mc:Fallback>
              </mc:AlternateContent>
            </p:grpSp>
          </p:grp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D0E3B62-BE0F-401B-89D3-C3BCDA7CAB6E}"/>
                    </a:ext>
                  </a:extLst>
                </p:cNvPr>
                <p:cNvSpPr txBox="1"/>
                <p:nvPr/>
              </p:nvSpPr>
              <p:spPr>
                <a:xfrm>
                  <a:off x="6096000" y="6308209"/>
                  <a:ext cx="5068313"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a:latin typeface="Cambria Math" panose="02040503050406030204" pitchFamily="18" charset="0"/>
                          </a:rPr>
                          <m:t>𝒛</m:t>
                        </m:r>
                        <m:r>
                          <a:rPr lang="en-US" sz="2400" i="1">
                            <a:latin typeface="Cambria Math" panose="02040503050406030204" pitchFamily="18" charset="0"/>
                          </a:rPr>
                          <m:t> =</m:t>
                        </m:r>
                        <m:sSub>
                          <m:sSubPr>
                            <m:ctrlPr>
                              <a:rPr lang="en-US" sz="2400" b="1" i="1">
                                <a:latin typeface="Cambria Math" panose="02040503050406030204" pitchFamily="18" charset="0"/>
                              </a:rPr>
                            </m:ctrlPr>
                          </m:sSubPr>
                          <m:e>
                            <m:r>
                              <a:rPr lang="en-US" sz="2400" b="1" i="1">
                                <a:latin typeface="Cambria Math" panose="02040503050406030204" pitchFamily="18" charset="0"/>
                              </a:rPr>
                              <m:t>𝒘</m:t>
                            </m:r>
                          </m:e>
                          <m:sub>
                            <m:r>
                              <a:rPr lang="en-US" sz="2400" b="1" i="1">
                                <a:latin typeface="Cambria Math" panose="02040503050406030204" pitchFamily="18" charset="0"/>
                              </a:rPr>
                              <m:t>𝒐</m:t>
                            </m:r>
                          </m:sub>
                        </m:sSub>
                        <m:r>
                          <a:rPr lang="en-US" sz="2400" i="1" smtClean="0">
                            <a:latin typeface="Cambria Math" panose="02040503050406030204" pitchFamily="18" charset="0"/>
                          </a:rPr>
                          <m:t>+</m:t>
                        </m:r>
                        <m:r>
                          <a:rPr lang="en-US" sz="2400" b="1" i="1" smtClean="0">
                            <a:latin typeface="Cambria Math" panose="02040503050406030204" pitchFamily="18" charset="0"/>
                          </a:rPr>
                          <m:t>𝒙</m:t>
                        </m:r>
                        <m:sSup>
                          <m:sSupPr>
                            <m:ctrlPr>
                              <a:rPr lang="en-US" sz="2400" i="1">
                                <a:latin typeface="Cambria Math" panose="02040503050406030204" pitchFamily="18" charset="0"/>
                              </a:rPr>
                            </m:ctrlPr>
                          </m:sSupPr>
                          <m:e>
                            <m:r>
                              <a:rPr lang="en-US" sz="2400" i="1">
                                <a:latin typeface="Cambria Math" panose="02040503050406030204" pitchFamily="18" charset="0"/>
                              </a:rPr>
                              <m:t>𝑊</m:t>
                            </m:r>
                          </m:e>
                          <m:sup>
                            <m:r>
                              <a:rPr lang="en-US" sz="2400" i="1">
                                <a:latin typeface="Cambria Math" panose="02040503050406030204" pitchFamily="18" charset="0"/>
                              </a:rPr>
                              <m:t>𝑇</m:t>
                            </m:r>
                          </m:sup>
                        </m:sSup>
                      </m:oMath>
                    </m:oMathPara>
                  </a14:m>
                  <a:endParaRPr lang="en-US" sz="2400" dirty="0"/>
                </a:p>
              </p:txBody>
            </p:sp>
          </mc:Choice>
          <mc:Fallback xmlns="">
            <p:sp>
              <p:nvSpPr>
                <p:cNvPr id="14" name="TextBox 13">
                  <a:extLst>
                    <a:ext uri="{FF2B5EF4-FFF2-40B4-BE49-F238E27FC236}">
                      <a16:creationId xmlns:a16="http://schemas.microsoft.com/office/drawing/2014/main" id="{CD0E3B62-BE0F-401B-89D3-C3BCDA7CAB6E}"/>
                    </a:ext>
                  </a:extLst>
                </p:cNvPr>
                <p:cNvSpPr txBox="1">
                  <a:spLocks noRot="1" noChangeAspect="1" noMove="1" noResize="1" noEditPoints="1" noAdjustHandles="1" noChangeArrowheads="1" noChangeShapeType="1" noTextEdit="1"/>
                </p:cNvSpPr>
                <p:nvPr/>
              </p:nvSpPr>
              <p:spPr>
                <a:xfrm>
                  <a:off x="6096000" y="6308209"/>
                  <a:ext cx="5068313" cy="369332"/>
                </a:xfrm>
                <a:prstGeom prst="rect">
                  <a:avLst/>
                </a:prstGeom>
                <a:blipFill>
                  <a:blip r:embed="rId17"/>
                  <a:stretch>
                    <a:fillRect t="-6667" b="-40000"/>
                  </a:stretch>
                </a:blipFill>
              </p:spPr>
              <p:txBody>
                <a:bodyPr/>
                <a:lstStyle/>
                <a:p>
                  <a:r>
                    <a:rPr lang="en-US">
                      <a:noFill/>
                    </a:rPr>
                    <a:t> </a:t>
                  </a:r>
                </a:p>
              </p:txBody>
            </p:sp>
          </mc:Fallback>
        </mc:AlternateContent>
      </p:grpSp>
      <p:sp>
        <p:nvSpPr>
          <p:cNvPr id="20" name="Slide Number Placeholder 19">
            <a:extLst>
              <a:ext uri="{FF2B5EF4-FFF2-40B4-BE49-F238E27FC236}">
                <a16:creationId xmlns:a16="http://schemas.microsoft.com/office/drawing/2014/main" id="{C565AE4A-2818-D499-557F-B20CDBFE230B}"/>
              </a:ext>
            </a:extLst>
          </p:cNvPr>
          <p:cNvSpPr>
            <a:spLocks noGrp="1"/>
          </p:cNvSpPr>
          <p:nvPr>
            <p:ph type="sldNum" sz="quarter" idx="12"/>
          </p:nvPr>
        </p:nvSpPr>
        <p:spPr/>
        <p:txBody>
          <a:bodyPr/>
          <a:lstStyle/>
          <a:p>
            <a:fld id="{B3533053-B928-004D-A0E8-A0A092123CEE}" type="slidenum">
              <a:rPr lang="en-US" smtClean="0"/>
              <a:t>32</a:t>
            </a:fld>
            <a:endParaRPr lang="en-US"/>
          </a:p>
        </p:txBody>
      </p:sp>
    </p:spTree>
    <p:extLst>
      <p:ext uri="{BB962C8B-B14F-4D97-AF65-F5344CB8AC3E}">
        <p14:creationId xmlns:p14="http://schemas.microsoft.com/office/powerpoint/2010/main" val="69596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D06A6703-1DBF-B066-C0E4-8A16F903EAB6}"/>
              </a:ext>
            </a:extLst>
          </p:cNvPr>
          <p:cNvPicPr>
            <a:picLocks noChangeAspect="1"/>
          </p:cNvPicPr>
          <p:nvPr/>
        </p:nvPicPr>
        <p:blipFill>
          <a:blip r:embed="rId3"/>
          <a:srcRect/>
          <a:stretch/>
        </p:blipFill>
        <p:spPr>
          <a:xfrm>
            <a:off x="1052422" y="1590172"/>
            <a:ext cx="7970808" cy="4126230"/>
          </a:xfrm>
          <a:prstGeom prst="rect">
            <a:avLst/>
          </a:prstGeom>
        </p:spPr>
      </p:pic>
      <p:sp>
        <p:nvSpPr>
          <p:cNvPr id="4" name="Title 1">
            <a:extLst>
              <a:ext uri="{FF2B5EF4-FFF2-40B4-BE49-F238E27FC236}">
                <a16:creationId xmlns:a16="http://schemas.microsoft.com/office/drawing/2014/main" id="{FFE08B99-7B95-0C62-F627-6F8FDB65E7B7}"/>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panose="020B0604020202020204" pitchFamily="34" charset="0"/>
                <a:cs typeface="Arial" panose="020B0604020202020204" pitchFamily="34" charset="0"/>
              </a:rPr>
              <a:t>Build a single layer from scratch</a:t>
            </a:r>
          </a:p>
        </p:txBody>
      </p:sp>
      <p:pic>
        <p:nvPicPr>
          <p:cNvPr id="5" name="Picture 4">
            <a:extLst>
              <a:ext uri="{FF2B5EF4-FFF2-40B4-BE49-F238E27FC236}">
                <a16:creationId xmlns:a16="http://schemas.microsoft.com/office/drawing/2014/main" id="{0D7CC1F4-8B82-2028-8973-0067C1066180}"/>
              </a:ext>
            </a:extLst>
          </p:cNvPr>
          <p:cNvPicPr>
            <a:picLocks noChangeAspect="1"/>
          </p:cNvPicPr>
          <p:nvPr/>
        </p:nvPicPr>
        <p:blipFill>
          <a:blip r:embed="rId4"/>
          <a:stretch>
            <a:fillRect/>
          </a:stretch>
        </p:blipFill>
        <p:spPr>
          <a:xfrm rot="10800000" flipH="1" flipV="1">
            <a:off x="289691" y="1590172"/>
            <a:ext cx="762730" cy="877046"/>
          </a:xfrm>
          <a:prstGeom prst="rect">
            <a:avLst/>
          </a:prstGeom>
        </p:spPr>
      </p:pic>
      <p:sp>
        <p:nvSpPr>
          <p:cNvPr id="11" name="Rectangle 10">
            <a:extLst>
              <a:ext uri="{FF2B5EF4-FFF2-40B4-BE49-F238E27FC236}">
                <a16:creationId xmlns:a16="http://schemas.microsoft.com/office/drawing/2014/main" id="{3F885DE4-3BF7-1291-9E91-C32AFB364A69}"/>
              </a:ext>
            </a:extLst>
          </p:cNvPr>
          <p:cNvSpPr/>
          <p:nvPr/>
        </p:nvSpPr>
        <p:spPr>
          <a:xfrm>
            <a:off x="1052421" y="3154231"/>
            <a:ext cx="7970809" cy="89053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2" name="Oval 11">
            <a:extLst>
              <a:ext uri="{FF2B5EF4-FFF2-40B4-BE49-F238E27FC236}">
                <a16:creationId xmlns:a16="http://schemas.microsoft.com/office/drawing/2014/main" id="{1E2341F0-FB2D-392B-7FFA-FB73F7302F03}"/>
              </a:ext>
            </a:extLst>
          </p:cNvPr>
          <p:cNvSpPr/>
          <p:nvPr/>
        </p:nvSpPr>
        <p:spPr>
          <a:xfrm>
            <a:off x="3774951" y="4060672"/>
            <a:ext cx="337493" cy="32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4" name="Oval 13">
            <a:extLst>
              <a:ext uri="{FF2B5EF4-FFF2-40B4-BE49-F238E27FC236}">
                <a16:creationId xmlns:a16="http://schemas.microsoft.com/office/drawing/2014/main" id="{C01660C0-0908-57C8-6A98-EC0F8DA2BF08}"/>
              </a:ext>
            </a:extLst>
          </p:cNvPr>
          <p:cNvSpPr/>
          <p:nvPr/>
        </p:nvSpPr>
        <p:spPr>
          <a:xfrm>
            <a:off x="6497480" y="4305857"/>
            <a:ext cx="337493" cy="32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5" name="Oval 14">
            <a:extLst>
              <a:ext uri="{FF2B5EF4-FFF2-40B4-BE49-F238E27FC236}">
                <a16:creationId xmlns:a16="http://schemas.microsoft.com/office/drawing/2014/main" id="{1D6385D4-09CF-275C-F9CD-491176E111A0}"/>
              </a:ext>
            </a:extLst>
          </p:cNvPr>
          <p:cNvSpPr/>
          <p:nvPr/>
        </p:nvSpPr>
        <p:spPr>
          <a:xfrm>
            <a:off x="3234361" y="5210872"/>
            <a:ext cx="337493" cy="3219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24" name="Picture 23">
            <a:extLst>
              <a:ext uri="{FF2B5EF4-FFF2-40B4-BE49-F238E27FC236}">
                <a16:creationId xmlns:a16="http://schemas.microsoft.com/office/drawing/2014/main" id="{93CFE467-C223-5087-2A0F-9AC85481F68C}"/>
              </a:ext>
            </a:extLst>
          </p:cNvPr>
          <p:cNvPicPr>
            <a:picLocks noChangeAspect="1"/>
          </p:cNvPicPr>
          <p:nvPr/>
        </p:nvPicPr>
        <p:blipFill>
          <a:blip r:embed="rId5"/>
          <a:stretch>
            <a:fillRect/>
          </a:stretch>
        </p:blipFill>
        <p:spPr>
          <a:xfrm>
            <a:off x="1094707" y="6107987"/>
            <a:ext cx="5687789" cy="38488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E1993B8-1C6D-0D0A-6EB8-B91E586C2CC9}"/>
                  </a:ext>
                </a:extLst>
              </p:cNvPr>
              <p:cNvSpPr txBox="1"/>
              <p:nvPr/>
            </p:nvSpPr>
            <p:spPr>
              <a:xfrm>
                <a:off x="8123582" y="1704615"/>
                <a:ext cx="5068313"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a:latin typeface="Cambria Math" panose="02040503050406030204" pitchFamily="18" charset="0"/>
                        </a:rPr>
                        <m:t>𝒛</m:t>
                      </m:r>
                      <m:r>
                        <a:rPr lang="en-US" sz="2400" i="1">
                          <a:latin typeface="Cambria Math" panose="02040503050406030204" pitchFamily="18" charset="0"/>
                        </a:rPr>
                        <m:t> =</m:t>
                      </m:r>
                      <m:sSub>
                        <m:sSubPr>
                          <m:ctrlPr>
                            <a:rPr lang="en-US" sz="2400" b="1" i="1">
                              <a:latin typeface="Cambria Math" panose="02040503050406030204" pitchFamily="18" charset="0"/>
                            </a:rPr>
                          </m:ctrlPr>
                        </m:sSubPr>
                        <m:e>
                          <m:r>
                            <a:rPr lang="en-US" sz="2400" b="1" i="1">
                              <a:latin typeface="Cambria Math" panose="02040503050406030204" pitchFamily="18" charset="0"/>
                            </a:rPr>
                            <m:t>𝒘</m:t>
                          </m:r>
                        </m:e>
                        <m:sub>
                          <m:r>
                            <a:rPr lang="en-US" sz="2400" b="1" i="1">
                              <a:latin typeface="Cambria Math" panose="02040503050406030204" pitchFamily="18" charset="0"/>
                            </a:rPr>
                            <m:t>𝒐</m:t>
                          </m:r>
                        </m:sub>
                      </m:sSub>
                      <m:r>
                        <a:rPr lang="en-US" sz="2400" i="1" smtClean="0">
                          <a:latin typeface="Cambria Math" panose="02040503050406030204" pitchFamily="18" charset="0"/>
                        </a:rPr>
                        <m:t>+</m:t>
                      </m:r>
                      <m:r>
                        <a:rPr lang="en-US" sz="2400" b="1" i="1" smtClean="0">
                          <a:latin typeface="Cambria Math" panose="02040503050406030204" pitchFamily="18" charset="0"/>
                        </a:rPr>
                        <m:t>𝒙</m:t>
                      </m:r>
                      <m:sSup>
                        <m:sSupPr>
                          <m:ctrlPr>
                            <a:rPr lang="en-US" sz="2400" i="1">
                              <a:latin typeface="Cambria Math" panose="02040503050406030204" pitchFamily="18" charset="0"/>
                            </a:rPr>
                          </m:ctrlPr>
                        </m:sSupPr>
                        <m:e>
                          <m:r>
                            <a:rPr lang="en-US" sz="2400" i="1">
                              <a:latin typeface="Cambria Math" panose="02040503050406030204" pitchFamily="18" charset="0"/>
                            </a:rPr>
                            <m:t>𝑊</m:t>
                          </m:r>
                        </m:e>
                        <m:sup>
                          <m:r>
                            <a:rPr lang="en-US" sz="2400" i="1">
                              <a:latin typeface="Cambria Math" panose="02040503050406030204" pitchFamily="18" charset="0"/>
                            </a:rPr>
                            <m:t>𝑇</m:t>
                          </m:r>
                        </m:sup>
                      </m:sSup>
                    </m:oMath>
                  </m:oMathPara>
                </a14:m>
                <a:endParaRPr lang="en-US" sz="2400" dirty="0"/>
              </a:p>
            </p:txBody>
          </p:sp>
        </mc:Choice>
        <mc:Fallback xmlns="">
          <p:sp>
            <p:nvSpPr>
              <p:cNvPr id="2" name="TextBox 1">
                <a:extLst>
                  <a:ext uri="{FF2B5EF4-FFF2-40B4-BE49-F238E27FC236}">
                    <a16:creationId xmlns:a16="http://schemas.microsoft.com/office/drawing/2014/main" id="{5E1993B8-1C6D-0D0A-6EB8-B91E586C2CC9}"/>
                  </a:ext>
                </a:extLst>
              </p:cNvPr>
              <p:cNvSpPr txBox="1">
                <a:spLocks noRot="1" noChangeAspect="1" noMove="1" noResize="1" noEditPoints="1" noAdjustHandles="1" noChangeArrowheads="1" noChangeShapeType="1" noTextEdit="1"/>
              </p:cNvSpPr>
              <p:nvPr/>
            </p:nvSpPr>
            <p:spPr>
              <a:xfrm>
                <a:off x="8123582" y="1704615"/>
                <a:ext cx="5068313" cy="369332"/>
              </a:xfrm>
              <a:prstGeom prst="rect">
                <a:avLst/>
              </a:prstGeom>
              <a:blipFill>
                <a:blip r:embed="rId6"/>
                <a:stretch>
                  <a:fillRect t="-6667" b="-3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8BDAD36-82AE-E192-98FB-6F42AB0258E7}"/>
                  </a:ext>
                </a:extLst>
              </p:cNvPr>
              <p:cNvSpPr txBox="1"/>
              <p:nvPr/>
            </p:nvSpPr>
            <p:spPr>
              <a:xfrm>
                <a:off x="7694115" y="2358821"/>
                <a:ext cx="5068313"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𝒚</m:t>
                      </m:r>
                      <m:r>
                        <a:rPr lang="en-US" sz="2400" b="0" i="1" smtClean="0">
                          <a:latin typeface="Cambria Math" panose="02040503050406030204" pitchFamily="18" charset="0"/>
                        </a:rPr>
                        <m:t>=</m:t>
                      </m:r>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1" i="1" smtClean="0">
                          <a:latin typeface="Cambria Math" panose="02040503050406030204" pitchFamily="18" charset="0"/>
                        </a:rPr>
                        <m:t>𝒛</m:t>
                      </m:r>
                      <m:r>
                        <a:rPr lang="en-US" sz="2400" b="0" i="1" smtClean="0">
                          <a:latin typeface="Cambria Math" panose="02040503050406030204" pitchFamily="18" charset="0"/>
                        </a:rPr>
                        <m:t>)</m:t>
                      </m:r>
                    </m:oMath>
                  </m:oMathPara>
                </a14:m>
                <a:endParaRPr lang="en-US" sz="2400" dirty="0"/>
              </a:p>
            </p:txBody>
          </p:sp>
        </mc:Choice>
        <mc:Fallback xmlns="">
          <p:sp>
            <p:nvSpPr>
              <p:cNvPr id="3" name="TextBox 2">
                <a:extLst>
                  <a:ext uri="{FF2B5EF4-FFF2-40B4-BE49-F238E27FC236}">
                    <a16:creationId xmlns:a16="http://schemas.microsoft.com/office/drawing/2014/main" id="{88BDAD36-82AE-E192-98FB-6F42AB0258E7}"/>
                  </a:ext>
                </a:extLst>
              </p:cNvPr>
              <p:cNvSpPr txBox="1">
                <a:spLocks noRot="1" noChangeAspect="1" noMove="1" noResize="1" noEditPoints="1" noAdjustHandles="1" noChangeArrowheads="1" noChangeShapeType="1" noTextEdit="1"/>
              </p:cNvSpPr>
              <p:nvPr/>
            </p:nvSpPr>
            <p:spPr>
              <a:xfrm>
                <a:off x="7694115" y="2358821"/>
                <a:ext cx="5068313" cy="369332"/>
              </a:xfrm>
              <a:prstGeom prst="rect">
                <a:avLst/>
              </a:prstGeom>
              <a:blipFill>
                <a:blip r:embed="rId7"/>
                <a:stretch>
                  <a:fillRect b="-32258"/>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F0054A7-5392-FD28-4B5F-E688C843BFDE}"/>
              </a:ext>
            </a:extLst>
          </p:cNvPr>
          <p:cNvSpPr>
            <a:spLocks noGrp="1"/>
          </p:cNvSpPr>
          <p:nvPr>
            <p:ph type="sldNum" sz="quarter" idx="12"/>
          </p:nvPr>
        </p:nvSpPr>
        <p:spPr/>
        <p:txBody>
          <a:bodyPr/>
          <a:lstStyle/>
          <a:p>
            <a:fld id="{B3533053-B928-004D-A0E8-A0A092123CEE}" type="slidenum">
              <a:rPr lang="en-US" smtClean="0"/>
              <a:t>33</a:t>
            </a:fld>
            <a:endParaRPr lang="en-US"/>
          </a:p>
        </p:txBody>
      </p:sp>
    </p:spTree>
    <p:extLst>
      <p:ext uri="{BB962C8B-B14F-4D97-AF65-F5344CB8AC3E}">
        <p14:creationId xmlns:p14="http://schemas.microsoft.com/office/powerpoint/2010/main" val="261695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3A3E02B3-36D3-A571-EC15-A005ACC1E7A5}"/>
              </a:ext>
            </a:extLst>
          </p:cNvPr>
          <p:cNvGrpSpPr/>
          <p:nvPr/>
        </p:nvGrpSpPr>
        <p:grpSpPr>
          <a:xfrm>
            <a:off x="2548003" y="1509652"/>
            <a:ext cx="7137100" cy="4900744"/>
            <a:chOff x="5830046" y="1150424"/>
            <a:chExt cx="7137100" cy="4900744"/>
          </a:xfrm>
        </p:grpSpPr>
        <p:sp>
          <p:nvSpPr>
            <p:cNvPr id="30" name="Oval 52">
              <a:extLst>
                <a:ext uri="{FF2B5EF4-FFF2-40B4-BE49-F238E27FC236}">
                  <a16:creationId xmlns:a16="http://schemas.microsoft.com/office/drawing/2014/main" id="{9831A567-9CC8-C26E-0D87-41E179FD369B}"/>
                </a:ext>
              </a:extLst>
            </p:cNvPr>
            <p:cNvSpPr>
              <a:spLocks noChangeArrowheads="1"/>
            </p:cNvSpPr>
            <p:nvPr/>
          </p:nvSpPr>
          <p:spPr bwMode="auto">
            <a:xfrm>
              <a:off x="11199945" y="3474680"/>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67" name="Oval 52">
              <a:extLst>
                <a:ext uri="{FF2B5EF4-FFF2-40B4-BE49-F238E27FC236}">
                  <a16:creationId xmlns:a16="http://schemas.microsoft.com/office/drawing/2014/main" id="{6D4D12AD-4982-6FF8-853A-E483D74BE1EC}"/>
                </a:ext>
              </a:extLst>
            </p:cNvPr>
            <p:cNvSpPr>
              <a:spLocks noChangeArrowheads="1"/>
            </p:cNvSpPr>
            <p:nvPr/>
          </p:nvSpPr>
          <p:spPr bwMode="auto">
            <a:xfrm>
              <a:off x="6251156" y="4264134"/>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60" name="Oval 52">
              <a:extLst>
                <a:ext uri="{FF2B5EF4-FFF2-40B4-BE49-F238E27FC236}">
                  <a16:creationId xmlns:a16="http://schemas.microsoft.com/office/drawing/2014/main" id="{414C9A97-97B0-E474-BCA5-41799E046F6D}"/>
                </a:ext>
              </a:extLst>
            </p:cNvPr>
            <p:cNvSpPr>
              <a:spLocks noChangeArrowheads="1"/>
            </p:cNvSpPr>
            <p:nvPr/>
          </p:nvSpPr>
          <p:spPr bwMode="auto">
            <a:xfrm>
              <a:off x="6216650" y="1624388"/>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64" name="Oval 52">
              <a:extLst>
                <a:ext uri="{FF2B5EF4-FFF2-40B4-BE49-F238E27FC236}">
                  <a16:creationId xmlns:a16="http://schemas.microsoft.com/office/drawing/2014/main" id="{3FCFC292-398F-A353-7E7C-31F4435F066B}"/>
                </a:ext>
              </a:extLst>
            </p:cNvPr>
            <p:cNvSpPr>
              <a:spLocks noChangeArrowheads="1"/>
            </p:cNvSpPr>
            <p:nvPr/>
          </p:nvSpPr>
          <p:spPr bwMode="auto">
            <a:xfrm>
              <a:off x="6216650" y="2806047"/>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69" name="Line 56">
              <a:extLst>
                <a:ext uri="{FF2B5EF4-FFF2-40B4-BE49-F238E27FC236}">
                  <a16:creationId xmlns:a16="http://schemas.microsoft.com/office/drawing/2014/main" id="{0841C2AC-42FC-0548-3D61-F02A81B3B9D5}"/>
                </a:ext>
              </a:extLst>
            </p:cNvPr>
            <p:cNvSpPr>
              <a:spLocks noChangeShapeType="1"/>
            </p:cNvSpPr>
            <p:nvPr/>
          </p:nvSpPr>
          <p:spPr bwMode="auto">
            <a:xfrm>
              <a:off x="7066756" y="2053571"/>
              <a:ext cx="1618825" cy="725577"/>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grpSp>
          <p:nvGrpSpPr>
            <p:cNvPr id="73" name="Group 72">
              <a:extLst>
                <a:ext uri="{FF2B5EF4-FFF2-40B4-BE49-F238E27FC236}">
                  <a16:creationId xmlns:a16="http://schemas.microsoft.com/office/drawing/2014/main" id="{8F55A976-4F3F-0288-2128-E2DDCC276BAF}"/>
                </a:ext>
              </a:extLst>
            </p:cNvPr>
            <p:cNvGrpSpPr/>
            <p:nvPr/>
          </p:nvGrpSpPr>
          <p:grpSpPr>
            <a:xfrm>
              <a:off x="8745232" y="1150424"/>
              <a:ext cx="850106" cy="858368"/>
              <a:chOff x="661869" y="828954"/>
              <a:chExt cx="850106" cy="858368"/>
            </a:xfrm>
          </p:grpSpPr>
          <p:sp>
            <p:nvSpPr>
              <p:cNvPr id="74" name="Oval 52">
                <a:extLst>
                  <a:ext uri="{FF2B5EF4-FFF2-40B4-BE49-F238E27FC236}">
                    <a16:creationId xmlns:a16="http://schemas.microsoft.com/office/drawing/2014/main" id="{5B21C832-39FD-A2FE-12F3-060C36666AB8}"/>
                  </a:ext>
                </a:extLst>
              </p:cNvPr>
              <p:cNvSpPr>
                <a:spLocks noChangeArrowheads="1"/>
              </p:cNvSpPr>
              <p:nvPr/>
            </p:nvSpPr>
            <p:spPr bwMode="auto">
              <a:xfrm>
                <a:off x="661869" y="828954"/>
                <a:ext cx="850106" cy="858368"/>
              </a:xfrm>
              <a:prstGeom prst="ellipse">
                <a:avLst/>
              </a:prstGeom>
              <a:solidFill>
                <a:schemeClr val="accent1">
                  <a:lumMod val="60000"/>
                  <a:lumOff val="40000"/>
                </a:schemeClr>
              </a:solidFill>
              <a:ln w="9525">
                <a:solidFill>
                  <a:schemeClr val="tx1"/>
                </a:solidFill>
                <a:round/>
                <a:headEnd/>
                <a:tailEnd/>
              </a:ln>
            </p:spPr>
            <p:txBody>
              <a:bodyPr wrap="none" anchor="ctr">
                <a:prstTxWarp prst="textNoShape">
                  <a:avLst/>
                </a:prstTxWarp>
              </a:bodyPr>
              <a:lstStyle/>
              <a:p>
                <a:endParaRPr lang="en-US" b="0"/>
              </a:p>
            </p:txBody>
          </p:sp>
          <mc:AlternateContent xmlns:mc="http://schemas.openxmlformats.org/markup-compatibility/2006" xmlns:a14="http://schemas.microsoft.com/office/drawing/2010/main">
            <mc:Choice Requires="a14">
              <p:sp>
                <p:nvSpPr>
                  <p:cNvPr id="75" name="Text Box 68">
                    <a:extLst>
                      <a:ext uri="{FF2B5EF4-FFF2-40B4-BE49-F238E27FC236}">
                        <a16:creationId xmlns:a16="http://schemas.microsoft.com/office/drawing/2014/main" id="{CA2ED046-5A28-4365-40B8-4B7DE0DD0258}"/>
                      </a:ext>
                    </a:extLst>
                  </p:cNvPr>
                  <p:cNvSpPr txBox="1">
                    <a:spLocks noChangeArrowheads="1"/>
                  </p:cNvSpPr>
                  <p:nvPr/>
                </p:nvSpPr>
                <p:spPr bwMode="auto">
                  <a:xfrm>
                    <a:off x="792097" y="958312"/>
                    <a:ext cx="589649" cy="523220"/>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1</m:t>
                              </m:r>
                            </m:sub>
                          </m:sSub>
                        </m:oMath>
                      </m:oMathPara>
                    </a14:m>
                    <a:endParaRPr lang="en-US" sz="2800" b="0" dirty="0"/>
                  </a:p>
                </p:txBody>
              </p:sp>
            </mc:Choice>
            <mc:Fallback xmlns="">
              <p:sp>
                <p:nvSpPr>
                  <p:cNvPr id="75" name="Text Box 68">
                    <a:extLst>
                      <a:ext uri="{FF2B5EF4-FFF2-40B4-BE49-F238E27FC236}">
                        <a16:creationId xmlns:a16="http://schemas.microsoft.com/office/drawing/2014/main" id="{CA2ED046-5A28-4365-40B8-4B7DE0DD0258}"/>
                      </a:ext>
                    </a:extLst>
                  </p:cNvPr>
                  <p:cNvSpPr txBox="1">
                    <a:spLocks noRot="1" noChangeAspect="1" noMove="1" noResize="1" noEditPoints="1" noAdjustHandles="1" noChangeArrowheads="1" noChangeShapeType="1" noTextEdit="1"/>
                  </p:cNvSpPr>
                  <p:nvPr/>
                </p:nvSpPr>
                <p:spPr bwMode="auto">
                  <a:xfrm>
                    <a:off x="792097" y="958312"/>
                    <a:ext cx="589649" cy="523220"/>
                  </a:xfrm>
                  <a:prstGeom prst="rect">
                    <a:avLst/>
                  </a:prstGeom>
                  <a:blipFill>
                    <a:blip r:embed="rId3"/>
                    <a:stretch>
                      <a:fillRect/>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6" name="Text Box 68">
                  <a:extLst>
                    <a:ext uri="{FF2B5EF4-FFF2-40B4-BE49-F238E27FC236}">
                      <a16:creationId xmlns:a16="http://schemas.microsoft.com/office/drawing/2014/main" id="{3F4E46D6-EB89-2C10-8707-20BB0716A217}"/>
                    </a:ext>
                  </a:extLst>
                </p:cNvPr>
                <p:cNvSpPr txBox="1">
                  <a:spLocks noChangeArrowheads="1"/>
                </p:cNvSpPr>
                <p:nvPr/>
              </p:nvSpPr>
              <p:spPr bwMode="auto">
                <a:xfrm>
                  <a:off x="6330662" y="1748398"/>
                  <a:ext cx="750462"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oMath>
                    </m:oMathPara>
                  </a14:m>
                  <a:endParaRPr lang="en-US" sz="2800" b="0" dirty="0"/>
                </a:p>
                <a:p>
                  <a:endParaRPr lang="en-US" sz="2800" b="0" dirty="0"/>
                </a:p>
              </p:txBody>
            </p:sp>
          </mc:Choice>
          <mc:Fallback xmlns="">
            <p:sp>
              <p:nvSpPr>
                <p:cNvPr id="76" name="Text Box 68">
                  <a:extLst>
                    <a:ext uri="{FF2B5EF4-FFF2-40B4-BE49-F238E27FC236}">
                      <a16:creationId xmlns:a16="http://schemas.microsoft.com/office/drawing/2014/main" id="{3F4E46D6-EB89-2C10-8707-20BB0716A217}"/>
                    </a:ext>
                  </a:extLst>
                </p:cNvPr>
                <p:cNvSpPr txBox="1">
                  <a:spLocks noRot="1" noChangeAspect="1" noMove="1" noResize="1" noEditPoints="1" noAdjustHandles="1" noChangeArrowheads="1" noChangeShapeType="1" noTextEdit="1"/>
                </p:cNvSpPr>
                <p:nvPr/>
              </p:nvSpPr>
              <p:spPr bwMode="auto">
                <a:xfrm>
                  <a:off x="6330662" y="1748398"/>
                  <a:ext cx="750462" cy="954107"/>
                </a:xfrm>
                <a:prstGeom prst="rect">
                  <a:avLst/>
                </a:prstGeom>
                <a:blipFill>
                  <a:blip r:embed="rId4"/>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 Box 68">
                  <a:extLst>
                    <a:ext uri="{FF2B5EF4-FFF2-40B4-BE49-F238E27FC236}">
                      <a16:creationId xmlns:a16="http://schemas.microsoft.com/office/drawing/2014/main" id="{C82F8669-DE5D-C5CC-B5FB-6A6FA0202B95}"/>
                    </a:ext>
                  </a:extLst>
                </p:cNvPr>
                <p:cNvSpPr txBox="1">
                  <a:spLocks noChangeArrowheads="1"/>
                </p:cNvSpPr>
                <p:nvPr/>
              </p:nvSpPr>
              <p:spPr bwMode="auto">
                <a:xfrm>
                  <a:off x="6313563" y="2930285"/>
                  <a:ext cx="742576"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2</m:t>
                            </m:r>
                          </m:sub>
                        </m:sSub>
                      </m:oMath>
                    </m:oMathPara>
                  </a14:m>
                  <a:endParaRPr lang="en-US" sz="2800" b="0" dirty="0"/>
                </a:p>
                <a:p>
                  <a:endParaRPr lang="en-US" sz="2800" b="0" dirty="0"/>
                </a:p>
              </p:txBody>
            </p:sp>
          </mc:Choice>
          <mc:Fallback xmlns="">
            <p:sp>
              <p:nvSpPr>
                <p:cNvPr id="77" name="Text Box 68">
                  <a:extLst>
                    <a:ext uri="{FF2B5EF4-FFF2-40B4-BE49-F238E27FC236}">
                      <a16:creationId xmlns:a16="http://schemas.microsoft.com/office/drawing/2014/main" id="{C82F8669-DE5D-C5CC-B5FB-6A6FA0202B95}"/>
                    </a:ext>
                  </a:extLst>
                </p:cNvPr>
                <p:cNvSpPr txBox="1">
                  <a:spLocks noRot="1" noChangeAspect="1" noMove="1" noResize="1" noEditPoints="1" noAdjustHandles="1" noChangeArrowheads="1" noChangeShapeType="1" noTextEdit="1"/>
                </p:cNvSpPr>
                <p:nvPr/>
              </p:nvSpPr>
              <p:spPr bwMode="auto">
                <a:xfrm>
                  <a:off x="6313563" y="2930285"/>
                  <a:ext cx="742576" cy="954107"/>
                </a:xfrm>
                <a:prstGeom prst="rect">
                  <a:avLst/>
                </a:prstGeom>
                <a:blipFill>
                  <a:blip r:embed="rId5"/>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 Box 68">
                  <a:extLst>
                    <a:ext uri="{FF2B5EF4-FFF2-40B4-BE49-F238E27FC236}">
                      <a16:creationId xmlns:a16="http://schemas.microsoft.com/office/drawing/2014/main" id="{63526AD1-7C13-7660-95B2-66D74787F69F}"/>
                    </a:ext>
                  </a:extLst>
                </p:cNvPr>
                <p:cNvSpPr txBox="1">
                  <a:spLocks noChangeArrowheads="1"/>
                </p:cNvSpPr>
                <p:nvPr/>
              </p:nvSpPr>
              <p:spPr bwMode="auto">
                <a:xfrm>
                  <a:off x="6326617" y="4398854"/>
                  <a:ext cx="740139"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3</m:t>
                            </m:r>
                          </m:sub>
                        </m:sSub>
                      </m:oMath>
                    </m:oMathPara>
                  </a14:m>
                  <a:endParaRPr lang="en-US" sz="2800" b="0" dirty="0"/>
                </a:p>
                <a:p>
                  <a:endParaRPr lang="en-US" sz="2800" b="0" dirty="0"/>
                </a:p>
              </p:txBody>
            </p:sp>
          </mc:Choice>
          <mc:Fallback xmlns="">
            <p:sp>
              <p:nvSpPr>
                <p:cNvPr id="78" name="Text Box 68">
                  <a:extLst>
                    <a:ext uri="{FF2B5EF4-FFF2-40B4-BE49-F238E27FC236}">
                      <a16:creationId xmlns:a16="http://schemas.microsoft.com/office/drawing/2014/main" id="{63526AD1-7C13-7660-95B2-66D74787F69F}"/>
                    </a:ext>
                  </a:extLst>
                </p:cNvPr>
                <p:cNvSpPr txBox="1">
                  <a:spLocks noRot="1" noChangeAspect="1" noMove="1" noResize="1" noEditPoints="1" noAdjustHandles="1" noChangeArrowheads="1" noChangeShapeType="1" noTextEdit="1"/>
                </p:cNvSpPr>
                <p:nvPr/>
              </p:nvSpPr>
              <p:spPr bwMode="auto">
                <a:xfrm>
                  <a:off x="6326617" y="4398854"/>
                  <a:ext cx="740139" cy="954107"/>
                </a:xfrm>
                <a:prstGeom prst="rect">
                  <a:avLst/>
                </a:prstGeom>
                <a:blipFill>
                  <a:blip r:embed="rId6"/>
                  <a:stretch>
                    <a:fillRect/>
                  </a:stretch>
                </a:blipFill>
                <a:ln w="9525">
                  <a:noFill/>
                  <a:miter lim="800000"/>
                  <a:headEnd/>
                  <a:tailEnd/>
                </a:ln>
              </p:spPr>
              <p:txBody>
                <a:bodyPr/>
                <a:lstStyle/>
                <a:p>
                  <a:r>
                    <a:rPr lang="en-US">
                      <a:noFill/>
                    </a:rPr>
                    <a:t> </a:t>
                  </a:r>
                </a:p>
              </p:txBody>
            </p:sp>
          </mc:Fallback>
        </mc:AlternateContent>
        <p:sp>
          <p:nvSpPr>
            <p:cNvPr id="79" name="Line 56">
              <a:extLst>
                <a:ext uri="{FF2B5EF4-FFF2-40B4-BE49-F238E27FC236}">
                  <a16:creationId xmlns:a16="http://schemas.microsoft.com/office/drawing/2014/main" id="{B2391806-9690-CE7B-948E-80A62D35E170}"/>
                </a:ext>
              </a:extLst>
            </p:cNvPr>
            <p:cNvSpPr>
              <a:spLocks noChangeShapeType="1"/>
            </p:cNvSpPr>
            <p:nvPr/>
          </p:nvSpPr>
          <p:spPr bwMode="auto">
            <a:xfrm flipV="1">
              <a:off x="7101390" y="2806048"/>
              <a:ext cx="1584192" cy="429184"/>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80" name="Line 56">
              <a:extLst>
                <a:ext uri="{FF2B5EF4-FFF2-40B4-BE49-F238E27FC236}">
                  <a16:creationId xmlns:a16="http://schemas.microsoft.com/office/drawing/2014/main" id="{984EA15F-48BB-0752-68FA-22C922734364}"/>
                </a:ext>
              </a:extLst>
            </p:cNvPr>
            <p:cNvSpPr>
              <a:spLocks noChangeShapeType="1"/>
            </p:cNvSpPr>
            <p:nvPr/>
          </p:nvSpPr>
          <p:spPr bwMode="auto">
            <a:xfrm flipV="1">
              <a:off x="7056139" y="2882462"/>
              <a:ext cx="1629442" cy="1632429"/>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grpSp>
          <p:nvGrpSpPr>
            <p:cNvPr id="81" name="Group 80">
              <a:extLst>
                <a:ext uri="{FF2B5EF4-FFF2-40B4-BE49-F238E27FC236}">
                  <a16:creationId xmlns:a16="http://schemas.microsoft.com/office/drawing/2014/main" id="{E914F9FE-246D-A7D3-2581-ABE4B12AD3B6}"/>
                </a:ext>
              </a:extLst>
            </p:cNvPr>
            <p:cNvGrpSpPr/>
            <p:nvPr/>
          </p:nvGrpSpPr>
          <p:grpSpPr>
            <a:xfrm>
              <a:off x="8714815" y="3455208"/>
              <a:ext cx="850106" cy="858368"/>
              <a:chOff x="696621" y="1987081"/>
              <a:chExt cx="850106" cy="858368"/>
            </a:xfrm>
          </p:grpSpPr>
          <p:sp>
            <p:nvSpPr>
              <p:cNvPr id="82" name="Oval 52">
                <a:extLst>
                  <a:ext uri="{FF2B5EF4-FFF2-40B4-BE49-F238E27FC236}">
                    <a16:creationId xmlns:a16="http://schemas.microsoft.com/office/drawing/2014/main" id="{E12745AD-1E13-6196-893F-24266101EFD0}"/>
                  </a:ext>
                </a:extLst>
              </p:cNvPr>
              <p:cNvSpPr>
                <a:spLocks noChangeArrowheads="1"/>
              </p:cNvSpPr>
              <p:nvPr/>
            </p:nvSpPr>
            <p:spPr bwMode="auto">
              <a:xfrm>
                <a:off x="696621" y="1987081"/>
                <a:ext cx="850106" cy="858368"/>
              </a:xfrm>
              <a:prstGeom prst="ellipse">
                <a:avLst/>
              </a:prstGeom>
              <a:solidFill>
                <a:schemeClr val="accent1">
                  <a:lumMod val="60000"/>
                  <a:lumOff val="40000"/>
                </a:schemeClr>
              </a:solidFill>
              <a:ln w="9525">
                <a:solidFill>
                  <a:schemeClr val="tx1"/>
                </a:solidFill>
                <a:round/>
                <a:headEnd/>
                <a:tailEnd/>
              </a:ln>
            </p:spPr>
            <p:txBody>
              <a:bodyPr wrap="none" anchor="ctr">
                <a:prstTxWarp prst="textNoShape">
                  <a:avLst/>
                </a:prstTxWarp>
              </a:bodyPr>
              <a:lstStyle/>
              <a:p>
                <a:endParaRPr lang="en-US" b="0"/>
              </a:p>
            </p:txBody>
          </p:sp>
          <mc:AlternateContent xmlns:mc="http://schemas.openxmlformats.org/markup-compatibility/2006" xmlns:a14="http://schemas.microsoft.com/office/drawing/2010/main">
            <mc:Choice Requires="a14">
              <p:sp>
                <p:nvSpPr>
                  <p:cNvPr id="83" name="Text Box 68">
                    <a:extLst>
                      <a:ext uri="{FF2B5EF4-FFF2-40B4-BE49-F238E27FC236}">
                        <a16:creationId xmlns:a16="http://schemas.microsoft.com/office/drawing/2014/main" id="{A684D744-72F4-4707-0C84-4F1F5263BA45}"/>
                      </a:ext>
                    </a:extLst>
                  </p:cNvPr>
                  <p:cNvSpPr txBox="1">
                    <a:spLocks noChangeArrowheads="1"/>
                  </p:cNvSpPr>
                  <p:nvPr/>
                </p:nvSpPr>
                <p:spPr bwMode="auto">
                  <a:xfrm>
                    <a:off x="870452" y="2129956"/>
                    <a:ext cx="597921" cy="523220"/>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3</m:t>
                              </m:r>
                            </m:sub>
                          </m:sSub>
                        </m:oMath>
                      </m:oMathPara>
                    </a14:m>
                    <a:endParaRPr lang="en-US" sz="2800" b="0" dirty="0"/>
                  </a:p>
                </p:txBody>
              </p:sp>
            </mc:Choice>
            <mc:Fallback xmlns="">
              <p:sp>
                <p:nvSpPr>
                  <p:cNvPr id="83" name="Text Box 68">
                    <a:extLst>
                      <a:ext uri="{FF2B5EF4-FFF2-40B4-BE49-F238E27FC236}">
                        <a16:creationId xmlns:a16="http://schemas.microsoft.com/office/drawing/2014/main" id="{A684D744-72F4-4707-0C84-4F1F5263BA45}"/>
                      </a:ext>
                    </a:extLst>
                  </p:cNvPr>
                  <p:cNvSpPr txBox="1">
                    <a:spLocks noRot="1" noChangeAspect="1" noMove="1" noResize="1" noEditPoints="1" noAdjustHandles="1" noChangeArrowheads="1" noChangeShapeType="1" noTextEdit="1"/>
                  </p:cNvSpPr>
                  <p:nvPr/>
                </p:nvSpPr>
                <p:spPr bwMode="auto">
                  <a:xfrm>
                    <a:off x="870452" y="2129956"/>
                    <a:ext cx="597921" cy="523220"/>
                  </a:xfrm>
                  <a:prstGeom prst="rect">
                    <a:avLst/>
                  </a:prstGeom>
                  <a:blipFill>
                    <a:blip r:embed="rId7"/>
                    <a:stretch>
                      <a:fillRect b="-2381"/>
                    </a:stretch>
                  </a:blipFill>
                  <a:ln w="9525">
                    <a:noFill/>
                    <a:miter lim="800000"/>
                    <a:headEnd/>
                    <a:tailEnd/>
                  </a:ln>
                </p:spPr>
                <p:txBody>
                  <a:bodyPr/>
                  <a:lstStyle/>
                  <a:p>
                    <a:r>
                      <a:rPr lang="en-US">
                        <a:noFill/>
                      </a:rPr>
                      <a:t> </a:t>
                    </a:r>
                  </a:p>
                </p:txBody>
              </p:sp>
            </mc:Fallback>
          </mc:AlternateContent>
        </p:grpSp>
        <p:sp>
          <p:nvSpPr>
            <p:cNvPr id="84" name="Line 56">
              <a:extLst>
                <a:ext uri="{FF2B5EF4-FFF2-40B4-BE49-F238E27FC236}">
                  <a16:creationId xmlns:a16="http://schemas.microsoft.com/office/drawing/2014/main" id="{8B3745CA-FA78-B157-33AF-61A4C445CEA1}"/>
                </a:ext>
              </a:extLst>
            </p:cNvPr>
            <p:cNvSpPr>
              <a:spLocks noChangeShapeType="1"/>
            </p:cNvSpPr>
            <p:nvPr/>
          </p:nvSpPr>
          <p:spPr bwMode="auto">
            <a:xfrm>
              <a:off x="7084073" y="2067020"/>
              <a:ext cx="1629442" cy="1632429"/>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85" name="Line 56">
              <a:extLst>
                <a:ext uri="{FF2B5EF4-FFF2-40B4-BE49-F238E27FC236}">
                  <a16:creationId xmlns:a16="http://schemas.microsoft.com/office/drawing/2014/main" id="{FFC725EE-6AB0-C41C-AAA8-4CEAB74A90CF}"/>
                </a:ext>
              </a:extLst>
            </p:cNvPr>
            <p:cNvSpPr>
              <a:spLocks noChangeShapeType="1"/>
            </p:cNvSpPr>
            <p:nvPr/>
          </p:nvSpPr>
          <p:spPr bwMode="auto">
            <a:xfrm>
              <a:off x="7083172" y="3272006"/>
              <a:ext cx="1646775" cy="440892"/>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86" name="Line 56">
              <a:extLst>
                <a:ext uri="{FF2B5EF4-FFF2-40B4-BE49-F238E27FC236}">
                  <a16:creationId xmlns:a16="http://schemas.microsoft.com/office/drawing/2014/main" id="{3507C8F3-71FB-A1B4-3DE0-D47FDCFF7E60}"/>
                </a:ext>
              </a:extLst>
            </p:cNvPr>
            <p:cNvSpPr>
              <a:spLocks noChangeShapeType="1"/>
            </p:cNvSpPr>
            <p:nvPr/>
          </p:nvSpPr>
          <p:spPr bwMode="auto">
            <a:xfrm flipV="1">
              <a:off x="7083172" y="3749672"/>
              <a:ext cx="1629443" cy="764970"/>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91" name="Line 56">
              <a:extLst>
                <a:ext uri="{FF2B5EF4-FFF2-40B4-BE49-F238E27FC236}">
                  <a16:creationId xmlns:a16="http://schemas.microsoft.com/office/drawing/2014/main" id="{F713451C-49A4-ECA0-80D3-A79B5AE97F34}"/>
                </a:ext>
              </a:extLst>
            </p:cNvPr>
            <p:cNvSpPr>
              <a:spLocks noChangeShapeType="1"/>
            </p:cNvSpPr>
            <p:nvPr/>
          </p:nvSpPr>
          <p:spPr bwMode="auto">
            <a:xfrm>
              <a:off x="9593839" y="1587453"/>
              <a:ext cx="1619968" cy="1148814"/>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22" name="Oval 52">
              <a:extLst>
                <a:ext uri="{FF2B5EF4-FFF2-40B4-BE49-F238E27FC236}">
                  <a16:creationId xmlns:a16="http://schemas.microsoft.com/office/drawing/2014/main" id="{6F5C5C30-800F-0633-1818-96FCD9855448}"/>
                </a:ext>
              </a:extLst>
            </p:cNvPr>
            <p:cNvSpPr>
              <a:spLocks noChangeArrowheads="1"/>
            </p:cNvSpPr>
            <p:nvPr/>
          </p:nvSpPr>
          <p:spPr bwMode="auto">
            <a:xfrm>
              <a:off x="11199945" y="2247340"/>
              <a:ext cx="850106" cy="858368"/>
            </a:xfrm>
            <a:prstGeom prst="ellipse">
              <a:avLst/>
            </a:prstGeom>
            <a:noFill/>
            <a:ln w="9525">
              <a:solidFill>
                <a:schemeClr val="tx1"/>
              </a:solidFill>
              <a:round/>
              <a:headEnd/>
              <a:tailEnd/>
            </a:ln>
          </p:spPr>
          <p:txBody>
            <a:bodyPr wrap="none" anchor="ctr">
              <a:prstTxWarp prst="textNoShape">
                <a:avLst/>
              </a:prstTxWarp>
            </a:bodyPr>
            <a:lstStyle/>
            <a:p>
              <a:endParaRPr lang="en-US" b="0"/>
            </a:p>
          </p:txBody>
        </p:sp>
        <mc:AlternateContent xmlns:mc="http://schemas.openxmlformats.org/markup-compatibility/2006" xmlns:a14="http://schemas.microsoft.com/office/drawing/2010/main">
          <mc:Choice Requires="a14">
            <p:sp>
              <p:nvSpPr>
                <p:cNvPr id="26" name="Text Box 68">
                  <a:extLst>
                    <a:ext uri="{FF2B5EF4-FFF2-40B4-BE49-F238E27FC236}">
                      <a16:creationId xmlns:a16="http://schemas.microsoft.com/office/drawing/2014/main" id="{8C49D550-CE89-5CAA-6916-482CE21698C0}"/>
                    </a:ext>
                  </a:extLst>
                </p:cNvPr>
                <p:cNvSpPr txBox="1">
                  <a:spLocks noChangeArrowheads="1"/>
                </p:cNvSpPr>
                <p:nvPr/>
              </p:nvSpPr>
              <p:spPr bwMode="auto">
                <a:xfrm>
                  <a:off x="11233029" y="2367227"/>
                  <a:ext cx="850106" cy="954107"/>
                </a:xfrm>
                <a:prstGeom prst="rect">
                  <a:avLst/>
                </a:prstGeom>
                <a:noFill/>
                <a:ln w="9525">
                  <a:noFill/>
                  <a:miter lim="800000"/>
                  <a:headEnd/>
                  <a:tailEnd/>
                </a:ln>
              </p:spPr>
              <p:txBody>
                <a:bodyPr wrap="squar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1</m:t>
                            </m:r>
                          </m:sub>
                        </m:sSub>
                      </m:oMath>
                    </m:oMathPara>
                  </a14:m>
                  <a:endParaRPr lang="en-US" sz="2800" b="0" dirty="0"/>
                </a:p>
                <a:p>
                  <a:endParaRPr lang="en-US" sz="2800" b="0" dirty="0"/>
                </a:p>
              </p:txBody>
            </p:sp>
          </mc:Choice>
          <mc:Fallback xmlns="">
            <p:sp>
              <p:nvSpPr>
                <p:cNvPr id="26" name="Text Box 68">
                  <a:extLst>
                    <a:ext uri="{FF2B5EF4-FFF2-40B4-BE49-F238E27FC236}">
                      <a16:creationId xmlns:a16="http://schemas.microsoft.com/office/drawing/2014/main" id="{8C49D550-CE89-5CAA-6916-482CE21698C0}"/>
                    </a:ext>
                  </a:extLst>
                </p:cNvPr>
                <p:cNvSpPr txBox="1">
                  <a:spLocks noRot="1" noChangeAspect="1" noMove="1" noResize="1" noEditPoints="1" noAdjustHandles="1" noChangeArrowheads="1" noChangeShapeType="1" noTextEdit="1"/>
                </p:cNvSpPr>
                <p:nvPr/>
              </p:nvSpPr>
              <p:spPr bwMode="auto">
                <a:xfrm>
                  <a:off x="11233029" y="2367227"/>
                  <a:ext cx="850106" cy="954107"/>
                </a:xfrm>
                <a:prstGeom prst="rect">
                  <a:avLst/>
                </a:prstGeom>
                <a:blipFill>
                  <a:blip r:embed="rId8"/>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 Box 68">
                  <a:extLst>
                    <a:ext uri="{FF2B5EF4-FFF2-40B4-BE49-F238E27FC236}">
                      <a16:creationId xmlns:a16="http://schemas.microsoft.com/office/drawing/2014/main" id="{51A63E87-BF9D-96A6-6109-33076324152C}"/>
                    </a:ext>
                  </a:extLst>
                </p:cNvPr>
                <p:cNvSpPr txBox="1">
                  <a:spLocks noChangeArrowheads="1"/>
                </p:cNvSpPr>
                <p:nvPr/>
              </p:nvSpPr>
              <p:spPr bwMode="auto">
                <a:xfrm>
                  <a:off x="11217004" y="3589817"/>
                  <a:ext cx="850106" cy="954107"/>
                </a:xfrm>
                <a:prstGeom prst="rect">
                  <a:avLst/>
                </a:prstGeom>
                <a:noFill/>
                <a:ln w="9525">
                  <a:noFill/>
                  <a:miter lim="800000"/>
                  <a:headEnd/>
                  <a:tailEnd/>
                </a:ln>
              </p:spPr>
              <p:txBody>
                <a:bodyPr wrap="squar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2</m:t>
                            </m:r>
                          </m:sub>
                        </m:sSub>
                      </m:oMath>
                    </m:oMathPara>
                  </a14:m>
                  <a:endParaRPr lang="en-US" sz="2800" b="0" dirty="0"/>
                </a:p>
                <a:p>
                  <a:endParaRPr lang="en-US" sz="2800" b="0" dirty="0"/>
                </a:p>
              </p:txBody>
            </p:sp>
          </mc:Choice>
          <mc:Fallback xmlns="">
            <p:sp>
              <p:nvSpPr>
                <p:cNvPr id="29" name="Text Box 68">
                  <a:extLst>
                    <a:ext uri="{FF2B5EF4-FFF2-40B4-BE49-F238E27FC236}">
                      <a16:creationId xmlns:a16="http://schemas.microsoft.com/office/drawing/2014/main" id="{51A63E87-BF9D-96A6-6109-33076324152C}"/>
                    </a:ext>
                  </a:extLst>
                </p:cNvPr>
                <p:cNvSpPr txBox="1">
                  <a:spLocks noRot="1" noChangeAspect="1" noMove="1" noResize="1" noEditPoints="1" noAdjustHandles="1" noChangeArrowheads="1" noChangeShapeType="1" noTextEdit="1"/>
                </p:cNvSpPr>
                <p:nvPr/>
              </p:nvSpPr>
              <p:spPr bwMode="auto">
                <a:xfrm>
                  <a:off x="11217004" y="3589817"/>
                  <a:ext cx="850106" cy="954107"/>
                </a:xfrm>
                <a:prstGeom prst="rect">
                  <a:avLst/>
                </a:prstGeom>
                <a:blipFill>
                  <a:blip r:embed="rId9"/>
                  <a:stretch>
                    <a:fillRect/>
                  </a:stretch>
                </a:blipFill>
                <a:ln w="9525">
                  <a:noFill/>
                  <a:miter lim="800000"/>
                  <a:headEnd/>
                  <a:tailEnd/>
                </a:ln>
              </p:spPr>
              <p:txBody>
                <a:bodyPr/>
                <a:lstStyle/>
                <a:p>
                  <a:r>
                    <a:rPr lang="en-US">
                      <a:noFill/>
                    </a:rPr>
                    <a:t> </a:t>
                  </a:r>
                </a:p>
              </p:txBody>
            </p:sp>
          </mc:Fallback>
        </mc:AlternateContent>
        <p:sp>
          <p:nvSpPr>
            <p:cNvPr id="32" name="TextBox 31">
              <a:extLst>
                <a:ext uri="{FF2B5EF4-FFF2-40B4-BE49-F238E27FC236}">
                  <a16:creationId xmlns:a16="http://schemas.microsoft.com/office/drawing/2014/main" id="{49F26DC0-95F4-0C05-64D7-356D399226CD}"/>
                </a:ext>
              </a:extLst>
            </p:cNvPr>
            <p:cNvSpPr txBox="1"/>
            <p:nvPr/>
          </p:nvSpPr>
          <p:spPr>
            <a:xfrm>
              <a:off x="5830046" y="5565539"/>
              <a:ext cx="1751693"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Input layer</a:t>
              </a:r>
            </a:p>
          </p:txBody>
        </p:sp>
        <p:sp>
          <p:nvSpPr>
            <p:cNvPr id="33" name="TextBox 32">
              <a:extLst>
                <a:ext uri="{FF2B5EF4-FFF2-40B4-BE49-F238E27FC236}">
                  <a16:creationId xmlns:a16="http://schemas.microsoft.com/office/drawing/2014/main" id="{3E24CD74-2FD4-A7A3-38AE-697202E2610C}"/>
                </a:ext>
              </a:extLst>
            </p:cNvPr>
            <p:cNvSpPr txBox="1"/>
            <p:nvPr/>
          </p:nvSpPr>
          <p:spPr>
            <a:xfrm>
              <a:off x="8343656" y="5589502"/>
              <a:ext cx="201699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Hidden layer</a:t>
              </a:r>
            </a:p>
          </p:txBody>
        </p:sp>
        <p:sp>
          <p:nvSpPr>
            <p:cNvPr id="34" name="TextBox 33">
              <a:extLst>
                <a:ext uri="{FF2B5EF4-FFF2-40B4-BE49-F238E27FC236}">
                  <a16:creationId xmlns:a16="http://schemas.microsoft.com/office/drawing/2014/main" id="{311C12EC-1264-1FDE-479F-6D2089965D6F}"/>
                </a:ext>
              </a:extLst>
            </p:cNvPr>
            <p:cNvSpPr txBox="1"/>
            <p:nvPr/>
          </p:nvSpPr>
          <p:spPr>
            <a:xfrm>
              <a:off x="10950156" y="5589503"/>
              <a:ext cx="201699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Output layer</a:t>
              </a:r>
            </a:p>
          </p:txBody>
        </p:sp>
        <p:grpSp>
          <p:nvGrpSpPr>
            <p:cNvPr id="14" name="Group 13">
              <a:extLst>
                <a:ext uri="{FF2B5EF4-FFF2-40B4-BE49-F238E27FC236}">
                  <a16:creationId xmlns:a16="http://schemas.microsoft.com/office/drawing/2014/main" id="{8CD160C7-C87B-DB0E-3E5F-0B1AFB902178}"/>
                </a:ext>
              </a:extLst>
            </p:cNvPr>
            <p:cNvGrpSpPr/>
            <p:nvPr/>
          </p:nvGrpSpPr>
          <p:grpSpPr>
            <a:xfrm>
              <a:off x="8719732" y="2330874"/>
              <a:ext cx="850106" cy="858368"/>
              <a:chOff x="661869" y="828954"/>
              <a:chExt cx="850106" cy="858368"/>
            </a:xfrm>
          </p:grpSpPr>
          <p:sp>
            <p:nvSpPr>
              <p:cNvPr id="18" name="Oval 52">
                <a:extLst>
                  <a:ext uri="{FF2B5EF4-FFF2-40B4-BE49-F238E27FC236}">
                    <a16:creationId xmlns:a16="http://schemas.microsoft.com/office/drawing/2014/main" id="{BDA8B0C9-B4C0-8D99-1BA6-A6F81BC6DDCA}"/>
                  </a:ext>
                </a:extLst>
              </p:cNvPr>
              <p:cNvSpPr>
                <a:spLocks noChangeArrowheads="1"/>
              </p:cNvSpPr>
              <p:nvPr/>
            </p:nvSpPr>
            <p:spPr bwMode="auto">
              <a:xfrm>
                <a:off x="661869" y="828954"/>
                <a:ext cx="850106" cy="858368"/>
              </a:xfrm>
              <a:prstGeom prst="ellipse">
                <a:avLst/>
              </a:prstGeom>
              <a:solidFill>
                <a:schemeClr val="accent1">
                  <a:lumMod val="60000"/>
                  <a:lumOff val="40000"/>
                </a:schemeClr>
              </a:solidFill>
              <a:ln w="9525">
                <a:solidFill>
                  <a:schemeClr val="tx1"/>
                </a:solidFill>
                <a:round/>
                <a:headEnd/>
                <a:tailEnd/>
              </a:ln>
            </p:spPr>
            <p:txBody>
              <a:bodyPr wrap="none" anchor="ctr">
                <a:prstTxWarp prst="textNoShape">
                  <a:avLst/>
                </a:prstTxWarp>
              </a:bodyPr>
              <a:lstStyle/>
              <a:p>
                <a:endParaRPr lang="en-US" b="0"/>
              </a:p>
            </p:txBody>
          </p:sp>
          <mc:AlternateContent xmlns:mc="http://schemas.openxmlformats.org/markup-compatibility/2006" xmlns:a14="http://schemas.microsoft.com/office/drawing/2010/main">
            <mc:Choice Requires="a14">
              <p:sp>
                <p:nvSpPr>
                  <p:cNvPr id="20" name="Text Box 68">
                    <a:extLst>
                      <a:ext uri="{FF2B5EF4-FFF2-40B4-BE49-F238E27FC236}">
                        <a16:creationId xmlns:a16="http://schemas.microsoft.com/office/drawing/2014/main" id="{789FC525-014F-4B8D-5FE5-D4F35E234393}"/>
                      </a:ext>
                    </a:extLst>
                  </p:cNvPr>
                  <p:cNvSpPr txBox="1">
                    <a:spLocks noChangeArrowheads="1"/>
                  </p:cNvSpPr>
                  <p:nvPr/>
                </p:nvSpPr>
                <p:spPr bwMode="auto">
                  <a:xfrm>
                    <a:off x="792097" y="958312"/>
                    <a:ext cx="597921" cy="523220"/>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2</m:t>
                              </m:r>
                            </m:sub>
                          </m:sSub>
                        </m:oMath>
                      </m:oMathPara>
                    </a14:m>
                    <a:endParaRPr lang="en-US" sz="2800" b="0" dirty="0"/>
                  </a:p>
                </p:txBody>
              </p:sp>
            </mc:Choice>
            <mc:Fallback xmlns="">
              <p:sp>
                <p:nvSpPr>
                  <p:cNvPr id="20" name="Text Box 68">
                    <a:extLst>
                      <a:ext uri="{FF2B5EF4-FFF2-40B4-BE49-F238E27FC236}">
                        <a16:creationId xmlns:a16="http://schemas.microsoft.com/office/drawing/2014/main" id="{789FC525-014F-4B8D-5FE5-D4F35E234393}"/>
                      </a:ext>
                    </a:extLst>
                  </p:cNvPr>
                  <p:cNvSpPr txBox="1">
                    <a:spLocks noRot="1" noChangeAspect="1" noMove="1" noResize="1" noEditPoints="1" noAdjustHandles="1" noChangeArrowheads="1" noChangeShapeType="1" noTextEdit="1"/>
                  </p:cNvSpPr>
                  <p:nvPr/>
                </p:nvSpPr>
                <p:spPr bwMode="auto">
                  <a:xfrm>
                    <a:off x="792097" y="958312"/>
                    <a:ext cx="597921" cy="523220"/>
                  </a:xfrm>
                  <a:prstGeom prst="rect">
                    <a:avLst/>
                  </a:prstGeom>
                  <a:blipFill>
                    <a:blip r:embed="rId10"/>
                    <a:stretch>
                      <a:fillRect/>
                    </a:stretch>
                  </a:blipFill>
                  <a:ln w="9525">
                    <a:noFill/>
                    <a:miter lim="800000"/>
                    <a:headEnd/>
                    <a:tailEnd/>
                  </a:ln>
                </p:spPr>
                <p:txBody>
                  <a:bodyPr/>
                  <a:lstStyle/>
                  <a:p>
                    <a:r>
                      <a:rPr lang="en-US">
                        <a:noFill/>
                      </a:rPr>
                      <a:t> </a:t>
                    </a:r>
                  </a:p>
                </p:txBody>
              </p:sp>
            </mc:Fallback>
          </mc:AlternateContent>
        </p:grpSp>
        <p:grpSp>
          <p:nvGrpSpPr>
            <p:cNvPr id="21" name="Group 20">
              <a:extLst>
                <a:ext uri="{FF2B5EF4-FFF2-40B4-BE49-F238E27FC236}">
                  <a16:creationId xmlns:a16="http://schemas.microsoft.com/office/drawing/2014/main" id="{C85B95B5-C4FE-37D5-CDE3-604B49CE9243}"/>
                </a:ext>
              </a:extLst>
            </p:cNvPr>
            <p:cNvGrpSpPr/>
            <p:nvPr/>
          </p:nvGrpSpPr>
          <p:grpSpPr>
            <a:xfrm>
              <a:off x="8743733" y="4587520"/>
              <a:ext cx="850106" cy="858368"/>
              <a:chOff x="661869" y="828954"/>
              <a:chExt cx="850106" cy="858368"/>
            </a:xfrm>
          </p:grpSpPr>
          <p:sp>
            <p:nvSpPr>
              <p:cNvPr id="36" name="Oval 52">
                <a:extLst>
                  <a:ext uri="{FF2B5EF4-FFF2-40B4-BE49-F238E27FC236}">
                    <a16:creationId xmlns:a16="http://schemas.microsoft.com/office/drawing/2014/main" id="{C73B8516-90BE-7731-34E5-CEFBF43395BB}"/>
                  </a:ext>
                </a:extLst>
              </p:cNvPr>
              <p:cNvSpPr>
                <a:spLocks noChangeArrowheads="1"/>
              </p:cNvSpPr>
              <p:nvPr/>
            </p:nvSpPr>
            <p:spPr bwMode="auto">
              <a:xfrm>
                <a:off x="661869" y="828954"/>
                <a:ext cx="850106" cy="858368"/>
              </a:xfrm>
              <a:prstGeom prst="ellipse">
                <a:avLst/>
              </a:prstGeom>
              <a:solidFill>
                <a:schemeClr val="accent1">
                  <a:lumMod val="60000"/>
                  <a:lumOff val="40000"/>
                </a:schemeClr>
              </a:solidFill>
              <a:ln w="9525">
                <a:solidFill>
                  <a:schemeClr val="tx1"/>
                </a:solidFill>
                <a:round/>
                <a:headEnd/>
                <a:tailEnd/>
              </a:ln>
            </p:spPr>
            <p:txBody>
              <a:bodyPr wrap="none" anchor="ctr">
                <a:prstTxWarp prst="textNoShape">
                  <a:avLst/>
                </a:prstTxWarp>
              </a:bodyPr>
              <a:lstStyle/>
              <a:p>
                <a:endParaRPr lang="en-US" b="0"/>
              </a:p>
            </p:txBody>
          </p:sp>
          <mc:AlternateContent xmlns:mc="http://schemas.openxmlformats.org/markup-compatibility/2006" xmlns:a14="http://schemas.microsoft.com/office/drawing/2010/main">
            <mc:Choice Requires="a14">
              <p:sp>
                <p:nvSpPr>
                  <p:cNvPr id="37" name="Text Box 68">
                    <a:extLst>
                      <a:ext uri="{FF2B5EF4-FFF2-40B4-BE49-F238E27FC236}">
                        <a16:creationId xmlns:a16="http://schemas.microsoft.com/office/drawing/2014/main" id="{BFC4DB84-91DD-FDF0-5457-22845CAD87AF}"/>
                      </a:ext>
                    </a:extLst>
                  </p:cNvPr>
                  <p:cNvSpPr txBox="1">
                    <a:spLocks noChangeArrowheads="1"/>
                  </p:cNvSpPr>
                  <p:nvPr/>
                </p:nvSpPr>
                <p:spPr bwMode="auto">
                  <a:xfrm>
                    <a:off x="792097" y="958312"/>
                    <a:ext cx="597921" cy="523220"/>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4</m:t>
                              </m:r>
                            </m:sub>
                          </m:sSub>
                        </m:oMath>
                      </m:oMathPara>
                    </a14:m>
                    <a:endParaRPr lang="en-US" sz="2800" b="0" dirty="0"/>
                  </a:p>
                </p:txBody>
              </p:sp>
            </mc:Choice>
            <mc:Fallback xmlns="">
              <p:sp>
                <p:nvSpPr>
                  <p:cNvPr id="37" name="Text Box 68">
                    <a:extLst>
                      <a:ext uri="{FF2B5EF4-FFF2-40B4-BE49-F238E27FC236}">
                        <a16:creationId xmlns:a16="http://schemas.microsoft.com/office/drawing/2014/main" id="{BFC4DB84-91DD-FDF0-5457-22845CAD87AF}"/>
                      </a:ext>
                    </a:extLst>
                  </p:cNvPr>
                  <p:cNvSpPr txBox="1">
                    <a:spLocks noRot="1" noChangeAspect="1" noMove="1" noResize="1" noEditPoints="1" noAdjustHandles="1" noChangeArrowheads="1" noChangeShapeType="1" noTextEdit="1"/>
                  </p:cNvSpPr>
                  <p:nvPr/>
                </p:nvSpPr>
                <p:spPr bwMode="auto">
                  <a:xfrm>
                    <a:off x="792097" y="958312"/>
                    <a:ext cx="597921" cy="523220"/>
                  </a:xfrm>
                  <a:prstGeom prst="rect">
                    <a:avLst/>
                  </a:prstGeom>
                  <a:blipFill>
                    <a:blip r:embed="rId11"/>
                    <a:stretch>
                      <a:fillRect/>
                    </a:stretch>
                  </a:blipFill>
                  <a:ln w="9525">
                    <a:noFill/>
                    <a:miter lim="800000"/>
                    <a:headEnd/>
                    <a:tailEnd/>
                  </a:ln>
                </p:spPr>
                <p:txBody>
                  <a:bodyPr/>
                  <a:lstStyle/>
                  <a:p>
                    <a:r>
                      <a:rPr lang="en-US">
                        <a:noFill/>
                      </a:rPr>
                      <a:t> </a:t>
                    </a:r>
                  </a:p>
                </p:txBody>
              </p:sp>
            </mc:Fallback>
          </mc:AlternateContent>
        </p:grpSp>
        <p:sp>
          <p:nvSpPr>
            <p:cNvPr id="38" name="Line 56">
              <a:extLst>
                <a:ext uri="{FF2B5EF4-FFF2-40B4-BE49-F238E27FC236}">
                  <a16:creationId xmlns:a16="http://schemas.microsoft.com/office/drawing/2014/main" id="{20EA2477-582F-3604-1CDC-1773CADF9843}"/>
                </a:ext>
              </a:extLst>
            </p:cNvPr>
            <p:cNvSpPr>
              <a:spLocks noChangeShapeType="1"/>
            </p:cNvSpPr>
            <p:nvPr/>
          </p:nvSpPr>
          <p:spPr bwMode="auto">
            <a:xfrm flipV="1">
              <a:off x="7109178" y="1484159"/>
              <a:ext cx="1636053" cy="587335"/>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39" name="Line 56">
              <a:extLst>
                <a:ext uri="{FF2B5EF4-FFF2-40B4-BE49-F238E27FC236}">
                  <a16:creationId xmlns:a16="http://schemas.microsoft.com/office/drawing/2014/main" id="{895C28A7-528A-FC09-C2D7-2AA30C76698D}"/>
                </a:ext>
              </a:extLst>
            </p:cNvPr>
            <p:cNvSpPr>
              <a:spLocks noChangeShapeType="1"/>
            </p:cNvSpPr>
            <p:nvPr/>
          </p:nvSpPr>
          <p:spPr bwMode="auto">
            <a:xfrm flipV="1">
              <a:off x="7095173" y="1484159"/>
              <a:ext cx="1650058" cy="1769460"/>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40" name="Line 56">
              <a:extLst>
                <a:ext uri="{FF2B5EF4-FFF2-40B4-BE49-F238E27FC236}">
                  <a16:creationId xmlns:a16="http://schemas.microsoft.com/office/drawing/2014/main" id="{E4625765-4B5A-76F1-C587-41A39BB3B2A7}"/>
                </a:ext>
              </a:extLst>
            </p:cNvPr>
            <p:cNvSpPr>
              <a:spLocks noChangeShapeType="1"/>
            </p:cNvSpPr>
            <p:nvPr/>
          </p:nvSpPr>
          <p:spPr bwMode="auto">
            <a:xfrm flipV="1">
              <a:off x="7079792" y="1484158"/>
              <a:ext cx="1684661" cy="3005122"/>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41" name="Line 56">
              <a:extLst>
                <a:ext uri="{FF2B5EF4-FFF2-40B4-BE49-F238E27FC236}">
                  <a16:creationId xmlns:a16="http://schemas.microsoft.com/office/drawing/2014/main" id="{8A5E4670-DF76-4476-FDD2-52CF78707400}"/>
                </a:ext>
              </a:extLst>
            </p:cNvPr>
            <p:cNvSpPr>
              <a:spLocks noChangeShapeType="1"/>
            </p:cNvSpPr>
            <p:nvPr/>
          </p:nvSpPr>
          <p:spPr bwMode="auto">
            <a:xfrm>
              <a:off x="7104778" y="2091976"/>
              <a:ext cx="1618818" cy="2873844"/>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42" name="Line 56">
              <a:extLst>
                <a:ext uri="{FF2B5EF4-FFF2-40B4-BE49-F238E27FC236}">
                  <a16:creationId xmlns:a16="http://schemas.microsoft.com/office/drawing/2014/main" id="{08DB172F-E2DD-4530-E6F2-318BC088721D}"/>
                </a:ext>
              </a:extLst>
            </p:cNvPr>
            <p:cNvSpPr>
              <a:spLocks noChangeShapeType="1"/>
            </p:cNvSpPr>
            <p:nvPr/>
          </p:nvSpPr>
          <p:spPr bwMode="auto">
            <a:xfrm>
              <a:off x="7079486" y="3261764"/>
              <a:ext cx="1642734" cy="1715471"/>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43" name="Line 56">
              <a:extLst>
                <a:ext uri="{FF2B5EF4-FFF2-40B4-BE49-F238E27FC236}">
                  <a16:creationId xmlns:a16="http://schemas.microsoft.com/office/drawing/2014/main" id="{FB6AA0B9-DA70-CC35-C1D0-E5BF42327CCB}"/>
                </a:ext>
              </a:extLst>
            </p:cNvPr>
            <p:cNvSpPr>
              <a:spLocks noChangeShapeType="1"/>
            </p:cNvSpPr>
            <p:nvPr/>
          </p:nvSpPr>
          <p:spPr bwMode="auto">
            <a:xfrm>
              <a:off x="7079486" y="4512128"/>
              <a:ext cx="1615700" cy="478648"/>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44" name="Line 56">
              <a:extLst>
                <a:ext uri="{FF2B5EF4-FFF2-40B4-BE49-F238E27FC236}">
                  <a16:creationId xmlns:a16="http://schemas.microsoft.com/office/drawing/2014/main" id="{FDB47F19-BAA1-324B-698A-3163FCBA3D4C}"/>
                </a:ext>
              </a:extLst>
            </p:cNvPr>
            <p:cNvSpPr>
              <a:spLocks noChangeShapeType="1"/>
            </p:cNvSpPr>
            <p:nvPr/>
          </p:nvSpPr>
          <p:spPr bwMode="auto">
            <a:xfrm>
              <a:off x="9546333" y="2718955"/>
              <a:ext cx="1629120" cy="41624"/>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45" name="Line 56">
              <a:extLst>
                <a:ext uri="{FF2B5EF4-FFF2-40B4-BE49-F238E27FC236}">
                  <a16:creationId xmlns:a16="http://schemas.microsoft.com/office/drawing/2014/main" id="{F2CBF5B8-046D-898F-CF9A-CF3CF0E8B614}"/>
                </a:ext>
              </a:extLst>
            </p:cNvPr>
            <p:cNvSpPr>
              <a:spLocks noChangeShapeType="1"/>
            </p:cNvSpPr>
            <p:nvPr/>
          </p:nvSpPr>
          <p:spPr bwMode="auto">
            <a:xfrm flipV="1">
              <a:off x="9586905" y="2790911"/>
              <a:ext cx="1588548" cy="1138354"/>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46" name="Line 56">
              <a:extLst>
                <a:ext uri="{FF2B5EF4-FFF2-40B4-BE49-F238E27FC236}">
                  <a16:creationId xmlns:a16="http://schemas.microsoft.com/office/drawing/2014/main" id="{575AD714-2DAF-2CD6-4F14-61301858ECD2}"/>
                </a:ext>
              </a:extLst>
            </p:cNvPr>
            <p:cNvSpPr>
              <a:spLocks noChangeShapeType="1"/>
            </p:cNvSpPr>
            <p:nvPr/>
          </p:nvSpPr>
          <p:spPr bwMode="auto">
            <a:xfrm flipV="1">
              <a:off x="9605553" y="2806047"/>
              <a:ext cx="1617802" cy="2211678"/>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47" name="Line 56">
              <a:extLst>
                <a:ext uri="{FF2B5EF4-FFF2-40B4-BE49-F238E27FC236}">
                  <a16:creationId xmlns:a16="http://schemas.microsoft.com/office/drawing/2014/main" id="{CCDD2CBB-61FB-542F-AC0A-E7738755E9DE}"/>
                </a:ext>
              </a:extLst>
            </p:cNvPr>
            <p:cNvSpPr>
              <a:spLocks noChangeShapeType="1"/>
            </p:cNvSpPr>
            <p:nvPr/>
          </p:nvSpPr>
          <p:spPr bwMode="auto">
            <a:xfrm>
              <a:off x="9589413" y="1606400"/>
              <a:ext cx="1624394" cy="2210763"/>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48" name="Line 56">
              <a:extLst>
                <a:ext uri="{FF2B5EF4-FFF2-40B4-BE49-F238E27FC236}">
                  <a16:creationId xmlns:a16="http://schemas.microsoft.com/office/drawing/2014/main" id="{6CE86E93-33B0-E46E-8ACF-52024C5D784F}"/>
                </a:ext>
              </a:extLst>
            </p:cNvPr>
            <p:cNvSpPr>
              <a:spLocks noChangeShapeType="1"/>
            </p:cNvSpPr>
            <p:nvPr/>
          </p:nvSpPr>
          <p:spPr bwMode="auto">
            <a:xfrm>
              <a:off x="9543135" y="2760663"/>
              <a:ext cx="1670671" cy="1086833"/>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49" name="Line 56">
              <a:extLst>
                <a:ext uri="{FF2B5EF4-FFF2-40B4-BE49-F238E27FC236}">
                  <a16:creationId xmlns:a16="http://schemas.microsoft.com/office/drawing/2014/main" id="{7EA74DBB-E56F-E6E0-F0A1-30D2C6E1B487}"/>
                </a:ext>
              </a:extLst>
            </p:cNvPr>
            <p:cNvSpPr>
              <a:spLocks noChangeShapeType="1"/>
            </p:cNvSpPr>
            <p:nvPr/>
          </p:nvSpPr>
          <p:spPr bwMode="auto">
            <a:xfrm flipV="1">
              <a:off x="9583441" y="3832298"/>
              <a:ext cx="1575872" cy="114753"/>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sp>
          <p:nvSpPr>
            <p:cNvPr id="50" name="Line 56">
              <a:extLst>
                <a:ext uri="{FF2B5EF4-FFF2-40B4-BE49-F238E27FC236}">
                  <a16:creationId xmlns:a16="http://schemas.microsoft.com/office/drawing/2014/main" id="{E80E248D-E9F2-3498-6795-A20AA2202FB2}"/>
                </a:ext>
              </a:extLst>
            </p:cNvPr>
            <p:cNvSpPr>
              <a:spLocks noChangeShapeType="1"/>
            </p:cNvSpPr>
            <p:nvPr/>
          </p:nvSpPr>
          <p:spPr bwMode="auto">
            <a:xfrm flipV="1">
              <a:off x="9624072" y="3860802"/>
              <a:ext cx="1589733" cy="1153305"/>
            </a:xfrm>
            <a:prstGeom prst="line">
              <a:avLst/>
            </a:prstGeom>
            <a:noFill/>
            <a:ln w="9525">
              <a:solidFill>
                <a:schemeClr val="tx1"/>
              </a:solidFill>
              <a:round/>
              <a:headEnd/>
              <a:tailEnd type="triangle" w="med" len="med"/>
            </a:ln>
          </p:spPr>
          <p:txBody>
            <a:bodyPr wrap="none">
              <a:prstTxWarp prst="textNoShape">
                <a:avLst/>
              </a:prstTxWarp>
            </a:bodyPr>
            <a:lstStyle/>
            <a:p>
              <a:endParaRPr lang="en-US" dirty="0"/>
            </a:p>
          </p:txBody>
        </p:sp>
      </p:grpSp>
      <p:sp>
        <p:nvSpPr>
          <p:cNvPr id="53" name="Title 1">
            <a:extLst>
              <a:ext uri="{FF2B5EF4-FFF2-40B4-BE49-F238E27FC236}">
                <a16:creationId xmlns:a16="http://schemas.microsoft.com/office/drawing/2014/main" id="{0DAFDF9C-0938-7F95-8F49-02B8E8EBAF26}"/>
              </a:ext>
            </a:extLst>
          </p:cNvPr>
          <p:cNvSpPr txBox="1">
            <a:spLocks/>
          </p:cNvSpPr>
          <p:nvPr/>
        </p:nvSpPr>
        <p:spPr>
          <a:xfrm>
            <a:off x="693989" y="32143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panose="020B0604020202020204" pitchFamily="34" charset="0"/>
                <a:cs typeface="Arial" panose="020B0604020202020204" pitchFamily="34" charset="0"/>
              </a:rPr>
              <a:t>Shallow(single layer) Neural Network </a:t>
            </a:r>
          </a:p>
        </p:txBody>
      </p:sp>
      <p:sp>
        <p:nvSpPr>
          <p:cNvPr id="2" name="Slide Number Placeholder 1">
            <a:extLst>
              <a:ext uri="{FF2B5EF4-FFF2-40B4-BE49-F238E27FC236}">
                <a16:creationId xmlns:a16="http://schemas.microsoft.com/office/drawing/2014/main" id="{B284FD49-D726-BE11-EEF2-151042FE57E7}"/>
              </a:ext>
            </a:extLst>
          </p:cNvPr>
          <p:cNvSpPr>
            <a:spLocks noGrp="1"/>
          </p:cNvSpPr>
          <p:nvPr>
            <p:ph type="sldNum" sz="quarter" idx="12"/>
          </p:nvPr>
        </p:nvSpPr>
        <p:spPr/>
        <p:txBody>
          <a:bodyPr/>
          <a:lstStyle/>
          <a:p>
            <a:fld id="{B3533053-B928-004D-A0E8-A0A092123CEE}" type="slidenum">
              <a:rPr lang="en-US" smtClean="0"/>
              <a:t>34</a:t>
            </a:fld>
            <a:endParaRPr lang="en-US"/>
          </a:p>
        </p:txBody>
      </p:sp>
    </p:spTree>
    <p:extLst>
      <p:ext uri="{BB962C8B-B14F-4D97-AF65-F5344CB8AC3E}">
        <p14:creationId xmlns:p14="http://schemas.microsoft.com/office/powerpoint/2010/main" val="2016000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val 52">
            <a:extLst>
              <a:ext uri="{FF2B5EF4-FFF2-40B4-BE49-F238E27FC236}">
                <a16:creationId xmlns:a16="http://schemas.microsoft.com/office/drawing/2014/main" id="{7702884F-FA52-0040-FC8F-18F6F9E93360}"/>
              </a:ext>
            </a:extLst>
          </p:cNvPr>
          <p:cNvSpPr>
            <a:spLocks noChangeArrowheads="1"/>
          </p:cNvSpPr>
          <p:nvPr/>
        </p:nvSpPr>
        <p:spPr bwMode="auto">
          <a:xfrm>
            <a:off x="2774580" y="4310862"/>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2" name="Title 1">
            <a:extLst>
              <a:ext uri="{FF2B5EF4-FFF2-40B4-BE49-F238E27FC236}">
                <a16:creationId xmlns:a16="http://schemas.microsoft.com/office/drawing/2014/main" id="{7B294D73-033B-2CDC-E0AB-861F83CA647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Deep(multi-layer) Neural Network </a:t>
            </a:r>
          </a:p>
        </p:txBody>
      </p:sp>
      <p:sp>
        <p:nvSpPr>
          <p:cNvPr id="5" name="Oval 52">
            <a:extLst>
              <a:ext uri="{FF2B5EF4-FFF2-40B4-BE49-F238E27FC236}">
                <a16:creationId xmlns:a16="http://schemas.microsoft.com/office/drawing/2014/main" id="{A1012676-3A6D-E168-AF0E-54E837AFA603}"/>
              </a:ext>
            </a:extLst>
          </p:cNvPr>
          <p:cNvSpPr>
            <a:spLocks noChangeArrowheads="1"/>
          </p:cNvSpPr>
          <p:nvPr/>
        </p:nvSpPr>
        <p:spPr bwMode="auto">
          <a:xfrm>
            <a:off x="2771991" y="1848677"/>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sp>
        <p:nvSpPr>
          <p:cNvPr id="6" name="Oval 52">
            <a:extLst>
              <a:ext uri="{FF2B5EF4-FFF2-40B4-BE49-F238E27FC236}">
                <a16:creationId xmlns:a16="http://schemas.microsoft.com/office/drawing/2014/main" id="{42A93DFA-D74B-3622-427C-F719BA8C799A}"/>
              </a:ext>
            </a:extLst>
          </p:cNvPr>
          <p:cNvSpPr>
            <a:spLocks noChangeArrowheads="1"/>
          </p:cNvSpPr>
          <p:nvPr/>
        </p:nvSpPr>
        <p:spPr bwMode="auto">
          <a:xfrm>
            <a:off x="2771991" y="3030336"/>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p:grpSp>
        <p:nvGrpSpPr>
          <p:cNvPr id="8" name="Group 7">
            <a:extLst>
              <a:ext uri="{FF2B5EF4-FFF2-40B4-BE49-F238E27FC236}">
                <a16:creationId xmlns:a16="http://schemas.microsoft.com/office/drawing/2014/main" id="{9959A44C-1727-DBAD-6A09-D862AC367780}"/>
              </a:ext>
            </a:extLst>
          </p:cNvPr>
          <p:cNvGrpSpPr/>
          <p:nvPr/>
        </p:nvGrpSpPr>
        <p:grpSpPr>
          <a:xfrm>
            <a:off x="8300460" y="2411345"/>
            <a:ext cx="850106" cy="858368"/>
            <a:chOff x="3597997" y="1992801"/>
            <a:chExt cx="850106" cy="858368"/>
          </a:xfrm>
        </p:grpSpPr>
        <p:sp>
          <p:nvSpPr>
            <p:cNvPr id="22" name="Oval 52">
              <a:extLst>
                <a:ext uri="{FF2B5EF4-FFF2-40B4-BE49-F238E27FC236}">
                  <a16:creationId xmlns:a16="http://schemas.microsoft.com/office/drawing/2014/main" id="{5DFA997E-CFDA-74E0-14F5-C382513EED1B}"/>
                </a:ext>
              </a:extLst>
            </p:cNvPr>
            <p:cNvSpPr>
              <a:spLocks noChangeArrowheads="1"/>
            </p:cNvSpPr>
            <p:nvPr/>
          </p:nvSpPr>
          <p:spPr bwMode="auto">
            <a:xfrm>
              <a:off x="3597997" y="1992801"/>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mc:AlternateContent xmlns:mc="http://schemas.openxmlformats.org/markup-compatibility/2006" xmlns:a14="http://schemas.microsoft.com/office/drawing/2010/main">
          <mc:Choice Requires="a14">
            <p:sp>
              <p:nvSpPr>
                <p:cNvPr id="23" name="Text Box 68">
                  <a:extLst>
                    <a:ext uri="{FF2B5EF4-FFF2-40B4-BE49-F238E27FC236}">
                      <a16:creationId xmlns:a16="http://schemas.microsoft.com/office/drawing/2014/main" id="{883E5FC2-BDB4-30D5-0647-4FBB641830FE}"/>
                    </a:ext>
                  </a:extLst>
                </p:cNvPr>
                <p:cNvSpPr txBox="1">
                  <a:spLocks noChangeArrowheads="1"/>
                </p:cNvSpPr>
                <p:nvPr/>
              </p:nvSpPr>
              <p:spPr bwMode="auto">
                <a:xfrm>
                  <a:off x="3771828" y="2135676"/>
                  <a:ext cx="614784" cy="523220"/>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1</m:t>
                            </m:r>
                          </m:sub>
                        </m:sSub>
                      </m:oMath>
                    </m:oMathPara>
                  </a14:m>
                  <a:endParaRPr lang="en-US" sz="2800" b="0" dirty="0"/>
                </a:p>
              </p:txBody>
            </p:sp>
          </mc:Choice>
          <mc:Fallback xmlns="">
            <p:sp>
              <p:nvSpPr>
                <p:cNvPr id="23" name="Text Box 68">
                  <a:extLst>
                    <a:ext uri="{FF2B5EF4-FFF2-40B4-BE49-F238E27FC236}">
                      <a16:creationId xmlns:a16="http://schemas.microsoft.com/office/drawing/2014/main" id="{883E5FC2-BDB4-30D5-0647-4FBB641830FE}"/>
                    </a:ext>
                  </a:extLst>
                </p:cNvPr>
                <p:cNvSpPr txBox="1">
                  <a:spLocks noRot="1" noChangeAspect="1" noMove="1" noResize="1" noEditPoints="1" noAdjustHandles="1" noChangeArrowheads="1" noChangeShapeType="1" noTextEdit="1"/>
                </p:cNvSpPr>
                <p:nvPr/>
              </p:nvSpPr>
              <p:spPr bwMode="auto">
                <a:xfrm>
                  <a:off x="3771828" y="2135676"/>
                  <a:ext cx="614784" cy="523220"/>
                </a:xfrm>
                <a:prstGeom prst="rect">
                  <a:avLst/>
                </a:prstGeom>
                <a:blipFill>
                  <a:blip r:embed="rId3"/>
                  <a:stretch>
                    <a:fillRect b="-9524"/>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9" name="Text Box 68">
                <a:extLst>
                  <a:ext uri="{FF2B5EF4-FFF2-40B4-BE49-F238E27FC236}">
                    <a16:creationId xmlns:a16="http://schemas.microsoft.com/office/drawing/2014/main" id="{CED5BEDB-5E46-CA56-A3F0-F2E210B4922F}"/>
                  </a:ext>
                </a:extLst>
              </p:cNvPr>
              <p:cNvSpPr txBox="1">
                <a:spLocks noChangeArrowheads="1"/>
              </p:cNvSpPr>
              <p:nvPr/>
            </p:nvSpPr>
            <p:spPr bwMode="auto">
              <a:xfrm>
                <a:off x="2886003" y="1972687"/>
                <a:ext cx="750462"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oMath>
                  </m:oMathPara>
                </a14:m>
                <a:endParaRPr lang="en-US" sz="2800" b="0" dirty="0"/>
              </a:p>
              <a:p>
                <a:endParaRPr lang="en-US" sz="2800" b="0" dirty="0"/>
              </a:p>
            </p:txBody>
          </p:sp>
        </mc:Choice>
        <mc:Fallback xmlns="">
          <p:sp>
            <p:nvSpPr>
              <p:cNvPr id="9" name="Text Box 68">
                <a:extLst>
                  <a:ext uri="{FF2B5EF4-FFF2-40B4-BE49-F238E27FC236}">
                    <a16:creationId xmlns:a16="http://schemas.microsoft.com/office/drawing/2014/main" id="{CED5BEDB-5E46-CA56-A3F0-F2E210B4922F}"/>
                  </a:ext>
                </a:extLst>
              </p:cNvPr>
              <p:cNvSpPr txBox="1">
                <a:spLocks noRot="1" noChangeAspect="1" noMove="1" noResize="1" noEditPoints="1" noAdjustHandles="1" noChangeArrowheads="1" noChangeShapeType="1" noTextEdit="1"/>
              </p:cNvSpPr>
              <p:nvPr/>
            </p:nvSpPr>
            <p:spPr bwMode="auto">
              <a:xfrm>
                <a:off x="2886003" y="1972687"/>
                <a:ext cx="750462" cy="954107"/>
              </a:xfrm>
              <a:prstGeom prst="rect">
                <a:avLst/>
              </a:prstGeom>
              <a:blipFill>
                <a:blip r:embed="rId4"/>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68">
                <a:extLst>
                  <a:ext uri="{FF2B5EF4-FFF2-40B4-BE49-F238E27FC236}">
                    <a16:creationId xmlns:a16="http://schemas.microsoft.com/office/drawing/2014/main" id="{3BC0E89D-7583-289C-3C25-4A8E0D8E316F}"/>
                  </a:ext>
                </a:extLst>
              </p:cNvPr>
              <p:cNvSpPr txBox="1">
                <a:spLocks noChangeArrowheads="1"/>
              </p:cNvSpPr>
              <p:nvPr/>
            </p:nvSpPr>
            <p:spPr bwMode="auto">
              <a:xfrm>
                <a:off x="2868904" y="3154574"/>
                <a:ext cx="742576"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2</m:t>
                          </m:r>
                        </m:sub>
                      </m:sSub>
                    </m:oMath>
                  </m:oMathPara>
                </a14:m>
                <a:endParaRPr lang="en-US" sz="2800" b="0" dirty="0"/>
              </a:p>
              <a:p>
                <a:endParaRPr lang="en-US" sz="2800" b="0" dirty="0"/>
              </a:p>
            </p:txBody>
          </p:sp>
        </mc:Choice>
        <mc:Fallback xmlns="">
          <p:sp>
            <p:nvSpPr>
              <p:cNvPr id="10" name="Text Box 68">
                <a:extLst>
                  <a:ext uri="{FF2B5EF4-FFF2-40B4-BE49-F238E27FC236}">
                    <a16:creationId xmlns:a16="http://schemas.microsoft.com/office/drawing/2014/main" id="{3BC0E89D-7583-289C-3C25-4A8E0D8E316F}"/>
                  </a:ext>
                </a:extLst>
              </p:cNvPr>
              <p:cNvSpPr txBox="1">
                <a:spLocks noRot="1" noChangeAspect="1" noMove="1" noResize="1" noEditPoints="1" noAdjustHandles="1" noChangeArrowheads="1" noChangeShapeType="1" noTextEdit="1"/>
              </p:cNvSpPr>
              <p:nvPr/>
            </p:nvSpPr>
            <p:spPr bwMode="auto">
              <a:xfrm>
                <a:off x="2868904" y="3154574"/>
                <a:ext cx="742576" cy="954107"/>
              </a:xfrm>
              <a:prstGeom prst="rect">
                <a:avLst/>
              </a:prstGeom>
              <a:blipFill>
                <a:blip r:embed="rId5"/>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68">
                <a:extLst>
                  <a:ext uri="{FF2B5EF4-FFF2-40B4-BE49-F238E27FC236}">
                    <a16:creationId xmlns:a16="http://schemas.microsoft.com/office/drawing/2014/main" id="{DE8FF7EA-65B8-D6CC-0F61-C4D055C1C1D7}"/>
                  </a:ext>
                </a:extLst>
              </p:cNvPr>
              <p:cNvSpPr txBox="1">
                <a:spLocks noChangeArrowheads="1"/>
              </p:cNvSpPr>
              <p:nvPr/>
            </p:nvSpPr>
            <p:spPr bwMode="auto">
              <a:xfrm>
                <a:off x="2911580" y="4430683"/>
                <a:ext cx="788870" cy="954107"/>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𝑚</m:t>
                          </m:r>
                        </m:sub>
                      </m:sSub>
                    </m:oMath>
                  </m:oMathPara>
                </a14:m>
                <a:endParaRPr lang="en-US" sz="2800" b="0" dirty="0"/>
              </a:p>
              <a:p>
                <a:endParaRPr lang="en-US" sz="2800" b="0" dirty="0"/>
              </a:p>
            </p:txBody>
          </p:sp>
        </mc:Choice>
        <mc:Fallback xmlns="">
          <p:sp>
            <p:nvSpPr>
              <p:cNvPr id="11" name="Text Box 68">
                <a:extLst>
                  <a:ext uri="{FF2B5EF4-FFF2-40B4-BE49-F238E27FC236}">
                    <a16:creationId xmlns:a16="http://schemas.microsoft.com/office/drawing/2014/main" id="{DE8FF7EA-65B8-D6CC-0F61-C4D055C1C1D7}"/>
                  </a:ext>
                </a:extLst>
              </p:cNvPr>
              <p:cNvSpPr txBox="1">
                <a:spLocks noRot="1" noChangeAspect="1" noMove="1" noResize="1" noEditPoints="1" noAdjustHandles="1" noChangeArrowheads="1" noChangeShapeType="1" noTextEdit="1"/>
              </p:cNvSpPr>
              <p:nvPr/>
            </p:nvSpPr>
            <p:spPr bwMode="auto">
              <a:xfrm>
                <a:off x="2911580" y="4430683"/>
                <a:ext cx="788870" cy="954107"/>
              </a:xfrm>
              <a:prstGeom prst="rect">
                <a:avLst/>
              </a:prstGeom>
              <a:blipFill>
                <a:blip r:embed="rId6"/>
                <a:stretch>
                  <a:fillRect/>
                </a:stretch>
              </a:blipFill>
              <a:ln w="9525">
                <a:noFill/>
                <a:miter lim="800000"/>
                <a:headEnd/>
                <a:tailEnd/>
              </a:ln>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405A1062-76EE-C13C-7B94-D506C3BE5D88}"/>
              </a:ext>
            </a:extLst>
          </p:cNvPr>
          <p:cNvGrpSpPr/>
          <p:nvPr/>
        </p:nvGrpSpPr>
        <p:grpSpPr>
          <a:xfrm>
            <a:off x="8300460" y="3593232"/>
            <a:ext cx="895952" cy="858368"/>
            <a:chOff x="696621" y="1987081"/>
            <a:chExt cx="895952" cy="858368"/>
          </a:xfrm>
        </p:grpSpPr>
        <p:sp>
          <p:nvSpPr>
            <p:cNvPr id="20" name="Oval 52">
              <a:extLst>
                <a:ext uri="{FF2B5EF4-FFF2-40B4-BE49-F238E27FC236}">
                  <a16:creationId xmlns:a16="http://schemas.microsoft.com/office/drawing/2014/main" id="{288BA00D-7DE2-9DB1-43B5-835B63EEAFD0}"/>
                </a:ext>
              </a:extLst>
            </p:cNvPr>
            <p:cNvSpPr>
              <a:spLocks noChangeArrowheads="1"/>
            </p:cNvSpPr>
            <p:nvPr/>
          </p:nvSpPr>
          <p:spPr bwMode="auto">
            <a:xfrm>
              <a:off x="696621" y="1987081"/>
              <a:ext cx="850106" cy="858368"/>
            </a:xfrm>
            <a:prstGeom prst="ellipse">
              <a:avLst/>
            </a:prstGeom>
            <a:solidFill>
              <a:schemeClr val="bg1"/>
            </a:solidFill>
            <a:ln w="9525">
              <a:solidFill>
                <a:schemeClr val="tx1"/>
              </a:solidFill>
              <a:round/>
              <a:headEnd/>
              <a:tailEnd/>
            </a:ln>
          </p:spPr>
          <p:txBody>
            <a:bodyPr wrap="none" anchor="ctr">
              <a:prstTxWarp prst="textNoShape">
                <a:avLst/>
              </a:prstTxWarp>
            </a:bodyPr>
            <a:lstStyle/>
            <a:p>
              <a:endParaRPr lang="en-US" b="0"/>
            </a:p>
          </p:txBody>
        </p:sp>
        <mc:AlternateContent xmlns:mc="http://schemas.openxmlformats.org/markup-compatibility/2006" xmlns:a14="http://schemas.microsoft.com/office/drawing/2010/main">
          <mc:Choice Requires="a14">
            <p:sp>
              <p:nvSpPr>
                <p:cNvPr id="21" name="Text Box 68">
                  <a:extLst>
                    <a:ext uri="{FF2B5EF4-FFF2-40B4-BE49-F238E27FC236}">
                      <a16:creationId xmlns:a16="http://schemas.microsoft.com/office/drawing/2014/main" id="{8BAFD94C-7423-5D88-5A4D-1B5983FF9DF7}"/>
                    </a:ext>
                  </a:extLst>
                </p:cNvPr>
                <p:cNvSpPr txBox="1">
                  <a:spLocks noChangeArrowheads="1"/>
                </p:cNvSpPr>
                <p:nvPr/>
              </p:nvSpPr>
              <p:spPr bwMode="auto">
                <a:xfrm>
                  <a:off x="870452" y="2129956"/>
                  <a:ext cx="722121" cy="523220"/>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𝑚</m:t>
                            </m:r>
                          </m:sub>
                        </m:sSub>
                      </m:oMath>
                    </m:oMathPara>
                  </a14:m>
                  <a:endParaRPr lang="en-US" sz="2800" b="0" dirty="0"/>
                </a:p>
              </p:txBody>
            </p:sp>
          </mc:Choice>
          <mc:Fallback xmlns="">
            <p:sp>
              <p:nvSpPr>
                <p:cNvPr id="21" name="Text Box 68">
                  <a:extLst>
                    <a:ext uri="{FF2B5EF4-FFF2-40B4-BE49-F238E27FC236}">
                      <a16:creationId xmlns:a16="http://schemas.microsoft.com/office/drawing/2014/main" id="{8BAFD94C-7423-5D88-5A4D-1B5983FF9DF7}"/>
                    </a:ext>
                  </a:extLst>
                </p:cNvPr>
                <p:cNvSpPr txBox="1">
                  <a:spLocks noRot="1" noChangeAspect="1" noMove="1" noResize="1" noEditPoints="1" noAdjustHandles="1" noChangeArrowheads="1" noChangeShapeType="1" noTextEdit="1"/>
                </p:cNvSpPr>
                <p:nvPr/>
              </p:nvSpPr>
              <p:spPr bwMode="auto">
                <a:xfrm>
                  <a:off x="870452" y="2129956"/>
                  <a:ext cx="722121" cy="523220"/>
                </a:xfrm>
                <a:prstGeom prst="rect">
                  <a:avLst/>
                </a:prstGeom>
                <a:blipFill>
                  <a:blip r:embed="rId7"/>
                  <a:stretch>
                    <a:fillRect b="-9524"/>
                  </a:stretch>
                </a:blipFill>
                <a:ln w="9525">
                  <a:noFill/>
                  <a:miter lim="800000"/>
                  <a:headEnd/>
                  <a:tailEnd/>
                </a:ln>
              </p:spPr>
              <p:txBody>
                <a:bodyPr/>
                <a:lstStyle/>
                <a:p>
                  <a:r>
                    <a:rPr lang="en-US">
                      <a:noFill/>
                    </a:rPr>
                    <a:t> </a:t>
                  </a:r>
                </a:p>
              </p:txBody>
            </p:sp>
          </mc:Fallback>
        </mc:AlternateContent>
      </p:grpSp>
      <p:pic>
        <p:nvPicPr>
          <p:cNvPr id="27" name="Picture 26">
            <a:extLst>
              <a:ext uri="{FF2B5EF4-FFF2-40B4-BE49-F238E27FC236}">
                <a16:creationId xmlns:a16="http://schemas.microsoft.com/office/drawing/2014/main" id="{BC65B53F-F567-8316-EC88-4B88E335BAF9}"/>
              </a:ext>
            </a:extLst>
          </p:cNvPr>
          <p:cNvPicPr>
            <a:picLocks noChangeAspect="1"/>
          </p:cNvPicPr>
          <p:nvPr/>
        </p:nvPicPr>
        <p:blipFill>
          <a:blip r:embed="rId8"/>
          <a:stretch>
            <a:fillRect/>
          </a:stretch>
        </p:blipFill>
        <p:spPr>
          <a:xfrm>
            <a:off x="6602792" y="3006607"/>
            <a:ext cx="1741270" cy="750547"/>
          </a:xfrm>
          <a:prstGeom prst="rect">
            <a:avLst/>
          </a:prstGeom>
        </p:spPr>
      </p:pic>
      <p:sp>
        <p:nvSpPr>
          <p:cNvPr id="28" name="Oval 52">
            <a:extLst>
              <a:ext uri="{FF2B5EF4-FFF2-40B4-BE49-F238E27FC236}">
                <a16:creationId xmlns:a16="http://schemas.microsoft.com/office/drawing/2014/main" id="{C65B6166-85DB-68BE-78EE-21A909967C6C}"/>
              </a:ext>
            </a:extLst>
          </p:cNvPr>
          <p:cNvSpPr>
            <a:spLocks noChangeArrowheads="1"/>
          </p:cNvSpPr>
          <p:nvPr/>
        </p:nvSpPr>
        <p:spPr bwMode="auto">
          <a:xfrm>
            <a:off x="5675132" y="2284854"/>
            <a:ext cx="850106" cy="858368"/>
          </a:xfrm>
          <a:prstGeom prst="ellipse">
            <a:avLst/>
          </a:prstGeom>
          <a:solidFill>
            <a:schemeClr val="accent1">
              <a:lumMod val="60000"/>
              <a:lumOff val="40000"/>
            </a:schemeClr>
          </a:solidFill>
          <a:ln w="9525">
            <a:solidFill>
              <a:schemeClr val="tx1"/>
            </a:solidFill>
            <a:round/>
            <a:headEnd/>
            <a:tailEnd/>
          </a:ln>
        </p:spPr>
        <p:txBody>
          <a:bodyPr wrap="none" anchor="ctr">
            <a:prstTxWarp prst="textNoShape">
              <a:avLst/>
            </a:prstTxWarp>
          </a:bodyPr>
          <a:lstStyle/>
          <a:p>
            <a:endParaRPr lang="en-US" b="0">
              <a:highlight>
                <a:srgbClr val="0000FF"/>
              </a:highlight>
            </a:endParaRPr>
          </a:p>
        </p:txBody>
      </p:sp>
      <p:sp>
        <p:nvSpPr>
          <p:cNvPr id="29" name="Oval 52">
            <a:extLst>
              <a:ext uri="{FF2B5EF4-FFF2-40B4-BE49-F238E27FC236}">
                <a16:creationId xmlns:a16="http://schemas.microsoft.com/office/drawing/2014/main" id="{E1DA938D-84FE-228B-83EF-3CB085B5C638}"/>
              </a:ext>
            </a:extLst>
          </p:cNvPr>
          <p:cNvSpPr>
            <a:spLocks noChangeArrowheads="1"/>
          </p:cNvSpPr>
          <p:nvPr/>
        </p:nvSpPr>
        <p:spPr bwMode="auto">
          <a:xfrm>
            <a:off x="5718734" y="3472461"/>
            <a:ext cx="850106" cy="858368"/>
          </a:xfrm>
          <a:prstGeom prst="ellipse">
            <a:avLst/>
          </a:prstGeom>
          <a:solidFill>
            <a:schemeClr val="accent1">
              <a:lumMod val="60000"/>
              <a:lumOff val="40000"/>
            </a:schemeClr>
          </a:solidFill>
          <a:ln w="9525">
            <a:solidFill>
              <a:schemeClr val="tx1"/>
            </a:solidFill>
            <a:round/>
            <a:headEnd/>
            <a:tailEnd/>
          </a:ln>
        </p:spPr>
        <p:txBody>
          <a:bodyPr wrap="none" anchor="ctr">
            <a:prstTxWarp prst="textNoShape">
              <a:avLst/>
            </a:prstTxWarp>
          </a:bodyPr>
          <a:lstStyle/>
          <a:p>
            <a:endParaRPr lang="en-US" b="0">
              <a:highlight>
                <a:srgbClr val="0000FF"/>
              </a:highlight>
            </a:endParaRPr>
          </a:p>
        </p:txBody>
      </p:sp>
      <mc:AlternateContent xmlns:mc="http://schemas.openxmlformats.org/markup-compatibility/2006" xmlns:a14="http://schemas.microsoft.com/office/drawing/2010/main">
        <mc:Choice Requires="a14">
          <p:sp>
            <p:nvSpPr>
              <p:cNvPr id="30" name="Text Box 68">
                <a:extLst>
                  <a:ext uri="{FF2B5EF4-FFF2-40B4-BE49-F238E27FC236}">
                    <a16:creationId xmlns:a16="http://schemas.microsoft.com/office/drawing/2014/main" id="{5D3768A3-B3AB-0EAF-48C3-8E67D3DEFD6C}"/>
                  </a:ext>
                </a:extLst>
              </p:cNvPr>
              <p:cNvSpPr txBox="1">
                <a:spLocks noChangeArrowheads="1"/>
              </p:cNvSpPr>
              <p:nvPr/>
            </p:nvSpPr>
            <p:spPr bwMode="auto">
              <a:xfrm>
                <a:off x="5892565" y="3615336"/>
                <a:ext cx="612027" cy="523220"/>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𝑘</m:t>
                          </m:r>
                        </m:sub>
                      </m:sSub>
                    </m:oMath>
                  </m:oMathPara>
                </a14:m>
                <a:endParaRPr lang="en-US" sz="2800" b="0" dirty="0"/>
              </a:p>
            </p:txBody>
          </p:sp>
        </mc:Choice>
        <mc:Fallback xmlns="">
          <p:sp>
            <p:nvSpPr>
              <p:cNvPr id="30" name="Text Box 68">
                <a:extLst>
                  <a:ext uri="{FF2B5EF4-FFF2-40B4-BE49-F238E27FC236}">
                    <a16:creationId xmlns:a16="http://schemas.microsoft.com/office/drawing/2014/main" id="{5D3768A3-B3AB-0EAF-48C3-8E67D3DEFD6C}"/>
                  </a:ext>
                </a:extLst>
              </p:cNvPr>
              <p:cNvSpPr txBox="1">
                <a:spLocks noRot="1" noChangeAspect="1" noMove="1" noResize="1" noEditPoints="1" noAdjustHandles="1" noChangeArrowheads="1" noChangeShapeType="1" noTextEdit="1"/>
              </p:cNvSpPr>
              <p:nvPr/>
            </p:nvSpPr>
            <p:spPr bwMode="auto">
              <a:xfrm>
                <a:off x="5892565" y="3615336"/>
                <a:ext cx="612027" cy="523220"/>
              </a:xfrm>
              <a:prstGeom prst="rect">
                <a:avLst/>
              </a:prstGeom>
              <a:blipFill>
                <a:blip r:embed="rId9"/>
                <a:stretch>
                  <a:fillRect b="-2381"/>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 Box 68">
                <a:extLst>
                  <a:ext uri="{FF2B5EF4-FFF2-40B4-BE49-F238E27FC236}">
                    <a16:creationId xmlns:a16="http://schemas.microsoft.com/office/drawing/2014/main" id="{736A73E2-0A0C-21A9-DB37-695D0DCC19CA}"/>
                  </a:ext>
                </a:extLst>
              </p:cNvPr>
              <p:cNvSpPr txBox="1">
                <a:spLocks noChangeArrowheads="1"/>
              </p:cNvSpPr>
              <p:nvPr/>
            </p:nvSpPr>
            <p:spPr bwMode="auto">
              <a:xfrm>
                <a:off x="5844826" y="2445435"/>
                <a:ext cx="589649" cy="523220"/>
              </a:xfrm>
              <a:prstGeom prst="rect">
                <a:avLst/>
              </a:prstGeom>
              <a:noFill/>
              <a:ln w="9525">
                <a:noFill/>
                <a:miter lim="800000"/>
                <a:headEnd/>
                <a:tailEnd/>
              </a:ln>
            </p:spPr>
            <p:txBody>
              <a:bodyPr wrap="none">
                <a:prstTxWarp prst="textNoShape">
                  <a:avLst/>
                </a:prstTxWarp>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𝑧</m:t>
                          </m:r>
                        </m:e>
                        <m:sub>
                          <m:r>
                            <a:rPr lang="en-US" sz="2800" b="0" i="1" smtClean="0">
                              <a:latin typeface="Cambria Math" panose="02040503050406030204" pitchFamily="18" charset="0"/>
                            </a:rPr>
                            <m:t>1</m:t>
                          </m:r>
                        </m:sub>
                      </m:sSub>
                    </m:oMath>
                  </m:oMathPara>
                </a14:m>
                <a:endParaRPr lang="en-US" sz="2800" b="0" dirty="0"/>
              </a:p>
            </p:txBody>
          </p:sp>
        </mc:Choice>
        <mc:Fallback xmlns="">
          <p:sp>
            <p:nvSpPr>
              <p:cNvPr id="31" name="Text Box 68">
                <a:extLst>
                  <a:ext uri="{FF2B5EF4-FFF2-40B4-BE49-F238E27FC236}">
                    <a16:creationId xmlns:a16="http://schemas.microsoft.com/office/drawing/2014/main" id="{736A73E2-0A0C-21A9-DB37-695D0DCC19CA}"/>
                  </a:ext>
                </a:extLst>
              </p:cNvPr>
              <p:cNvSpPr txBox="1">
                <a:spLocks noRot="1" noChangeAspect="1" noMove="1" noResize="1" noEditPoints="1" noAdjustHandles="1" noChangeArrowheads="1" noChangeShapeType="1" noTextEdit="1"/>
              </p:cNvSpPr>
              <p:nvPr/>
            </p:nvSpPr>
            <p:spPr bwMode="auto">
              <a:xfrm>
                <a:off x="5844826" y="2445435"/>
                <a:ext cx="589649" cy="523220"/>
              </a:xfrm>
              <a:prstGeom prst="rect">
                <a:avLst/>
              </a:prstGeom>
              <a:blipFill>
                <a:blip r:embed="rId10"/>
                <a:stretch>
                  <a:fillRect b="-2381"/>
                </a:stretch>
              </a:blipFill>
              <a:ln w="9525">
                <a:noFill/>
                <a:miter lim="800000"/>
                <a:headEnd/>
                <a:tailEnd/>
              </a:ln>
            </p:spPr>
            <p:txBody>
              <a:bodyPr/>
              <a:lstStyle/>
              <a:p>
                <a:r>
                  <a:rPr lang="en-US">
                    <a:noFill/>
                  </a:rPr>
                  <a:t> </a:t>
                </a:r>
              </a:p>
            </p:txBody>
          </p:sp>
        </mc:Fallback>
      </mc:AlternateContent>
      <p:sp>
        <p:nvSpPr>
          <p:cNvPr id="32" name="TextBox 31">
            <a:extLst>
              <a:ext uri="{FF2B5EF4-FFF2-40B4-BE49-F238E27FC236}">
                <a16:creationId xmlns:a16="http://schemas.microsoft.com/office/drawing/2014/main" id="{30FAA0E0-64D1-F339-E592-D62CBDBCA309}"/>
              </a:ext>
            </a:extLst>
          </p:cNvPr>
          <p:cNvSpPr txBox="1"/>
          <p:nvPr/>
        </p:nvSpPr>
        <p:spPr>
          <a:xfrm>
            <a:off x="2771991" y="5338622"/>
            <a:ext cx="1741269"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Input</a:t>
            </a:r>
          </a:p>
        </p:txBody>
      </p:sp>
      <p:sp>
        <p:nvSpPr>
          <p:cNvPr id="33" name="TextBox 32">
            <a:extLst>
              <a:ext uri="{FF2B5EF4-FFF2-40B4-BE49-F238E27FC236}">
                <a16:creationId xmlns:a16="http://schemas.microsoft.com/office/drawing/2014/main" id="{145BE654-8A2F-D948-866D-A29D2E16BAB0}"/>
              </a:ext>
            </a:extLst>
          </p:cNvPr>
          <p:cNvSpPr txBox="1"/>
          <p:nvPr/>
        </p:nvSpPr>
        <p:spPr>
          <a:xfrm>
            <a:off x="8300460" y="5315132"/>
            <a:ext cx="1418763"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Output</a:t>
            </a:r>
          </a:p>
        </p:txBody>
      </p:sp>
      <p:sp>
        <p:nvSpPr>
          <p:cNvPr id="34" name="TextBox 33">
            <a:extLst>
              <a:ext uri="{FF2B5EF4-FFF2-40B4-BE49-F238E27FC236}">
                <a16:creationId xmlns:a16="http://schemas.microsoft.com/office/drawing/2014/main" id="{13F85989-2396-8B2D-EB60-235185E27798}"/>
              </a:ext>
            </a:extLst>
          </p:cNvPr>
          <p:cNvSpPr txBox="1"/>
          <p:nvPr/>
        </p:nvSpPr>
        <p:spPr>
          <a:xfrm>
            <a:off x="5361148" y="5315132"/>
            <a:ext cx="2091424"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Hidden</a:t>
            </a:r>
            <a:r>
              <a:rPr lang="zh-CN" altLang="en-US" sz="2400" dirty="0">
                <a:latin typeface="Arial" panose="020B0604020202020204" pitchFamily="34" charset="0"/>
                <a:cs typeface="Arial" panose="020B0604020202020204" pitchFamily="34" charset="0"/>
              </a:rPr>
              <a:t> </a:t>
            </a:r>
            <a:r>
              <a:rPr lang="en-US" altLang="zh-CN" sz="2400" dirty="0">
                <a:latin typeface="Arial" panose="020B0604020202020204" pitchFamily="34" charset="0"/>
                <a:cs typeface="Arial" panose="020B0604020202020204" pitchFamily="34" charset="0"/>
              </a:rPr>
              <a:t>layers</a:t>
            </a:r>
            <a:endParaRPr lang="en-US" sz="2400" dirty="0">
              <a:latin typeface="Arial" panose="020B0604020202020204" pitchFamily="34" charset="0"/>
              <a:cs typeface="Arial" panose="020B0604020202020204" pitchFamily="34" charset="0"/>
            </a:endParaRPr>
          </a:p>
        </p:txBody>
      </p:sp>
      <p:pic>
        <p:nvPicPr>
          <p:cNvPr id="35" name="Picture 34">
            <a:extLst>
              <a:ext uri="{FF2B5EF4-FFF2-40B4-BE49-F238E27FC236}">
                <a16:creationId xmlns:a16="http://schemas.microsoft.com/office/drawing/2014/main" id="{BD1D4976-3835-4B73-B7CC-0F8CB6C918C8}"/>
              </a:ext>
            </a:extLst>
          </p:cNvPr>
          <p:cNvPicPr>
            <a:picLocks noChangeAspect="1"/>
          </p:cNvPicPr>
          <p:nvPr/>
        </p:nvPicPr>
        <p:blipFill>
          <a:blip r:embed="rId8"/>
          <a:stretch>
            <a:fillRect/>
          </a:stretch>
        </p:blipFill>
        <p:spPr>
          <a:xfrm>
            <a:off x="3819670" y="3060187"/>
            <a:ext cx="1741270" cy="750547"/>
          </a:xfrm>
          <a:prstGeom prst="rect">
            <a:avLst/>
          </a:prstGeom>
        </p:spPr>
      </p:pic>
      <p:sp>
        <p:nvSpPr>
          <p:cNvPr id="3" name="Slide Number Placeholder 2">
            <a:extLst>
              <a:ext uri="{FF2B5EF4-FFF2-40B4-BE49-F238E27FC236}">
                <a16:creationId xmlns:a16="http://schemas.microsoft.com/office/drawing/2014/main" id="{6CE17DF0-7AA8-DCA0-9C7A-963D32BF371D}"/>
              </a:ext>
            </a:extLst>
          </p:cNvPr>
          <p:cNvSpPr>
            <a:spLocks noGrp="1"/>
          </p:cNvSpPr>
          <p:nvPr>
            <p:ph type="sldNum" sz="quarter" idx="12"/>
          </p:nvPr>
        </p:nvSpPr>
        <p:spPr/>
        <p:txBody>
          <a:bodyPr/>
          <a:lstStyle/>
          <a:p>
            <a:fld id="{B3533053-B928-004D-A0E8-A0A092123CEE}" type="slidenum">
              <a:rPr lang="en-US" smtClean="0"/>
              <a:t>35</a:t>
            </a:fld>
            <a:endParaRPr lang="en-US"/>
          </a:p>
        </p:txBody>
      </p:sp>
    </p:spTree>
    <p:extLst>
      <p:ext uri="{BB962C8B-B14F-4D97-AF65-F5344CB8AC3E}">
        <p14:creationId xmlns:p14="http://schemas.microsoft.com/office/powerpoint/2010/main" val="3734725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B2DC458-65C9-D1C8-284C-4D7671C7588A}"/>
              </a:ext>
            </a:extLst>
          </p:cNvPr>
          <p:cNvPicPr>
            <a:picLocks noChangeAspect="1"/>
          </p:cNvPicPr>
          <p:nvPr/>
        </p:nvPicPr>
        <p:blipFill>
          <a:blip r:embed="rId3"/>
          <a:srcRect/>
          <a:stretch/>
        </p:blipFill>
        <p:spPr>
          <a:xfrm>
            <a:off x="1026113" y="1717675"/>
            <a:ext cx="7129874" cy="4622800"/>
          </a:xfrm>
          <a:prstGeom prst="rect">
            <a:avLst/>
          </a:prstGeom>
        </p:spPr>
      </p:pic>
      <p:sp>
        <p:nvSpPr>
          <p:cNvPr id="8" name="Title 1">
            <a:extLst>
              <a:ext uri="{FF2B5EF4-FFF2-40B4-BE49-F238E27FC236}">
                <a16:creationId xmlns:a16="http://schemas.microsoft.com/office/drawing/2014/main" id="{05130DC1-4E7D-53C5-BB6B-07ECD6E22877}"/>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panose="020B0604020202020204" pitchFamily="34" charset="0"/>
                <a:cs typeface="Arial" panose="020B0604020202020204" pitchFamily="34" charset="0"/>
              </a:rPr>
              <a:t>Multi-layer perceptron (a two layer DNN)</a:t>
            </a:r>
          </a:p>
        </p:txBody>
      </p:sp>
      <p:grpSp>
        <p:nvGrpSpPr>
          <p:cNvPr id="14" name="Group 13">
            <a:extLst>
              <a:ext uri="{FF2B5EF4-FFF2-40B4-BE49-F238E27FC236}">
                <a16:creationId xmlns:a16="http://schemas.microsoft.com/office/drawing/2014/main" id="{F7FA5E58-5492-C099-1C9B-40511FA00200}"/>
              </a:ext>
            </a:extLst>
          </p:cNvPr>
          <p:cNvGrpSpPr/>
          <p:nvPr/>
        </p:nvGrpSpPr>
        <p:grpSpPr>
          <a:xfrm>
            <a:off x="7615451" y="2932916"/>
            <a:ext cx="4436658" cy="1200329"/>
            <a:chOff x="7615451" y="2932916"/>
            <a:chExt cx="4436658" cy="1200329"/>
          </a:xfrm>
        </p:grpSpPr>
        <p:sp>
          <p:nvSpPr>
            <p:cNvPr id="10" name="TextBox 9">
              <a:extLst>
                <a:ext uri="{FF2B5EF4-FFF2-40B4-BE49-F238E27FC236}">
                  <a16:creationId xmlns:a16="http://schemas.microsoft.com/office/drawing/2014/main" id="{A3DDF38A-DEDB-93E7-3E95-92B1C52B76C8}"/>
                </a:ext>
              </a:extLst>
            </p:cNvPr>
            <p:cNvSpPr txBox="1"/>
            <p:nvPr/>
          </p:nvSpPr>
          <p:spPr>
            <a:xfrm>
              <a:off x="9152916" y="2932916"/>
              <a:ext cx="2899193" cy="1200329"/>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Define model parameters that will in instantiated when an object of this class is created</a:t>
              </a:r>
            </a:p>
            <a:p>
              <a:r>
                <a:rPr lang="en-US" sz="2400" dirty="0">
                  <a:latin typeface="Arial" panose="020B0604020202020204" pitchFamily="34" charset="0"/>
                  <a:cs typeface="Arial" panose="020B0604020202020204" pitchFamily="34" charset="0"/>
                </a:rPr>
                <a:t> </a:t>
              </a:r>
            </a:p>
          </p:txBody>
        </p:sp>
        <p:cxnSp>
          <p:nvCxnSpPr>
            <p:cNvPr id="13" name="Straight Arrow Connector 12">
              <a:extLst>
                <a:ext uri="{FF2B5EF4-FFF2-40B4-BE49-F238E27FC236}">
                  <a16:creationId xmlns:a16="http://schemas.microsoft.com/office/drawing/2014/main" id="{424C1C81-9E24-80F3-9368-22D9434E91FF}"/>
                </a:ext>
              </a:extLst>
            </p:cNvPr>
            <p:cNvCxnSpPr/>
            <p:nvPr/>
          </p:nvCxnSpPr>
          <p:spPr>
            <a:xfrm flipH="1">
              <a:off x="7615451" y="3429000"/>
              <a:ext cx="1291805"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50FB39CA-C1EA-B663-8D18-A9A1D457512D}"/>
              </a:ext>
            </a:extLst>
          </p:cNvPr>
          <p:cNvGrpSpPr/>
          <p:nvPr/>
        </p:nvGrpSpPr>
        <p:grpSpPr>
          <a:xfrm>
            <a:off x="7615450" y="4851138"/>
            <a:ext cx="4436660" cy="1200329"/>
            <a:chOff x="7615450" y="4851138"/>
            <a:chExt cx="4436660" cy="1200329"/>
          </a:xfrm>
        </p:grpSpPr>
        <p:sp>
          <p:nvSpPr>
            <p:cNvPr id="11" name="TextBox 10">
              <a:extLst>
                <a:ext uri="{FF2B5EF4-FFF2-40B4-BE49-F238E27FC236}">
                  <a16:creationId xmlns:a16="http://schemas.microsoft.com/office/drawing/2014/main" id="{C88D5F2F-C06C-038F-741B-A0C1EA933E05}"/>
                </a:ext>
              </a:extLst>
            </p:cNvPr>
            <p:cNvSpPr txBox="1"/>
            <p:nvPr/>
          </p:nvSpPr>
          <p:spPr>
            <a:xfrm>
              <a:off x="9152916" y="4851138"/>
              <a:ext cx="2899194" cy="1200329"/>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Define how and in what order the model parameters should be used in the forward pass</a:t>
              </a:r>
            </a:p>
            <a:p>
              <a:r>
                <a:rPr lang="en-US" sz="2400" dirty="0">
                  <a:latin typeface="Arial" panose="020B0604020202020204" pitchFamily="34" charset="0"/>
                  <a:cs typeface="Arial" panose="020B0604020202020204" pitchFamily="34" charset="0"/>
                </a:rPr>
                <a:t> </a:t>
              </a:r>
            </a:p>
          </p:txBody>
        </p:sp>
        <p:cxnSp>
          <p:nvCxnSpPr>
            <p:cNvPr id="15" name="Straight Arrow Connector 14">
              <a:extLst>
                <a:ext uri="{FF2B5EF4-FFF2-40B4-BE49-F238E27FC236}">
                  <a16:creationId xmlns:a16="http://schemas.microsoft.com/office/drawing/2014/main" id="{F2E1D1FB-273A-DD79-226B-CC6D3891C9CA}"/>
                </a:ext>
              </a:extLst>
            </p:cNvPr>
            <p:cNvCxnSpPr/>
            <p:nvPr/>
          </p:nvCxnSpPr>
          <p:spPr>
            <a:xfrm flipH="1">
              <a:off x="7615450" y="5191836"/>
              <a:ext cx="1291805" cy="0"/>
            </a:xfrm>
            <a:prstGeom prst="straightConnector1">
              <a:avLst/>
            </a:prstGeom>
            <a:ln w="349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pic>
        <p:nvPicPr>
          <p:cNvPr id="2" name="Picture 1">
            <a:extLst>
              <a:ext uri="{FF2B5EF4-FFF2-40B4-BE49-F238E27FC236}">
                <a16:creationId xmlns:a16="http://schemas.microsoft.com/office/drawing/2014/main" id="{556879BB-F5DA-F261-64E5-8B52DD6C8DA9}"/>
              </a:ext>
            </a:extLst>
          </p:cNvPr>
          <p:cNvPicPr>
            <a:picLocks noChangeAspect="1"/>
          </p:cNvPicPr>
          <p:nvPr/>
        </p:nvPicPr>
        <p:blipFill>
          <a:blip r:embed="rId4"/>
          <a:stretch>
            <a:fillRect/>
          </a:stretch>
        </p:blipFill>
        <p:spPr>
          <a:xfrm rot="10800000" flipH="1" flipV="1">
            <a:off x="227870" y="1717675"/>
            <a:ext cx="762730" cy="877046"/>
          </a:xfrm>
          <a:prstGeom prst="rect">
            <a:avLst/>
          </a:prstGeom>
        </p:spPr>
      </p:pic>
      <p:sp>
        <p:nvSpPr>
          <p:cNvPr id="3" name="Slide Number Placeholder 2">
            <a:extLst>
              <a:ext uri="{FF2B5EF4-FFF2-40B4-BE49-F238E27FC236}">
                <a16:creationId xmlns:a16="http://schemas.microsoft.com/office/drawing/2014/main" id="{BB277204-386C-454E-93D5-66290C98789D}"/>
              </a:ext>
            </a:extLst>
          </p:cNvPr>
          <p:cNvSpPr>
            <a:spLocks noGrp="1"/>
          </p:cNvSpPr>
          <p:nvPr>
            <p:ph type="sldNum" sz="quarter" idx="12"/>
          </p:nvPr>
        </p:nvSpPr>
        <p:spPr/>
        <p:txBody>
          <a:bodyPr/>
          <a:lstStyle/>
          <a:p>
            <a:fld id="{B3533053-B928-004D-A0E8-A0A092123CEE}" type="slidenum">
              <a:rPr lang="en-US" smtClean="0"/>
              <a:t>36</a:t>
            </a:fld>
            <a:endParaRPr lang="en-US"/>
          </a:p>
        </p:txBody>
      </p:sp>
    </p:spTree>
    <p:extLst>
      <p:ext uri="{BB962C8B-B14F-4D97-AF65-F5344CB8AC3E}">
        <p14:creationId xmlns:p14="http://schemas.microsoft.com/office/powerpoint/2010/main" val="123104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D8B2-7414-D2A9-FFDB-54F50A360CD0}"/>
              </a:ext>
            </a:extLst>
          </p:cNvPr>
          <p:cNvSpPr>
            <a:spLocks noGrp="1"/>
          </p:cNvSpPr>
          <p:nvPr>
            <p:ph type="title"/>
          </p:nvPr>
        </p:nvSpPr>
        <p:spPr>
          <a:xfrm>
            <a:off x="501497" y="286428"/>
            <a:ext cx="10515600" cy="1325563"/>
          </a:xfrm>
        </p:spPr>
        <p:txBody>
          <a:bodyPr/>
          <a:lstStyle/>
          <a:p>
            <a:r>
              <a:rPr lang="en-US" dirty="0">
                <a:latin typeface="Arial" panose="020B0604020202020204" pitchFamily="34" charset="0"/>
                <a:cs typeface="Arial" panose="020B0604020202020204" pitchFamily="34" charset="0"/>
              </a:rPr>
              <a:t>Final Projects (30%)</a:t>
            </a:r>
          </a:p>
        </p:txBody>
      </p:sp>
      <p:sp>
        <p:nvSpPr>
          <p:cNvPr id="4" name="Slide Number Placeholder 3">
            <a:extLst>
              <a:ext uri="{FF2B5EF4-FFF2-40B4-BE49-F238E27FC236}">
                <a16:creationId xmlns:a16="http://schemas.microsoft.com/office/drawing/2014/main" id="{0C3A7CC1-5BB8-4E6D-234A-EB544D06A5F0}"/>
              </a:ext>
            </a:extLst>
          </p:cNvPr>
          <p:cNvSpPr>
            <a:spLocks noGrp="1"/>
          </p:cNvSpPr>
          <p:nvPr>
            <p:ph type="sldNum" sz="quarter" idx="12"/>
          </p:nvPr>
        </p:nvSpPr>
        <p:spPr/>
        <p:txBody>
          <a:bodyPr/>
          <a:lstStyle/>
          <a:p>
            <a:fld id="{B3533053-B928-004D-A0E8-A0A092123CEE}" type="slidenum">
              <a:rPr lang="en-US" smtClean="0"/>
              <a:t>37</a:t>
            </a:fld>
            <a:endParaRPr lang="en-US"/>
          </a:p>
        </p:txBody>
      </p:sp>
      <p:sp>
        <p:nvSpPr>
          <p:cNvPr id="3" name="Content Placeholder 2">
            <a:extLst>
              <a:ext uri="{FF2B5EF4-FFF2-40B4-BE49-F238E27FC236}">
                <a16:creationId xmlns:a16="http://schemas.microsoft.com/office/drawing/2014/main" id="{12A2F751-68FC-9F2C-1F23-3B6C2EB8398F}"/>
              </a:ext>
            </a:extLst>
          </p:cNvPr>
          <p:cNvSpPr>
            <a:spLocks noGrp="1"/>
          </p:cNvSpPr>
          <p:nvPr>
            <p:ph idx="1"/>
          </p:nvPr>
        </p:nvSpPr>
        <p:spPr>
          <a:xfrm>
            <a:off x="838200" y="1690688"/>
            <a:ext cx="11353800" cy="4895851"/>
          </a:xfrm>
        </p:spPr>
        <p:txBody>
          <a:bodyPr>
            <a:normAutofit lnSpcReduction="10000"/>
          </a:bodyPr>
          <a:lstStyle/>
          <a:p>
            <a:pPr marL="0" indent="0">
              <a:buNone/>
            </a:pPr>
            <a:r>
              <a:rPr lang="en-US" dirty="0">
                <a:effectLst/>
                <a:latin typeface="Arial" panose="020B0604020202020204" pitchFamily="34" charset="0"/>
                <a:cs typeface="Arial" panose="020B0604020202020204" pitchFamily="34" charset="0"/>
              </a:rPr>
              <a:t>Proposal final project guidelines can be found in Files/Final Project </a:t>
            </a:r>
          </a:p>
          <a:p>
            <a:pPr marL="0" indent="0">
              <a:buNone/>
            </a:pPr>
            <a:r>
              <a:rPr lang="en-US" dirty="0">
                <a:latin typeface="Arial" panose="020B0604020202020204" pitchFamily="34" charset="0"/>
                <a:cs typeface="Arial" panose="020B0604020202020204" pitchFamily="34" charset="0"/>
              </a:rPr>
              <a:t>on canvas (let’s go through them together today…)</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effectLst/>
                <a:latin typeface="Arial" panose="020B0604020202020204" pitchFamily="34" charset="0"/>
                <a:cs typeface="Arial" panose="020B0604020202020204" pitchFamily="34" charset="0"/>
              </a:rPr>
              <a:t>Proposal (10 pts)</a:t>
            </a:r>
          </a:p>
          <a:p>
            <a:pPr marL="0" indent="0">
              <a:buNone/>
            </a:pPr>
            <a:r>
              <a:rPr lang="en-US" dirty="0">
                <a:latin typeface="Arial" panose="020B0604020202020204" pitchFamily="34" charset="0"/>
                <a:cs typeface="Arial" panose="020B0604020202020204" pitchFamily="34" charset="0"/>
              </a:rPr>
              <a:t>Final Projects (20 pts)</a:t>
            </a:r>
            <a:endParaRPr lang="en-US" dirty="0">
              <a:effectLst/>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Key dates: </a:t>
            </a:r>
            <a:endParaRPr lang="en-US" b="1" i="0" u="sng" dirty="0">
              <a:solidFill>
                <a:srgbClr val="000000"/>
              </a:solidFill>
              <a:effectLst/>
              <a:latin typeface="Arial" panose="020B0604020202020204" pitchFamily="34" charset="0"/>
              <a:cs typeface="Arial" panose="020B0604020202020204" pitchFamily="34" charset="0"/>
            </a:endParaRPr>
          </a:p>
          <a:p>
            <a:pPr marL="0" indent="0">
              <a:buNone/>
            </a:pPr>
            <a:r>
              <a:rPr lang="en-US" b="1" u="sng" dirty="0">
                <a:solidFill>
                  <a:srgbClr val="000000"/>
                </a:solidFill>
                <a:latin typeface="Arial" panose="020B0604020202020204" pitchFamily="34" charset="0"/>
                <a:cs typeface="Arial" panose="020B0604020202020204" pitchFamily="34" charset="0"/>
              </a:rPr>
              <a:t>Wednesday, 11/19/25 </a:t>
            </a:r>
            <a:r>
              <a:rPr lang="en-US" b="0" i="0" dirty="0">
                <a:solidFill>
                  <a:srgbClr val="000000"/>
                </a:solidFill>
                <a:effectLst/>
                <a:latin typeface="Arial" panose="020B0604020202020204" pitchFamily="34" charset="0"/>
                <a:cs typeface="Arial" panose="020B0604020202020204" pitchFamily="34" charset="0"/>
              </a:rPr>
              <a:t>Proposal and preliminary </a:t>
            </a:r>
            <a:r>
              <a:rPr lang="en-US" dirty="0">
                <a:solidFill>
                  <a:srgbClr val="000000"/>
                </a:solidFill>
                <a:latin typeface="Arial" panose="020B0604020202020204" pitchFamily="34" charset="0"/>
                <a:cs typeface="Arial" panose="020B0604020202020204" pitchFamily="34" charset="0"/>
              </a:rPr>
              <a:t>results d</a:t>
            </a:r>
            <a:r>
              <a:rPr lang="en-US" b="0" i="0" dirty="0">
                <a:solidFill>
                  <a:srgbClr val="000000"/>
                </a:solidFill>
                <a:effectLst/>
                <a:latin typeface="Arial" panose="020B0604020202020204" pitchFamily="34" charset="0"/>
                <a:cs typeface="Arial" panose="020B0604020202020204" pitchFamily="34" charset="0"/>
              </a:rPr>
              <a:t>ue.</a:t>
            </a:r>
          </a:p>
          <a:p>
            <a:pPr marL="0" indent="0">
              <a:buNone/>
            </a:pPr>
            <a:endParaRPr lang="en-US" b="0" i="0" dirty="0">
              <a:solidFill>
                <a:srgbClr val="000000"/>
              </a:solidFill>
              <a:effectLst/>
              <a:latin typeface="Arial" panose="020B0604020202020204" pitchFamily="34" charset="0"/>
              <a:cs typeface="Arial" panose="020B0604020202020204" pitchFamily="34" charset="0"/>
            </a:endParaRPr>
          </a:p>
          <a:p>
            <a:pPr marL="0" indent="0">
              <a:buNone/>
            </a:pPr>
            <a:r>
              <a:rPr lang="en-US" b="1" u="sng" dirty="0">
                <a:solidFill>
                  <a:srgbClr val="000000"/>
                </a:solidFill>
                <a:latin typeface="Arial" panose="020B0604020202020204" pitchFamily="34" charset="0"/>
                <a:cs typeface="Arial" panose="020B0604020202020204" pitchFamily="34" charset="0"/>
              </a:rPr>
              <a:t>Wednesday, 12/03/25 </a:t>
            </a:r>
            <a:r>
              <a:rPr lang="en-US" b="0" i="0" dirty="0">
                <a:solidFill>
                  <a:srgbClr val="000000"/>
                </a:solidFill>
                <a:effectLst/>
                <a:latin typeface="Arial" panose="020B0604020202020204" pitchFamily="34" charset="0"/>
                <a:cs typeface="Arial" panose="020B0604020202020204" pitchFamily="34" charset="0"/>
              </a:rPr>
              <a:t>Final project code and summary report due </a:t>
            </a:r>
          </a:p>
          <a:p>
            <a:pPr marL="0" indent="0">
              <a:buNone/>
            </a:pPr>
            <a:endParaRPr lang="en-US" b="0" i="0" dirty="0">
              <a:solidFill>
                <a:srgbClr val="000000"/>
              </a:solidFill>
              <a:effectLst/>
              <a:latin typeface="Arial" panose="020B0604020202020204" pitchFamily="34" charset="0"/>
              <a:cs typeface="Arial" panose="020B0604020202020204" pitchFamily="34" charset="0"/>
            </a:endParaRPr>
          </a:p>
          <a:p>
            <a:pPr marL="0" indent="0">
              <a:buNone/>
            </a:pPr>
            <a:endParaRPr lang="en-US" b="0" i="0" dirty="0">
              <a:solidFill>
                <a:srgbClr val="000000"/>
              </a:solidFill>
              <a:effectLst/>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EBA6BBE-09DF-6B41-2858-2D5CD838E6BB}"/>
              </a:ext>
            </a:extLst>
          </p:cNvPr>
          <p:cNvSpPr txBox="1"/>
          <p:nvPr/>
        </p:nvSpPr>
        <p:spPr>
          <a:xfrm>
            <a:off x="7640223" y="3105834"/>
            <a:ext cx="3713577" cy="646331"/>
          </a:xfrm>
          <a:prstGeom prst="rect">
            <a:avLst/>
          </a:prstGeom>
          <a:noFill/>
        </p:spPr>
        <p:txBody>
          <a:bodyPr wrap="square">
            <a:spAutoFit/>
          </a:bodyPr>
          <a:lstStyle/>
          <a:p>
            <a:r>
              <a:rPr lang="en-US" sz="3600" b="0" i="0" dirty="0">
                <a:solidFill>
                  <a:srgbClr val="C00000"/>
                </a:solidFill>
                <a:effectLst/>
                <a:latin typeface="Arial" panose="020B0604020202020204" pitchFamily="34" charset="0"/>
                <a:cs typeface="Arial" panose="020B0604020202020204" pitchFamily="34" charset="0"/>
              </a:rPr>
              <a:t>Start Early!</a:t>
            </a:r>
            <a:endParaRPr lang="en-US" sz="3600"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9664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FC516F-DEDB-9D52-EC3E-F3EDD0CD2630}"/>
              </a:ext>
            </a:extLst>
          </p:cNvPr>
          <p:cNvSpPr>
            <a:spLocks noGrp="1"/>
          </p:cNvSpPr>
          <p:nvPr>
            <p:ph idx="1"/>
          </p:nvPr>
        </p:nvSpPr>
        <p:spPr>
          <a:xfrm>
            <a:off x="838200" y="1690688"/>
            <a:ext cx="11353800" cy="4895851"/>
          </a:xfrm>
        </p:spPr>
        <p:txBody>
          <a:bodyPr>
            <a:normAutofit/>
          </a:bodyPr>
          <a:lstStyle/>
          <a:p>
            <a:pPr marL="0" indent="0">
              <a:buNone/>
            </a:pPr>
            <a:r>
              <a:rPr lang="en-US" dirty="0">
                <a:solidFill>
                  <a:schemeClr val="tx1"/>
                </a:solidFill>
                <a:latin typeface="Arial" panose="020B0604020202020204" pitchFamily="34" charset="0"/>
                <a:cs typeface="Arial" panose="020B0604020202020204" pitchFamily="34" charset="0"/>
              </a:rPr>
              <a:t>Coming next: </a:t>
            </a:r>
          </a:p>
          <a:p>
            <a:pPr marL="0" indent="0">
              <a:buNone/>
            </a:pPr>
            <a:r>
              <a:rPr lang="en-US" dirty="0">
                <a:effectLst/>
                <a:latin typeface="Arial" panose="020B0604020202020204" pitchFamily="34" charset="0"/>
                <a:cs typeface="Arial" panose="020B0604020202020204" pitchFamily="34" charset="0"/>
              </a:rPr>
              <a:t>     Intro to DP and </a:t>
            </a:r>
            <a:r>
              <a:rPr lang="en-US" dirty="0" err="1">
                <a:effectLst/>
                <a:latin typeface="Arial" panose="020B0604020202020204" pitchFamily="34" charset="0"/>
                <a:cs typeface="Arial" panose="020B0604020202020204" pitchFamily="34" charset="0"/>
              </a:rPr>
              <a:t>PyTorch</a:t>
            </a:r>
            <a:endParaRPr lang="en-US" dirty="0">
              <a:solidFill>
                <a:schemeClr val="tx1"/>
              </a:solidFill>
              <a:effectLst/>
            </a:endParaRPr>
          </a:p>
          <a:p>
            <a:pPr marL="0" indent="0">
              <a:buNone/>
            </a:pPr>
            <a:endParaRPr lang="en-US" dirty="0">
              <a:effectLst/>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2E4B29F-2D71-6D11-6E58-3E873E306B83}"/>
              </a:ext>
            </a:extLst>
          </p:cNvPr>
          <p:cNvSpPr>
            <a:spLocks noGrp="1"/>
          </p:cNvSpPr>
          <p:nvPr>
            <p:ph type="sldNum" sz="quarter" idx="12"/>
          </p:nvPr>
        </p:nvSpPr>
        <p:spPr/>
        <p:txBody>
          <a:bodyPr/>
          <a:lstStyle/>
          <a:p>
            <a:fld id="{B3533053-B928-004D-A0E8-A0A092123CEE}" type="slidenum">
              <a:rPr lang="en-US" smtClean="0">
                <a:latin typeface="Arial" panose="020B0604020202020204" pitchFamily="34" charset="0"/>
                <a:cs typeface="Arial" panose="020B0604020202020204" pitchFamily="34" charset="0"/>
              </a:rPr>
              <a:t>38</a:t>
            </a:fld>
            <a:endParaRPr lang="en-US">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74A0597E-1F99-6DF2-FAEE-F3444F66B01E}"/>
              </a:ext>
            </a:extLst>
          </p:cNvPr>
          <p:cNvSpPr>
            <a:spLocks noGrp="1"/>
          </p:cNvSpPr>
          <p:nvPr>
            <p:ph type="title"/>
          </p:nvPr>
        </p:nvSpPr>
        <p:spPr>
          <a:xfrm>
            <a:off x="781011" y="478540"/>
            <a:ext cx="10515600" cy="1325563"/>
          </a:xfrm>
        </p:spPr>
        <p:txBody>
          <a:bodyPr/>
          <a:lstStyle/>
          <a:p>
            <a:r>
              <a:rPr lang="en-US" dirty="0">
                <a:latin typeface="Arial" panose="020B0604020202020204" pitchFamily="34" charset="0"/>
                <a:cs typeface="Arial" panose="020B0604020202020204" pitchFamily="34" charset="0"/>
              </a:rPr>
              <a:t>Other things</a:t>
            </a:r>
            <a:endParaRPr lang="en-US" sz="4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00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58822</TotalTime>
  <Words>3526</Words>
  <Application>Microsoft Macintosh PowerPoint</Application>
  <PresentationFormat>Widescreen</PresentationFormat>
  <Paragraphs>414</Paragraphs>
  <Slides>39</Slides>
  <Notes>39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39</vt:i4>
      </vt:variant>
    </vt:vector>
  </HeadingPairs>
  <TitlesOfParts>
    <vt:vector size="52" baseType="lpstr">
      <vt:lpstr>ArialMT</vt:lpstr>
      <vt:lpstr>CMMIB10</vt:lpstr>
      <vt:lpstr>LMRoman10-Regular-Identity-H</vt:lpstr>
      <vt:lpstr>MonumentGrotesk</vt:lpstr>
      <vt:lpstr>NVIDIA Sans</vt:lpstr>
      <vt:lpstr>Söhne</vt:lpstr>
      <vt:lpstr>Söhne Mono</vt:lpstr>
      <vt:lpstr>Arial</vt:lpstr>
      <vt:lpstr>Calibri</vt:lpstr>
      <vt:lpstr>Calibri Light</vt:lpstr>
      <vt:lpstr>Cambria Math</vt:lpstr>
      <vt:lpstr>Courier New</vt:lpstr>
      <vt:lpstr>Office Theme</vt:lpstr>
      <vt:lpstr>STATS 507 Data Analysis in Python</vt:lpstr>
      <vt:lpstr>Recap: why resurgence of DL?</vt:lpstr>
      <vt:lpstr>What is a (relational) Database?</vt:lpstr>
      <vt:lpstr>Writing Query with SQL?</vt:lpstr>
      <vt:lpstr>Recall the scope of this class</vt:lpstr>
      <vt:lpstr>1. Deep Learning Concepts Recap  2. Intro to PyTorch  3. Perceptron and MLP </vt:lpstr>
      <vt:lpstr>Recap: What is machine learning?  </vt:lpstr>
      <vt:lpstr>Recap: What is machine learning?  </vt:lpstr>
      <vt:lpstr>Recap: What is deep learning?  </vt:lpstr>
      <vt:lpstr>Why deep learning? </vt:lpstr>
      <vt:lpstr>Can we actually do it now?</vt:lpstr>
      <vt:lpstr>1. Deep Learning Concepts Recap  2. Intro to Pytorch  3. Perceptron and MLP </vt:lpstr>
      <vt:lpstr>What’s PyTorch</vt:lpstr>
      <vt:lpstr>Why PyTorch</vt:lpstr>
      <vt:lpstr>How PyTorch supports DL projects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GPU speedup on Google colab</vt:lpstr>
      <vt:lpstr>PowerPoint Presentation</vt:lpstr>
      <vt:lpstr>PowerPoint Presentation</vt:lpstr>
      <vt:lpstr>PowerPoint Presentation</vt:lpstr>
      <vt:lpstr>In-class practice</vt:lpstr>
      <vt:lpstr>1. Deep Learning Concepts Recap  2. Intro to Pytorch  3. Perceptron and MLP </vt:lpstr>
      <vt:lpstr>The perceptron (a single neuron)  The structural building block of deep learning  </vt:lpstr>
      <vt:lpstr>The perceptron (forward propagation)</vt:lpstr>
      <vt:lpstr>More on activation functions</vt:lpstr>
      <vt:lpstr>PowerPoint Presentation</vt:lpstr>
      <vt:lpstr>PowerPoint Presentation</vt:lpstr>
      <vt:lpstr>PowerPoint Presentation</vt:lpstr>
      <vt:lpstr>Deep(multi-layer) Neural Network </vt:lpstr>
      <vt:lpstr>PowerPoint Presentation</vt:lpstr>
      <vt:lpstr>Final Projects (30%)</vt:lpstr>
      <vt:lpstr>Other things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in Python Objected Oriented Programming</dc:title>
  <dc:creator>Ding, Yanran</dc:creator>
  <cp:lastModifiedBy>Zhang, Xian</cp:lastModifiedBy>
  <cp:revision>2356</cp:revision>
  <cp:lastPrinted>2023-12-31T19:39:16Z</cp:lastPrinted>
  <dcterms:created xsi:type="dcterms:W3CDTF">2023-12-29T21:23:06Z</dcterms:created>
  <dcterms:modified xsi:type="dcterms:W3CDTF">2025-10-29T17:50:54Z</dcterms:modified>
</cp:coreProperties>
</file>