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24" r:id="rId3"/>
    <p:sldId id="269" r:id="rId4"/>
    <p:sldId id="567" r:id="rId5"/>
    <p:sldId id="330" r:id="rId6"/>
    <p:sldId id="573" r:id="rId7"/>
    <p:sldId id="572" r:id="rId8"/>
    <p:sldId id="327" r:id="rId9"/>
    <p:sldId id="569" r:id="rId10"/>
    <p:sldId id="570" r:id="rId11"/>
    <p:sldId id="332" r:id="rId12"/>
    <p:sldId id="333" r:id="rId13"/>
    <p:sldId id="574" r:id="rId14"/>
    <p:sldId id="331" r:id="rId15"/>
    <p:sldId id="334" r:id="rId16"/>
    <p:sldId id="341" r:id="rId17"/>
    <p:sldId id="347" r:id="rId18"/>
    <p:sldId id="348" r:id="rId19"/>
    <p:sldId id="576" r:id="rId20"/>
    <p:sldId id="263" r:id="rId21"/>
    <p:sldId id="264" r:id="rId22"/>
    <p:sldId id="265" r:id="rId23"/>
    <p:sldId id="266" r:id="rId24"/>
    <p:sldId id="575" r:id="rId25"/>
    <p:sldId id="349" r:id="rId26"/>
    <p:sldId id="577" r:id="rId27"/>
    <p:sldId id="579" r:id="rId28"/>
    <p:sldId id="580" r:id="rId29"/>
    <p:sldId id="582" r:id="rId30"/>
    <p:sldId id="583" r:id="rId31"/>
    <p:sldId id="581" r:id="rId32"/>
    <p:sldId id="578" r:id="rId33"/>
    <p:sldId id="32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F48DF2-8227-5C48-8BD3-896CAD3EE341}">
          <p14:sldIdLst>
            <p14:sldId id="256"/>
            <p14:sldId id="324"/>
            <p14:sldId id="269"/>
            <p14:sldId id="567"/>
            <p14:sldId id="330"/>
            <p14:sldId id="573"/>
            <p14:sldId id="572"/>
            <p14:sldId id="327"/>
            <p14:sldId id="569"/>
            <p14:sldId id="570"/>
            <p14:sldId id="332"/>
            <p14:sldId id="333"/>
            <p14:sldId id="574"/>
            <p14:sldId id="331"/>
            <p14:sldId id="334"/>
            <p14:sldId id="341"/>
            <p14:sldId id="347"/>
            <p14:sldId id="348"/>
            <p14:sldId id="576"/>
            <p14:sldId id="263"/>
            <p14:sldId id="264"/>
            <p14:sldId id="265"/>
            <p14:sldId id="266"/>
            <p14:sldId id="575"/>
            <p14:sldId id="349"/>
            <p14:sldId id="577"/>
            <p14:sldId id="579"/>
            <p14:sldId id="580"/>
            <p14:sldId id="582"/>
            <p14:sldId id="583"/>
            <p14:sldId id="581"/>
            <p14:sldId id="578"/>
            <p14:sldId id="328"/>
          </p14:sldIdLst>
        </p14:section>
        <p14:section name="Untitled Section" id="{377F1EDF-B55F-C345-A29A-F7E49ACDC973}">
          <p14:sldIdLst/>
        </p14:section>
        <p14:section name="Untitled Section" id="{9F1CDEDB-F8F2-4F48-B18F-8E9C3FCDD6C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0639"/>
  </p:normalViewPr>
  <p:slideViewPr>
    <p:cSldViewPr snapToGrid="0">
      <p:cViewPr varScale="1">
        <p:scale>
          <a:sx n="96" d="100"/>
          <a:sy n="96" d="100"/>
        </p:scale>
        <p:origin x="176" y="368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30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5C28F-5EA1-BF43-9008-79EE04C73EA8}" type="datetimeFigureOut">
              <a:rPr lang="en-US" smtClean="0"/>
              <a:t>3/25/25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86EBC-7713-6E46-84A4-B57B150EF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9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3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3C115-2A9C-3568-D3A5-03EEE336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0F8A7-1F30-6FD6-FCA6-13F08DCF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3C923-AE07-C228-2CAD-1B840E44A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For machine learning, developed by Facebook’s AI Research lab and gained popularity for its dynamic computation graph and ease of use</a:t>
            </a:r>
          </a:p>
          <a:p>
            <a:pPr marL="228600" indent="-228600"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replacement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use the power of GPUs, which is a lot more efficient for matrix operations</a:t>
            </a:r>
          </a:p>
          <a:p>
            <a:pPr marL="228600" indent="-228600">
              <a:buAutoNum type="arabicParenR"/>
            </a:pPr>
            <a:r>
              <a:rPr lang="en-US" dirty="0"/>
              <a:t>Have a lot pre-defined modules and neural network architectures, simplifying the process of creating complex model. Widely used in both academia and industry for various machine learning and deep learning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7047-6D69-66DA-FECA-96CC1BC52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73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2DA6E3EC-05A0-4641-646F-EA6A5EE6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9f1bb81d62_0_94:notes">
            <a:extLst>
              <a:ext uri="{FF2B5EF4-FFF2-40B4-BE49-F238E27FC236}">
                <a16:creationId xmlns:a16="http://schemas.microsoft.com/office/drawing/2014/main" id="{1AEF6123-6DA7-0FC6-C0A0-4850D0FAA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dirty="0"/>
          </a:p>
        </p:txBody>
      </p:sp>
      <p:sp>
        <p:nvSpPr>
          <p:cNvPr id="153" name="Google Shape;153;g19f1bb81d62_0_94:notes">
            <a:extLst>
              <a:ext uri="{FF2B5EF4-FFF2-40B4-BE49-F238E27FC236}">
                <a16:creationId xmlns:a16="http://schemas.microsoft.com/office/drawing/2014/main" id="{C87929BE-297D-C469-4FA3-0492BE6C0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9019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68FB-AD5F-F874-D0E0-8DE8BBB7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6F8A0-17AB-FA07-5D57-90AAC37EA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E15BE-8E35-5213-B3B1-1311C1D33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EB4E4-0412-3860-6423-4EFE5D087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71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84E7-BD02-F9AD-62EC-213C0EED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FCC21-1E87-B315-5D20-C654C5240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641E4-EB88-ABFC-B42F-63D11B18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D9E0-70DE-8DBD-971E-E0CBC634F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00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have defined networks that can map inputs to outputs, but how can </a:t>
            </a:r>
          </a:p>
          <a:p>
            <a:r>
              <a:rPr lang="en-US" dirty="0"/>
              <a:t>Get the correct weights and bias to make the mapping as accurate as possible. </a:t>
            </a:r>
          </a:p>
          <a:p>
            <a:r>
              <a:rPr lang="en-US" dirty="0"/>
              <a:t>First, we need to come up with a metric to measure the performance of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59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have defined networks that can map inputs to outputs, but how can </a:t>
            </a:r>
          </a:p>
          <a:p>
            <a:r>
              <a:rPr lang="en-US" dirty="0"/>
              <a:t>Get the correct weights and bias to make the mapping as accurate as possible. </a:t>
            </a:r>
          </a:p>
          <a:p>
            <a:r>
              <a:rPr lang="en-US" dirty="0"/>
              <a:t>First, we need to come up with a metric to measure the performance of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7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have defined networks that can map inputs to outputs, but how can </a:t>
            </a:r>
          </a:p>
          <a:p>
            <a:r>
              <a:rPr lang="en-US" dirty="0"/>
              <a:t>Get the correct weights and bias to make the mapping as accurate as possible. </a:t>
            </a:r>
          </a:p>
          <a:p>
            <a:r>
              <a:rPr lang="en-US" dirty="0"/>
              <a:t>First, we need to come up with a metric to measure the performance of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69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36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have defined networks that can map inputs to outputs, but how can </a:t>
            </a:r>
          </a:p>
          <a:p>
            <a:r>
              <a:rPr lang="en-US" dirty="0"/>
              <a:t>Get the correct weights and bias to make the mapping as accurate as possible. </a:t>
            </a:r>
          </a:p>
          <a:p>
            <a:r>
              <a:rPr lang="en-US" dirty="0"/>
              <a:t>First, we need to come up with a metric to measure the performance of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51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4C1FC-2B7B-DA54-97E4-1C900AD2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80E42-5783-5592-9BA8-649F57F96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93292-063E-F4D1-C4F5-7BD7A276F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8F51-1A9C-4AD7-B16E-3221AC118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00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66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89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27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7B8F-CEF4-7D74-9493-52FBE71FD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4C8F5-3554-8833-4E07-D61BC1880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A163B-6D1A-6720-8820-C5F10D4C8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C86E1-6E9D-597E-8A2D-2D341BB6D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1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1490D-9759-3C4C-A1D8-E275077AD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D7D37-D7F8-F2D5-A5D8-11F45A2F8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DA2DC-A150-8242-494F-0D95A05E7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3817C-2099-B4A5-14F9-D94872E22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12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4752-2130-7BE0-138B-A5AE434B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7F18C-5770-1BE2-7B8C-33765284B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3E29E-A079-DB39-549C-D0FE6CCFB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3F788-8082-10C3-5F3C-E6D6D0C9B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62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62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96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19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813A-09BA-FEEA-59F7-EFA8DB028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3B26A-4BBE-E905-3985-853138E50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7A7E8-D176-21D6-6F36-BBECC0863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F129-EF37-E04B-648D-65CE72108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59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Easy to compute since it is just one point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But also very noisy and stochastic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91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9E7F-C445-970B-A39F-1B1346D9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B3A13-36BB-D759-8DC5-569EAA294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72FAE-4461-5105-8A05-89C589BC7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0BAC5-B18A-D70A-1ABE-D20EA9F33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91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BE0F-ED21-6C2F-02D5-C7B50786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C7DEC-47AA-5DAD-96A9-B18628AB6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A06CB-6564-8557-5E69-3A4F16B2A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called the learning rate. </a:t>
            </a:r>
          </a:p>
          <a:p>
            <a:endParaRPr lang="en-US" dirty="0"/>
          </a:p>
          <a:p>
            <a:r>
              <a:rPr lang="en-US" dirty="0"/>
              <a:t>In practice, it tells about how much step/ how much step we take in our gradient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C993-BDF7-6396-32AB-30F050653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19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455B-8E5B-D546-B25C-EFDD77A1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778FC-C69D-B373-34E4-517087F68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532E6-768E-37A8-B470-F864A21A9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2118-0FCF-BD90-39B5-B367196BC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077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659E9-849E-5BF6-86A7-30DAB6BB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390EE-1C6C-72F7-A655-617E26CCB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28E37-6EA8-B926-0D67-C45800450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79B15-2D65-B46F-457A-FDECB4918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8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B5E2-EBAC-0A31-788F-20A2E308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8D80D-20ED-9167-5301-6E3DB88F3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95FEC-F096-EAF4-595E-4794E612C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CF53E-DCBA-699C-7E55-3A79A2096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381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46ED-D1A5-CB1A-8297-2441B973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BE969-C90F-27AA-F3ED-374A27AC9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D085B-EE29-F745-8692-99CB9697A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fact, those had been widely explored in deep learning literature and heavily published on </a:t>
            </a:r>
            <a:r>
              <a:rPr lang="en-US" dirty="0" err="1"/>
              <a:t>Pytorch</a:t>
            </a:r>
            <a:r>
              <a:rPr lang="en-US" dirty="0"/>
              <a:t> </a:t>
            </a:r>
            <a:r>
              <a:rPr lang="en-US" dirty="0" err="1"/>
              <a:t>softewares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5F56-3E5D-F2AC-CFB5-5A1167942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733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8FF7-0836-3934-8C30-DD3436A2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9451C-8B8C-0224-3123-827E63920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085C2-86AD-C058-A23E-9F6134031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3EF67-4D14-2366-D391-E7C210AAD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100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86EBC-7713-6E46-84A4-B57B150EF96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09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A21B-2D46-78D9-136B-5B9165B38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4453A-120E-6C59-7539-64173B9E1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46158-2C56-594F-FADC-36CCE99A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C45B-1BB9-0943-9823-AD542BC30B25}" type="datetime1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79EF0-E5F2-554D-A219-C9AED352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D625-2AE5-84E8-99F8-626D110C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4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D178-FA57-DA64-F07B-CA5B7147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7DCBA-2F46-B040-B491-95AF06B8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5051-A099-A3F9-D05D-4939C29A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0FFE-A325-5D45-8375-3CFF78786F32}" type="datetime1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30682-1817-DF10-55B4-C1FC0F16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CD24-623E-F898-57D1-FB1BE59D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4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3B39-B86D-32A3-4272-FC2A3389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A6AC0-9413-085E-19A8-67A8D2C3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03B7E-2465-9120-D8AB-71B0E2B3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AE7C0-8E9F-1E49-95FE-6B6CCDA2C761}" type="datetime1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B14EE-4E42-8A49-F74D-7CB77D9C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875CF-1A13-580C-B1E9-93EA3169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4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8D2D-EDB7-DA68-6D76-4ECD1F57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F064-A9B7-9B9D-1CE6-662B2FCB4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AE1FB-42FE-1F5D-FD73-68B497C82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9B129-46B1-FDAE-F8E3-EECEFC0C4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493CC-F684-524E-9167-37139A3E6226}" type="datetime1">
              <a:rPr lang="en-US" smtClean="0"/>
              <a:t>3/25/25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19DEE-4D35-03F7-F88B-28D60FA7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86351-0989-A567-9C85-3F897F80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2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16A3-973B-A3EE-24EF-B3DE555D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8342F-4B43-CE46-E667-31F75D558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42D3B-C508-5446-B9C5-D4DA30E90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4A9E7-00A2-8C95-A8E9-BFA068A23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3C0C9-ADB7-0B30-866E-4736C9E15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089C8-45BF-29CB-8E17-BF91E81A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7EA1-4AFA-6640-BB57-CC4591A30E71}" type="datetime1">
              <a:rPr lang="en-US" smtClean="0"/>
              <a:t>3/25/25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2A531-1774-75AB-6944-06879B46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2A8C9-9082-C22D-69A5-6BA16371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5999-C066-9A42-605E-CC7179FC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8E2D-E358-0778-198F-7A7532CA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1F4-99B0-7E46-BDDE-8BA512BD333E}" type="datetime1">
              <a:rPr lang="en-US" smtClean="0"/>
              <a:t>3/25/25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CA04F-256B-3B5C-28A1-B397D139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40B76-8B5C-EDB2-2F84-031946FA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7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6575A-3650-6F51-03CB-CF60A6D6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DB4D-C8DB-2540-8C12-73F97B6A0988}" type="datetime1">
              <a:rPr lang="en-US" smtClean="0"/>
              <a:t>3/25/25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A4367-9E5D-4563-C589-8A4782D6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503AC-D3E2-5CB4-641D-CF26C81C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26DD-34B1-D5B2-6570-F048C6AB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DEEFF-4730-C3C1-DC30-5FCCF5B40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0C45D-832F-CCAA-0083-16F2742D6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106B9-6E04-7D73-7D63-E2C8F1E7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2AF77-ED6A-6443-93CE-19138089D463}" type="datetime1">
              <a:rPr lang="en-US" smtClean="0"/>
              <a:t>3/25/25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4EAE8-62FB-FA0A-DB7E-5A672AF1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720D6-14ED-444E-0A55-1DD26301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2AFF-FBE0-5A9D-364D-F157EA7D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17B5D-FCD1-E977-6965-EE4876678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22EC6-6BEA-722F-7647-74E4D7FEC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DBB70-3C02-F485-0B1B-3917FF5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FBB2-712D-C24F-B36C-E378F1B9621A}" type="datetime1">
              <a:rPr lang="en-US" smtClean="0"/>
              <a:t>3/25/25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9A224-9F6A-2E65-3364-48555A93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1D5D7-7ED1-5D8B-C785-EAC1CF3C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6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9C38-D4E2-9D49-489B-E1CF4803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B60D7-196C-3AA6-341F-21353AD5B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81E4C-C362-788B-78EF-4CE2C23D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15B7-8014-1B49-8973-2DCA7344A507}" type="datetime1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6C0DA-54EE-2D30-7BAA-8F14B460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7647-9E31-2398-B565-28B3F995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1AFAD-215E-72C8-4752-A4920ED35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3A5C6-30C4-38A6-3D38-3814E9406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F8882-6B34-C859-88A1-D5966FE7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A22-B29A-DB4D-873C-D5BA5380E407}" type="datetime1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28E73-C47E-B5C1-0B06-126F64CA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A5C9F-1077-38DA-A928-FE2AD188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5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62A28-072D-3751-0623-07363DA6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1445D-1387-81C7-E846-3083FD0BB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ECE20-5897-50FF-F614-CE7B83C5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1262B-65F9-D849-8215-E3367B9F9C3D}" type="datetime1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CB051-C83C-3D36-BEA9-9B6C8CD8B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AD62C-6021-4265-E05B-E26CE9FEA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33053-B928-004D-A0E8-A0A092123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1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20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gradient-descent-algorithm-and-its-variants/" TargetMode="Externa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hyperlink" Target="https://pytorch.org/docs/stable/optim.html#module-torch.optim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EB8A-3BAD-4DA1-8682-A700B2545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789" y="1041400"/>
            <a:ext cx="11652422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STATS 507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Analysis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94AEC-397F-89CB-6E4B-4A58284F1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1490"/>
            <a:ext cx="9144000" cy="1655762"/>
          </a:xfrm>
        </p:spPr>
        <p:txBody>
          <a:bodyPr>
            <a:norm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Week12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Loss Function, Gradient, Stochastic Gradient Descent 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DBE0F6-B6C7-5FC4-DC5E-CA04E44A60AE}"/>
              </a:ext>
            </a:extLst>
          </p:cNvPr>
          <p:cNvSpPr txBox="1">
            <a:spLocks/>
          </p:cNvSpPr>
          <p:nvPr/>
        </p:nvSpPr>
        <p:spPr>
          <a:xfrm>
            <a:off x="1524000" y="5487542"/>
            <a:ext cx="9144000" cy="1141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Dr. Xian Zhang</a:t>
            </a:r>
          </a:p>
        </p:txBody>
      </p:sp>
    </p:spTree>
    <p:extLst>
      <p:ext uri="{BB962C8B-B14F-4D97-AF65-F5344CB8AC3E}">
        <p14:creationId xmlns:p14="http://schemas.microsoft.com/office/powerpoint/2010/main" val="1594597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D8B2-7414-D2A9-FFDB-54F50A36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Recall the scope of this class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954D4EB-3F54-6667-79F6-22423F1E515D}"/>
              </a:ext>
            </a:extLst>
          </p:cNvPr>
          <p:cNvSpPr txBox="1">
            <a:spLocks/>
          </p:cNvSpPr>
          <p:nvPr/>
        </p:nvSpPr>
        <p:spPr>
          <a:xfrm>
            <a:off x="838200" y="1590374"/>
            <a:ext cx="10814463" cy="4605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Part 1: Introduction to Python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types, functions, classes, objects, functional programming 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Part 2: Numerical Computing and Data Visualization</a:t>
            </a:r>
          </a:p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scipy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scikit-learn, matplotlib, Seaborn</a:t>
            </a:r>
          </a:p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Part 3: Dealing with structured data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pandas, SQL, real datasets</a:t>
            </a:r>
          </a:p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Part4:  Intro to Deep Learning </a:t>
            </a:r>
          </a:p>
          <a:p>
            <a:pPr marL="0" indent="0">
              <a:buNone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Perceptron, Multi-layer perceptron, SGD, regularization,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ConvNets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66F27-A022-26C9-6CB3-CFC8A75803F8}"/>
              </a:ext>
            </a:extLst>
          </p:cNvPr>
          <p:cNvSpPr/>
          <p:nvPr/>
        </p:nvSpPr>
        <p:spPr>
          <a:xfrm>
            <a:off x="838200" y="5296395"/>
            <a:ext cx="10515600" cy="1045028"/>
          </a:xfrm>
          <a:prstGeom prst="rect">
            <a:avLst/>
          </a:prstGeom>
          <a:solidFill>
            <a:srgbClr val="002060">
              <a:alpha val="2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F4594-4031-5001-06B4-D5BEF5D4E997}"/>
              </a:ext>
            </a:extLst>
          </p:cNvPr>
          <p:cNvSpPr txBox="1">
            <a:spLocks/>
          </p:cNvSpPr>
          <p:nvPr/>
        </p:nvSpPr>
        <p:spPr>
          <a:xfrm>
            <a:off x="7857276" y="6383111"/>
            <a:ext cx="3795387" cy="419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Jeffrey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Regier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A7CC1-5BB8-4E6D-234A-EB544D06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8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1CED-6DFE-8A6C-2D77-49188CC6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242E-C223-F03C-25E2-D5343A33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What’s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PyTorch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24C5C-E631-A8DF-D3E8-A6AA12809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a Python-based open-sourced scientific computing package targeted at two sets of audiences: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replacement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use the power of </a:t>
            </a:r>
            <a:r>
              <a:rPr lang="en-US" b="1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GPUs</a:t>
            </a:r>
          </a:p>
          <a:p>
            <a:pPr marL="514350" indent="-514350">
              <a:buAutoNum type="arabicParenR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deep learning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research platform that provided maximum flexibility and speed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69491BC-57F9-AA1C-EB92-EA9680BB3ACF}"/>
              </a:ext>
            </a:extLst>
          </p:cNvPr>
          <p:cNvSpPr txBox="1">
            <a:spLocks/>
          </p:cNvSpPr>
          <p:nvPr/>
        </p:nvSpPr>
        <p:spPr>
          <a:xfrm>
            <a:off x="7112099" y="6389165"/>
            <a:ext cx="3795387" cy="419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Jeffrey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Regier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11E6A-DC67-8011-5816-60B6E09EFD3B}"/>
              </a:ext>
            </a:extLst>
          </p:cNvPr>
          <p:cNvSpPr txBox="1"/>
          <p:nvPr/>
        </p:nvSpPr>
        <p:spPr>
          <a:xfrm>
            <a:off x="1042640" y="5938339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96A5"/>
                </a:solidFill>
                <a:effectLst/>
                <a:latin typeface="ArialMT"/>
              </a:rPr>
              <a:t>https://</a:t>
            </a:r>
            <a:r>
              <a:rPr lang="en-US" sz="1800" dirty="0" err="1">
                <a:solidFill>
                  <a:srgbClr val="0096A5"/>
                </a:solidFill>
                <a:effectLst/>
                <a:latin typeface="ArialMT"/>
              </a:rPr>
              <a:t>pytorch.org</a:t>
            </a:r>
            <a:r>
              <a:rPr lang="en-US" sz="1800" dirty="0">
                <a:solidFill>
                  <a:srgbClr val="0096A5"/>
                </a:solidFill>
                <a:effectLst/>
                <a:latin typeface="ArialMT"/>
              </a:rPr>
              <a:t>/get-started/locally/ </a:t>
            </a:r>
            <a:endParaRPr lang="en-US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23256-5976-1BDF-D9BE-329E205F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1629" y="6310312"/>
            <a:ext cx="2743200" cy="365125"/>
          </a:xfrm>
        </p:spPr>
        <p:txBody>
          <a:bodyPr/>
          <a:lstStyle/>
          <a:p>
            <a:fld id="{B3533053-B928-004D-A0E8-A0A092123C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8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E17AA711-0E8B-1F73-7A22-587BBCBA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p20">
            <a:extLst>
              <a:ext uri="{FF2B5EF4-FFF2-40B4-BE49-F238E27FC236}">
                <a16:creationId xmlns:a16="http://schemas.microsoft.com/office/drawing/2014/main" id="{A3945C9D-0934-7BB2-69B0-6712324581A8}"/>
              </a:ext>
            </a:extLst>
          </p:cNvPr>
          <p:cNvSpPr/>
          <p:nvPr/>
        </p:nvSpPr>
        <p:spPr>
          <a:xfrm>
            <a:off x="8359200" y="6267840"/>
            <a:ext cx="3703200" cy="5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credit: Christian S. Perone</a:t>
            </a: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A1512-5D93-D2FE-4F08-1DE4FF2DE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21" y="1667038"/>
            <a:ext cx="3980911" cy="1335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F93938-D988-BE2A-3514-C6F343414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69446"/>
            <a:ext cx="3980911" cy="164941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D5C67-CD6C-042A-2583-7FC825A8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21" y="34147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Auto differentiation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6B5AD7-F77E-5399-D116-50B881AE93E2}"/>
              </a:ext>
            </a:extLst>
          </p:cNvPr>
          <p:cNvGrpSpPr/>
          <p:nvPr/>
        </p:nvGrpSpPr>
        <p:grpSpPr>
          <a:xfrm>
            <a:off x="526823" y="3797339"/>
            <a:ext cx="8195734" cy="2475564"/>
            <a:chOff x="526823" y="3797339"/>
            <a:chExt cx="8195734" cy="24755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581473-26AC-795C-6830-F5F14E1FEC6F}"/>
                </a:ext>
              </a:extLst>
            </p:cNvPr>
            <p:cNvSpPr txBox="1"/>
            <p:nvPr/>
          </p:nvSpPr>
          <p:spPr>
            <a:xfrm>
              <a:off x="526823" y="3797339"/>
              <a:ext cx="8128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When we call backward(),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PyTorch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uses these </a:t>
              </a:r>
              <a:r>
                <a:rPr lang="en-US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grad_fns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to compute: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80D9C5-97D4-CA38-0BC7-A6143BA91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0157" y="4302436"/>
              <a:ext cx="7772400" cy="1970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569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72542-84E2-2F04-4BD0-422EFA97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56E99-E846-00E5-C681-8B738448C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84" y="2169319"/>
            <a:ext cx="4881557" cy="302635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EBB9CA-F1AD-2F3C-9F4E-892483BFF6B6}"/>
              </a:ext>
            </a:extLst>
          </p:cNvPr>
          <p:cNvSpPr txBox="1">
            <a:spLocks/>
          </p:cNvSpPr>
          <p:nvPr/>
        </p:nvSpPr>
        <p:spPr>
          <a:xfrm>
            <a:off x="485828" y="313143"/>
            <a:ext cx="115148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Recap: The perceptron and DNN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596B12-40D7-C03F-6C59-F1E85BCD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387273"/>
            <a:ext cx="5558476" cy="3603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AA0BBB-BF48-CE00-90F4-33E02FA73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5571" y="1427268"/>
            <a:ext cx="2477445" cy="148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7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3F94-329F-4A5F-A860-B775344A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5536-7ED8-7FB9-1D8F-6109613F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4AFB6-D5B8-D7B0-951C-D37E2EF49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76" y="1556911"/>
            <a:ext cx="11734541" cy="112144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32DEBE8-0264-C56E-5A52-5D18161983AF}"/>
              </a:ext>
            </a:extLst>
          </p:cNvPr>
          <p:cNvSpPr txBox="1">
            <a:spLocks/>
          </p:cNvSpPr>
          <p:nvPr/>
        </p:nvSpPr>
        <p:spPr>
          <a:xfrm>
            <a:off x="485828" y="313143"/>
            <a:ext cx="115148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Applying DNN: Will I pass this class?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19DB0D-0F78-32D3-5A53-62F7F7604E70}"/>
              </a:ext>
            </a:extLst>
          </p:cNvPr>
          <p:cNvGrpSpPr/>
          <p:nvPr/>
        </p:nvGrpSpPr>
        <p:grpSpPr>
          <a:xfrm>
            <a:off x="9258300" y="3139046"/>
            <a:ext cx="2933700" cy="2280166"/>
            <a:chOff x="9258300" y="3221201"/>
            <a:chExt cx="2933700" cy="228016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552947D-6816-E61E-FBA7-24A049AB2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8300" y="3221201"/>
              <a:ext cx="2501900" cy="2095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148F78-C2A4-F62E-199B-91ECC86412C2}"/>
                </a:ext>
              </a:extLst>
            </p:cNvPr>
            <p:cNvSpPr txBox="1"/>
            <p:nvPr/>
          </p:nvSpPr>
          <p:spPr>
            <a:xfrm>
              <a:off x="9258300" y="5132035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two discrete classes</a:t>
              </a:r>
              <a:endParaRPr lang="en-US"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2CFBD2D-84E8-CED3-33F0-5C56486DC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066" y="3737427"/>
            <a:ext cx="996764" cy="79053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7FE8AEE-2467-7798-69CD-9CE27EEB2338}"/>
              </a:ext>
            </a:extLst>
          </p:cNvPr>
          <p:cNvGrpSpPr/>
          <p:nvPr/>
        </p:nvGrpSpPr>
        <p:grpSpPr>
          <a:xfrm>
            <a:off x="5024092" y="2602145"/>
            <a:ext cx="2533849" cy="4116503"/>
            <a:chOff x="5024092" y="2602145"/>
            <a:chExt cx="2533849" cy="411650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3F65CB-FE3B-6FC4-8AA4-096F0BE38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78665" y="3264600"/>
              <a:ext cx="2379276" cy="18034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5486985-79DF-3C13-2A01-BD4B8040B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24092" y="5234546"/>
              <a:ext cx="2477445" cy="148410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6191AA-05F4-ACBD-EECB-D9179ADC1905}"/>
                </a:ext>
              </a:extLst>
            </p:cNvPr>
            <p:cNvSpPr txBox="1"/>
            <p:nvPr/>
          </p:nvSpPr>
          <p:spPr>
            <a:xfrm>
              <a:off x="5243863" y="2602145"/>
              <a:ext cx="19987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two layer MLP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7FB1F5-6863-CF75-F4AB-3D98842AAE95}"/>
              </a:ext>
            </a:extLst>
          </p:cNvPr>
          <p:cNvGrpSpPr/>
          <p:nvPr/>
        </p:nvGrpSpPr>
        <p:grpSpPr>
          <a:xfrm>
            <a:off x="3872413" y="3931683"/>
            <a:ext cx="946869" cy="461217"/>
            <a:chOff x="3872413" y="3931683"/>
            <a:chExt cx="946869" cy="4612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31FC8E5-E3B2-9BFF-8C15-96358923CA96}"/>
                    </a:ext>
                  </a:extLst>
                </p:cNvPr>
                <p:cNvSpPr txBox="1"/>
                <p:nvPr/>
              </p:nvSpPr>
              <p:spPr>
                <a:xfrm>
                  <a:off x="3872413" y="3931683"/>
                  <a:ext cx="450059" cy="4612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31FC8E5-E3B2-9BFF-8C15-96358923C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413" y="3931683"/>
                  <a:ext cx="450059" cy="461217"/>
                </a:xfrm>
                <a:prstGeom prst="rect">
                  <a:avLst/>
                </a:prstGeom>
                <a:blipFill>
                  <a:blip r:embed="rId8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40034C2-F437-C654-77AD-BE707A9AE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7802" y="4162291"/>
              <a:ext cx="511480" cy="40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032F50-FA5C-61C4-55B9-755841012813}"/>
              </a:ext>
            </a:extLst>
          </p:cNvPr>
          <p:cNvGrpSpPr/>
          <p:nvPr/>
        </p:nvGrpSpPr>
        <p:grpSpPr>
          <a:xfrm>
            <a:off x="298638" y="3530569"/>
            <a:ext cx="3453848" cy="1312453"/>
            <a:chOff x="298638" y="3530569"/>
            <a:chExt cx="3453848" cy="13124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B55729-19EE-9D72-AB95-67F92610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8638" y="3590993"/>
              <a:ext cx="3159930" cy="1083404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4FBA133-C549-6F46-2190-423F26471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1006" y="4153330"/>
              <a:ext cx="511480" cy="400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1D405E-860F-3C8B-8F16-0521D1BB1171}"/>
                </a:ext>
              </a:extLst>
            </p:cNvPr>
            <p:cNvSpPr/>
            <p:nvPr/>
          </p:nvSpPr>
          <p:spPr>
            <a:xfrm>
              <a:off x="357499" y="3530569"/>
              <a:ext cx="2883507" cy="1312453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8BC8499-7138-95D0-0248-301659BAB66E}"/>
              </a:ext>
            </a:extLst>
          </p:cNvPr>
          <p:cNvSpPr txBox="1">
            <a:spLocks/>
          </p:cNvSpPr>
          <p:nvPr/>
        </p:nvSpPr>
        <p:spPr>
          <a:xfrm>
            <a:off x="76461" y="5992363"/>
            <a:ext cx="10515600" cy="7561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Classification or regression?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discrete class-&gt; Binary </a:t>
            </a:r>
          </a:p>
        </p:txBody>
      </p:sp>
    </p:spTree>
    <p:extLst>
      <p:ext uri="{BB962C8B-B14F-4D97-AF65-F5344CB8AC3E}">
        <p14:creationId xmlns:p14="http://schemas.microsoft.com/office/powerpoint/2010/main" val="4311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ED1E-D097-ACF2-F95A-B6495CAD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5E912-D120-2295-3275-900A627B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03300E-7BAF-00B8-586D-08F588D9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11" y="778933"/>
            <a:ext cx="11231613" cy="5577417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The Loss Function</a:t>
            </a:r>
            <a:b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2. Training a model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3. DNN in action (in-class practice)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09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oss and what is it for?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FF69E-ED4C-F742-FDB2-4A1CF66A3757}"/>
              </a:ext>
            </a:extLst>
          </p:cNvPr>
          <p:cNvSpPr txBox="1"/>
          <p:nvPr/>
        </p:nvSpPr>
        <p:spPr>
          <a:xfrm>
            <a:off x="838200" y="1690688"/>
            <a:ext cx="1135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how ”correct” (how bad) the model is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9A8773-5371-5586-B30C-732AB36517B4}"/>
              </a:ext>
            </a:extLst>
          </p:cNvPr>
          <p:cNvGrpSpPr/>
          <p:nvPr/>
        </p:nvGrpSpPr>
        <p:grpSpPr>
          <a:xfrm>
            <a:off x="4057650" y="2398229"/>
            <a:ext cx="3358243" cy="949126"/>
            <a:chOff x="838200" y="1838203"/>
            <a:chExt cx="3358243" cy="9491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A29ADB7-F7B7-54A4-9B18-73E73C89C1A5}"/>
                    </a:ext>
                  </a:extLst>
                </p:cNvPr>
                <p:cNvSpPr txBox="1"/>
                <p:nvPr/>
              </p:nvSpPr>
              <p:spPr>
                <a:xfrm>
                  <a:off x="2638812" y="1864345"/>
                  <a:ext cx="1557631" cy="3812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A29ADB7-F7B7-54A4-9B18-73E73C89C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812" y="1864345"/>
                  <a:ext cx="1557631" cy="381258"/>
                </a:xfrm>
                <a:prstGeom prst="rect">
                  <a:avLst/>
                </a:prstGeom>
                <a:blipFill>
                  <a:blip r:embed="rId3"/>
                  <a:stretch>
                    <a:fillRect b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2C6B1A9-4679-2249-AF17-8310C7B1F2CC}"/>
                    </a:ext>
                  </a:extLst>
                </p:cNvPr>
                <p:cNvSpPr txBox="1"/>
                <p:nvPr/>
              </p:nvSpPr>
              <p:spPr>
                <a:xfrm>
                  <a:off x="2216991" y="2358400"/>
                  <a:ext cx="1557631" cy="3812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2C6B1A9-4679-2249-AF17-8310C7B1F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91" y="2358400"/>
                  <a:ext cx="1557631" cy="381258"/>
                </a:xfrm>
                <a:prstGeom prst="rect">
                  <a:avLst/>
                </a:prstGeom>
                <a:blipFill>
                  <a:blip r:embed="rId4"/>
                  <a:stretch>
                    <a:fillRect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ABDF4F-AB39-ABFE-3C8E-430293E7596F}"/>
                </a:ext>
              </a:extLst>
            </p:cNvPr>
            <p:cNvSpPr txBox="1"/>
            <p:nvPr/>
          </p:nvSpPr>
          <p:spPr>
            <a:xfrm>
              <a:off x="838200" y="1838203"/>
              <a:ext cx="19539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Predicted :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21F1C5-0199-E412-79F2-58C33EFEC911}"/>
                </a:ext>
              </a:extLst>
            </p:cNvPr>
            <p:cNvSpPr txBox="1"/>
            <p:nvPr/>
          </p:nvSpPr>
          <p:spPr>
            <a:xfrm>
              <a:off x="838200" y="2325664"/>
              <a:ext cx="15576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Actual :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6EE3B19-CEF6-A25A-887D-2AE4E8E2B60D}"/>
              </a:ext>
            </a:extLst>
          </p:cNvPr>
          <p:cNvSpPr txBox="1"/>
          <p:nvPr/>
        </p:nvSpPr>
        <p:spPr>
          <a:xfrm>
            <a:off x="2738504" y="5206608"/>
            <a:ext cx="4261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Also known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objective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cost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empirical risk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1F6E880-04DE-C61C-1F8F-CC402BD3698C}"/>
              </a:ext>
            </a:extLst>
          </p:cNvPr>
          <p:cNvGrpSpPr/>
          <p:nvPr/>
        </p:nvGrpSpPr>
        <p:grpSpPr>
          <a:xfrm>
            <a:off x="838200" y="4046149"/>
            <a:ext cx="11353800" cy="1078814"/>
            <a:chOff x="838200" y="4046149"/>
            <a:chExt cx="11353800" cy="107881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D9678B1-7C57-B300-1A43-88DBCB253B5E}"/>
                </a:ext>
              </a:extLst>
            </p:cNvPr>
            <p:cNvSpPr txBox="1"/>
            <p:nvPr/>
          </p:nvSpPr>
          <p:spPr>
            <a:xfrm>
              <a:off x="838200" y="4046149"/>
              <a:ext cx="1135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The </a:t>
              </a:r>
              <a:r>
                <a:rPr lang="en-US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empirical loss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measure the total loss over our entire dataset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8E97B44-5D5B-477F-3E46-E53B91FA5CA2}"/>
                    </a:ext>
                  </a:extLst>
                </p:cNvPr>
                <p:cNvSpPr txBox="1"/>
                <p:nvPr/>
              </p:nvSpPr>
              <p:spPr>
                <a:xfrm>
                  <a:off x="3727757" y="4601422"/>
                  <a:ext cx="4261010" cy="5235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a14:m>
                  <a:r>
                    <a:rPr lang="en-US" altLang="zh-CN" sz="2400" i="1" dirty="0"/>
                    <a:t> 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a14:m>
                  <a:r>
                    <a:rPr lang="en-US" altLang="zh-CN" sz="2400" i="1" dirty="0"/>
                    <a:t> </a:t>
                  </a:r>
                  <a:r>
                    <a:rPr lang="zh-CN" altLang="en-US" sz="2400" i="1" dirty="0"/>
                    <a:t> </a:t>
                  </a:r>
                  <a:r>
                    <a:rPr lang="en-US" sz="2400" i="1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8E97B44-5D5B-477F-3E46-E53B91FA5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7757" y="4601422"/>
                  <a:ext cx="4261010" cy="523541"/>
                </a:xfrm>
                <a:prstGeom prst="rect">
                  <a:avLst/>
                </a:prstGeom>
                <a:blipFill>
                  <a:blip r:embed="rId5"/>
                  <a:stretch>
                    <a:fillRect l="-3274" t="-104762" b="-1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C04B297-3C4E-6DC3-F7B5-B2B0D36849B8}"/>
              </a:ext>
            </a:extLst>
          </p:cNvPr>
          <p:cNvSpPr txBox="1"/>
          <p:nvPr/>
        </p:nvSpPr>
        <p:spPr>
          <a:xfrm>
            <a:off x="6215256" y="5254279"/>
            <a:ext cx="3238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Return a scalar that is smaller when model maps inputs to outputs better</a:t>
            </a:r>
          </a:p>
        </p:txBody>
      </p:sp>
    </p:spTree>
    <p:extLst>
      <p:ext uri="{BB962C8B-B14F-4D97-AF65-F5344CB8AC3E}">
        <p14:creationId xmlns:p14="http://schemas.microsoft.com/office/powerpoint/2010/main" val="40908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construct loss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8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C5F421-9993-949E-FB46-3404A7350C6F}"/>
              </a:ext>
            </a:extLst>
          </p:cNvPr>
          <p:cNvGrpSpPr/>
          <p:nvPr/>
        </p:nvGrpSpPr>
        <p:grpSpPr>
          <a:xfrm>
            <a:off x="3515485" y="2278712"/>
            <a:ext cx="5220300" cy="1813339"/>
            <a:chOff x="3515485" y="2735912"/>
            <a:chExt cx="5220300" cy="181333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54B43BD-DF43-E6B1-BB4A-CBDB9F997B9D}"/>
                </a:ext>
              </a:extLst>
            </p:cNvPr>
            <p:cNvGrpSpPr/>
            <p:nvPr/>
          </p:nvGrpSpPr>
          <p:grpSpPr>
            <a:xfrm>
              <a:off x="3515485" y="3429000"/>
              <a:ext cx="4687386" cy="1120251"/>
              <a:chOff x="3711427" y="2699453"/>
              <a:chExt cx="4687386" cy="11202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4A323917-7AF5-028C-66A2-46DE0A7A5050}"/>
                      </a:ext>
                    </a:extLst>
                  </p:cNvPr>
                  <p:cNvSpPr txBox="1"/>
                  <p:nvPr/>
                </p:nvSpPr>
                <p:spPr>
                  <a:xfrm>
                    <a:off x="3711427" y="2699453"/>
                    <a:ext cx="4261010" cy="5235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oMath>
                    </a14:m>
                    <a:r>
                      <a:rPr lang="en-US" sz="24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a14:m>
                    <a:r>
                      <a:rPr lang="en-US" altLang="zh-CN" sz="2400" i="1" dirty="0"/>
                      <a:t>  </a:t>
                    </a:r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a14:m>
                    <a:r>
                      <a:rPr lang="en-US" altLang="zh-CN" sz="2400" i="1" dirty="0"/>
                      <a:t> </a:t>
                    </a:r>
                    <a:r>
                      <a:rPr lang="zh-CN" altLang="en-US" sz="2400" i="1" dirty="0"/>
                      <a:t> </a:t>
                    </a:r>
                    <a:r>
                      <a:rPr lang="en-US" sz="2400" i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4A323917-7AF5-028C-66A2-46DE0A7A50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1427" y="2699453"/>
                    <a:ext cx="4261010" cy="52354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264" t="-107143" b="-16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0B96D26-3511-33D5-AF0D-867334E7EC71}"/>
                  </a:ext>
                </a:extLst>
              </p:cNvPr>
              <p:cNvCxnSpPr/>
              <p:nvPr/>
            </p:nvCxnSpPr>
            <p:spPr>
              <a:xfrm>
                <a:off x="6063342" y="3296163"/>
                <a:ext cx="1088571" cy="0"/>
              </a:xfrm>
              <a:prstGeom prst="line">
                <a:avLst/>
              </a:prstGeom>
              <a:ln w="3492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30E03FB-5A2A-098A-BFE0-B8AD83302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5495" y="3299397"/>
                <a:ext cx="609600" cy="0"/>
              </a:xfrm>
              <a:prstGeom prst="line">
                <a:avLst/>
              </a:prstGeom>
              <a:ln w="349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93C022-22AF-D5F0-416E-12EFC5EAEACB}"/>
                  </a:ext>
                </a:extLst>
              </p:cNvPr>
              <p:cNvSpPr txBox="1"/>
              <p:nvPr/>
            </p:nvSpPr>
            <p:spPr>
              <a:xfrm>
                <a:off x="7281192" y="3356857"/>
                <a:ext cx="1117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Actual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F1AB1A-FA09-BD3A-B373-23D3727E7366}"/>
                  </a:ext>
                </a:extLst>
              </p:cNvPr>
              <p:cNvSpPr txBox="1"/>
              <p:nvPr/>
            </p:nvSpPr>
            <p:spPr>
              <a:xfrm>
                <a:off x="5792946" y="3358039"/>
                <a:ext cx="15331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Predicted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2645EF-D6A4-40B3-FC98-928085C2E76D}"/>
                </a:ext>
              </a:extLst>
            </p:cNvPr>
            <p:cNvSpPr txBox="1"/>
            <p:nvPr/>
          </p:nvSpPr>
          <p:spPr>
            <a:xfrm>
              <a:off x="4830446" y="2735912"/>
              <a:ext cx="390533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Over the entire dataset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0C658A8-E972-C713-F292-E7005C6C8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9829" y="3228639"/>
              <a:ext cx="179614" cy="2166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33D9599-3744-B232-6D7A-8F4AAE98F5BA}"/>
              </a:ext>
            </a:extLst>
          </p:cNvPr>
          <p:cNvGrpSpPr/>
          <p:nvPr/>
        </p:nvGrpSpPr>
        <p:grpSpPr>
          <a:xfrm>
            <a:off x="1035170" y="3495341"/>
            <a:ext cx="10110157" cy="2272430"/>
            <a:chOff x="1035170" y="3495341"/>
            <a:chExt cx="10110157" cy="227243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74C54C5-7372-E498-A281-60DD20A13A9C}"/>
                </a:ext>
              </a:extLst>
            </p:cNvPr>
            <p:cNvSpPr txBox="1"/>
            <p:nvPr/>
          </p:nvSpPr>
          <p:spPr>
            <a:xfrm>
              <a:off x="1035170" y="5059885"/>
              <a:ext cx="101101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Different learning problem has </a:t>
              </a: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different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measures and thus have different loss constructions: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regression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classification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customized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... (for the scope of this class)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76F70FA-AC40-1923-18D7-4B6EE6FB1F2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4561374" y="3495341"/>
              <a:ext cx="1084616" cy="1580487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Loss for regression problem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F1C64-5EB0-EA56-823A-8BBF7076F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14" y="1494755"/>
            <a:ext cx="9290957" cy="31799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ECCB65-D8AF-9BF2-9E65-0542F1C6FDF1}"/>
              </a:ext>
            </a:extLst>
          </p:cNvPr>
          <p:cNvGrpSpPr/>
          <p:nvPr/>
        </p:nvGrpSpPr>
        <p:grpSpPr>
          <a:xfrm>
            <a:off x="838200" y="5086419"/>
            <a:ext cx="11353800" cy="1156903"/>
            <a:chOff x="838200" y="5086419"/>
            <a:chExt cx="11353800" cy="11569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E34C71-D00B-6E9B-D2E0-E8D817F5AC42}"/>
                </a:ext>
              </a:extLst>
            </p:cNvPr>
            <p:cNvSpPr txBox="1"/>
            <p:nvPr/>
          </p:nvSpPr>
          <p:spPr>
            <a:xfrm>
              <a:off x="838200" y="5086419"/>
              <a:ext cx="1135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Mean Square Error Loss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7D5B3B-4F3F-00FE-EF5A-B1A6EBE1A246}"/>
                    </a:ext>
                  </a:extLst>
                </p:cNvPr>
                <p:cNvSpPr txBox="1"/>
                <p:nvPr/>
              </p:nvSpPr>
              <p:spPr>
                <a:xfrm>
                  <a:off x="890853" y="5721897"/>
                  <a:ext cx="9331771" cy="5214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a14:m>
                  <a:r>
                    <a:rPr lang="en-US" altLang="zh-CN" sz="2000" i="1" dirty="0"/>
                    <a:t> 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/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a14:m>
                  <a:r>
                    <a:rPr lang="en-US" altLang="zh-CN" sz="2000" i="1" dirty="0"/>
                    <a:t> </a:t>
                  </a:r>
                  <a:r>
                    <a:rPr lang="zh-CN" altLang="en-US" sz="2000" i="1" dirty="0"/>
                    <a:t> </a:t>
                  </a:r>
                  <a:r>
                    <a:rPr lang="en-US" sz="2000" i="1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B7D5B3B-4F3F-00FE-EF5A-B1A6EBE1A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853" y="5721897"/>
                  <a:ext cx="9331771" cy="521425"/>
                </a:xfrm>
                <a:prstGeom prst="rect">
                  <a:avLst/>
                </a:prstGeom>
                <a:blipFill>
                  <a:blip r:embed="rId4"/>
                  <a:stretch>
                    <a:fillRect l="-1224" t="-71429" b="-1309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B1B68-18A5-6002-7AF0-B74BF1E38172}"/>
              </a:ext>
            </a:extLst>
          </p:cNvPr>
          <p:cNvGrpSpPr/>
          <p:nvPr/>
        </p:nvGrpSpPr>
        <p:grpSpPr>
          <a:xfrm>
            <a:off x="5847869" y="5086419"/>
            <a:ext cx="5525462" cy="797309"/>
            <a:chOff x="6018838" y="5074434"/>
            <a:chExt cx="5525462" cy="79730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E2905FE-F4BE-0560-F1F6-EB6CC2E1D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 flipH="1" flipV="1">
              <a:off x="6018838" y="5074434"/>
              <a:ext cx="438873" cy="50465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B74131D-63FD-C697-608F-D443DC6EE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5100" y="5084343"/>
              <a:ext cx="5029200" cy="787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580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Loss for classification problem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3C700-8A52-A879-0CB6-AB1C760C3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2353"/>
            <a:ext cx="9572094" cy="3198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08E62-2CE5-4859-763F-E860E69AD0C8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11353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Goal: predict which of the two classes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∈{0, 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input 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belongs to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08E62-2CE5-4859-763F-E860E69A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1353800" cy="461665"/>
              </a:xfrm>
              <a:prstGeom prst="rect">
                <a:avLst/>
              </a:prstGeom>
              <a:blipFill>
                <a:blip r:embed="rId4"/>
                <a:stretch>
                  <a:fillRect l="-894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F6D45A72-7318-EB39-F35D-BCEBA65C2461}"/>
              </a:ext>
            </a:extLst>
          </p:cNvPr>
          <p:cNvGrpSpPr/>
          <p:nvPr/>
        </p:nvGrpSpPr>
        <p:grpSpPr>
          <a:xfrm>
            <a:off x="848062" y="5392005"/>
            <a:ext cx="11353800" cy="1010208"/>
            <a:chOff x="848062" y="5392005"/>
            <a:chExt cx="11353800" cy="10102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A98D8D-EB7C-CD25-FE70-70B1FAA4BD4D}"/>
                </a:ext>
              </a:extLst>
            </p:cNvPr>
            <p:cNvSpPr txBox="1"/>
            <p:nvPr/>
          </p:nvSpPr>
          <p:spPr>
            <a:xfrm>
              <a:off x="848062" y="5392005"/>
              <a:ext cx="1135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Binary Cross Entropy Loss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381CD7E-25A3-32B6-A271-D76E6514320C}"/>
                    </a:ext>
                  </a:extLst>
                </p:cNvPr>
                <p:cNvSpPr txBox="1"/>
                <p:nvPr/>
              </p:nvSpPr>
              <p:spPr>
                <a:xfrm>
                  <a:off x="1078523" y="5941574"/>
                  <a:ext cx="9331771" cy="4606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a14:m>
                  <a:r>
                    <a:rPr lang="en-US" altLang="zh-CN" sz="2000" i="1" dirty="0"/>
                    <a:t> 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/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1 −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/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a14:m>
                  <a:r>
                    <a:rPr lang="en-US" altLang="zh-CN" sz="2000" i="1" dirty="0"/>
                    <a:t> </a:t>
                  </a:r>
                  <a:r>
                    <a:rPr lang="zh-CN" altLang="en-US" sz="2000" i="1" dirty="0"/>
                    <a:t> </a:t>
                  </a:r>
                  <a:r>
                    <a:rPr lang="en-US" sz="2000" i="1" dirty="0"/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381CD7E-25A3-32B6-A271-D76E65143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8523" y="5941574"/>
                  <a:ext cx="9331771" cy="460639"/>
                </a:xfrm>
                <a:prstGeom prst="rect">
                  <a:avLst/>
                </a:prstGeom>
                <a:blipFill>
                  <a:blip r:embed="rId5"/>
                  <a:stretch>
                    <a:fillRect l="-1087" t="-97297" b="-1486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6E6BC7-A304-D291-BC95-D616CAC53A2A}"/>
              </a:ext>
            </a:extLst>
          </p:cNvPr>
          <p:cNvGrpSpPr/>
          <p:nvPr/>
        </p:nvGrpSpPr>
        <p:grpSpPr>
          <a:xfrm>
            <a:off x="8171727" y="5229031"/>
            <a:ext cx="3746500" cy="624639"/>
            <a:chOff x="8171727" y="5229031"/>
            <a:chExt cx="3746500" cy="62463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48B5892-BE56-76EF-9127-7E85294A8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 flipH="1" flipV="1">
              <a:off x="8171727" y="5229031"/>
              <a:ext cx="438873" cy="50465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7ABFBB5-C3CB-E74D-2D24-26028E6BA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10600" y="5266566"/>
              <a:ext cx="3307627" cy="587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938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Customized loss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1D2C3-4EA3-492C-462A-0CDC8F6E448E}"/>
              </a:ext>
            </a:extLst>
          </p:cNvPr>
          <p:cNvSpPr txBox="1"/>
          <p:nvPr/>
        </p:nvSpPr>
        <p:spPr>
          <a:xfrm>
            <a:off x="838200" y="1690688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standard (built-in) loss functions are not effective we need our own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customized recipe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define loss functions.  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54D248-A27E-B0F4-F0AA-9D158A2A7EF5}"/>
              </a:ext>
            </a:extLst>
          </p:cNvPr>
          <p:cNvGrpSpPr/>
          <p:nvPr/>
        </p:nvGrpSpPr>
        <p:grpSpPr>
          <a:xfrm>
            <a:off x="1709713" y="2910232"/>
            <a:ext cx="3116929" cy="2543220"/>
            <a:chOff x="4707556" y="1954924"/>
            <a:chExt cx="3116929" cy="254322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FC513B-40DE-0976-9487-CF5D415E4C8B}"/>
                </a:ext>
              </a:extLst>
            </p:cNvPr>
            <p:cNvSpPr/>
            <p:nvPr/>
          </p:nvSpPr>
          <p:spPr>
            <a:xfrm>
              <a:off x="4724397" y="1954924"/>
              <a:ext cx="2706549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Imbalanced data</a:t>
              </a:r>
            </a:p>
          </p:txBody>
        </p:sp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06D85413-0F60-E582-11BA-E32E368D4E37}"/>
                </a:ext>
              </a:extLst>
            </p:cNvPr>
            <p:cNvSpPr txBox="1">
              <a:spLocks/>
            </p:cNvSpPr>
            <p:nvPr/>
          </p:nvSpPr>
          <p:spPr>
            <a:xfrm>
              <a:off x="4707556" y="2996654"/>
              <a:ext cx="3116929" cy="150149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Input data</a:t>
              </a:r>
            </a:p>
            <a:p>
              <a:pPr lvl="1"/>
              <a:r>
                <a:rPr lang="en-US" sz="11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penalizing misclassifications of the minority class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Output data </a:t>
              </a:r>
            </a:p>
            <a:p>
              <a:pPr lvl="1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outlier/noise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E3BDC8-8B11-6782-92FF-9DC9CB94D0CE}"/>
              </a:ext>
            </a:extLst>
          </p:cNvPr>
          <p:cNvGrpSpPr/>
          <p:nvPr/>
        </p:nvGrpSpPr>
        <p:grpSpPr>
          <a:xfrm>
            <a:off x="6735056" y="2910232"/>
            <a:ext cx="3730391" cy="2543220"/>
            <a:chOff x="4707557" y="1954924"/>
            <a:chExt cx="3730391" cy="254322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1307D98-DC1B-AD8A-17BD-B84C13D2A0F4}"/>
                </a:ext>
              </a:extLst>
            </p:cNvPr>
            <p:cNvSpPr/>
            <p:nvPr/>
          </p:nvSpPr>
          <p:spPr>
            <a:xfrm>
              <a:off x="4724398" y="1954924"/>
              <a:ext cx="3713550" cy="50636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More complicated problem</a:t>
              </a:r>
            </a:p>
          </p:txBody>
        </p:sp>
        <p:sp>
          <p:nvSpPr>
            <p:cNvPr id="18" name="Subtitle 2">
              <a:extLst>
                <a:ext uri="{FF2B5EF4-FFF2-40B4-BE49-F238E27FC236}">
                  <a16:creationId xmlns:a16="http://schemas.microsoft.com/office/drawing/2014/main" id="{2E3A6A99-F8FE-3B4B-E58C-16955D9EF711}"/>
                </a:ext>
              </a:extLst>
            </p:cNvPr>
            <p:cNvSpPr txBox="1">
              <a:spLocks/>
            </p:cNvSpPr>
            <p:nvPr/>
          </p:nvSpPr>
          <p:spPr>
            <a:xfrm>
              <a:off x="4707557" y="2996654"/>
              <a:ext cx="3219172" cy="150149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Multi-objective learning</a:t>
              </a:r>
            </a:p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Integrate constraints</a:t>
              </a:r>
            </a:p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Integrate uncertainty </a:t>
              </a:r>
            </a:p>
            <a:p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536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52602-EACE-3FCD-2CA4-D195C8DF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762E7-2E5A-45C4-B375-5D41AC36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617FF6-FDE3-A0CD-C0BD-25A9F540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11" y="778933"/>
            <a:ext cx="11231613" cy="5577417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1. The Loss Function</a:t>
            </a:r>
            <a:b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Training a model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3. DNN in action (in-class practice)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07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training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13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678B1-7C57-B300-1A43-88DBCB253B5E}"/>
              </a:ext>
            </a:extLst>
          </p:cNvPr>
          <p:cNvSpPr txBox="1"/>
          <p:nvPr/>
        </p:nvSpPr>
        <p:spPr>
          <a:xfrm>
            <a:off x="838909" y="1499534"/>
            <a:ext cx="1135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Sometimes also called: fitting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8E97B44-5D5B-477F-3E46-E53B91FA5CA2}"/>
                  </a:ext>
                </a:extLst>
              </p:cNvPr>
              <p:cNvSpPr txBox="1"/>
              <p:nvPr/>
            </p:nvSpPr>
            <p:spPr>
              <a:xfrm>
                <a:off x="3635159" y="3203169"/>
                <a:ext cx="4261010" cy="5235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400" i="1" dirty="0"/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i="1" dirty="0"/>
                  <a:t> </a:t>
                </a:r>
                <a:r>
                  <a:rPr lang="zh-CN" altLang="en-US" sz="2400" i="1" dirty="0"/>
                  <a:t> </a:t>
                </a:r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8E97B44-5D5B-477F-3E46-E53B91FA5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159" y="3203169"/>
                <a:ext cx="4261010" cy="523541"/>
              </a:xfrm>
              <a:prstGeom prst="rect">
                <a:avLst/>
              </a:prstGeom>
              <a:blipFill>
                <a:blip r:embed="rId3"/>
                <a:stretch>
                  <a:fillRect l="-3274" t="-107143" b="-16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72AD41-F046-6652-FDDB-0C54168C2EB0}"/>
                  </a:ext>
                </a:extLst>
              </p:cNvPr>
              <p:cNvSpPr txBox="1"/>
              <p:nvPr/>
            </p:nvSpPr>
            <p:spPr>
              <a:xfrm>
                <a:off x="2796758" y="4621786"/>
                <a:ext cx="6099858" cy="83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altLang="zh-CN" sz="2400" i="1" dirty="0"/>
                            <m:t>  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2400" dirty="0"/>
                                <m:t>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72AD41-F046-6652-FDDB-0C54168C2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758" y="4621786"/>
                <a:ext cx="6099858" cy="833883"/>
              </a:xfrm>
              <a:prstGeom prst="rect">
                <a:avLst/>
              </a:prstGeom>
              <a:blipFill>
                <a:blip r:embed="rId4"/>
                <a:stretch>
                  <a:fillRect t="-153731" b="-228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9B5104-476E-EE7A-3632-7717FC58F760}"/>
                  </a:ext>
                </a:extLst>
              </p:cNvPr>
              <p:cNvSpPr txBox="1"/>
              <p:nvPr/>
            </p:nvSpPr>
            <p:spPr>
              <a:xfrm>
                <a:off x="2796758" y="5777161"/>
                <a:ext cx="6099858" cy="639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9B5104-476E-EE7A-3632-7717FC58F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758" y="5777161"/>
                <a:ext cx="6099858" cy="639086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FF608E7-A946-E163-BEE5-B5425D1A82F6}"/>
              </a:ext>
            </a:extLst>
          </p:cNvPr>
          <p:cNvSpPr txBox="1"/>
          <p:nvPr/>
        </p:nvSpPr>
        <p:spPr>
          <a:xfrm>
            <a:off x="833885" y="2364424"/>
            <a:ext cx="1135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Essentially, finding parameters that minimize the loss: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E911E1-871B-DEB4-8BDC-194C59C4C088}"/>
              </a:ext>
            </a:extLst>
          </p:cNvPr>
          <p:cNvSpPr txBox="1"/>
          <p:nvPr/>
        </p:nvSpPr>
        <p:spPr>
          <a:xfrm>
            <a:off x="838200" y="3869157"/>
            <a:ext cx="1135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Also formatted as:</a:t>
            </a:r>
          </a:p>
        </p:txBody>
      </p:sp>
    </p:spTree>
    <p:extLst>
      <p:ext uri="{BB962C8B-B14F-4D97-AF65-F5344CB8AC3E}">
        <p14:creationId xmlns:p14="http://schemas.microsoft.com/office/powerpoint/2010/main" val="200507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9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How are we finding parameters: gradient descent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26529" y="6040010"/>
            <a:ext cx="2743200" cy="365125"/>
          </a:xfrm>
        </p:spPr>
        <p:txBody>
          <a:bodyPr/>
          <a:lstStyle/>
          <a:p>
            <a:fld id="{B3533053-B928-004D-A0E8-A0A092123CEE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52A47-FC85-4DEB-B99E-DEAEFD0208EF}"/>
              </a:ext>
            </a:extLst>
          </p:cNvPr>
          <p:cNvSpPr txBox="1"/>
          <p:nvPr/>
        </p:nvSpPr>
        <p:spPr>
          <a:xfrm>
            <a:off x="838200" y="1363452"/>
            <a:ext cx="11353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Step1. Compute the derivative of the loss with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respect to the parameters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Step2. Update parameters according to the rule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A5FDD1-91F0-1C07-BDDE-60D7318BC727}"/>
                  </a:ext>
                </a:extLst>
              </p:cNvPr>
              <p:cNvSpPr txBox="1"/>
              <p:nvPr/>
            </p:nvSpPr>
            <p:spPr>
              <a:xfrm>
                <a:off x="5232633" y="2390656"/>
                <a:ext cx="1282467" cy="20197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A5FDD1-91F0-1C07-BDDE-60D7318BC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633" y="2390656"/>
                <a:ext cx="1282467" cy="2019784"/>
              </a:xfrm>
              <a:prstGeom prst="rect">
                <a:avLst/>
              </a:prstGeom>
              <a:blipFill>
                <a:blip r:embed="rId3"/>
                <a:stretch>
                  <a:fillRect l="-2913" t="-1250"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D59060-EDE2-AFCF-E2E9-235CEB9134A9}"/>
                  </a:ext>
                </a:extLst>
              </p:cNvPr>
              <p:cNvSpPr txBox="1"/>
              <p:nvPr/>
            </p:nvSpPr>
            <p:spPr>
              <a:xfrm>
                <a:off x="3046071" y="5443219"/>
                <a:ext cx="6099858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D59060-EDE2-AFCF-E2E9-235CEB913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071" y="5443219"/>
                <a:ext cx="6099858" cy="619016"/>
              </a:xfrm>
              <a:prstGeom prst="rect">
                <a:avLst/>
              </a:prstGeom>
              <a:blipFill>
                <a:blip r:embed="rId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64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Gradient descent as an algorithm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DF94E-9287-03DC-05EF-8B4468E528F8}"/>
                  </a:ext>
                </a:extLst>
              </p:cNvPr>
              <p:cNvSpPr txBox="1"/>
              <p:nvPr/>
            </p:nvSpPr>
            <p:spPr>
              <a:xfrm>
                <a:off x="838200" y="1930611"/>
                <a:ext cx="11353800" cy="4133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find the weights: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weights randomly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Loop until convergence: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Computer gradient: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weights: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 weights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DF94E-9287-03DC-05EF-8B4468E52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30611"/>
                <a:ext cx="11353800" cy="4133055"/>
              </a:xfrm>
              <a:prstGeom prst="rect">
                <a:avLst/>
              </a:prstGeom>
              <a:blipFill>
                <a:blip r:embed="rId3"/>
                <a:stretch>
                  <a:fillRect l="-894" t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82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4944-C74D-77DC-F842-43023D0F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DDD122-4C59-6EA5-AA1B-C892A8CF2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A0E0DB-4CFF-F34B-89CB-4BB28C6F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747A16-77E8-8C38-66EC-89FA23B4C6E9}"/>
              </a:ext>
            </a:extLst>
          </p:cNvPr>
          <p:cNvGrpSpPr/>
          <p:nvPr/>
        </p:nvGrpSpPr>
        <p:grpSpPr>
          <a:xfrm>
            <a:off x="2069422" y="3001531"/>
            <a:ext cx="7335322" cy="1138773"/>
            <a:chOff x="2083277" y="3958449"/>
            <a:chExt cx="7335322" cy="1138773"/>
          </a:xfrm>
        </p:grpSpPr>
        <p:sp>
          <p:nvSpPr>
            <p:cNvPr id="6" name="Oval 52">
              <a:extLst>
                <a:ext uri="{FF2B5EF4-FFF2-40B4-BE49-F238E27FC236}">
                  <a16:creationId xmlns:a16="http://schemas.microsoft.com/office/drawing/2014/main" id="{7B95C561-3895-3138-13C8-4F09EFF42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277" y="3976392"/>
              <a:ext cx="850106" cy="85836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b="0">
                <a:highlight>
                  <a:srgbClr val="0000FF"/>
                </a:highlight>
              </a:endParaRPr>
            </a:p>
          </p:txBody>
        </p:sp>
        <p:sp>
          <p:nvSpPr>
            <p:cNvPr id="7" name="Oval 52">
              <a:extLst>
                <a:ext uri="{FF2B5EF4-FFF2-40B4-BE49-F238E27FC236}">
                  <a16:creationId xmlns:a16="http://schemas.microsoft.com/office/drawing/2014/main" id="{35248D12-F940-992F-A9A3-E7DCFB056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021" y="3976392"/>
              <a:ext cx="850106" cy="85836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b="0">
                <a:highlight>
                  <a:srgbClr val="0000FF"/>
                </a:highlight>
              </a:endParaRPr>
            </a:p>
          </p:txBody>
        </p:sp>
        <p:sp>
          <p:nvSpPr>
            <p:cNvPr id="8" name="Oval 52">
              <a:extLst>
                <a:ext uri="{FF2B5EF4-FFF2-40B4-BE49-F238E27FC236}">
                  <a16:creationId xmlns:a16="http://schemas.microsoft.com/office/drawing/2014/main" id="{1A601EEC-DF81-1E8E-1D5A-BD2E57A47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757" y="3976392"/>
              <a:ext cx="850106" cy="85836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b="0">
                <a:highlight>
                  <a:srgbClr val="0000FF"/>
                </a:highligh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68">
                  <a:extLst>
                    <a:ext uri="{FF2B5EF4-FFF2-40B4-BE49-F238E27FC236}">
                      <a16:creationId xmlns:a16="http://schemas.microsoft.com/office/drawing/2014/main" id="{F9A48B22-91D7-A2AD-632C-455FD3A9A3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3099" y="4090855"/>
                  <a:ext cx="750462" cy="95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  <a:p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 Box 68">
                  <a:extLst>
                    <a:ext uri="{FF2B5EF4-FFF2-40B4-BE49-F238E27FC236}">
                      <a16:creationId xmlns:a16="http://schemas.microsoft.com/office/drawing/2014/main" id="{1E80AB66-8487-B214-AFA7-C83779D80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3099" y="4090855"/>
                  <a:ext cx="750462" cy="9541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68">
                  <a:extLst>
                    <a:ext uri="{FF2B5EF4-FFF2-40B4-BE49-F238E27FC236}">
                      <a16:creationId xmlns:a16="http://schemas.microsoft.com/office/drawing/2014/main" id="{4EBC7784-E5A2-C79B-AA53-330C5019EF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2665" y="4090854"/>
                  <a:ext cx="738985" cy="95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  <a:p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 Box 68">
                  <a:extLst>
                    <a:ext uri="{FF2B5EF4-FFF2-40B4-BE49-F238E27FC236}">
                      <a16:creationId xmlns:a16="http://schemas.microsoft.com/office/drawing/2014/main" id="{DCD89661-AEEB-E9AA-85AB-6C5BE1FE1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62665" y="4090854"/>
                  <a:ext cx="738985" cy="9541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68">
                  <a:extLst>
                    <a:ext uri="{FF2B5EF4-FFF2-40B4-BE49-F238E27FC236}">
                      <a16:creationId xmlns:a16="http://schemas.microsoft.com/office/drawing/2014/main" id="{E840C833-5586-31D3-F449-E824687510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15757" y="4143115"/>
                  <a:ext cx="917880" cy="95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2800" b="0" dirty="0"/>
                </a:p>
                <a:p>
                  <a:endParaRPr lang="en-US" sz="2800" b="0" dirty="0"/>
                </a:p>
              </p:txBody>
            </p:sp>
          </mc:Choice>
          <mc:Fallback xmlns="">
            <p:sp>
              <p:nvSpPr>
                <p:cNvPr id="11" name="Text Box 68">
                  <a:extLst>
                    <a:ext uri="{FF2B5EF4-FFF2-40B4-BE49-F238E27FC236}">
                      <a16:creationId xmlns:a16="http://schemas.microsoft.com/office/drawing/2014/main" id="{95EEE292-0328-EB14-D863-5725BAA48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15757" y="4143115"/>
                  <a:ext cx="917880" cy="954107"/>
                </a:xfrm>
                <a:prstGeom prst="rect">
                  <a:avLst/>
                </a:prstGeom>
                <a:blipFill>
                  <a:blip r:embed="rId5"/>
                  <a:stretch>
                    <a:fillRect t="-4000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4DA330F-F75B-5028-B8D8-A4158CF0C404}"/>
                </a:ext>
              </a:extLst>
            </p:cNvPr>
            <p:cNvCxnSpPr>
              <a:endCxn id="7" idx="2"/>
            </p:cNvCxnSpPr>
            <p:nvPr/>
          </p:nvCxnSpPr>
          <p:spPr>
            <a:xfrm>
              <a:off x="2933383" y="4405576"/>
              <a:ext cx="132963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663A33C-CEE1-E925-7BD7-B8118B9A7501}"/>
                </a:ext>
              </a:extLst>
            </p:cNvPr>
            <p:cNvCxnSpPr/>
            <p:nvPr/>
          </p:nvCxnSpPr>
          <p:spPr>
            <a:xfrm>
              <a:off x="5113127" y="4405576"/>
              <a:ext cx="132963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7B5BD27-22EE-9B42-116C-62FD8DB65713}"/>
                    </a:ext>
                  </a:extLst>
                </p:cNvPr>
                <p:cNvSpPr txBox="1"/>
                <p:nvPr/>
              </p:nvSpPr>
              <p:spPr>
                <a:xfrm>
                  <a:off x="3337457" y="3958449"/>
                  <a:ext cx="421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A756F6-6E20-DE17-1CD5-5F760CE50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457" y="3958449"/>
                  <a:ext cx="42184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824" r="-5882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61C72D-61D1-FCF5-9CF6-6680315066EA}"/>
                    </a:ext>
                  </a:extLst>
                </p:cNvPr>
                <p:cNvSpPr txBox="1"/>
                <p:nvPr/>
              </p:nvSpPr>
              <p:spPr>
                <a:xfrm>
                  <a:off x="5610785" y="3958449"/>
                  <a:ext cx="4289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A3B9841-6C4F-256E-A3D2-2E1E0DB29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785" y="3958449"/>
                  <a:ext cx="42896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571" r="-5714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D5E2ADA-B3DE-3FFE-A111-6EDA448B4BE5}"/>
                </a:ext>
              </a:extLst>
            </p:cNvPr>
            <p:cNvCxnSpPr/>
            <p:nvPr/>
          </p:nvCxnSpPr>
          <p:spPr>
            <a:xfrm>
              <a:off x="7265863" y="4405407"/>
              <a:ext cx="132963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B6E2178-8527-2AAC-FB1D-7AC4FAEE03C4}"/>
                    </a:ext>
                  </a:extLst>
                </p:cNvPr>
                <p:cNvSpPr txBox="1"/>
                <p:nvPr/>
              </p:nvSpPr>
              <p:spPr>
                <a:xfrm>
                  <a:off x="8852034" y="4266907"/>
                  <a:ext cx="5665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D40513F-597B-E558-BECA-2D9C7859C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2034" y="4266907"/>
                  <a:ext cx="56656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333" r="-1333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97325A-13FD-382B-ED78-112E78FB9957}"/>
                  </a:ext>
                </a:extLst>
              </p:cNvPr>
              <p:cNvSpPr txBox="1"/>
              <p:nvPr/>
            </p:nvSpPr>
            <p:spPr>
              <a:xfrm>
                <a:off x="838200" y="1930611"/>
                <a:ext cx="11353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F145E-AF8D-2E81-A842-E316F86D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30611"/>
                <a:ext cx="11353800" cy="830997"/>
              </a:xfrm>
              <a:prstGeom prst="rect">
                <a:avLst/>
              </a:prstGeom>
              <a:blipFill>
                <a:blip r:embed="rId9"/>
                <a:stretch>
                  <a:fillRect l="-894"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8DA311-69E7-0232-108E-E00F5ED5C3C1}"/>
                  </a:ext>
                </a:extLst>
              </p:cNvPr>
              <p:cNvSpPr txBox="1"/>
              <p:nvPr/>
            </p:nvSpPr>
            <p:spPr>
              <a:xfrm>
                <a:off x="2548930" y="4493568"/>
                <a:ext cx="6096000" cy="66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8DA311-69E7-0232-108E-E00F5ED5C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930" y="4493568"/>
                <a:ext cx="6096000" cy="667234"/>
              </a:xfrm>
              <a:prstGeom prst="rect">
                <a:avLst/>
              </a:prstGeom>
              <a:blipFill>
                <a:blip r:embed="rId10"/>
                <a:stretch>
                  <a:fillRect t="-1852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08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8411-6EC5-B502-51C6-AF45B07B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EEDA1A-F691-1444-F7F1-94655855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000E6-3A62-B3E6-DB49-9038E606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17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061ADE-80DF-3CA8-9F74-5DC3E9B48E65}"/>
              </a:ext>
            </a:extLst>
          </p:cNvPr>
          <p:cNvGrpSpPr/>
          <p:nvPr/>
        </p:nvGrpSpPr>
        <p:grpSpPr>
          <a:xfrm>
            <a:off x="2097132" y="2918672"/>
            <a:ext cx="7335322" cy="1138773"/>
            <a:chOff x="2083277" y="3958449"/>
            <a:chExt cx="7335322" cy="1138773"/>
          </a:xfrm>
        </p:grpSpPr>
        <p:sp>
          <p:nvSpPr>
            <p:cNvPr id="6" name="Oval 52">
              <a:extLst>
                <a:ext uri="{FF2B5EF4-FFF2-40B4-BE49-F238E27FC236}">
                  <a16:creationId xmlns:a16="http://schemas.microsoft.com/office/drawing/2014/main" id="{087F7E19-162C-B3BB-14D0-24717AEC3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277" y="3976392"/>
              <a:ext cx="850106" cy="85836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b="0">
                <a:highlight>
                  <a:srgbClr val="0000FF"/>
                </a:highlight>
              </a:endParaRPr>
            </a:p>
          </p:txBody>
        </p:sp>
        <p:sp>
          <p:nvSpPr>
            <p:cNvPr id="7" name="Oval 52">
              <a:extLst>
                <a:ext uri="{FF2B5EF4-FFF2-40B4-BE49-F238E27FC236}">
                  <a16:creationId xmlns:a16="http://schemas.microsoft.com/office/drawing/2014/main" id="{D29953AA-B143-792F-C0E7-6435568E5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021" y="3976392"/>
              <a:ext cx="850106" cy="85836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b="0">
                <a:highlight>
                  <a:srgbClr val="0000FF"/>
                </a:highlight>
              </a:endParaRPr>
            </a:p>
          </p:txBody>
        </p:sp>
        <p:sp>
          <p:nvSpPr>
            <p:cNvPr id="8" name="Oval 52">
              <a:extLst>
                <a:ext uri="{FF2B5EF4-FFF2-40B4-BE49-F238E27FC236}">
                  <a16:creationId xmlns:a16="http://schemas.microsoft.com/office/drawing/2014/main" id="{798C7298-986F-C995-EB69-D3FCB9734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757" y="3976392"/>
              <a:ext cx="850106" cy="858368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b="0">
                <a:highlight>
                  <a:srgbClr val="0000FF"/>
                </a:highligh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68">
                  <a:extLst>
                    <a:ext uri="{FF2B5EF4-FFF2-40B4-BE49-F238E27FC236}">
                      <a16:creationId xmlns:a16="http://schemas.microsoft.com/office/drawing/2014/main" id="{A6EF870D-B08D-FE0F-44F8-A3DED78ECD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3099" y="4090855"/>
                  <a:ext cx="750462" cy="95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  <a:p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 Box 68">
                  <a:extLst>
                    <a:ext uri="{FF2B5EF4-FFF2-40B4-BE49-F238E27FC236}">
                      <a16:creationId xmlns:a16="http://schemas.microsoft.com/office/drawing/2014/main" id="{1E80AB66-8487-B214-AFA7-C83779D80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3099" y="4090855"/>
                  <a:ext cx="750462" cy="9541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68">
                  <a:extLst>
                    <a:ext uri="{FF2B5EF4-FFF2-40B4-BE49-F238E27FC236}">
                      <a16:creationId xmlns:a16="http://schemas.microsoft.com/office/drawing/2014/main" id="{1ACA83ED-7FA0-9F04-2A06-7554714B53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62665" y="4090854"/>
                  <a:ext cx="738985" cy="95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  <a:p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 Box 68">
                  <a:extLst>
                    <a:ext uri="{FF2B5EF4-FFF2-40B4-BE49-F238E27FC236}">
                      <a16:creationId xmlns:a16="http://schemas.microsoft.com/office/drawing/2014/main" id="{DCD89661-AEEB-E9AA-85AB-6C5BE1FE1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62665" y="4090854"/>
                  <a:ext cx="738985" cy="9541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68">
                  <a:extLst>
                    <a:ext uri="{FF2B5EF4-FFF2-40B4-BE49-F238E27FC236}">
                      <a16:creationId xmlns:a16="http://schemas.microsoft.com/office/drawing/2014/main" id="{237895EF-1E1E-BDE0-9C5A-D9507A4FD1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15757" y="4143115"/>
                  <a:ext cx="917880" cy="95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2800" b="0" dirty="0"/>
                </a:p>
                <a:p>
                  <a:endParaRPr lang="en-US" sz="2800" b="0" dirty="0"/>
                </a:p>
              </p:txBody>
            </p:sp>
          </mc:Choice>
          <mc:Fallback xmlns="">
            <p:sp>
              <p:nvSpPr>
                <p:cNvPr id="11" name="Text Box 68">
                  <a:extLst>
                    <a:ext uri="{FF2B5EF4-FFF2-40B4-BE49-F238E27FC236}">
                      <a16:creationId xmlns:a16="http://schemas.microsoft.com/office/drawing/2014/main" id="{95EEE292-0328-EB14-D863-5725BAA48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15757" y="4143115"/>
                  <a:ext cx="917880" cy="954107"/>
                </a:xfrm>
                <a:prstGeom prst="rect">
                  <a:avLst/>
                </a:prstGeom>
                <a:blipFill>
                  <a:blip r:embed="rId5"/>
                  <a:stretch>
                    <a:fillRect t="-394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1110A02-A8F7-F0B3-BA0C-945077B0B59A}"/>
                </a:ext>
              </a:extLst>
            </p:cNvPr>
            <p:cNvCxnSpPr>
              <a:endCxn id="7" idx="2"/>
            </p:cNvCxnSpPr>
            <p:nvPr/>
          </p:nvCxnSpPr>
          <p:spPr>
            <a:xfrm>
              <a:off x="2933383" y="4405576"/>
              <a:ext cx="132963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5FB0786-E5B6-8FD6-7320-50A1555F5E1C}"/>
                </a:ext>
              </a:extLst>
            </p:cNvPr>
            <p:cNvCxnSpPr/>
            <p:nvPr/>
          </p:nvCxnSpPr>
          <p:spPr>
            <a:xfrm>
              <a:off x="5113127" y="4405576"/>
              <a:ext cx="132963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9C43403-F19F-3498-F956-187C6DD1ABE4}"/>
                    </a:ext>
                  </a:extLst>
                </p:cNvPr>
                <p:cNvSpPr txBox="1"/>
                <p:nvPr/>
              </p:nvSpPr>
              <p:spPr>
                <a:xfrm>
                  <a:off x="3337457" y="3958449"/>
                  <a:ext cx="421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8A756F6-6E20-DE17-1CD5-5F760CE50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457" y="3958449"/>
                  <a:ext cx="42184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824" r="-588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4D7DDF0-658E-ED93-ADF1-18F9E1540734}"/>
                    </a:ext>
                  </a:extLst>
                </p:cNvPr>
                <p:cNvSpPr txBox="1"/>
                <p:nvPr/>
              </p:nvSpPr>
              <p:spPr>
                <a:xfrm>
                  <a:off x="5610785" y="3958449"/>
                  <a:ext cx="42896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A3B9841-6C4F-256E-A3D2-2E1E0DB29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785" y="3958449"/>
                  <a:ext cx="42896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824" r="-588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372B24E-09B5-1BD7-E8F0-A97CB6F26192}"/>
                </a:ext>
              </a:extLst>
            </p:cNvPr>
            <p:cNvCxnSpPr/>
            <p:nvPr/>
          </p:nvCxnSpPr>
          <p:spPr>
            <a:xfrm>
              <a:off x="7265863" y="4405407"/>
              <a:ext cx="1329638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DC9FB98-A3C9-4DA8-06C0-89436A512A0D}"/>
                    </a:ext>
                  </a:extLst>
                </p:cNvPr>
                <p:cNvSpPr txBox="1"/>
                <p:nvPr/>
              </p:nvSpPr>
              <p:spPr>
                <a:xfrm>
                  <a:off x="8852034" y="4266907"/>
                  <a:ext cx="5665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D40513F-597B-E558-BECA-2D9C7859C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2034" y="4266907"/>
                  <a:ext cx="566565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870" r="-15217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0C845B-3390-B68A-D0A7-AB23E946AA26}"/>
                  </a:ext>
                </a:extLst>
              </p:cNvPr>
              <p:cNvSpPr txBox="1"/>
              <p:nvPr/>
            </p:nvSpPr>
            <p:spPr>
              <a:xfrm>
                <a:off x="838200" y="1930611"/>
                <a:ext cx="11353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02A4AD-2199-3440-7AF2-7A1A302EA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30611"/>
                <a:ext cx="11353800" cy="830997"/>
              </a:xfrm>
              <a:prstGeom prst="rect">
                <a:avLst/>
              </a:prstGeom>
              <a:blipFill>
                <a:blip r:embed="rId9"/>
                <a:stretch>
                  <a:fillRect l="-894" t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FD6EA6-A967-79FE-33B4-B4194A067444}"/>
                  </a:ext>
                </a:extLst>
              </p:cNvPr>
              <p:cNvSpPr txBox="1"/>
              <p:nvPr/>
            </p:nvSpPr>
            <p:spPr>
              <a:xfrm>
                <a:off x="2791122" y="4596622"/>
                <a:ext cx="6096000" cy="66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923D11-127C-06A7-1104-B35D6B73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22" y="4596622"/>
                <a:ext cx="6096000" cy="667234"/>
              </a:xfrm>
              <a:prstGeom prst="rect">
                <a:avLst/>
              </a:prstGeom>
              <a:blipFill>
                <a:blip r:embed="rId10"/>
                <a:stretch>
                  <a:fillRect t="-1852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FB44044-E6AF-A735-B165-496F83912F4D}"/>
              </a:ext>
            </a:extLst>
          </p:cNvPr>
          <p:cNvSpPr txBox="1"/>
          <p:nvPr/>
        </p:nvSpPr>
        <p:spPr>
          <a:xfrm>
            <a:off x="838200" y="5744842"/>
            <a:ext cx="1135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Repeat this for very weight in the network using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later layers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87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62590-C845-B09F-75A1-E526132B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531548-C582-090B-B569-4E57855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66218"/>
            <a:ext cx="10934701" cy="13255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Gradient decent as numerical optimization in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2DE9FD-D34E-9699-9716-7E19378C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41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3048" y="1621653"/>
            <a:ext cx="4847846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Suppose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spc="-13" dirty="0">
                <a:solidFill>
                  <a:srgbClr val="595959"/>
                </a:solidFill>
                <a:latin typeface="Arial"/>
                <a:cs typeface="Arial"/>
              </a:rPr>
              <a:t>minimize</a:t>
            </a:r>
            <a:endParaRPr sz="2400" b="1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047" y="3683117"/>
            <a:ext cx="7950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Easy!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5501" y="2306988"/>
            <a:ext cx="3079399" cy="5386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9681" y="4112608"/>
            <a:ext cx="2356419" cy="1185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7430" y="1552639"/>
            <a:ext cx="4460663" cy="360799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B7F9507-6813-EE72-BE3C-B041555F3EDC}"/>
              </a:ext>
            </a:extLst>
          </p:cNvPr>
          <p:cNvSpPr txBox="1">
            <a:spLocks/>
          </p:cNvSpPr>
          <p:nvPr/>
        </p:nvSpPr>
        <p:spPr>
          <a:xfrm>
            <a:off x="513047" y="1512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Numerical optimization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3047" y="1621653"/>
            <a:ext cx="18804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Now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consider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960" y="2085121"/>
            <a:ext cx="3792340" cy="4444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197015B-1F49-D63A-E4FE-1A780E1DE0BB}"/>
              </a:ext>
            </a:extLst>
          </p:cNvPr>
          <p:cNvGrpSpPr/>
          <p:nvPr/>
        </p:nvGrpSpPr>
        <p:grpSpPr>
          <a:xfrm>
            <a:off x="513047" y="2997317"/>
            <a:ext cx="4909853" cy="968475"/>
            <a:chOff x="513047" y="2997317"/>
            <a:chExt cx="4909853" cy="968475"/>
          </a:xfrm>
        </p:grpSpPr>
        <p:sp>
          <p:nvSpPr>
            <p:cNvPr id="4" name="object 4"/>
            <p:cNvSpPr txBox="1"/>
            <p:nvPr/>
          </p:nvSpPr>
          <p:spPr>
            <a:xfrm>
              <a:off x="513047" y="2997317"/>
              <a:ext cx="1281853" cy="38643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>
                <a:spcBef>
                  <a:spcPts val="133"/>
                </a:spcBef>
              </a:pPr>
              <a:r>
                <a:rPr sz="2400" dirty="0">
                  <a:solidFill>
                    <a:srgbClr val="595959"/>
                  </a:solidFill>
                  <a:latin typeface="Arial"/>
                  <a:cs typeface="Arial"/>
                </a:rPr>
                <a:t>We</a:t>
              </a:r>
              <a:r>
                <a:rPr sz="2400" spc="-8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2400" spc="-27" dirty="0">
                  <a:solidFill>
                    <a:srgbClr val="595959"/>
                  </a:solidFill>
                  <a:latin typeface="Arial"/>
                  <a:cs typeface="Arial"/>
                </a:rPr>
                <a:t>know</a:t>
              </a:r>
              <a:endParaRPr sz="2400" dirty="0">
                <a:latin typeface="Arial"/>
                <a:cs typeface="Arial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921" y="3579361"/>
              <a:ext cx="4580979" cy="386431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680D47-BF82-2B01-B38D-837EE9C102C6}"/>
              </a:ext>
            </a:extLst>
          </p:cNvPr>
          <p:cNvGrpSpPr/>
          <p:nvPr/>
        </p:nvGrpSpPr>
        <p:grpSpPr>
          <a:xfrm>
            <a:off x="513047" y="4368919"/>
            <a:ext cx="3249507" cy="1060643"/>
            <a:chOff x="513047" y="4368919"/>
            <a:chExt cx="3249507" cy="1060643"/>
          </a:xfrm>
        </p:grpSpPr>
        <p:sp>
          <p:nvSpPr>
            <p:cNvPr id="5" name="object 5"/>
            <p:cNvSpPr txBox="1"/>
            <p:nvPr/>
          </p:nvSpPr>
          <p:spPr>
            <a:xfrm>
              <a:off x="513047" y="4368919"/>
              <a:ext cx="3249507" cy="38643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>
                <a:spcBef>
                  <a:spcPts val="133"/>
                </a:spcBef>
              </a:pPr>
              <a:r>
                <a:rPr sz="2400" dirty="0">
                  <a:solidFill>
                    <a:srgbClr val="595959"/>
                  </a:solidFill>
                  <a:latin typeface="Arial"/>
                  <a:cs typeface="Arial"/>
                </a:rPr>
                <a:t>But</a:t>
              </a:r>
              <a:r>
                <a:rPr sz="2400" spc="-2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2400" dirty="0">
                  <a:solidFill>
                    <a:srgbClr val="595959"/>
                  </a:solidFill>
                  <a:latin typeface="Arial"/>
                  <a:cs typeface="Arial"/>
                </a:rPr>
                <a:t>what</a:t>
              </a:r>
              <a:r>
                <a:rPr sz="2400" spc="-2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2400" dirty="0">
                  <a:solidFill>
                    <a:srgbClr val="595959"/>
                  </a:solidFill>
                  <a:latin typeface="Arial"/>
                  <a:cs typeface="Arial"/>
                </a:rPr>
                <a:t>value</a:t>
              </a:r>
              <a:r>
                <a:rPr sz="2400" spc="-2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2400" dirty="0">
                  <a:solidFill>
                    <a:srgbClr val="595959"/>
                  </a:solidFill>
                  <a:latin typeface="Arial"/>
                  <a:cs typeface="Arial"/>
                </a:rPr>
                <a:t>of</a:t>
              </a:r>
              <a:r>
                <a:rPr sz="2400" spc="-2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2400" dirty="0">
                  <a:solidFill>
                    <a:srgbClr val="595959"/>
                  </a:solidFill>
                  <a:latin typeface="Arial"/>
                  <a:cs typeface="Arial"/>
                </a:rPr>
                <a:t>x</a:t>
              </a:r>
              <a:r>
                <a:rPr sz="2400" spc="-20" dirty="0">
                  <a:solidFill>
                    <a:srgbClr val="595959"/>
                  </a:solidFill>
                  <a:latin typeface="Arial"/>
                  <a:cs typeface="Arial"/>
                </a:rPr>
                <a:t> </a:t>
              </a:r>
              <a:r>
                <a:rPr sz="2400" spc="-27" dirty="0">
                  <a:solidFill>
                    <a:srgbClr val="595959"/>
                  </a:solidFill>
                  <a:latin typeface="Arial"/>
                  <a:cs typeface="Arial"/>
                </a:rPr>
                <a:t>sets</a:t>
              </a:r>
              <a:endParaRPr sz="2400" dirty="0">
                <a:latin typeface="Arial"/>
                <a:cs typeface="Arial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921" y="5043131"/>
              <a:ext cx="2376639" cy="386431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4825" y="2093591"/>
            <a:ext cx="4064339" cy="30189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8E527A3-3662-F578-7515-5C8214EE424B}"/>
              </a:ext>
            </a:extLst>
          </p:cNvPr>
          <p:cNvSpPr txBox="1">
            <a:spLocks/>
          </p:cNvSpPr>
          <p:nvPr/>
        </p:nvSpPr>
        <p:spPr>
          <a:xfrm>
            <a:off x="513047" y="1512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Numerical optimization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009" y="1986240"/>
            <a:ext cx="5895991" cy="24960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4825" y="2093591"/>
            <a:ext cx="4064339" cy="30189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106DB79-E6D3-F429-8DF0-163BD5F69699}"/>
              </a:ext>
            </a:extLst>
          </p:cNvPr>
          <p:cNvSpPr txBox="1">
            <a:spLocks/>
          </p:cNvSpPr>
          <p:nvPr/>
        </p:nvSpPr>
        <p:spPr>
          <a:xfrm>
            <a:off x="548906" y="353656"/>
            <a:ext cx="116430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backward()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evaluates gradient at current x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417978-DED5-B52E-CF9F-BB239FCDA6A3}"/>
              </a:ext>
            </a:extLst>
          </p:cNvPr>
          <p:cNvGrpSpPr/>
          <p:nvPr/>
        </p:nvGrpSpPr>
        <p:grpSpPr>
          <a:xfrm>
            <a:off x="1692567" y="3675529"/>
            <a:ext cx="5522258" cy="1760138"/>
            <a:chOff x="1692567" y="3675529"/>
            <a:chExt cx="5522258" cy="17601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F9C32A-335B-6C5D-E2BC-6A78B5AC1E7E}"/>
                </a:ext>
              </a:extLst>
            </p:cNvPr>
            <p:cNvSpPr/>
            <p:nvPr/>
          </p:nvSpPr>
          <p:spPr>
            <a:xfrm>
              <a:off x="1936376" y="3675529"/>
              <a:ext cx="1828800" cy="448236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F3859F-C60D-F53E-0623-9A7FD439C3EE}"/>
                </a:ext>
              </a:extLst>
            </p:cNvPr>
            <p:cNvSpPr txBox="1"/>
            <p:nvPr/>
          </p:nvSpPr>
          <p:spPr>
            <a:xfrm>
              <a:off x="1692567" y="4789336"/>
              <a:ext cx="552225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Use auto-differentiation of </a:t>
              </a: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PyTorch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, and the gradient is always evaluated at the current value of x.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282" y="1679219"/>
            <a:ext cx="5289119" cy="49641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34779" y="2474259"/>
            <a:ext cx="4064339" cy="301891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5600A67-CF7C-5F99-CA03-2F74CC18093A}"/>
              </a:ext>
            </a:extLst>
          </p:cNvPr>
          <p:cNvSpPr txBox="1">
            <a:spLocks/>
          </p:cNvSpPr>
          <p:nvPr/>
        </p:nvSpPr>
        <p:spPr>
          <a:xfrm>
            <a:off x="548906" y="3536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Iterative gradient-based solvers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C6292D-CDD0-3556-819C-3156FAF3A3FB}"/>
              </a:ext>
            </a:extLst>
          </p:cNvPr>
          <p:cNvGrpSpPr/>
          <p:nvPr/>
        </p:nvGrpSpPr>
        <p:grpSpPr>
          <a:xfrm>
            <a:off x="1362633" y="2796827"/>
            <a:ext cx="6526308" cy="1041292"/>
            <a:chOff x="1362633" y="2796827"/>
            <a:chExt cx="6526308" cy="10412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95CD7B-F5AE-F29B-42F1-F069C5762790}"/>
                </a:ext>
              </a:extLst>
            </p:cNvPr>
            <p:cNvSpPr/>
            <p:nvPr/>
          </p:nvSpPr>
          <p:spPr>
            <a:xfrm>
              <a:off x="1362633" y="2796827"/>
              <a:ext cx="2456332" cy="380669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B69799-3428-C517-349E-D30DA61FA0D9}"/>
                </a:ext>
              </a:extLst>
            </p:cNvPr>
            <p:cNvSpPr txBox="1"/>
            <p:nvPr/>
          </p:nvSpPr>
          <p:spPr>
            <a:xfrm>
              <a:off x="3492472" y="3191788"/>
              <a:ext cx="43964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 update x in-place, we need to temporarily disables gradient tracking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1ABB0FD-439E-4094-A93F-4A0018FF268F}"/>
              </a:ext>
            </a:extLst>
          </p:cNvPr>
          <p:cNvSpPr txBox="1"/>
          <p:nvPr/>
        </p:nvSpPr>
        <p:spPr>
          <a:xfrm>
            <a:off x="6253601" y="2048377"/>
            <a:ext cx="4396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to make sure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x.grad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not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82F1BA-C793-3DAC-FA96-793286A0D522}"/>
              </a:ext>
            </a:extLst>
          </p:cNvPr>
          <p:cNvGrpSpPr/>
          <p:nvPr/>
        </p:nvGrpSpPr>
        <p:grpSpPr>
          <a:xfrm>
            <a:off x="1362634" y="1424610"/>
            <a:ext cx="8846786" cy="1049649"/>
            <a:chOff x="1362634" y="1424610"/>
            <a:chExt cx="8846786" cy="10496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E7A7AD-60C2-D765-9926-BABFBA3045D7}"/>
                </a:ext>
              </a:extLst>
            </p:cNvPr>
            <p:cNvSpPr/>
            <p:nvPr/>
          </p:nvSpPr>
          <p:spPr>
            <a:xfrm>
              <a:off x="1362635" y="1918447"/>
              <a:ext cx="1434353" cy="175144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9D8852-F0B4-1143-CE7F-8CE76BE777D3}"/>
                </a:ext>
              </a:extLst>
            </p:cNvPr>
            <p:cNvSpPr/>
            <p:nvPr/>
          </p:nvSpPr>
          <p:spPr>
            <a:xfrm>
              <a:off x="1362634" y="2093590"/>
              <a:ext cx="1434353" cy="380669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1A8285-142E-EC11-93FD-F6A9D40565A0}"/>
                </a:ext>
              </a:extLst>
            </p:cNvPr>
            <p:cNvSpPr txBox="1"/>
            <p:nvPr/>
          </p:nvSpPr>
          <p:spPr>
            <a:xfrm>
              <a:off x="3373143" y="1424610"/>
              <a:ext cx="683627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x.grad.zero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clears (set to zero) the gradients from previous backward passes. Without clearing, gradients would accumulate (add up) across iterations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735-0A72-E7E5-92BE-22EAE16E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9CE746-0843-FA09-DEC6-1B2A9262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84EDB5-9059-4675-E6A1-2FC056A7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In-class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280D3-44F5-A5E8-35EB-47B1D4C993C3}"/>
              </a:ext>
            </a:extLst>
          </p:cNvPr>
          <p:cNvSpPr txBox="1"/>
          <p:nvPr/>
        </p:nvSpPr>
        <p:spPr>
          <a:xfrm>
            <a:off x="1667435" y="2298557"/>
            <a:ext cx="10183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Minimizing our function with gradient descent using </a:t>
            </a:r>
            <a:r>
              <a:rPr lang="en-US" sz="28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US" sz="28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596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46E5DC-C9BC-44F8-FC9C-3B7B6708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Stochastic Gradient descent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2EDCB-F3BC-A5A3-4F54-7B2823E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8DA3B3-BE7B-BDD0-BCA1-9B0DA0024F08}"/>
              </a:ext>
            </a:extLst>
          </p:cNvPr>
          <p:cNvSpPr/>
          <p:nvPr/>
        </p:nvSpPr>
        <p:spPr>
          <a:xfrm flipV="1">
            <a:off x="4500283" y="3514171"/>
            <a:ext cx="573741" cy="627530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58DEE-ADBB-980E-7999-0ACFBB5B74E5}"/>
              </a:ext>
            </a:extLst>
          </p:cNvPr>
          <p:cNvSpPr txBox="1"/>
          <p:nvPr/>
        </p:nvSpPr>
        <p:spPr>
          <a:xfrm>
            <a:off x="5934635" y="3680036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very computationally expensive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DF94E-9287-03DC-05EF-8B4468E528F8}"/>
                  </a:ext>
                </a:extLst>
              </p:cNvPr>
              <p:cNvSpPr txBox="1"/>
              <p:nvPr/>
            </p:nvSpPr>
            <p:spPr>
              <a:xfrm>
                <a:off x="838199" y="1659688"/>
                <a:ext cx="10123843" cy="4133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weights randomly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Loop until convergence: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Pick a single data point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Computer gradient: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weights: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 weights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3DF94E-9287-03DC-05EF-8B4468E52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59688"/>
                <a:ext cx="10123843" cy="4133055"/>
              </a:xfrm>
              <a:prstGeom prst="rect">
                <a:avLst/>
              </a:prstGeom>
              <a:blipFill>
                <a:blip r:embed="rId3"/>
                <a:stretch>
                  <a:fillRect l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E33825-054B-524B-73C7-8E0C7472BB9C}"/>
                  </a:ext>
                </a:extLst>
              </p:cNvPr>
              <p:cNvSpPr txBox="1"/>
              <p:nvPr/>
            </p:nvSpPr>
            <p:spPr>
              <a:xfrm>
                <a:off x="2854363" y="3066048"/>
                <a:ext cx="6633882" cy="636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E33825-054B-524B-73C7-8E0C7472B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363" y="3066048"/>
                <a:ext cx="6633882" cy="636585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0F965F-64F9-AABA-BD68-EAAD64DDB45D}"/>
              </a:ext>
            </a:extLst>
          </p:cNvPr>
          <p:cNvCxnSpPr>
            <a:cxnSpLocks/>
          </p:cNvCxnSpPr>
          <p:nvPr/>
        </p:nvCxnSpPr>
        <p:spPr>
          <a:xfrm flipV="1">
            <a:off x="5145741" y="3429000"/>
            <a:ext cx="717177" cy="59443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52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FDAE-AE37-13BB-0F82-FFC8D010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DB105A-BE8C-BF42-AA94-D157B589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Stochastic Gradient descent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5BF27-EABC-5819-4FB3-CC9BF992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60782-B4FA-8E06-7B92-15A163DC573B}"/>
                  </a:ext>
                </a:extLst>
              </p:cNvPr>
              <p:cNvSpPr txBox="1"/>
              <p:nvPr/>
            </p:nvSpPr>
            <p:spPr>
              <a:xfrm>
                <a:off x="838200" y="1659688"/>
                <a:ext cx="11353800" cy="4133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Initialize weights randomly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Loop until convergence: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Pick batch of </a:t>
                </a:r>
                <a:r>
                  <a:rPr 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data points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Computer gradient: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weights: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den>
                    </m:f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 weights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60782-B4FA-8E06-7B92-15A163DC5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9688"/>
                <a:ext cx="11353800" cy="4133055"/>
              </a:xfrm>
              <a:prstGeom prst="rect">
                <a:avLst/>
              </a:prstGeom>
              <a:blipFill>
                <a:blip r:embed="rId3"/>
                <a:stretch>
                  <a:fillRect l="-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2D38EA4-987F-0BE4-0B25-E1DA6006E67C}"/>
              </a:ext>
            </a:extLst>
          </p:cNvPr>
          <p:cNvSpPr/>
          <p:nvPr/>
        </p:nvSpPr>
        <p:spPr>
          <a:xfrm flipV="1">
            <a:off x="4500283" y="3514171"/>
            <a:ext cx="573741" cy="627530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D1B4C3-FAED-3417-FFD4-7228027AF353}"/>
                  </a:ext>
                </a:extLst>
              </p:cNvPr>
              <p:cNvSpPr txBox="1"/>
              <p:nvPr/>
            </p:nvSpPr>
            <p:spPr>
              <a:xfrm>
                <a:off x="5782235" y="3044105"/>
                <a:ext cx="2456330" cy="659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D1B4C3-FAED-3417-FFD4-7228027AF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235" y="3044105"/>
                <a:ext cx="2456330" cy="659283"/>
              </a:xfrm>
              <a:prstGeom prst="rect">
                <a:avLst/>
              </a:prstGeom>
              <a:blipFill>
                <a:blip r:embed="rId4"/>
                <a:stretch>
                  <a:fillRect t="-139623" r="-515" b="-2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02FDB1-9F15-5865-7FDC-8C8A35DD70A7}"/>
              </a:ext>
            </a:extLst>
          </p:cNvPr>
          <p:cNvCxnSpPr>
            <a:cxnSpLocks/>
          </p:cNvCxnSpPr>
          <p:nvPr/>
        </p:nvCxnSpPr>
        <p:spPr>
          <a:xfrm flipV="1">
            <a:off x="5145741" y="3429000"/>
            <a:ext cx="717177" cy="59443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5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F692B-D886-6508-86C8-7328AC80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719FB5-92AB-DAA2-EB5F-49F46BC5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Setting the learning rate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B0289F-69AE-CDDB-BC15-17BA2D32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BA1D1-9FAC-F954-2910-EBDBC932F5FE}"/>
              </a:ext>
            </a:extLst>
          </p:cNvPr>
          <p:cNvSpPr txBox="1"/>
          <p:nvPr/>
        </p:nvSpPr>
        <p:spPr>
          <a:xfrm>
            <a:off x="918882" y="2126478"/>
            <a:ext cx="76917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Remember optimization through gradient descent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D6EBEB-B6EF-D2F7-5177-DD5974C1A8F4}"/>
              </a:ext>
            </a:extLst>
          </p:cNvPr>
          <p:cNvSpPr/>
          <p:nvPr/>
        </p:nvSpPr>
        <p:spPr>
          <a:xfrm flipV="1">
            <a:off x="5024720" y="3281703"/>
            <a:ext cx="215149" cy="446084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16E0DA-8318-F178-D3DF-99A5B8B552E4}"/>
              </a:ext>
            </a:extLst>
          </p:cNvPr>
          <p:cNvSpPr txBox="1"/>
          <p:nvPr/>
        </p:nvSpPr>
        <p:spPr>
          <a:xfrm>
            <a:off x="2290482" y="4551259"/>
            <a:ext cx="76917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can we set this learning rate?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126FBB-9CFE-FE84-52C6-1B41DADD3B81}"/>
                  </a:ext>
                </a:extLst>
              </p:cNvPr>
              <p:cNvSpPr txBox="1"/>
              <p:nvPr/>
            </p:nvSpPr>
            <p:spPr>
              <a:xfrm>
                <a:off x="1716741" y="3207833"/>
                <a:ext cx="6096000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⟵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126FBB-9CFE-FE84-52C6-1B41DADD3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741" y="3207833"/>
                <a:ext cx="6096000" cy="619016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162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683E-BC47-95CF-F631-589844BE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FECADB-BC02-AA79-71B6-9771A242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Setting the learning rate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E179C-6ADB-A9EA-1D66-808B5346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A3304-175D-3C89-38B4-E5CE65619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965" y="2273119"/>
            <a:ext cx="7407177" cy="3783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E17D9-B769-A5B9-3429-9034813749DF}"/>
              </a:ext>
            </a:extLst>
          </p:cNvPr>
          <p:cNvSpPr txBox="1"/>
          <p:nvPr/>
        </p:nvSpPr>
        <p:spPr>
          <a:xfrm>
            <a:off x="918882" y="1534455"/>
            <a:ext cx="104349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Small learning rate converges slowly and gets stuck in false local minima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4A7B92F-BA6E-04FF-FBC1-294632B9EF35}"/>
              </a:ext>
            </a:extLst>
          </p:cNvPr>
          <p:cNvSpPr txBox="1">
            <a:spLocks/>
          </p:cNvSpPr>
          <p:nvPr/>
        </p:nvSpPr>
        <p:spPr>
          <a:xfrm>
            <a:off x="5576454" y="6356350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Amini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Modified from  MIT open course: 6.S191 and Nvidia blog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15C922-B237-8BF0-BFCB-C559B1F80AA5}"/>
              </a:ext>
            </a:extLst>
          </p:cNvPr>
          <p:cNvSpPr/>
          <p:nvPr/>
        </p:nvSpPr>
        <p:spPr>
          <a:xfrm flipV="1">
            <a:off x="6095999" y="4894729"/>
            <a:ext cx="244287" cy="428816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51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5D497-BBF4-82FC-F2DF-2313637F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CBF785-B089-2DB7-E003-55166337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Setting the learning rate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3E20B-8970-BAF4-83C2-7B5F49A6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12121-63E9-26D5-AE34-7263DA531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965" y="2273119"/>
            <a:ext cx="7407177" cy="3783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5C5A77-4B81-A43F-60E9-D9D8D402B0C8}"/>
              </a:ext>
            </a:extLst>
          </p:cNvPr>
          <p:cNvSpPr txBox="1"/>
          <p:nvPr/>
        </p:nvSpPr>
        <p:spPr>
          <a:xfrm>
            <a:off x="918882" y="1534455"/>
            <a:ext cx="104349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 learning rate overshoot, become unstable and diverge.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0AC755D-235F-15FF-2D1F-6DF531E6E087}"/>
              </a:ext>
            </a:extLst>
          </p:cNvPr>
          <p:cNvSpPr txBox="1">
            <a:spLocks/>
          </p:cNvSpPr>
          <p:nvPr/>
        </p:nvSpPr>
        <p:spPr>
          <a:xfrm>
            <a:off x="5576454" y="6356350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Amini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Modified from  MIT open course: 6.S191 and Nvidia blog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96432-4364-EE35-5A84-D3F194E819D4}"/>
              </a:ext>
            </a:extLst>
          </p:cNvPr>
          <p:cNvSpPr/>
          <p:nvPr/>
        </p:nvSpPr>
        <p:spPr>
          <a:xfrm flipV="1">
            <a:off x="2528051" y="4912658"/>
            <a:ext cx="244287" cy="428816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85F633-2192-68AB-3363-AEBE44A077B5}"/>
              </a:ext>
            </a:extLst>
          </p:cNvPr>
          <p:cNvCxnSpPr/>
          <p:nvPr/>
        </p:nvCxnSpPr>
        <p:spPr>
          <a:xfrm flipH="1">
            <a:off x="2832847" y="4584882"/>
            <a:ext cx="4177553" cy="507071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24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E122-94D7-5AF5-993E-62B6E0CA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A9E99B-05D1-2F97-C5E5-7BE608A5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Setting the learning rate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EFD2B4-2449-51F6-B761-7407A9B8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5E767-4661-96D9-1F9C-B375754D29D6}"/>
              </a:ext>
            </a:extLst>
          </p:cNvPr>
          <p:cNvSpPr txBox="1"/>
          <p:nvPr/>
        </p:nvSpPr>
        <p:spPr>
          <a:xfrm>
            <a:off x="918882" y="1690688"/>
            <a:ext cx="104349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Stable learning rates converges smoothly and avoid local minima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BE9DB89-BC7A-22FE-3756-F56B52DD73DE}"/>
              </a:ext>
            </a:extLst>
          </p:cNvPr>
          <p:cNvSpPr txBox="1">
            <a:spLocks/>
          </p:cNvSpPr>
          <p:nvPr/>
        </p:nvSpPr>
        <p:spPr>
          <a:xfrm>
            <a:off x="5576454" y="6356350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Amini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Modified from  MIT open course: 6.S191 and Nvidia blog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21145-E336-CB2B-CEF1-939AC36A309C}"/>
              </a:ext>
            </a:extLst>
          </p:cNvPr>
          <p:cNvSpPr txBox="1"/>
          <p:nvPr/>
        </p:nvSpPr>
        <p:spPr>
          <a:xfrm>
            <a:off x="918882" y="3059668"/>
            <a:ext cx="104349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How?  - You set the learning rate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56DFA-35EB-5518-3E6B-B8DD1B21C915}"/>
              </a:ext>
            </a:extLst>
          </p:cNvPr>
          <p:cNvSpPr txBox="1"/>
          <p:nvPr/>
        </p:nvSpPr>
        <p:spPr>
          <a:xfrm>
            <a:off x="918882" y="3971707"/>
            <a:ext cx="104349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 Try lots of different learning rates and see what work “just right”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132AF-E423-7B82-768B-9AB3B26EA0E8}"/>
              </a:ext>
            </a:extLst>
          </p:cNvPr>
          <p:cNvSpPr txBox="1"/>
          <p:nvPr/>
        </p:nvSpPr>
        <p:spPr>
          <a:xfrm>
            <a:off x="878541" y="4883746"/>
            <a:ext cx="104349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  Something smarter: design an adaptive rate that “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to the landscape.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4323-5658-85F8-61CB-D97863BD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7A8F12E-1F27-E811-5254-91DE4AD6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Gradient Descent Algorithms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A5C2CF-FA91-2902-F607-47257DC7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30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9311B8C-352B-61B4-4290-17943E7E5F96}"/>
              </a:ext>
            </a:extLst>
          </p:cNvPr>
          <p:cNvSpPr txBox="1">
            <a:spLocks/>
          </p:cNvSpPr>
          <p:nvPr/>
        </p:nvSpPr>
        <p:spPr>
          <a:xfrm>
            <a:off x="5576454" y="6210661"/>
            <a:ext cx="6615546" cy="510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Slide Credit: Alexander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Amini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Modified from  MIT open course: 6.S191 and Nvidia blog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82DA8-FC46-D408-C2CA-633DA251DBC4}"/>
              </a:ext>
            </a:extLst>
          </p:cNvPr>
          <p:cNvSpPr txBox="1"/>
          <p:nvPr/>
        </p:nvSpPr>
        <p:spPr>
          <a:xfrm>
            <a:off x="794698" y="5674452"/>
            <a:ext cx="10000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https://www.geeksforgeeks.org/gradient-descent-algorithm-and-its-variants/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23069D-FFEC-27F9-23A8-4AE55B7A639D}"/>
              </a:ext>
            </a:extLst>
          </p:cNvPr>
          <p:cNvSpPr txBox="1"/>
          <p:nvPr/>
        </p:nvSpPr>
        <p:spPr>
          <a:xfrm>
            <a:off x="1315315" y="6043602"/>
            <a:ext cx="7368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https://pytorch.org/docs/stable/optim.html#module-torch.optim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F2B4FD-4213-97BE-C685-02F745D95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12" y="1561182"/>
            <a:ext cx="3994000" cy="27501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BCDCFC-C771-3889-76E6-F6EC2AB5C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327185"/>
            <a:ext cx="8367961" cy="3145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06C204-9A78-5806-EB77-35ACCCCC72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240" y="4402475"/>
            <a:ext cx="3994000" cy="7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1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60A30-D3C4-A663-E770-51E3F043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EB2B2F-3C94-1E8A-DBFD-F85E4ADE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 it all together: training our first DNN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DD4C67-E6D1-3456-B096-56A7C7AD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/>
              <a:t>31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932756-69E1-EE49-6EDE-E457E86CDF41}"/>
              </a:ext>
            </a:extLst>
          </p:cNvPr>
          <p:cNvSpPr txBox="1">
            <a:spLocks/>
          </p:cNvSpPr>
          <p:nvPr/>
        </p:nvSpPr>
        <p:spPr>
          <a:xfrm>
            <a:off x="16764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In-class practice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Will I pass Stats 507? – A Simple DNN</a:t>
            </a:r>
          </a:p>
        </p:txBody>
      </p:sp>
    </p:spTree>
    <p:extLst>
      <p:ext uri="{BB962C8B-B14F-4D97-AF65-F5344CB8AC3E}">
        <p14:creationId xmlns:p14="http://schemas.microsoft.com/office/powerpoint/2010/main" val="833238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516F-DEDB-9D52-EC3E-F3EDD0CD2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HW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out.</a:t>
            </a:r>
          </a:p>
          <a:p>
            <a:pPr marL="0" indent="0"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guideline out. (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early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Coming next: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Introduce batch size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DataLoader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Deep Sequential model (RNN, LSTM, Transformer…)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4B29F-2D71-6D11-6E58-3E873E30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33053-B928-004D-A0E8-A0A092123CEE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A0597E-1F99-6DF2-FAEE-F3444F66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things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53617</TotalTime>
  <Words>1479</Words>
  <Application>Microsoft Macintosh PowerPoint</Application>
  <PresentationFormat>Widescreen</PresentationFormat>
  <Paragraphs>288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ArialMT</vt:lpstr>
      <vt:lpstr>Arial</vt:lpstr>
      <vt:lpstr>Calibri</vt:lpstr>
      <vt:lpstr>Calibri Light</vt:lpstr>
      <vt:lpstr>Cambria Math</vt:lpstr>
      <vt:lpstr>Courier New</vt:lpstr>
      <vt:lpstr>Office Theme</vt:lpstr>
      <vt:lpstr>STATS 507 Data Analysis in Python</vt:lpstr>
      <vt:lpstr>Recall the scope of this class</vt:lpstr>
      <vt:lpstr>Recap: What’s PyTorch</vt:lpstr>
      <vt:lpstr>Recap: Auto differentiation in PyTorch</vt:lpstr>
      <vt:lpstr>PowerPoint Presentation</vt:lpstr>
      <vt:lpstr>PowerPoint Presentation</vt:lpstr>
      <vt:lpstr>1. The Loss Function  2. Training a model  3. DNN in action (in-class practice)</vt:lpstr>
      <vt:lpstr>What is loss and what is it for?</vt:lpstr>
      <vt:lpstr>How to construct loss </vt:lpstr>
      <vt:lpstr>Loss for regression problem</vt:lpstr>
      <vt:lpstr>Loss for classification problem</vt:lpstr>
      <vt:lpstr>Customized loss function</vt:lpstr>
      <vt:lpstr>1. The Loss Function  2. Training a model  3. DNN in action (in-class practice)</vt:lpstr>
      <vt:lpstr>What is training</vt:lpstr>
      <vt:lpstr>How are we finding parameters: gradient descent</vt:lpstr>
      <vt:lpstr>Gradient descent as an algorithm</vt:lpstr>
      <vt:lpstr>Backpropagation </vt:lpstr>
      <vt:lpstr>Backpropagation </vt:lpstr>
      <vt:lpstr>Gradient decent as numerical optimization in PyTorch</vt:lpstr>
      <vt:lpstr>PowerPoint Presentation</vt:lpstr>
      <vt:lpstr>PowerPoint Presentation</vt:lpstr>
      <vt:lpstr>PowerPoint Presentation</vt:lpstr>
      <vt:lpstr>PowerPoint Presentation</vt:lpstr>
      <vt:lpstr>In-class practice</vt:lpstr>
      <vt:lpstr>Stochastic Gradient descent</vt:lpstr>
      <vt:lpstr>Stochastic Gradient descent</vt:lpstr>
      <vt:lpstr>Setting the learning rate </vt:lpstr>
      <vt:lpstr>Setting the learning rate </vt:lpstr>
      <vt:lpstr>Setting the learning rate </vt:lpstr>
      <vt:lpstr>Setting the learning rate </vt:lpstr>
      <vt:lpstr>Gradient Descent Algorithms </vt:lpstr>
      <vt:lpstr>Put it all together: training our first DNN</vt:lpstr>
      <vt:lpstr>Other things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in Python Objected Oriented Programming</dc:title>
  <dc:creator>Ding, Yanran</dc:creator>
  <cp:lastModifiedBy>Zhang, Xian</cp:lastModifiedBy>
  <cp:revision>2744</cp:revision>
  <cp:lastPrinted>2023-12-31T19:39:16Z</cp:lastPrinted>
  <dcterms:created xsi:type="dcterms:W3CDTF">2023-12-29T21:23:06Z</dcterms:created>
  <dcterms:modified xsi:type="dcterms:W3CDTF">2025-03-25T17:22:52Z</dcterms:modified>
</cp:coreProperties>
</file>