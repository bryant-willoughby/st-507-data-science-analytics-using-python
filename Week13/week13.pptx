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32"/>
  </p:notesMasterIdLst>
  <p:sldIdLst>
    <p:sldId id="256" r:id="rId2"/>
    <p:sldId id="612" r:id="rId3"/>
    <p:sldId id="609" r:id="rId4"/>
    <p:sldId id="610" r:id="rId5"/>
    <p:sldId id="611" r:id="rId6"/>
    <p:sldId id="572" r:id="rId7"/>
    <p:sldId id="614" r:id="rId8"/>
    <p:sldId id="275" r:id="rId9"/>
    <p:sldId id="615" r:id="rId10"/>
    <p:sldId id="616" r:id="rId11"/>
    <p:sldId id="617" r:id="rId12"/>
    <p:sldId id="618" r:id="rId13"/>
    <p:sldId id="613" r:id="rId14"/>
    <p:sldId id="619" r:id="rId15"/>
    <p:sldId id="620" r:id="rId16"/>
    <p:sldId id="1920" r:id="rId17"/>
    <p:sldId id="1925" r:id="rId18"/>
    <p:sldId id="1935" r:id="rId19"/>
    <p:sldId id="1921" r:id="rId20"/>
    <p:sldId id="1948" r:id="rId21"/>
    <p:sldId id="1923" r:id="rId22"/>
    <p:sldId id="1936" r:id="rId23"/>
    <p:sldId id="1937" r:id="rId24"/>
    <p:sldId id="1924" r:id="rId25"/>
    <p:sldId id="1947" r:id="rId26"/>
    <p:sldId id="1946" r:id="rId27"/>
    <p:sldId id="1939" r:id="rId28"/>
    <p:sldId id="1922" r:id="rId29"/>
    <p:sldId id="1949" r:id="rId30"/>
    <p:sldId id="32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F48DF2-8227-5C48-8BD3-896CAD3EE341}">
          <p14:sldIdLst>
            <p14:sldId id="256"/>
            <p14:sldId id="612"/>
            <p14:sldId id="609"/>
            <p14:sldId id="610"/>
            <p14:sldId id="611"/>
            <p14:sldId id="572"/>
            <p14:sldId id="614"/>
            <p14:sldId id="275"/>
            <p14:sldId id="615"/>
            <p14:sldId id="616"/>
            <p14:sldId id="617"/>
            <p14:sldId id="618"/>
            <p14:sldId id="613"/>
            <p14:sldId id="619"/>
            <p14:sldId id="620"/>
            <p14:sldId id="1920"/>
            <p14:sldId id="1925"/>
            <p14:sldId id="1935"/>
            <p14:sldId id="1921"/>
            <p14:sldId id="1948"/>
            <p14:sldId id="1923"/>
            <p14:sldId id="1936"/>
            <p14:sldId id="1937"/>
            <p14:sldId id="1924"/>
            <p14:sldId id="1947"/>
            <p14:sldId id="1946"/>
            <p14:sldId id="1939"/>
            <p14:sldId id="1922"/>
            <p14:sldId id="1949"/>
            <p14:sldId id="328"/>
          </p14:sldIdLst>
        </p14:section>
        <p14:section name="Untitled Section" id="{377F1EDF-B55F-C345-A29A-F7E49ACDC973}">
          <p14:sldIdLst/>
        </p14:section>
        <p14:section name="Untitled Section" id="{9F1CDEDB-F8F2-4F48-B18F-8E9C3FCDD6C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753"/>
    <p:restoredTop sz="82668"/>
  </p:normalViewPr>
  <p:slideViewPr>
    <p:cSldViewPr snapToGrid="0">
      <p:cViewPr varScale="1">
        <p:scale>
          <a:sx n="77" d="100"/>
          <a:sy n="77" d="100"/>
        </p:scale>
        <p:origin x="208" y="1248"/>
      </p:cViewPr>
      <p:guideLst/>
    </p:cSldViewPr>
  </p:slideViewPr>
  <p:outlineViewPr>
    <p:cViewPr>
      <p:scale>
        <a:sx n="33" d="100"/>
        <a:sy n="33" d="100"/>
      </p:scale>
      <p:origin x="0" y="-1440"/>
    </p:cViewPr>
  </p:outlineViewPr>
  <p:notesTextViewPr>
    <p:cViewPr>
      <p:scale>
        <a:sx n="110" d="100"/>
        <a:sy n="110" d="100"/>
      </p:scale>
      <p:origin x="0" y="0"/>
    </p:cViewPr>
  </p:notesTextViewPr>
  <p:sorterViewPr>
    <p:cViewPr>
      <p:scale>
        <a:sx n="80" d="100"/>
        <a:sy n="80" d="100"/>
      </p:scale>
      <p:origin x="0" y="0"/>
    </p:cViewPr>
  </p:sorterViewPr>
  <p:notesViewPr>
    <p:cSldViewPr snapToGrid="0">
      <p:cViewPr varScale="1">
        <p:scale>
          <a:sx n="121" d="100"/>
          <a:sy n="121" d="100"/>
        </p:scale>
        <p:origin x="4304"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B5C28F-5EA1-BF43-9008-79EE04C73EA8}" type="datetimeFigureOut">
              <a:rPr lang="en-US" smtClean="0"/>
              <a:t>4/3/25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986EBC-7713-6E46-84A4-B57B150EF96D}" type="slidenum">
              <a:rPr lang="en-US" smtClean="0"/>
              <a:t>‹#›</a:t>
            </a:fld>
            <a:endParaRPr lang="en-US"/>
          </a:p>
        </p:txBody>
      </p:sp>
    </p:spTree>
    <p:extLst>
      <p:ext uri="{BB962C8B-B14F-4D97-AF65-F5344CB8AC3E}">
        <p14:creationId xmlns:p14="http://schemas.microsoft.com/office/powerpoint/2010/main" val="1450368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 everyone, my name is Xian Zhang, I am currently a software engineer in self-driving industry. Today I am very excited to give a lecture on introduction to deep learning with </a:t>
            </a:r>
            <a:r>
              <a:rPr lang="en-US" dirty="0" err="1"/>
              <a:t>Pytorch</a:t>
            </a:r>
            <a:r>
              <a:rPr lang="en-US" dirty="0"/>
              <a:t>.</a:t>
            </a:r>
          </a:p>
        </p:txBody>
      </p:sp>
      <p:sp>
        <p:nvSpPr>
          <p:cNvPr id="4" name="Slide Number Placeholder 3"/>
          <p:cNvSpPr>
            <a:spLocks noGrp="1"/>
          </p:cNvSpPr>
          <p:nvPr>
            <p:ph type="sldNum" sz="quarter" idx="5"/>
          </p:nvPr>
        </p:nvSpPr>
        <p:spPr/>
        <p:txBody>
          <a:bodyPr/>
          <a:lstStyle/>
          <a:p>
            <a:fld id="{69986EBC-7713-6E46-84A4-B57B150EF96D}" type="slidenum">
              <a:rPr lang="en-US" smtClean="0"/>
              <a:t>0</a:t>
            </a:fld>
            <a:endParaRPr lang="en-US"/>
          </a:p>
        </p:txBody>
      </p:sp>
    </p:spTree>
    <p:extLst>
      <p:ext uri="{BB962C8B-B14F-4D97-AF65-F5344CB8AC3E}">
        <p14:creationId xmlns:p14="http://schemas.microsoft.com/office/powerpoint/2010/main" val="621891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9ED44-7ACD-D250-9674-4BB54331A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5F774-EE99-28AF-7D22-1065375D1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37B9A-51AF-AEFD-236F-B3522FB69C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F464F2-101F-CC80-5834-11A023A56219}"/>
              </a:ext>
            </a:extLst>
          </p:cNvPr>
          <p:cNvSpPr>
            <a:spLocks noGrp="1"/>
          </p:cNvSpPr>
          <p:nvPr>
            <p:ph type="sldNum" sz="quarter" idx="5"/>
          </p:nvPr>
        </p:nvSpPr>
        <p:spPr/>
        <p:txBody>
          <a:bodyPr/>
          <a:lstStyle/>
          <a:p>
            <a:fld id="{69986EBC-7713-6E46-84A4-B57B150EF96D}" type="slidenum">
              <a:rPr lang="en-US" smtClean="0"/>
              <a:t>1</a:t>
            </a:fld>
            <a:endParaRPr lang="en-US"/>
          </a:p>
        </p:txBody>
      </p:sp>
    </p:spTree>
    <p:extLst>
      <p:ext uri="{BB962C8B-B14F-4D97-AF65-F5344CB8AC3E}">
        <p14:creationId xmlns:p14="http://schemas.microsoft.com/office/powerpoint/2010/main" val="4105271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3FDD3-B94B-88A3-BC34-B6793D5EB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4D9D6-9E3C-95BC-B648-45C33BAA5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DD265-F21B-5737-22DA-68146ED22E77}"/>
              </a:ext>
            </a:extLst>
          </p:cNvPr>
          <p:cNvSpPr>
            <a:spLocks noGrp="1"/>
          </p:cNvSpPr>
          <p:nvPr>
            <p:ph type="body" idx="1"/>
          </p:nvPr>
        </p:nvSpPr>
        <p:spPr/>
        <p:txBody>
          <a:bodyPr/>
          <a:lstStyle/>
          <a:p>
            <a:r>
              <a:rPr lang="en-US" dirty="0"/>
              <a:t>Sequential data</a:t>
            </a:r>
          </a:p>
          <a:p>
            <a:endParaRPr lang="en-US" dirty="0"/>
          </a:p>
          <a:p>
            <a:r>
              <a:rPr lang="en-US" dirty="0"/>
              <a:t>Vanishing gradient, the time unroll the network. </a:t>
            </a:r>
          </a:p>
        </p:txBody>
      </p:sp>
      <p:sp>
        <p:nvSpPr>
          <p:cNvPr id="4" name="Slide Number Placeholder 3">
            <a:extLst>
              <a:ext uri="{FF2B5EF4-FFF2-40B4-BE49-F238E27FC236}">
                <a16:creationId xmlns:a16="http://schemas.microsoft.com/office/drawing/2014/main" id="{C9926755-EC40-C071-6940-FF51A5E2442F}"/>
              </a:ext>
            </a:extLst>
          </p:cNvPr>
          <p:cNvSpPr>
            <a:spLocks noGrp="1"/>
          </p:cNvSpPr>
          <p:nvPr>
            <p:ph type="sldNum" sz="quarter" idx="5"/>
          </p:nvPr>
        </p:nvSpPr>
        <p:spPr/>
        <p:txBody>
          <a:bodyPr/>
          <a:lstStyle/>
          <a:p>
            <a:fld id="{69986EBC-7713-6E46-84A4-B57B150EF96D}" type="slidenum">
              <a:rPr lang="en-US" smtClean="0"/>
              <a:t>2</a:t>
            </a:fld>
            <a:endParaRPr lang="en-US"/>
          </a:p>
        </p:txBody>
      </p:sp>
    </p:spTree>
    <p:extLst>
      <p:ext uri="{BB962C8B-B14F-4D97-AF65-F5344CB8AC3E}">
        <p14:creationId xmlns:p14="http://schemas.microsoft.com/office/powerpoint/2010/main" val="232016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F9560-9817-5313-4918-DEF12CF6D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9349D-BCC1-5D10-089D-6EBD93283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38476-B680-43C4-C7ED-24FC2183E0AA}"/>
              </a:ext>
            </a:extLst>
          </p:cNvPr>
          <p:cNvSpPr>
            <a:spLocks noGrp="1"/>
          </p:cNvSpPr>
          <p:nvPr>
            <p:ph type="body" idx="1"/>
          </p:nvPr>
        </p:nvSpPr>
        <p:spPr/>
        <p:txBody>
          <a:bodyPr/>
          <a:lstStyle/>
          <a:p>
            <a:r>
              <a:rPr lang="en-US" dirty="0"/>
              <a:t>Each</a:t>
            </a:r>
            <a:r>
              <a:rPr lang="zh-CN" altLang="en-US" dirty="0"/>
              <a:t> </a:t>
            </a:r>
            <a:r>
              <a:rPr lang="en-US" altLang="zh-CN" dirty="0"/>
              <a:t>of those features are passed through to a hidden state and the hidden state is passed through the next hidden state </a:t>
            </a:r>
          </a:p>
          <a:p>
            <a:endParaRPr lang="en-US" dirty="0"/>
          </a:p>
          <a:p>
            <a:r>
              <a:rPr lang="en-US" dirty="0"/>
              <a:t>That is how you form your features that will go though to your output layer. </a:t>
            </a:r>
          </a:p>
        </p:txBody>
      </p:sp>
      <p:sp>
        <p:nvSpPr>
          <p:cNvPr id="4" name="Slide Number Placeholder 3">
            <a:extLst>
              <a:ext uri="{FF2B5EF4-FFF2-40B4-BE49-F238E27FC236}">
                <a16:creationId xmlns:a16="http://schemas.microsoft.com/office/drawing/2014/main" id="{1F7B4D8F-2483-80FF-C311-677464327211}"/>
              </a:ext>
            </a:extLst>
          </p:cNvPr>
          <p:cNvSpPr>
            <a:spLocks noGrp="1"/>
          </p:cNvSpPr>
          <p:nvPr>
            <p:ph type="sldNum" sz="quarter" idx="5"/>
          </p:nvPr>
        </p:nvSpPr>
        <p:spPr/>
        <p:txBody>
          <a:bodyPr/>
          <a:lstStyle/>
          <a:p>
            <a:fld id="{69986EBC-7713-6E46-84A4-B57B150EF96D}" type="slidenum">
              <a:rPr lang="en-US" smtClean="0"/>
              <a:t>3</a:t>
            </a:fld>
            <a:endParaRPr lang="en-US"/>
          </a:p>
        </p:txBody>
      </p:sp>
    </p:spTree>
    <p:extLst>
      <p:ext uri="{BB962C8B-B14F-4D97-AF65-F5344CB8AC3E}">
        <p14:creationId xmlns:p14="http://schemas.microsoft.com/office/powerpoint/2010/main" val="1889328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3832A-9061-0D8A-25AD-99CA7ACB8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A6A53-7884-57EA-D5BD-1B94CE6221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BDF02-6BDF-1A50-C05F-6B4F950AE9BB}"/>
              </a:ext>
            </a:extLst>
          </p:cNvPr>
          <p:cNvSpPr>
            <a:spLocks noGrp="1"/>
          </p:cNvSpPr>
          <p:nvPr>
            <p:ph type="body" idx="1"/>
          </p:nvPr>
        </p:nvSpPr>
        <p:spPr/>
        <p:txBody>
          <a:bodyPr/>
          <a:lstStyle/>
          <a:p>
            <a:r>
              <a:rPr lang="en-US" dirty="0"/>
              <a:t>The problem with RNN however, is that they often suffer from the gradient vanishing problem so it is really difficult to get for example this x1 to influence the </a:t>
            </a:r>
            <a:r>
              <a:rPr lang="en-US" dirty="0" err="1"/>
              <a:t>xt</a:t>
            </a:r>
            <a:r>
              <a:rPr lang="en-US" dirty="0"/>
              <a:t> that are further down the sequence.</a:t>
            </a:r>
          </a:p>
          <a:p>
            <a:endParaRPr lang="en-US" dirty="0"/>
          </a:p>
          <a:p>
            <a:r>
              <a:rPr lang="en-US" dirty="0"/>
              <a:t>So the next kind of major breakthrough in NLP was to introduce the LSTM, the long term short term memory network. </a:t>
            </a:r>
          </a:p>
          <a:p>
            <a:endParaRPr lang="en-US" dirty="0"/>
          </a:p>
        </p:txBody>
      </p:sp>
      <p:sp>
        <p:nvSpPr>
          <p:cNvPr id="4" name="Slide Number Placeholder 3">
            <a:extLst>
              <a:ext uri="{FF2B5EF4-FFF2-40B4-BE49-F238E27FC236}">
                <a16:creationId xmlns:a16="http://schemas.microsoft.com/office/drawing/2014/main" id="{34EA50DA-C605-1971-9893-A2E21DB13475}"/>
              </a:ext>
            </a:extLst>
          </p:cNvPr>
          <p:cNvSpPr>
            <a:spLocks noGrp="1"/>
          </p:cNvSpPr>
          <p:nvPr>
            <p:ph type="sldNum" sz="quarter" idx="5"/>
          </p:nvPr>
        </p:nvSpPr>
        <p:spPr/>
        <p:txBody>
          <a:bodyPr/>
          <a:lstStyle/>
          <a:p>
            <a:fld id="{69986EBC-7713-6E46-84A4-B57B150EF96D}" type="slidenum">
              <a:rPr lang="en-US" smtClean="0"/>
              <a:t>4</a:t>
            </a:fld>
            <a:endParaRPr lang="en-US"/>
          </a:p>
        </p:txBody>
      </p:sp>
    </p:spTree>
    <p:extLst>
      <p:ext uri="{BB962C8B-B14F-4D97-AF65-F5344CB8AC3E}">
        <p14:creationId xmlns:p14="http://schemas.microsoft.com/office/powerpoint/2010/main" val="1188334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84E7-BD02-F9AD-62EC-213C0EEDE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FCC21-1E87-B315-5D20-C654C5240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C641E4-EB88-ABFC-B42F-63D11B18F685}"/>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anose="020B06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692CD9E0-70DE-8DBD-971E-E0CBC634F5AB}"/>
              </a:ext>
            </a:extLst>
          </p:cNvPr>
          <p:cNvSpPr>
            <a:spLocks noGrp="1"/>
          </p:cNvSpPr>
          <p:nvPr>
            <p:ph type="sldNum" sz="quarter" idx="5"/>
          </p:nvPr>
        </p:nvSpPr>
        <p:spPr/>
        <p:txBody>
          <a:bodyPr/>
          <a:lstStyle/>
          <a:p>
            <a:fld id="{69986EBC-7713-6E46-84A4-B57B150EF96D}" type="slidenum">
              <a:rPr lang="en-US" smtClean="0"/>
              <a:t>5</a:t>
            </a:fld>
            <a:endParaRPr lang="en-US"/>
          </a:p>
        </p:txBody>
      </p:sp>
    </p:spTree>
    <p:extLst>
      <p:ext uri="{BB962C8B-B14F-4D97-AF65-F5344CB8AC3E}">
        <p14:creationId xmlns:p14="http://schemas.microsoft.com/office/powerpoint/2010/main" val="1092100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F4F03-DCD3-A74C-E2CB-7FFB214A3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1490E-C42D-04A2-B773-33D88AAF1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7BA5C-8C98-ECA8-1C08-BC4538B4E8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next network is the same thing with RNN where you have the </a:t>
            </a:r>
            <a:r>
              <a:rPr lang="en-US" dirty="0" err="1"/>
              <a:t>xt</a:t>
            </a:r>
            <a:r>
              <a:rPr lang="en-US" dirty="0"/>
              <a:t> come along with the hidden state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this time, there is more inner mechanism into that hidden state to tackle this vanishing gradient descent problem. </a:t>
            </a:r>
          </a:p>
          <a:p>
            <a:endParaRPr lang="en-US" dirty="0"/>
          </a:p>
        </p:txBody>
      </p:sp>
      <p:sp>
        <p:nvSpPr>
          <p:cNvPr id="4" name="Slide Number Placeholder 3">
            <a:extLst>
              <a:ext uri="{FF2B5EF4-FFF2-40B4-BE49-F238E27FC236}">
                <a16:creationId xmlns:a16="http://schemas.microsoft.com/office/drawing/2014/main" id="{5505CF6E-27FA-AF74-0A62-70B0E5B02335}"/>
              </a:ext>
            </a:extLst>
          </p:cNvPr>
          <p:cNvSpPr>
            <a:spLocks noGrp="1"/>
          </p:cNvSpPr>
          <p:nvPr>
            <p:ph type="sldNum" sz="quarter" idx="5"/>
          </p:nvPr>
        </p:nvSpPr>
        <p:spPr/>
        <p:txBody>
          <a:bodyPr/>
          <a:lstStyle/>
          <a:p>
            <a:fld id="{69986EBC-7713-6E46-84A4-B57B150EF96D}" type="slidenum">
              <a:rPr lang="en-US" smtClean="0"/>
              <a:t>6</a:t>
            </a:fld>
            <a:endParaRPr lang="en-US"/>
          </a:p>
        </p:txBody>
      </p:sp>
    </p:spTree>
    <p:extLst>
      <p:ext uri="{BB962C8B-B14F-4D97-AF65-F5344CB8AC3E}">
        <p14:creationId xmlns:p14="http://schemas.microsoft.com/office/powerpoint/2010/main" val="1579293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Here I have listed some common active functions </a:t>
            </a:r>
          </a:p>
          <a:p>
            <a:endParaRPr lang="en-US" dirty="0"/>
          </a:p>
          <a:p>
            <a:r>
              <a:rPr lang="en-US" dirty="0"/>
              <a:t>Sigmoid function: it can map any real number to 0 and 1.  It is very useful </a:t>
            </a:r>
            <a:r>
              <a:rPr lang="en-US" dirty="0" err="1"/>
              <a:t>rspecially</a:t>
            </a:r>
            <a:r>
              <a:rPr lang="en-US" dirty="0"/>
              <a:t> when you want to deal with probability distributions because probabilities live between 0 and 1. </a:t>
            </a:r>
          </a:p>
          <a:p>
            <a:endParaRPr lang="en-US" dirty="0"/>
          </a:p>
          <a:p>
            <a:r>
              <a:rPr lang="en-US" dirty="0"/>
              <a:t>In modern deep learning the </a:t>
            </a:r>
            <a:r>
              <a:rPr lang="en-US" dirty="0" err="1"/>
              <a:t>relu</a:t>
            </a:r>
            <a:r>
              <a:rPr lang="en-US" dirty="0"/>
              <a:t> (rectified linear function) function is also very popular . It is piecewise linear and very efficiently to compute, especially for derivatives. </a:t>
            </a:r>
          </a:p>
          <a:p>
            <a:endParaRPr lang="en-US" dirty="0"/>
          </a:p>
          <a:p>
            <a:r>
              <a:rPr lang="en-US" dirty="0"/>
              <a:t>Through out the examples, you are also going to see some of the code snippets on the bottom of the slides where we will try and actually tie in some of what you are learning with the software labs and </a:t>
            </a:r>
            <a:r>
              <a:rPr lang="en-US" dirty="0" err="1"/>
              <a:t>homeworks</a:t>
            </a:r>
            <a:r>
              <a:rPr lang="en-US" dirty="0"/>
              <a:t>.</a:t>
            </a:r>
          </a:p>
          <a:p>
            <a:endParaRPr lang="en-US" dirty="0"/>
          </a:p>
          <a:p>
            <a:r>
              <a:rPr lang="en-US" dirty="0"/>
              <a:t>Change the picture such that it is it is linear function  change the title of </a:t>
            </a:r>
            <a:r>
              <a:rPr lang="en-US" dirty="0" err="1"/>
              <a:t>ReLU</a:t>
            </a:r>
            <a:r>
              <a:rPr lang="en-US" dirty="0"/>
              <a:t> function</a:t>
            </a:r>
          </a:p>
        </p:txBody>
      </p:sp>
      <p:sp>
        <p:nvSpPr>
          <p:cNvPr id="4" name="Slide Number Placeholder 3"/>
          <p:cNvSpPr>
            <a:spLocks noGrp="1"/>
          </p:cNvSpPr>
          <p:nvPr>
            <p:ph type="sldNum" sz="quarter" idx="5"/>
          </p:nvPr>
        </p:nvSpPr>
        <p:spPr/>
        <p:txBody>
          <a:bodyPr/>
          <a:lstStyle/>
          <a:p>
            <a:fld id="{69986EBC-7713-6E46-84A4-B57B150EF96D}" type="slidenum">
              <a:rPr lang="en-US" smtClean="0"/>
              <a:t>7</a:t>
            </a:fld>
            <a:endParaRPr lang="en-US"/>
          </a:p>
        </p:txBody>
      </p:sp>
    </p:spTree>
    <p:extLst>
      <p:ext uri="{BB962C8B-B14F-4D97-AF65-F5344CB8AC3E}">
        <p14:creationId xmlns:p14="http://schemas.microsoft.com/office/powerpoint/2010/main" val="1364471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CFFAF-B597-6FFA-EA8E-9471057F9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BFD8B-B85C-2B81-14AF-EA58A72C1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158B9-0672-C18D-9DBA-8E71CE4E69F9}"/>
              </a:ext>
            </a:extLst>
          </p:cNvPr>
          <p:cNvSpPr>
            <a:spLocks noGrp="1"/>
          </p:cNvSpPr>
          <p:nvPr>
            <p:ph type="body" idx="1"/>
          </p:nvPr>
        </p:nvSpPr>
        <p:spPr/>
        <p:txBody>
          <a:bodyPr/>
          <a:lstStyle/>
          <a:p>
            <a:r>
              <a:rPr lang="en-US" dirty="0"/>
              <a:t>There are a couple of gates that are in the middle of the LSTM. </a:t>
            </a:r>
          </a:p>
          <a:p>
            <a:endParaRPr lang="en-US" dirty="0"/>
          </a:p>
          <a:p>
            <a:r>
              <a:rPr lang="en-US" dirty="0"/>
              <a:t>There is the input gate, forget gate, output gate and gate gate, where LSTM can help to get more context around the layer </a:t>
            </a:r>
          </a:p>
          <a:p>
            <a:endParaRPr lang="en-US" dirty="0"/>
          </a:p>
        </p:txBody>
      </p:sp>
      <p:sp>
        <p:nvSpPr>
          <p:cNvPr id="4" name="Slide Number Placeholder 3">
            <a:extLst>
              <a:ext uri="{FF2B5EF4-FFF2-40B4-BE49-F238E27FC236}">
                <a16:creationId xmlns:a16="http://schemas.microsoft.com/office/drawing/2014/main" id="{DF067290-A528-8398-5DB2-F991673A2F01}"/>
              </a:ext>
            </a:extLst>
          </p:cNvPr>
          <p:cNvSpPr>
            <a:spLocks noGrp="1"/>
          </p:cNvSpPr>
          <p:nvPr>
            <p:ph type="sldNum" sz="quarter" idx="5"/>
          </p:nvPr>
        </p:nvSpPr>
        <p:spPr/>
        <p:txBody>
          <a:bodyPr/>
          <a:lstStyle/>
          <a:p>
            <a:fld id="{69986EBC-7713-6E46-84A4-B57B150EF96D}" type="slidenum">
              <a:rPr lang="en-US" smtClean="0"/>
              <a:t>8</a:t>
            </a:fld>
            <a:endParaRPr lang="en-US"/>
          </a:p>
        </p:txBody>
      </p:sp>
    </p:spTree>
    <p:extLst>
      <p:ext uri="{BB962C8B-B14F-4D97-AF65-F5344CB8AC3E}">
        <p14:creationId xmlns:p14="http://schemas.microsoft.com/office/powerpoint/2010/main" val="1619640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3B0B1-5BA3-1A17-CF1B-6F421BBF1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144B8-444B-CB9F-9E96-6A420BB5BC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4D99D-6638-1283-1D63-0B129D28CD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18C394-1D9B-28BB-DEC0-87420D761A2C}"/>
              </a:ext>
            </a:extLst>
          </p:cNvPr>
          <p:cNvSpPr>
            <a:spLocks noGrp="1"/>
          </p:cNvSpPr>
          <p:nvPr>
            <p:ph type="sldNum" sz="quarter" idx="5"/>
          </p:nvPr>
        </p:nvSpPr>
        <p:spPr/>
        <p:txBody>
          <a:bodyPr/>
          <a:lstStyle/>
          <a:p>
            <a:fld id="{69986EBC-7713-6E46-84A4-B57B150EF96D}" type="slidenum">
              <a:rPr lang="en-US" smtClean="0"/>
              <a:t>9</a:t>
            </a:fld>
            <a:endParaRPr lang="en-US"/>
          </a:p>
        </p:txBody>
      </p:sp>
    </p:spTree>
    <p:extLst>
      <p:ext uri="{BB962C8B-B14F-4D97-AF65-F5344CB8AC3E}">
        <p14:creationId xmlns:p14="http://schemas.microsoft.com/office/powerpoint/2010/main" val="1439833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3CE2C-C537-6C3B-4A1D-E3ADB6CB1E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1F21B-9070-4CB3-6EA2-7B6219D358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EF544-BC96-BD75-1426-CB89AF55DA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B98FAC-70D9-8C69-073F-50EECCE716AE}"/>
              </a:ext>
            </a:extLst>
          </p:cNvPr>
          <p:cNvSpPr>
            <a:spLocks noGrp="1"/>
          </p:cNvSpPr>
          <p:nvPr>
            <p:ph type="sldNum" sz="quarter" idx="5"/>
          </p:nvPr>
        </p:nvSpPr>
        <p:spPr/>
        <p:txBody>
          <a:bodyPr/>
          <a:lstStyle/>
          <a:p>
            <a:fld id="{69986EBC-7713-6E46-84A4-B57B150EF96D}" type="slidenum">
              <a:rPr lang="en-US" smtClean="0"/>
              <a:t>10</a:t>
            </a:fld>
            <a:endParaRPr lang="en-US"/>
          </a:p>
        </p:txBody>
      </p:sp>
    </p:spTree>
    <p:extLst>
      <p:ext uri="{BB962C8B-B14F-4D97-AF65-F5344CB8AC3E}">
        <p14:creationId xmlns:p14="http://schemas.microsoft.com/office/powerpoint/2010/main" val="4068901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EEC99-CD8A-1066-6546-9AC26C1B3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534CF-CEFE-4E98-AFEB-338545686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C900B-BE8B-FEFF-112B-907679357B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7221F3-54A2-B027-216A-55E7FC441BC3}"/>
              </a:ext>
            </a:extLst>
          </p:cNvPr>
          <p:cNvSpPr>
            <a:spLocks noGrp="1"/>
          </p:cNvSpPr>
          <p:nvPr>
            <p:ph type="sldNum" sz="quarter" idx="5"/>
          </p:nvPr>
        </p:nvSpPr>
        <p:spPr/>
        <p:txBody>
          <a:bodyPr/>
          <a:lstStyle/>
          <a:p>
            <a:fld id="{69986EBC-7713-6E46-84A4-B57B150EF96D}" type="slidenum">
              <a:rPr lang="en-US" smtClean="0"/>
              <a:t>11</a:t>
            </a:fld>
            <a:endParaRPr lang="en-US"/>
          </a:p>
        </p:txBody>
      </p:sp>
    </p:spTree>
    <p:extLst>
      <p:ext uri="{BB962C8B-B14F-4D97-AF65-F5344CB8AC3E}">
        <p14:creationId xmlns:p14="http://schemas.microsoft.com/office/powerpoint/2010/main" val="1942377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4797B-4A79-2662-9FE4-B5F1C9BB3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5189B-3372-AC02-CE77-30FF7BA49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934E65-239C-DFA8-4B6E-B09A110ED9E5}"/>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anose="020B06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B6BBFA6E-0AAF-A20F-5F71-B629C99FEBB4}"/>
              </a:ext>
            </a:extLst>
          </p:cNvPr>
          <p:cNvSpPr>
            <a:spLocks noGrp="1"/>
          </p:cNvSpPr>
          <p:nvPr>
            <p:ph type="sldNum" sz="quarter" idx="5"/>
          </p:nvPr>
        </p:nvSpPr>
        <p:spPr/>
        <p:txBody>
          <a:bodyPr/>
          <a:lstStyle/>
          <a:p>
            <a:fld id="{69986EBC-7713-6E46-84A4-B57B150EF96D}" type="slidenum">
              <a:rPr lang="en-US" smtClean="0"/>
              <a:t>12</a:t>
            </a:fld>
            <a:endParaRPr lang="en-US"/>
          </a:p>
        </p:txBody>
      </p:sp>
    </p:spTree>
    <p:extLst>
      <p:ext uri="{BB962C8B-B14F-4D97-AF65-F5344CB8AC3E}">
        <p14:creationId xmlns:p14="http://schemas.microsoft.com/office/powerpoint/2010/main" val="3567448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218D0-2CC7-E63A-08B5-0C7FCA7057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58B69-BEC0-47CC-FBD1-64DDF60A1B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77F196-80FA-DF69-1DD6-3D98581E5902}"/>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t>Attention is all you Need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p>
        </p:txBody>
      </p:sp>
      <p:sp>
        <p:nvSpPr>
          <p:cNvPr id="4" name="Slide Number Placeholder 3">
            <a:extLst>
              <a:ext uri="{FF2B5EF4-FFF2-40B4-BE49-F238E27FC236}">
                <a16:creationId xmlns:a16="http://schemas.microsoft.com/office/drawing/2014/main" id="{461E3F1E-1F7F-01A3-4D86-C20E6882A7E3}"/>
              </a:ext>
            </a:extLst>
          </p:cNvPr>
          <p:cNvSpPr>
            <a:spLocks noGrp="1"/>
          </p:cNvSpPr>
          <p:nvPr>
            <p:ph type="sldNum" sz="quarter" idx="5"/>
          </p:nvPr>
        </p:nvSpPr>
        <p:spPr/>
        <p:txBody>
          <a:bodyPr/>
          <a:lstStyle/>
          <a:p>
            <a:fld id="{69986EBC-7713-6E46-84A4-B57B150EF96D}" type="slidenum">
              <a:rPr lang="en-US" smtClean="0"/>
              <a:t>13</a:t>
            </a:fld>
            <a:endParaRPr lang="en-US"/>
          </a:p>
        </p:txBody>
      </p:sp>
    </p:spTree>
    <p:extLst>
      <p:ext uri="{BB962C8B-B14F-4D97-AF65-F5344CB8AC3E}">
        <p14:creationId xmlns:p14="http://schemas.microsoft.com/office/powerpoint/2010/main" val="1840012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0FE6-5AA8-92AF-4F2C-3069F2D76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C521F-29D2-91D1-9B40-4D160DCBE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77F42-585E-2F57-81A0-970411B6AC3A}"/>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latin typeface="Arial" panose="020B0604020202020204" pitchFamily="34" charset="0"/>
                <a:cs typeface="Arial" panose="020B0604020202020204" pitchFamily="34" charset="0"/>
              </a:rPr>
              <a:t>The core </a:t>
            </a:r>
            <a:r>
              <a:rPr lang="en-US" dirty="0" err="1">
                <a:latin typeface="Arial" panose="020B0604020202020204" pitchFamily="34" charset="0"/>
                <a:cs typeface="Arial" panose="020B0604020202020204" pitchFamily="34" charset="0"/>
              </a:rPr>
              <a:t>diea</a:t>
            </a:r>
            <a:r>
              <a:rPr lang="en-US" dirty="0">
                <a:latin typeface="Arial" panose="020B0604020202020204" pitchFamily="34" charset="0"/>
                <a:cs typeface="Arial" panose="020B0604020202020204" pitchFamily="34" charset="0"/>
              </a:rPr>
              <a:t> is that we do not need to keep tracker of the key state, like we do in LSTM and RNN,</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latin typeface="Arial" panose="020B0604020202020204" pitchFamily="34" charset="0"/>
                <a:cs typeface="Arial" panose="020B0604020202020204" pitchFamily="34" charset="0"/>
              </a:rPr>
              <a:t>For each step, we should just look over the entire sequence and then kind of get context from there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latin typeface="Arial" panose="020B0604020202020204" pitchFamily="34" charset="0"/>
                <a:cs typeface="Arial" panose="020B0604020202020204" pitchFamily="34" charset="0"/>
              </a:rPr>
              <a:t>Now we are seeing that </a:t>
            </a:r>
            <a:r>
              <a:rPr lang="en-US" dirty="0" err="1">
                <a:latin typeface="Arial" panose="020B0604020202020204" pitchFamily="34" charset="0"/>
                <a:cs typeface="Arial" panose="020B0604020202020204" pitchFamily="34" charset="0"/>
              </a:rPr>
              <a:t>transforemer</a:t>
            </a:r>
            <a:r>
              <a:rPr lang="en-US" dirty="0">
                <a:latin typeface="Arial" panose="020B0604020202020204" pitchFamily="34" charset="0"/>
                <a:cs typeface="Arial" panose="020B0604020202020204" pitchFamily="34" charset="0"/>
              </a:rPr>
              <a:t> is spidering out all kinds of applications. </a:t>
            </a:r>
          </a:p>
        </p:txBody>
      </p:sp>
      <p:sp>
        <p:nvSpPr>
          <p:cNvPr id="4" name="Slide Number Placeholder 3">
            <a:extLst>
              <a:ext uri="{FF2B5EF4-FFF2-40B4-BE49-F238E27FC236}">
                <a16:creationId xmlns:a16="http://schemas.microsoft.com/office/drawing/2014/main" id="{4356BDBD-9BB5-3F13-B0A5-147915960897}"/>
              </a:ext>
            </a:extLst>
          </p:cNvPr>
          <p:cNvSpPr>
            <a:spLocks noGrp="1"/>
          </p:cNvSpPr>
          <p:nvPr>
            <p:ph type="sldNum" sz="quarter" idx="5"/>
          </p:nvPr>
        </p:nvSpPr>
        <p:spPr/>
        <p:txBody>
          <a:bodyPr/>
          <a:lstStyle/>
          <a:p>
            <a:fld id="{69986EBC-7713-6E46-84A4-B57B150EF96D}" type="slidenum">
              <a:rPr lang="en-US" smtClean="0"/>
              <a:t>14</a:t>
            </a:fld>
            <a:endParaRPr lang="en-US"/>
          </a:p>
        </p:txBody>
      </p:sp>
    </p:spTree>
    <p:extLst>
      <p:ext uri="{BB962C8B-B14F-4D97-AF65-F5344CB8AC3E}">
        <p14:creationId xmlns:p14="http://schemas.microsoft.com/office/powerpoint/2010/main" val="549895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2F8D5-F02A-C403-E233-BB088186C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9A746-0172-301E-14F7-ECA44CF48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9BAF1-8060-95B2-B7A1-4C7F59EC02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03826B-D941-7638-D96C-9FCD1B0526FD}"/>
              </a:ext>
            </a:extLst>
          </p:cNvPr>
          <p:cNvSpPr>
            <a:spLocks noGrp="1"/>
          </p:cNvSpPr>
          <p:nvPr>
            <p:ph type="sldNum" sz="quarter" idx="5"/>
          </p:nvPr>
        </p:nvSpPr>
        <p:spPr/>
        <p:txBody>
          <a:bodyPr/>
          <a:lstStyle/>
          <a:p>
            <a:fld id="{69986EBC-7713-6E46-84A4-B57B150EF96D}" type="slidenum">
              <a:rPr lang="en-US" smtClean="0"/>
              <a:t>16</a:t>
            </a:fld>
            <a:endParaRPr lang="en-US"/>
          </a:p>
        </p:txBody>
      </p:sp>
    </p:spTree>
    <p:extLst>
      <p:ext uri="{BB962C8B-B14F-4D97-AF65-F5344CB8AC3E}">
        <p14:creationId xmlns:p14="http://schemas.microsoft.com/office/powerpoint/2010/main" val="225898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NimbusRomNo9L"/>
              </a:rPr>
              <a:t>The word </a:t>
            </a:r>
            <a:r>
              <a:rPr lang="en-US" sz="1800" b="0" dirty="0">
                <a:effectLst/>
                <a:latin typeface="NimbusRomNo9L"/>
              </a:rPr>
              <a:t>head </a:t>
            </a:r>
            <a:r>
              <a:rPr lang="en-US" sz="1800" dirty="0">
                <a:effectLst/>
                <a:latin typeface="NimbusRomNo9L"/>
              </a:rPr>
              <a:t>is used in </a:t>
            </a:r>
            <a:r>
              <a:rPr lang="en-US" sz="1200" dirty="0">
                <a:effectLst/>
                <a:latin typeface="Times New Roman" charset="0"/>
              </a:rPr>
              <a:t> </a:t>
            </a:r>
            <a:r>
              <a:rPr lang="en-US" sz="1800" dirty="0">
                <a:effectLst/>
                <a:latin typeface="NimbusRomNo9L"/>
              </a:rPr>
              <a:t>transformers to refer to specific structured layers </a:t>
            </a:r>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17</a:t>
            </a:fld>
            <a:endParaRPr lang="en-US"/>
          </a:p>
        </p:txBody>
      </p:sp>
    </p:spTree>
    <p:extLst>
      <p:ext uri="{BB962C8B-B14F-4D97-AF65-F5344CB8AC3E}">
        <p14:creationId xmlns:p14="http://schemas.microsoft.com/office/powerpoint/2010/main" val="190582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3687B-3619-3E84-F384-262CB5CB7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492D7-D5DF-51F2-2BEF-9937040A1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EA1EC-1953-D5C3-0B0A-F8EC2B4CC5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601036-7699-114A-A3AF-0AC6F2A0D165}"/>
              </a:ext>
            </a:extLst>
          </p:cNvPr>
          <p:cNvSpPr>
            <a:spLocks noGrp="1"/>
          </p:cNvSpPr>
          <p:nvPr>
            <p:ph type="sldNum" sz="quarter" idx="5"/>
          </p:nvPr>
        </p:nvSpPr>
        <p:spPr/>
        <p:txBody>
          <a:bodyPr/>
          <a:lstStyle/>
          <a:p>
            <a:fld id="{69986EBC-7713-6E46-84A4-B57B150EF96D}" type="slidenum">
              <a:rPr lang="en-US" smtClean="0"/>
              <a:t>18</a:t>
            </a:fld>
            <a:endParaRPr lang="en-US"/>
          </a:p>
        </p:txBody>
      </p:sp>
    </p:spTree>
    <p:extLst>
      <p:ext uri="{BB962C8B-B14F-4D97-AF65-F5344CB8AC3E}">
        <p14:creationId xmlns:p14="http://schemas.microsoft.com/office/powerpoint/2010/main" val="52504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44F98-61A8-824F-F91B-0DC0A90AB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DF021-2A38-3210-6CF7-1064B74AA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CABAC-01BB-92AB-9E7D-27EA5B1C82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D6E5A8-39E9-8252-39F9-A1D7F57F7559}"/>
              </a:ext>
            </a:extLst>
          </p:cNvPr>
          <p:cNvSpPr>
            <a:spLocks noGrp="1"/>
          </p:cNvSpPr>
          <p:nvPr>
            <p:ph type="sldNum" sz="quarter" idx="5"/>
          </p:nvPr>
        </p:nvSpPr>
        <p:spPr/>
        <p:txBody>
          <a:bodyPr/>
          <a:lstStyle/>
          <a:p>
            <a:fld id="{69986EBC-7713-6E46-84A4-B57B150EF96D}" type="slidenum">
              <a:rPr lang="en-US" smtClean="0"/>
              <a:t>19</a:t>
            </a:fld>
            <a:endParaRPr lang="en-US"/>
          </a:p>
        </p:txBody>
      </p:sp>
    </p:spTree>
    <p:extLst>
      <p:ext uri="{BB962C8B-B14F-4D97-AF65-F5344CB8AC3E}">
        <p14:creationId xmlns:p14="http://schemas.microsoft.com/office/powerpoint/2010/main" val="2525316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348BB-87BB-A23C-E506-50BB70B7E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0A663-D275-E2C6-C1BC-F96B443C6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E193C-074E-22FD-AF09-280C942F48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975FD9-AAD3-D60F-DBE1-6F7A60FB31EE}"/>
              </a:ext>
            </a:extLst>
          </p:cNvPr>
          <p:cNvSpPr>
            <a:spLocks noGrp="1"/>
          </p:cNvSpPr>
          <p:nvPr>
            <p:ph type="sldNum" sz="quarter" idx="5"/>
          </p:nvPr>
        </p:nvSpPr>
        <p:spPr/>
        <p:txBody>
          <a:bodyPr/>
          <a:lstStyle/>
          <a:p>
            <a:fld id="{69986EBC-7713-6E46-84A4-B57B150EF96D}" type="slidenum">
              <a:rPr lang="en-US" smtClean="0"/>
              <a:t>20</a:t>
            </a:fld>
            <a:endParaRPr lang="en-US"/>
          </a:p>
        </p:txBody>
      </p:sp>
    </p:spTree>
    <p:extLst>
      <p:ext uri="{BB962C8B-B14F-4D97-AF65-F5344CB8AC3E}">
        <p14:creationId xmlns:p14="http://schemas.microsoft.com/office/powerpoint/2010/main" val="110361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B9308-B0EB-261B-D5F5-4B33929CE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3B046-506B-EE00-ECA8-01C01F91A2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778B7-55E1-7343-6A85-113FBE4219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FF60CA-8686-E9A2-74A7-B3AD67DD6BEF}"/>
              </a:ext>
            </a:extLst>
          </p:cNvPr>
          <p:cNvSpPr>
            <a:spLocks noGrp="1"/>
          </p:cNvSpPr>
          <p:nvPr>
            <p:ph type="sldNum" sz="quarter" idx="5"/>
          </p:nvPr>
        </p:nvSpPr>
        <p:spPr/>
        <p:txBody>
          <a:bodyPr/>
          <a:lstStyle/>
          <a:p>
            <a:fld id="{69986EBC-7713-6E46-84A4-B57B150EF96D}" type="slidenum">
              <a:rPr lang="en-US" smtClean="0"/>
              <a:t>21</a:t>
            </a:fld>
            <a:endParaRPr lang="en-US"/>
          </a:p>
        </p:txBody>
      </p:sp>
    </p:spTree>
    <p:extLst>
      <p:ext uri="{BB962C8B-B14F-4D97-AF65-F5344CB8AC3E}">
        <p14:creationId xmlns:p14="http://schemas.microsoft.com/office/powerpoint/2010/main" val="9233766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BFA7C-BD6E-4330-A9F7-BA8E0D7155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EC71C-EBF1-D1DF-95E6-78D670CBC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5C081-F16C-CAE3-18B4-4D7E97C5B2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E0875B-9687-E6BA-DA60-F89BC9FF7502}"/>
              </a:ext>
            </a:extLst>
          </p:cNvPr>
          <p:cNvSpPr>
            <a:spLocks noGrp="1"/>
          </p:cNvSpPr>
          <p:nvPr>
            <p:ph type="sldNum" sz="quarter" idx="5"/>
          </p:nvPr>
        </p:nvSpPr>
        <p:spPr/>
        <p:txBody>
          <a:bodyPr/>
          <a:lstStyle/>
          <a:p>
            <a:fld id="{69986EBC-7713-6E46-84A4-B57B150EF96D}" type="slidenum">
              <a:rPr lang="en-US" smtClean="0"/>
              <a:t>22</a:t>
            </a:fld>
            <a:endParaRPr lang="en-US"/>
          </a:p>
        </p:txBody>
      </p:sp>
    </p:spTree>
    <p:extLst>
      <p:ext uri="{BB962C8B-B14F-4D97-AF65-F5344CB8AC3E}">
        <p14:creationId xmlns:p14="http://schemas.microsoft.com/office/powerpoint/2010/main" val="1387204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2ADE9-CF3F-B65C-F6C5-F878006A7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DCB6B-2E52-9ED4-8911-D42686A91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71AAE-63CE-DA41-B697-E4A41D1BD7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A5AA09-AA29-5741-37F1-47E2E6B58005}"/>
              </a:ext>
            </a:extLst>
          </p:cNvPr>
          <p:cNvSpPr>
            <a:spLocks noGrp="1"/>
          </p:cNvSpPr>
          <p:nvPr>
            <p:ph type="sldNum" sz="quarter" idx="5"/>
          </p:nvPr>
        </p:nvSpPr>
        <p:spPr/>
        <p:txBody>
          <a:bodyPr/>
          <a:lstStyle/>
          <a:p>
            <a:fld id="{69986EBC-7713-6E46-84A4-B57B150EF96D}" type="slidenum">
              <a:rPr lang="en-US" smtClean="0"/>
              <a:t>23</a:t>
            </a:fld>
            <a:endParaRPr lang="en-US"/>
          </a:p>
        </p:txBody>
      </p:sp>
    </p:spTree>
    <p:extLst>
      <p:ext uri="{BB962C8B-B14F-4D97-AF65-F5344CB8AC3E}">
        <p14:creationId xmlns:p14="http://schemas.microsoft.com/office/powerpoint/2010/main" val="28577267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67523-FCA2-6FE9-5408-79502EB9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99686-6231-856D-18C0-C5F8DFD92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4424A-3792-5B53-BCE8-9AE949C8C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C2E745-DC06-6ECE-2C5F-8A1271F0FBFD}"/>
              </a:ext>
            </a:extLst>
          </p:cNvPr>
          <p:cNvSpPr>
            <a:spLocks noGrp="1"/>
          </p:cNvSpPr>
          <p:nvPr>
            <p:ph type="sldNum" sz="quarter" idx="5"/>
          </p:nvPr>
        </p:nvSpPr>
        <p:spPr/>
        <p:txBody>
          <a:bodyPr/>
          <a:lstStyle/>
          <a:p>
            <a:fld id="{69986EBC-7713-6E46-84A4-B57B150EF96D}" type="slidenum">
              <a:rPr lang="en-US" smtClean="0"/>
              <a:t>24</a:t>
            </a:fld>
            <a:endParaRPr lang="en-US"/>
          </a:p>
        </p:txBody>
      </p:sp>
    </p:spTree>
    <p:extLst>
      <p:ext uri="{BB962C8B-B14F-4D97-AF65-F5344CB8AC3E}">
        <p14:creationId xmlns:p14="http://schemas.microsoft.com/office/powerpoint/2010/main" val="642006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NimbusRomNo9L"/>
              </a:rPr>
              <a:t>Up to 128 in Lllama3 405B</a:t>
            </a:r>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25</a:t>
            </a:fld>
            <a:endParaRPr lang="en-US"/>
          </a:p>
        </p:txBody>
      </p:sp>
    </p:spTree>
    <p:extLst>
      <p:ext uri="{BB962C8B-B14F-4D97-AF65-F5344CB8AC3E}">
        <p14:creationId xmlns:p14="http://schemas.microsoft.com/office/powerpoint/2010/main" val="2155361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7D0E8-4720-92F9-BF16-2DDEA1269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35BCC-6B02-EC07-32D7-EFB7D5EB3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30BFB-2683-6681-94B0-A2B56BDDE1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DF8E33-D520-9197-5E95-47D040A44D57}"/>
              </a:ext>
            </a:extLst>
          </p:cNvPr>
          <p:cNvSpPr>
            <a:spLocks noGrp="1"/>
          </p:cNvSpPr>
          <p:nvPr>
            <p:ph type="sldNum" sz="quarter" idx="5"/>
          </p:nvPr>
        </p:nvSpPr>
        <p:spPr/>
        <p:txBody>
          <a:bodyPr/>
          <a:lstStyle/>
          <a:p>
            <a:fld id="{69986EBC-7713-6E46-84A4-B57B150EF96D}" type="slidenum">
              <a:rPr lang="en-US" smtClean="0"/>
              <a:t>27</a:t>
            </a:fld>
            <a:endParaRPr lang="en-US"/>
          </a:p>
        </p:txBody>
      </p:sp>
    </p:spTree>
    <p:extLst>
      <p:ext uri="{BB962C8B-B14F-4D97-AF65-F5344CB8AC3E}">
        <p14:creationId xmlns:p14="http://schemas.microsoft.com/office/powerpoint/2010/main" val="28136400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BA0DE-0241-2777-3333-31B2A16DB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402EF-2599-240C-4CDF-770A9A672D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D7619-9AC5-7025-40CB-5F4E8D63FC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39DDFA-9518-3179-617A-E5660589F86B}"/>
              </a:ext>
            </a:extLst>
          </p:cNvPr>
          <p:cNvSpPr>
            <a:spLocks noGrp="1"/>
          </p:cNvSpPr>
          <p:nvPr>
            <p:ph type="sldNum" sz="quarter" idx="5"/>
          </p:nvPr>
        </p:nvSpPr>
        <p:spPr/>
        <p:txBody>
          <a:bodyPr/>
          <a:lstStyle/>
          <a:p>
            <a:fld id="{69986EBC-7713-6E46-84A4-B57B150EF96D}" type="slidenum">
              <a:rPr lang="en-US" smtClean="0"/>
              <a:t>28</a:t>
            </a:fld>
            <a:endParaRPr lang="en-US"/>
          </a:p>
        </p:txBody>
      </p:sp>
    </p:spTree>
    <p:extLst>
      <p:ext uri="{BB962C8B-B14F-4D97-AF65-F5344CB8AC3E}">
        <p14:creationId xmlns:p14="http://schemas.microsoft.com/office/powerpoint/2010/main" val="892541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29</a:t>
            </a:fld>
            <a:endParaRPr lang="en-US"/>
          </a:p>
        </p:txBody>
      </p:sp>
    </p:spTree>
    <p:extLst>
      <p:ext uri="{BB962C8B-B14F-4D97-AF65-F5344CB8AC3E}">
        <p14:creationId xmlns:p14="http://schemas.microsoft.com/office/powerpoint/2010/main" val="604309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A21B-2D46-78D9-136B-5B9165B381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44453A-120E-6C59-7539-64173B9E1C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A46158-2C56-594F-FADC-36CCE99AACC0}"/>
              </a:ext>
            </a:extLst>
          </p:cNvPr>
          <p:cNvSpPr>
            <a:spLocks noGrp="1"/>
          </p:cNvSpPr>
          <p:nvPr>
            <p:ph type="dt" sz="half" idx="10"/>
          </p:nvPr>
        </p:nvSpPr>
        <p:spPr/>
        <p:txBody>
          <a:bodyPr/>
          <a:lstStyle/>
          <a:p>
            <a:fld id="{3FC9C45B-1BB9-0943-9823-AD542BC30B25}" type="datetime1">
              <a:rPr lang="en-US" smtClean="0"/>
              <a:t>4/3/25</a:t>
            </a:fld>
            <a:endParaRPr lang="en-US"/>
          </a:p>
        </p:txBody>
      </p:sp>
      <p:sp>
        <p:nvSpPr>
          <p:cNvPr id="5" name="Footer Placeholder 4">
            <a:extLst>
              <a:ext uri="{FF2B5EF4-FFF2-40B4-BE49-F238E27FC236}">
                <a16:creationId xmlns:a16="http://schemas.microsoft.com/office/drawing/2014/main" id="{F2379EF0-E5F2-554D-A219-C9AED3525D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06D625-2AE5-84E8-99F8-626D110CFE4A}"/>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1240242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DD178-FA57-DA64-F07B-CA5B714751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47DCBA-2F46-B040-B491-95AF06B87C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F75051-A099-A3F9-D05D-4939C29AA280}"/>
              </a:ext>
            </a:extLst>
          </p:cNvPr>
          <p:cNvSpPr>
            <a:spLocks noGrp="1"/>
          </p:cNvSpPr>
          <p:nvPr>
            <p:ph type="dt" sz="half" idx="10"/>
          </p:nvPr>
        </p:nvSpPr>
        <p:spPr/>
        <p:txBody>
          <a:bodyPr/>
          <a:lstStyle/>
          <a:p>
            <a:fld id="{4E6A0FFE-A325-5D45-8375-3CFF78786F32}" type="datetime1">
              <a:rPr lang="en-US" smtClean="0"/>
              <a:t>4/3/25</a:t>
            </a:fld>
            <a:endParaRPr lang="en-US"/>
          </a:p>
        </p:txBody>
      </p:sp>
      <p:sp>
        <p:nvSpPr>
          <p:cNvPr id="5" name="Footer Placeholder 4">
            <a:extLst>
              <a:ext uri="{FF2B5EF4-FFF2-40B4-BE49-F238E27FC236}">
                <a16:creationId xmlns:a16="http://schemas.microsoft.com/office/drawing/2014/main" id="{36130682-1817-DF10-55B4-C1FC0F16C6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60CD24-623E-F898-57D1-FB1BE59DEB3B}"/>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1035647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C3B39-B86D-32A3-4272-FC2A33897A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8A6AC0-9413-085E-19A8-67A8D2C3EB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903B7E-2465-9120-D8AB-71B0E2B337C2}"/>
              </a:ext>
            </a:extLst>
          </p:cNvPr>
          <p:cNvSpPr>
            <a:spLocks noGrp="1"/>
          </p:cNvSpPr>
          <p:nvPr>
            <p:ph type="dt" sz="half" idx="10"/>
          </p:nvPr>
        </p:nvSpPr>
        <p:spPr/>
        <p:txBody>
          <a:bodyPr/>
          <a:lstStyle/>
          <a:p>
            <a:fld id="{0FFAE7C0-8E9F-1E49-95FE-6B6CCDA2C761}" type="datetime1">
              <a:rPr lang="en-US" smtClean="0"/>
              <a:t>4/3/25</a:t>
            </a:fld>
            <a:endParaRPr lang="en-US"/>
          </a:p>
        </p:txBody>
      </p:sp>
      <p:sp>
        <p:nvSpPr>
          <p:cNvPr id="5" name="Footer Placeholder 4">
            <a:extLst>
              <a:ext uri="{FF2B5EF4-FFF2-40B4-BE49-F238E27FC236}">
                <a16:creationId xmlns:a16="http://schemas.microsoft.com/office/drawing/2014/main" id="{D57B14EE-4E42-8A49-F74D-7CB77D9C77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875CF-1A13-580C-B1E9-93EA31693787}"/>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4184548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48D2D-EDB7-DA68-6D76-4ECD1F5795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91F064-A9B7-9B9D-1CE6-662B2FCB4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3AE1FB-42FE-1F5D-FD73-68B497C825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19B129-46B1-FDAE-F8E3-EECEFC0C444E}"/>
              </a:ext>
            </a:extLst>
          </p:cNvPr>
          <p:cNvSpPr>
            <a:spLocks noGrp="1"/>
          </p:cNvSpPr>
          <p:nvPr>
            <p:ph type="dt" sz="half" idx="10"/>
          </p:nvPr>
        </p:nvSpPr>
        <p:spPr/>
        <p:txBody>
          <a:bodyPr/>
          <a:lstStyle/>
          <a:p>
            <a:fld id="{4F6493CC-F684-524E-9167-37139A3E6226}" type="datetime1">
              <a:rPr lang="en-US" smtClean="0"/>
              <a:t>4/3/25</a:t>
            </a:fld>
            <a:endParaRPr lang="en-US"/>
          </a:p>
        </p:txBody>
      </p:sp>
      <p:sp>
        <p:nvSpPr>
          <p:cNvPr id="6" name="Footer Placeholder 5">
            <a:extLst>
              <a:ext uri="{FF2B5EF4-FFF2-40B4-BE49-F238E27FC236}">
                <a16:creationId xmlns:a16="http://schemas.microsoft.com/office/drawing/2014/main" id="{73319DEE-4D35-03F7-F88B-28D60FA707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86351-0989-A567-9C85-3F897F8066E0}"/>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1618120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A16A3-973B-A3EE-24EF-B3DE555D36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A8342F-4B43-CE46-E667-31F75D558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842D3B-C508-5446-B9C5-D4DA30E901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94A9E7-00A2-8C95-A8E9-BFA068A233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F3C0C9-ADB7-0B30-866E-4736C9E153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5089C8-45BF-29CB-8E17-BF91E81A5367}"/>
              </a:ext>
            </a:extLst>
          </p:cNvPr>
          <p:cNvSpPr>
            <a:spLocks noGrp="1"/>
          </p:cNvSpPr>
          <p:nvPr>
            <p:ph type="dt" sz="half" idx="10"/>
          </p:nvPr>
        </p:nvSpPr>
        <p:spPr/>
        <p:txBody>
          <a:bodyPr/>
          <a:lstStyle/>
          <a:p>
            <a:fld id="{8E667EA1-4AFA-6640-BB57-CC4591A30E71}" type="datetime1">
              <a:rPr lang="en-US" smtClean="0"/>
              <a:t>4/3/25</a:t>
            </a:fld>
            <a:endParaRPr lang="en-US"/>
          </a:p>
        </p:txBody>
      </p:sp>
      <p:sp>
        <p:nvSpPr>
          <p:cNvPr id="8" name="Footer Placeholder 7">
            <a:extLst>
              <a:ext uri="{FF2B5EF4-FFF2-40B4-BE49-F238E27FC236}">
                <a16:creationId xmlns:a16="http://schemas.microsoft.com/office/drawing/2014/main" id="{2732A531-1774-75AB-6944-06879B464D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92A8C9-9082-C22D-69A5-6BA16371AE53}"/>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325532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5999-C066-9A42-605E-CC7179FC91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568E2D-E358-0778-198F-7A7532CA3207}"/>
              </a:ext>
            </a:extLst>
          </p:cNvPr>
          <p:cNvSpPr>
            <a:spLocks noGrp="1"/>
          </p:cNvSpPr>
          <p:nvPr>
            <p:ph type="dt" sz="half" idx="10"/>
          </p:nvPr>
        </p:nvSpPr>
        <p:spPr/>
        <p:txBody>
          <a:bodyPr/>
          <a:lstStyle/>
          <a:p>
            <a:fld id="{388001F4-99B0-7E46-BDDE-8BA512BD333E}" type="datetime1">
              <a:rPr lang="en-US" smtClean="0"/>
              <a:t>4/3/25</a:t>
            </a:fld>
            <a:endParaRPr lang="en-US"/>
          </a:p>
        </p:txBody>
      </p:sp>
      <p:sp>
        <p:nvSpPr>
          <p:cNvPr id="4" name="Footer Placeholder 3">
            <a:extLst>
              <a:ext uri="{FF2B5EF4-FFF2-40B4-BE49-F238E27FC236}">
                <a16:creationId xmlns:a16="http://schemas.microsoft.com/office/drawing/2014/main" id="{E88CA04F-256B-3B5C-28A1-B397D139B8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940B76-8B5C-EDB2-2F84-031946FA87DD}"/>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2582173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D6575A-3650-6F51-03CB-CF60A6D67944}"/>
              </a:ext>
            </a:extLst>
          </p:cNvPr>
          <p:cNvSpPr>
            <a:spLocks noGrp="1"/>
          </p:cNvSpPr>
          <p:nvPr>
            <p:ph type="dt" sz="half" idx="10"/>
          </p:nvPr>
        </p:nvSpPr>
        <p:spPr/>
        <p:txBody>
          <a:bodyPr/>
          <a:lstStyle/>
          <a:p>
            <a:fld id="{D7DBDB4D-C8DB-2540-8C12-73F97B6A0988}" type="datetime1">
              <a:rPr lang="en-US" smtClean="0"/>
              <a:t>4/3/25</a:t>
            </a:fld>
            <a:endParaRPr lang="en-US"/>
          </a:p>
        </p:txBody>
      </p:sp>
      <p:sp>
        <p:nvSpPr>
          <p:cNvPr id="3" name="Footer Placeholder 2">
            <a:extLst>
              <a:ext uri="{FF2B5EF4-FFF2-40B4-BE49-F238E27FC236}">
                <a16:creationId xmlns:a16="http://schemas.microsoft.com/office/drawing/2014/main" id="{FC0A4367-9E5D-4563-C589-8A4782D6D1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C503AC-D3E2-5CB4-641D-CF26C81CA72B}"/>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1342632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26DD-34B1-D5B2-6570-F048C6AB4D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CDEEFF-4730-C3C1-DC30-5FCCF5B400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00C45D-832F-CCAA-0083-16F2742D6D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5106B9-6E04-7D73-7D63-E2C8F1E7BDB4}"/>
              </a:ext>
            </a:extLst>
          </p:cNvPr>
          <p:cNvSpPr>
            <a:spLocks noGrp="1"/>
          </p:cNvSpPr>
          <p:nvPr>
            <p:ph type="dt" sz="half" idx="10"/>
          </p:nvPr>
        </p:nvSpPr>
        <p:spPr/>
        <p:txBody>
          <a:bodyPr/>
          <a:lstStyle/>
          <a:p>
            <a:fld id="{9582AF77-ED6A-6443-93CE-19138089D463}" type="datetime1">
              <a:rPr lang="en-US" smtClean="0"/>
              <a:t>4/3/25</a:t>
            </a:fld>
            <a:endParaRPr lang="en-US"/>
          </a:p>
        </p:txBody>
      </p:sp>
      <p:sp>
        <p:nvSpPr>
          <p:cNvPr id="6" name="Footer Placeholder 5">
            <a:extLst>
              <a:ext uri="{FF2B5EF4-FFF2-40B4-BE49-F238E27FC236}">
                <a16:creationId xmlns:a16="http://schemas.microsoft.com/office/drawing/2014/main" id="{2E74EAE8-62FB-FA0A-DB7E-5A672AF17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4720D6-14ED-444E-0A55-1DD2630159EE}"/>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4280675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D2AFF-FBE0-5A9D-364D-F157EA7DCD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417B5D-FCD1-E977-6965-EE48766780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222EC6-6BEA-722F-7647-74E4D7FEC4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FDBB70-3C02-F485-0B1B-3917FF56ADA9}"/>
              </a:ext>
            </a:extLst>
          </p:cNvPr>
          <p:cNvSpPr>
            <a:spLocks noGrp="1"/>
          </p:cNvSpPr>
          <p:nvPr>
            <p:ph type="dt" sz="half" idx="10"/>
          </p:nvPr>
        </p:nvSpPr>
        <p:spPr/>
        <p:txBody>
          <a:bodyPr/>
          <a:lstStyle/>
          <a:p>
            <a:fld id="{3E20FBB2-712D-C24F-B36C-E378F1B9621A}" type="datetime1">
              <a:rPr lang="en-US" smtClean="0"/>
              <a:t>4/3/25</a:t>
            </a:fld>
            <a:endParaRPr lang="en-US"/>
          </a:p>
        </p:txBody>
      </p:sp>
      <p:sp>
        <p:nvSpPr>
          <p:cNvPr id="6" name="Footer Placeholder 5">
            <a:extLst>
              <a:ext uri="{FF2B5EF4-FFF2-40B4-BE49-F238E27FC236}">
                <a16:creationId xmlns:a16="http://schemas.microsoft.com/office/drawing/2014/main" id="{D1A9A224-9F6A-2E65-3364-48555A93F4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61D5D7-7ED1-5D8B-C785-EAC1CF3CEF3B}"/>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692361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19C38-D4E2-9D49-489B-E1CF480374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8B60D7-196C-3AA6-341F-21353AD5BF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81E4C-C362-788B-78EF-4CE2C23DB4AB}"/>
              </a:ext>
            </a:extLst>
          </p:cNvPr>
          <p:cNvSpPr>
            <a:spLocks noGrp="1"/>
          </p:cNvSpPr>
          <p:nvPr>
            <p:ph type="dt" sz="half" idx="10"/>
          </p:nvPr>
        </p:nvSpPr>
        <p:spPr/>
        <p:txBody>
          <a:bodyPr/>
          <a:lstStyle/>
          <a:p>
            <a:fld id="{9A8D15B7-8014-1B49-8973-2DCA7344A507}" type="datetime1">
              <a:rPr lang="en-US" smtClean="0"/>
              <a:t>4/3/25</a:t>
            </a:fld>
            <a:endParaRPr lang="en-US"/>
          </a:p>
        </p:txBody>
      </p:sp>
      <p:sp>
        <p:nvSpPr>
          <p:cNvPr id="5" name="Footer Placeholder 4">
            <a:extLst>
              <a:ext uri="{FF2B5EF4-FFF2-40B4-BE49-F238E27FC236}">
                <a16:creationId xmlns:a16="http://schemas.microsoft.com/office/drawing/2014/main" id="{80E6C0DA-54EE-2D30-7BAA-8F14B4604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E67647-9E31-2398-B565-28B3F9952F76}"/>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230697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11AFAD-215E-72C8-4752-A4920ED351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03A5C6-30C4-38A6-3D38-3814E9406B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FF8882-6B34-C859-88A1-D5966FE7FAF2}"/>
              </a:ext>
            </a:extLst>
          </p:cNvPr>
          <p:cNvSpPr>
            <a:spLocks noGrp="1"/>
          </p:cNvSpPr>
          <p:nvPr>
            <p:ph type="dt" sz="half" idx="10"/>
          </p:nvPr>
        </p:nvSpPr>
        <p:spPr/>
        <p:txBody>
          <a:bodyPr/>
          <a:lstStyle/>
          <a:p>
            <a:fld id="{0BF33A22-B29A-DB4D-873C-D5BA5380E407}" type="datetime1">
              <a:rPr lang="en-US" smtClean="0"/>
              <a:t>4/3/25</a:t>
            </a:fld>
            <a:endParaRPr lang="en-US"/>
          </a:p>
        </p:txBody>
      </p:sp>
      <p:sp>
        <p:nvSpPr>
          <p:cNvPr id="5" name="Footer Placeholder 4">
            <a:extLst>
              <a:ext uri="{FF2B5EF4-FFF2-40B4-BE49-F238E27FC236}">
                <a16:creationId xmlns:a16="http://schemas.microsoft.com/office/drawing/2014/main" id="{C3428E73-C47E-B5C1-0B06-126F64CA8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0A5C9F-1077-38DA-A928-FE2AD1884112}"/>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922556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E62A28-072D-3751-0623-07363DA61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31445D-1387-81C7-E846-3083FD0BBB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ECE20-5897-50FF-F614-CE7B83C54A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91262B-65F9-D849-8215-E3367B9F9C3D}" type="datetime1">
              <a:rPr lang="en-US" smtClean="0"/>
              <a:t>4/3/25</a:t>
            </a:fld>
            <a:endParaRPr lang="en-US"/>
          </a:p>
        </p:txBody>
      </p:sp>
      <p:sp>
        <p:nvSpPr>
          <p:cNvPr id="5" name="Footer Placeholder 4">
            <a:extLst>
              <a:ext uri="{FF2B5EF4-FFF2-40B4-BE49-F238E27FC236}">
                <a16:creationId xmlns:a16="http://schemas.microsoft.com/office/drawing/2014/main" id="{A6ECB051-C83C-3D36-BEA9-9B6C8CD8BA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BAD62C-6021-4265-E05B-E26CE9FEA3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33053-B928-004D-A0E8-A0A092123CEE}" type="slidenum">
              <a:rPr lang="en-US" smtClean="0"/>
              <a:t>‹#›</a:t>
            </a:fld>
            <a:endParaRPr lang="en-US"/>
          </a:p>
        </p:txBody>
      </p:sp>
    </p:spTree>
    <p:extLst>
      <p:ext uri="{BB962C8B-B14F-4D97-AF65-F5344CB8AC3E}">
        <p14:creationId xmlns:p14="http://schemas.microsoft.com/office/powerpoint/2010/main" val="1619910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FEB8A-3BAD-4DA1-8682-A700B25454BC}"/>
              </a:ext>
            </a:extLst>
          </p:cNvPr>
          <p:cNvSpPr>
            <a:spLocks noGrp="1"/>
          </p:cNvSpPr>
          <p:nvPr>
            <p:ph type="ctrTitle"/>
          </p:nvPr>
        </p:nvSpPr>
        <p:spPr>
          <a:xfrm>
            <a:off x="269789" y="1041400"/>
            <a:ext cx="11652422" cy="2387600"/>
          </a:xfrm>
        </p:spPr>
        <p:txBody>
          <a:bodyPr>
            <a:normAutofit/>
          </a:bodyPr>
          <a:lstStyle/>
          <a:p>
            <a:r>
              <a:rPr lang="en-US" dirty="0">
                <a:latin typeface="Arial" panose="020B0604020202020204" pitchFamily="34" charset="0"/>
                <a:cs typeface="Arial" panose="020B0604020202020204" pitchFamily="34" charset="0"/>
              </a:rPr>
              <a:t>STATS 507</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Data Analysis in Python</a:t>
            </a:r>
          </a:p>
        </p:txBody>
      </p:sp>
      <p:sp>
        <p:nvSpPr>
          <p:cNvPr id="3" name="Subtitle 2">
            <a:extLst>
              <a:ext uri="{FF2B5EF4-FFF2-40B4-BE49-F238E27FC236}">
                <a16:creationId xmlns:a16="http://schemas.microsoft.com/office/drawing/2014/main" id="{87194AEC-397F-89CB-6E4B-4A58284F1CBF}"/>
              </a:ext>
            </a:extLst>
          </p:cNvPr>
          <p:cNvSpPr>
            <a:spLocks noGrp="1"/>
          </p:cNvSpPr>
          <p:nvPr>
            <p:ph type="subTitle" idx="1"/>
          </p:nvPr>
        </p:nvSpPr>
        <p:spPr>
          <a:xfrm>
            <a:off x="1524000" y="3541490"/>
            <a:ext cx="9144000" cy="1655762"/>
          </a:xfrm>
        </p:spPr>
        <p:txBody>
          <a:bodyPr>
            <a:norm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Week13</a:t>
            </a:r>
            <a:r>
              <a:rPr lang="en-US" altLang="zh-CN"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Deep Sequential Modeling (LSTM, Attention)</a:t>
            </a:r>
          </a:p>
          <a:p>
            <a:endParaRPr lang="en-US" altLang="zh-C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2D956891-E148-E8BF-703D-5676FA0A6B8A}"/>
              </a:ext>
            </a:extLst>
          </p:cNvPr>
          <p:cNvSpPr txBox="1">
            <a:spLocks/>
          </p:cNvSpPr>
          <p:nvPr/>
        </p:nvSpPr>
        <p:spPr>
          <a:xfrm>
            <a:off x="2561493" y="5063760"/>
            <a:ext cx="6858000" cy="1231532"/>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Dr. Xian Zhang</a:t>
            </a:r>
          </a:p>
          <a:p>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Adapted from slides by Ava Amini</a:t>
            </a:r>
          </a:p>
          <a:p>
            <a:r>
              <a:rPr lang="en-US" sz="1800" dirty="0">
                <a:latin typeface="Arial" panose="020B0604020202020204" pitchFamily="34" charset="0"/>
                <a:cs typeface="Arial" panose="020B0604020202020204" pitchFamily="34" charset="0"/>
              </a:rPr>
              <a:t>MIT Introduction to Deep Learning</a:t>
            </a:r>
          </a:p>
        </p:txBody>
      </p:sp>
    </p:spTree>
    <p:extLst>
      <p:ext uri="{BB962C8B-B14F-4D97-AF65-F5344CB8AC3E}">
        <p14:creationId xmlns:p14="http://schemas.microsoft.com/office/powerpoint/2010/main" val="1594597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6F4E9-7B44-32BD-B8D2-3D30C64A195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717E22F-365B-34A0-4A5E-977E9695DABE}"/>
              </a:ext>
            </a:extLst>
          </p:cNvPr>
          <p:cNvSpPr>
            <a:spLocks noGrp="1"/>
          </p:cNvSpPr>
          <p:nvPr>
            <p:ph type="title"/>
          </p:nvPr>
        </p:nvSpPr>
        <p:spPr>
          <a:xfrm>
            <a:off x="838200" y="365125"/>
            <a:ext cx="11353800" cy="1325563"/>
          </a:xfrm>
        </p:spPr>
        <p:txBody>
          <a:bodyPr/>
          <a:lstStyle/>
          <a:p>
            <a:r>
              <a:rPr lang="en-US" dirty="0">
                <a:latin typeface="Arial" panose="020B0604020202020204" pitchFamily="34" charset="0"/>
                <a:cs typeface="Arial" panose="020B0604020202020204" pitchFamily="34" charset="0"/>
              </a:rPr>
              <a:t>Solution for in-class practice</a:t>
            </a:r>
          </a:p>
        </p:txBody>
      </p:sp>
      <p:sp>
        <p:nvSpPr>
          <p:cNvPr id="2" name="Slide Number Placeholder 1">
            <a:extLst>
              <a:ext uri="{FF2B5EF4-FFF2-40B4-BE49-F238E27FC236}">
                <a16:creationId xmlns:a16="http://schemas.microsoft.com/office/drawing/2014/main" id="{DCA5E2CD-97C7-EF90-B0F7-FF59EEB8CB7D}"/>
              </a:ext>
            </a:extLst>
          </p:cNvPr>
          <p:cNvSpPr>
            <a:spLocks noGrp="1"/>
          </p:cNvSpPr>
          <p:nvPr>
            <p:ph type="sldNum" sz="quarter" idx="12"/>
          </p:nvPr>
        </p:nvSpPr>
        <p:spPr/>
        <p:txBody>
          <a:bodyPr/>
          <a:lstStyle/>
          <a:p>
            <a:fld id="{B3533053-B928-004D-A0E8-A0A092123CEE}" type="slidenum">
              <a:rPr lang="en-US" smtClean="0"/>
              <a:t>1</a:t>
            </a:fld>
            <a:endParaRPr lang="en-US"/>
          </a:p>
        </p:txBody>
      </p:sp>
      <p:pic>
        <p:nvPicPr>
          <p:cNvPr id="5" name="Picture 4">
            <a:extLst>
              <a:ext uri="{FF2B5EF4-FFF2-40B4-BE49-F238E27FC236}">
                <a16:creationId xmlns:a16="http://schemas.microsoft.com/office/drawing/2014/main" id="{79311CEF-5E55-D7B6-9864-DD4B1A056C99}"/>
              </a:ext>
            </a:extLst>
          </p:cNvPr>
          <p:cNvPicPr>
            <a:picLocks noChangeAspect="1"/>
          </p:cNvPicPr>
          <p:nvPr/>
        </p:nvPicPr>
        <p:blipFill>
          <a:blip r:embed="rId3"/>
          <a:stretch>
            <a:fillRect/>
          </a:stretch>
        </p:blipFill>
        <p:spPr>
          <a:xfrm>
            <a:off x="2664975" y="1528642"/>
            <a:ext cx="6049798" cy="4625136"/>
          </a:xfrm>
          <a:prstGeom prst="rect">
            <a:avLst/>
          </a:prstGeom>
        </p:spPr>
      </p:pic>
      <p:sp>
        <p:nvSpPr>
          <p:cNvPr id="6" name="object 6">
            <a:extLst>
              <a:ext uri="{FF2B5EF4-FFF2-40B4-BE49-F238E27FC236}">
                <a16:creationId xmlns:a16="http://schemas.microsoft.com/office/drawing/2014/main" id="{306554B8-5E7D-D86F-8A6D-5B5EFC3E0DAF}"/>
              </a:ext>
            </a:extLst>
          </p:cNvPr>
          <p:cNvSpPr txBox="1"/>
          <p:nvPr/>
        </p:nvSpPr>
        <p:spPr>
          <a:xfrm>
            <a:off x="6941563" y="3786187"/>
            <a:ext cx="3839290" cy="338619"/>
          </a:xfrm>
          <a:prstGeom prst="rect">
            <a:avLst/>
          </a:prstGeom>
        </p:spPr>
        <p:txBody>
          <a:bodyPr vert="horz" wrap="square" lIns="0" tIns="50800" rIns="0" bIns="0" rtlCol="0">
            <a:spAutoFit/>
          </a:bodyPr>
          <a:lstStyle/>
          <a:p>
            <a:pPr marR="5080">
              <a:lnSpc>
                <a:spcPct val="112500"/>
              </a:lnSpc>
              <a:spcBef>
                <a:spcPts val="100"/>
              </a:spcBef>
            </a:pPr>
            <a:r>
              <a:rPr lang="en-US" dirty="0">
                <a:solidFill>
                  <a:schemeClr val="accent5">
                    <a:lumMod val="75000"/>
                  </a:schemeClr>
                </a:solidFill>
                <a:latin typeface="Arial" panose="020B0604020202020204" pitchFamily="34" charset="0"/>
                <a:cs typeface="Arial" panose="020B0604020202020204" pitchFamily="34" charset="0"/>
              </a:rPr>
              <a:t>Update both output and hidden state</a:t>
            </a:r>
            <a:endParaRPr dirty="0">
              <a:solidFill>
                <a:schemeClr val="accent5">
                  <a:lumMod val="75000"/>
                </a:schemeClr>
              </a:solidFill>
              <a:latin typeface="Arial" panose="020B0604020202020204" pitchFamily="34" charset="0"/>
              <a:cs typeface="Arial" panose="020B0604020202020204" pitchFamily="34" charset="0"/>
            </a:endParaRPr>
          </a:p>
        </p:txBody>
      </p:sp>
      <p:sp>
        <p:nvSpPr>
          <p:cNvPr id="13" name="object 6">
            <a:extLst>
              <a:ext uri="{FF2B5EF4-FFF2-40B4-BE49-F238E27FC236}">
                <a16:creationId xmlns:a16="http://schemas.microsoft.com/office/drawing/2014/main" id="{F7D15E87-D3B5-3E31-35B7-8F5DC01A5033}"/>
              </a:ext>
            </a:extLst>
          </p:cNvPr>
          <p:cNvSpPr txBox="1"/>
          <p:nvPr/>
        </p:nvSpPr>
        <p:spPr>
          <a:xfrm>
            <a:off x="5572857" y="2180613"/>
            <a:ext cx="3839290" cy="338619"/>
          </a:xfrm>
          <a:prstGeom prst="rect">
            <a:avLst/>
          </a:prstGeom>
        </p:spPr>
        <p:txBody>
          <a:bodyPr vert="horz" wrap="square" lIns="0" tIns="50800" rIns="0" bIns="0" rtlCol="0">
            <a:spAutoFit/>
          </a:bodyPr>
          <a:lstStyle/>
          <a:p>
            <a:pPr marR="5080">
              <a:lnSpc>
                <a:spcPct val="112500"/>
              </a:lnSpc>
              <a:spcBef>
                <a:spcPts val="100"/>
              </a:spcBef>
            </a:pPr>
            <a:r>
              <a:rPr lang="en-US" dirty="0">
                <a:solidFill>
                  <a:schemeClr val="accent5">
                    <a:lumMod val="75000"/>
                  </a:schemeClr>
                </a:solidFill>
                <a:latin typeface="Arial" panose="020B0604020202020204" pitchFamily="34" charset="0"/>
                <a:cs typeface="Arial" panose="020B0604020202020204" pitchFamily="34" charset="0"/>
              </a:rPr>
              <a:t>Training loop for each epoch</a:t>
            </a:r>
            <a:endParaRPr dirty="0">
              <a:solidFill>
                <a:schemeClr val="accent5">
                  <a:lumMod val="75000"/>
                </a:schemeClr>
              </a:solidFill>
              <a:latin typeface="Arial" panose="020B0604020202020204" pitchFamily="34" charset="0"/>
              <a:cs typeface="Arial" panose="020B0604020202020204" pitchFamily="34" charset="0"/>
            </a:endParaRPr>
          </a:p>
        </p:txBody>
      </p:sp>
      <p:sp>
        <p:nvSpPr>
          <p:cNvPr id="14" name="object 6">
            <a:extLst>
              <a:ext uri="{FF2B5EF4-FFF2-40B4-BE49-F238E27FC236}">
                <a16:creationId xmlns:a16="http://schemas.microsoft.com/office/drawing/2014/main" id="{0EAC3282-86AA-CA0A-9F00-E81A1A1686F2}"/>
              </a:ext>
            </a:extLst>
          </p:cNvPr>
          <p:cNvSpPr txBox="1"/>
          <p:nvPr/>
        </p:nvSpPr>
        <p:spPr>
          <a:xfrm>
            <a:off x="8166727" y="2891115"/>
            <a:ext cx="3839290" cy="338619"/>
          </a:xfrm>
          <a:prstGeom prst="rect">
            <a:avLst/>
          </a:prstGeom>
        </p:spPr>
        <p:txBody>
          <a:bodyPr vert="horz" wrap="square" lIns="0" tIns="50800" rIns="0" bIns="0" rtlCol="0">
            <a:spAutoFit/>
          </a:bodyPr>
          <a:lstStyle/>
          <a:p>
            <a:pPr marR="5080">
              <a:lnSpc>
                <a:spcPct val="112500"/>
              </a:lnSpc>
              <a:spcBef>
                <a:spcPts val="100"/>
              </a:spcBef>
            </a:pPr>
            <a:r>
              <a:rPr lang="en-US" dirty="0">
                <a:solidFill>
                  <a:schemeClr val="accent5">
                    <a:lumMod val="75000"/>
                  </a:schemeClr>
                </a:solidFill>
                <a:latin typeface="Arial" panose="020B0604020202020204" pitchFamily="34" charset="0"/>
                <a:cs typeface="Arial" panose="020B0604020202020204" pitchFamily="34" charset="0"/>
              </a:rPr>
              <a:t>Gradient descent with mini-batches</a:t>
            </a:r>
            <a:endParaRPr dirty="0">
              <a:solidFill>
                <a:schemeClr val="accent5">
                  <a:lumMod val="75000"/>
                </a:schemeClr>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B711FD5-E012-F173-1042-3EB395A6B83A}"/>
              </a:ext>
            </a:extLst>
          </p:cNvPr>
          <p:cNvSpPr/>
          <p:nvPr/>
        </p:nvSpPr>
        <p:spPr>
          <a:xfrm>
            <a:off x="4293704" y="3935896"/>
            <a:ext cx="576470" cy="18891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325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E4DEF-E83D-2D40-4364-8CDDF668DA7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2113164-97D9-5E09-7DEF-ABB5D8EF1DCD}"/>
              </a:ext>
            </a:extLst>
          </p:cNvPr>
          <p:cNvSpPr>
            <a:spLocks noGrp="1"/>
          </p:cNvSpPr>
          <p:nvPr>
            <p:ph type="title"/>
          </p:nvPr>
        </p:nvSpPr>
        <p:spPr>
          <a:xfrm>
            <a:off x="838200" y="365125"/>
            <a:ext cx="11353800" cy="1325563"/>
          </a:xfrm>
        </p:spPr>
        <p:txBody>
          <a:bodyPr/>
          <a:lstStyle/>
          <a:p>
            <a:r>
              <a:rPr lang="en-US" dirty="0">
                <a:latin typeface="Arial" panose="020B0604020202020204" pitchFamily="34" charset="0"/>
                <a:cs typeface="Arial" panose="020B0604020202020204" pitchFamily="34" charset="0"/>
              </a:rPr>
              <a:t>Recap: S</a:t>
            </a:r>
            <a:r>
              <a:rPr lang="en-US" altLang="zh-CN" dirty="0">
                <a:latin typeface="Arial" panose="020B0604020202020204" pitchFamily="34" charset="0"/>
                <a:cs typeface="Arial" panose="020B0604020202020204" pitchFamily="34" charset="0"/>
              </a:rPr>
              <a:t>equence modeling</a:t>
            </a:r>
            <a:endParaRPr lang="en-US"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0202989C-EF88-0EF2-8E9A-319296C36D51}"/>
              </a:ext>
            </a:extLst>
          </p:cNvPr>
          <p:cNvSpPr>
            <a:spLocks noGrp="1"/>
          </p:cNvSpPr>
          <p:nvPr>
            <p:ph type="sldNum" sz="quarter" idx="12"/>
          </p:nvPr>
        </p:nvSpPr>
        <p:spPr/>
        <p:txBody>
          <a:bodyPr/>
          <a:lstStyle/>
          <a:p>
            <a:fld id="{B3533053-B928-004D-A0E8-A0A092123CEE}" type="slidenum">
              <a:rPr lang="en-US" smtClean="0"/>
              <a:t>2</a:t>
            </a:fld>
            <a:endParaRPr lang="en-US"/>
          </a:p>
        </p:txBody>
      </p:sp>
      <p:pic>
        <p:nvPicPr>
          <p:cNvPr id="3" name="Picture 2">
            <a:extLst>
              <a:ext uri="{FF2B5EF4-FFF2-40B4-BE49-F238E27FC236}">
                <a16:creationId xmlns:a16="http://schemas.microsoft.com/office/drawing/2014/main" id="{1CAF2563-7E58-4BE5-196A-65E5678BE222}"/>
              </a:ext>
            </a:extLst>
          </p:cNvPr>
          <p:cNvPicPr>
            <a:picLocks noChangeAspect="1"/>
          </p:cNvPicPr>
          <p:nvPr/>
        </p:nvPicPr>
        <p:blipFill>
          <a:blip r:embed="rId3"/>
          <a:stretch>
            <a:fillRect/>
          </a:stretch>
        </p:blipFill>
        <p:spPr>
          <a:xfrm>
            <a:off x="605298" y="2015104"/>
            <a:ext cx="1988685" cy="4016829"/>
          </a:xfrm>
          <a:prstGeom prst="rect">
            <a:avLst/>
          </a:prstGeom>
        </p:spPr>
      </p:pic>
      <p:pic>
        <p:nvPicPr>
          <p:cNvPr id="8" name="Picture 7">
            <a:extLst>
              <a:ext uri="{FF2B5EF4-FFF2-40B4-BE49-F238E27FC236}">
                <a16:creationId xmlns:a16="http://schemas.microsoft.com/office/drawing/2014/main" id="{7523FB8C-C0C8-9704-01D6-A7C5DB7A618A}"/>
              </a:ext>
            </a:extLst>
          </p:cNvPr>
          <p:cNvPicPr>
            <a:picLocks noChangeAspect="1"/>
          </p:cNvPicPr>
          <p:nvPr/>
        </p:nvPicPr>
        <p:blipFill>
          <a:blip r:embed="rId4"/>
          <a:stretch>
            <a:fillRect/>
          </a:stretch>
        </p:blipFill>
        <p:spPr>
          <a:xfrm>
            <a:off x="2986922" y="1961232"/>
            <a:ext cx="2398653" cy="2935535"/>
          </a:xfrm>
          <a:prstGeom prst="rect">
            <a:avLst/>
          </a:prstGeom>
        </p:spPr>
      </p:pic>
      <p:pic>
        <p:nvPicPr>
          <p:cNvPr id="10" name="Picture 9">
            <a:extLst>
              <a:ext uri="{FF2B5EF4-FFF2-40B4-BE49-F238E27FC236}">
                <a16:creationId xmlns:a16="http://schemas.microsoft.com/office/drawing/2014/main" id="{15D86B4C-9960-0A67-4824-84399D7A126A}"/>
              </a:ext>
            </a:extLst>
          </p:cNvPr>
          <p:cNvPicPr>
            <a:picLocks noChangeAspect="1"/>
          </p:cNvPicPr>
          <p:nvPr/>
        </p:nvPicPr>
        <p:blipFill>
          <a:blip r:embed="rId5"/>
          <a:stretch>
            <a:fillRect/>
          </a:stretch>
        </p:blipFill>
        <p:spPr>
          <a:xfrm>
            <a:off x="5557209" y="1927658"/>
            <a:ext cx="2743200" cy="4516138"/>
          </a:xfrm>
          <a:prstGeom prst="rect">
            <a:avLst/>
          </a:prstGeom>
        </p:spPr>
      </p:pic>
      <p:pic>
        <p:nvPicPr>
          <p:cNvPr id="11" name="Picture 10">
            <a:extLst>
              <a:ext uri="{FF2B5EF4-FFF2-40B4-BE49-F238E27FC236}">
                <a16:creationId xmlns:a16="http://schemas.microsoft.com/office/drawing/2014/main" id="{05FC204F-6859-2128-74B1-DC4CBFCD02B6}"/>
              </a:ext>
            </a:extLst>
          </p:cNvPr>
          <p:cNvPicPr>
            <a:picLocks noChangeAspect="1"/>
          </p:cNvPicPr>
          <p:nvPr/>
        </p:nvPicPr>
        <p:blipFill>
          <a:blip r:embed="rId6"/>
          <a:stretch>
            <a:fillRect/>
          </a:stretch>
        </p:blipFill>
        <p:spPr>
          <a:xfrm>
            <a:off x="8348801" y="1927658"/>
            <a:ext cx="2439908" cy="4547916"/>
          </a:xfrm>
          <a:prstGeom prst="rect">
            <a:avLst/>
          </a:prstGeom>
        </p:spPr>
      </p:pic>
      <p:sp>
        <p:nvSpPr>
          <p:cNvPr id="12" name="Subtitle 2">
            <a:extLst>
              <a:ext uri="{FF2B5EF4-FFF2-40B4-BE49-F238E27FC236}">
                <a16:creationId xmlns:a16="http://schemas.microsoft.com/office/drawing/2014/main" id="{3B58497D-2A09-CE9B-FB94-6316081D802D}"/>
              </a:ext>
            </a:extLst>
          </p:cNvPr>
          <p:cNvSpPr txBox="1">
            <a:spLocks/>
          </p:cNvSpPr>
          <p:nvPr/>
        </p:nvSpPr>
        <p:spPr>
          <a:xfrm>
            <a:off x="5695766" y="6538912"/>
            <a:ext cx="6615546"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Ava Amini</a:t>
            </a:r>
          </a:p>
        </p:txBody>
      </p:sp>
    </p:spTree>
    <p:extLst>
      <p:ext uri="{BB962C8B-B14F-4D97-AF65-F5344CB8AC3E}">
        <p14:creationId xmlns:p14="http://schemas.microsoft.com/office/powerpoint/2010/main" val="26748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C51B5-7FFD-5717-8FE8-467FB547F99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74E2E9A-F232-0769-193A-EA773106BCCA}"/>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dirty="0">
                <a:latin typeface="Arial" panose="020B0604020202020204" pitchFamily="34" charset="0"/>
                <a:cs typeface="Arial" panose="020B0604020202020204" pitchFamily="34" charset="0"/>
              </a:rPr>
              <a:t>Recap: RNN (1986)</a:t>
            </a:r>
            <a:endParaRPr lang="en-US" sz="5200" kern="1200" dirty="0">
              <a:solidFill>
                <a:schemeClr val="tx1"/>
              </a:solidFill>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F11C744A-CE9C-AC54-2709-6357A22F4DF8}"/>
              </a:ext>
            </a:extLst>
          </p:cNvPr>
          <p:cNvSpPr txBox="1">
            <a:spLocks/>
          </p:cNvSpPr>
          <p:nvPr/>
        </p:nvSpPr>
        <p:spPr>
          <a:xfrm>
            <a:off x="6492615" y="6357491"/>
            <a:ext cx="6615546"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Ava Amini</a:t>
            </a:r>
          </a:p>
        </p:txBody>
      </p:sp>
      <p:sp>
        <p:nvSpPr>
          <p:cNvPr id="13" name="TextBox 12">
            <a:extLst>
              <a:ext uri="{FF2B5EF4-FFF2-40B4-BE49-F238E27FC236}">
                <a16:creationId xmlns:a16="http://schemas.microsoft.com/office/drawing/2014/main" id="{E41E8DD8-959F-B1D6-F7CC-1A60CADDA075}"/>
              </a:ext>
            </a:extLst>
          </p:cNvPr>
          <p:cNvSpPr txBox="1"/>
          <p:nvPr/>
        </p:nvSpPr>
        <p:spPr>
          <a:xfrm>
            <a:off x="4404141" y="1739111"/>
            <a:ext cx="7473043"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Update hidden state (cell state)</a:t>
            </a:r>
          </a:p>
        </p:txBody>
      </p:sp>
      <p:pic>
        <p:nvPicPr>
          <p:cNvPr id="19" name="Picture 18">
            <a:extLst>
              <a:ext uri="{FF2B5EF4-FFF2-40B4-BE49-F238E27FC236}">
                <a16:creationId xmlns:a16="http://schemas.microsoft.com/office/drawing/2014/main" id="{C939A514-C226-2E1C-14D2-D2274C7859CA}"/>
              </a:ext>
            </a:extLst>
          </p:cNvPr>
          <p:cNvPicPr>
            <a:picLocks noChangeAspect="1"/>
          </p:cNvPicPr>
          <p:nvPr/>
        </p:nvPicPr>
        <p:blipFill>
          <a:blip r:embed="rId3"/>
          <a:stretch>
            <a:fillRect/>
          </a:stretch>
        </p:blipFill>
        <p:spPr>
          <a:xfrm>
            <a:off x="708557" y="2093054"/>
            <a:ext cx="2966856" cy="355100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687D263-215A-5449-DDFA-337BF9A85706}"/>
                  </a:ext>
                </a:extLst>
              </p:cNvPr>
              <p:cNvSpPr txBox="1"/>
              <p:nvPr/>
            </p:nvSpPr>
            <p:spPr>
              <a:xfrm>
                <a:off x="5664532" y="2557092"/>
                <a:ext cx="4586512" cy="4482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h</m:t>
                          </m:r>
                        </m:e>
                        <m:sub>
                          <m:r>
                            <a:rPr lang="en-US" sz="2800" i="1">
                              <a:latin typeface="Cambria Math" panose="02040503050406030204" pitchFamily="18" charset="0"/>
                            </a:rPr>
                            <m:t>𝑡</m:t>
                          </m:r>
                        </m:sub>
                      </m:sSub>
                      <m:r>
                        <a:rPr lang="en-US" sz="2800" b="0" i="1" smtClean="0">
                          <a:latin typeface="Cambria Math" panose="02040503050406030204" pitchFamily="18" charset="0"/>
                        </a:rPr>
                        <m:t>=</m:t>
                      </m:r>
                      <m:r>
                        <m:rPr>
                          <m:sty m:val="p"/>
                        </m:rPr>
                        <a:rPr lang="en-US" sz="2800" b="0" i="0" dirty="0" smtClean="0">
                          <a:latin typeface="Cambria Math" panose="02040503050406030204" pitchFamily="18" charset="0"/>
                        </a:rPr>
                        <m:t>tanh</m:t>
                      </m:r>
                      <m:r>
                        <a:rPr lang="en-US" sz="2800" b="0" i="1" smtClean="0">
                          <a:latin typeface="Cambria Math" panose="02040503050406030204" pitchFamily="18" charset="0"/>
                        </a:rPr>
                        <m:t>(</m:t>
                      </m:r>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𝑊</m:t>
                          </m:r>
                        </m:e>
                        <m:sub>
                          <m:r>
                            <a:rPr lang="en-US" sz="2800" b="0" i="1" smtClean="0">
                              <a:latin typeface="Cambria Math" panose="02040503050406030204" pitchFamily="18" charset="0"/>
                            </a:rPr>
                            <m:t>hh</m:t>
                          </m:r>
                        </m:sub>
                        <m:sup>
                          <m:r>
                            <a:rPr lang="en-US" sz="2800" b="0" i="1" smtClean="0">
                              <a:latin typeface="Cambria Math" panose="02040503050406030204" pitchFamily="18" charset="0"/>
                            </a:rPr>
                            <m:t>𝑇</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h</m:t>
                          </m:r>
                        </m:e>
                        <m:sub>
                          <m:r>
                            <a:rPr lang="en-US" sz="2800" b="0" i="1" smtClean="0">
                              <a:latin typeface="Cambria Math" panose="02040503050406030204" pitchFamily="18" charset="0"/>
                            </a:rPr>
                            <m:t>𝑡</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𝑊</m:t>
                          </m:r>
                        </m:e>
                        <m:sub>
                          <m:r>
                            <a:rPr lang="en-US" sz="2800" b="0" i="1" smtClean="0">
                              <a:latin typeface="Cambria Math" panose="02040503050406030204" pitchFamily="18" charset="0"/>
                            </a:rPr>
                            <m:t>𝑥</m:t>
                          </m:r>
                          <m:r>
                            <a:rPr lang="en-US" sz="2800" i="1">
                              <a:latin typeface="Cambria Math" panose="02040503050406030204" pitchFamily="18" charset="0"/>
                            </a:rPr>
                            <m:t>h</m:t>
                          </m:r>
                        </m:sub>
                        <m:sup>
                          <m:r>
                            <a:rPr lang="en-US" sz="2800" i="1">
                              <a:latin typeface="Cambria Math" panose="02040503050406030204" pitchFamily="18" charset="0"/>
                            </a:rPr>
                            <m:t>𝑇</m:t>
                          </m:r>
                        </m:sup>
                      </m:sSubSup>
                      <m:sSub>
                        <m:sSubPr>
                          <m:ctrlPr>
                            <a:rPr lang="en-US"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i="1">
                              <a:latin typeface="Cambria Math" panose="02040503050406030204" pitchFamily="18" charset="0"/>
                            </a:rPr>
                            <m:t>𝑡</m:t>
                          </m:r>
                        </m:sub>
                      </m:sSub>
                      <m:r>
                        <a:rPr lang="en-US" sz="2800" b="0" i="1" smtClean="0">
                          <a:latin typeface="Cambria Math" panose="02040503050406030204" pitchFamily="18" charset="0"/>
                        </a:rPr>
                        <m:t>)</m:t>
                      </m:r>
                    </m:oMath>
                  </m:oMathPara>
                </a14:m>
                <a:endParaRPr lang="en-US" sz="2800" dirty="0"/>
              </a:p>
            </p:txBody>
          </p:sp>
        </mc:Choice>
        <mc:Fallback xmlns="">
          <p:sp>
            <p:nvSpPr>
              <p:cNvPr id="6" name="TextBox 5">
                <a:extLst>
                  <a:ext uri="{FF2B5EF4-FFF2-40B4-BE49-F238E27FC236}">
                    <a16:creationId xmlns:a16="http://schemas.microsoft.com/office/drawing/2014/main" id="{92D99EFD-97C9-D1B1-18AB-E9736D89452D}"/>
                  </a:ext>
                </a:extLst>
              </p:cNvPr>
              <p:cNvSpPr txBox="1">
                <a:spLocks noRot="1" noChangeAspect="1" noMove="1" noResize="1" noEditPoints="1" noAdjustHandles="1" noChangeArrowheads="1" noChangeShapeType="1" noTextEdit="1"/>
              </p:cNvSpPr>
              <p:nvPr/>
            </p:nvSpPr>
            <p:spPr>
              <a:xfrm>
                <a:off x="5664532" y="2557092"/>
                <a:ext cx="4586512" cy="448200"/>
              </a:xfrm>
              <a:prstGeom prst="rect">
                <a:avLst/>
              </a:prstGeom>
              <a:blipFill>
                <a:blip r:embed="rId4"/>
                <a:stretch>
                  <a:fillRect l="-1377" r="-2204" b="-33333"/>
                </a:stretch>
              </a:blipFill>
            </p:spPr>
            <p:txBody>
              <a:bodyPr/>
              <a:lstStyle/>
              <a:p>
                <a:r>
                  <a:rPr lang="en-US">
                    <a:noFill/>
                  </a:rPr>
                  <a:t> </a:t>
                </a:r>
              </a:p>
            </p:txBody>
          </p:sp>
        </mc:Fallback>
      </mc:AlternateContent>
      <p:sp>
        <p:nvSpPr>
          <p:cNvPr id="7" name="Subtitle 2">
            <a:extLst>
              <a:ext uri="{FF2B5EF4-FFF2-40B4-BE49-F238E27FC236}">
                <a16:creationId xmlns:a16="http://schemas.microsoft.com/office/drawing/2014/main" id="{A7B77D57-D285-0284-95CA-48108098DED7}"/>
              </a:ext>
            </a:extLst>
          </p:cNvPr>
          <p:cNvSpPr txBox="1">
            <a:spLocks/>
          </p:cNvSpPr>
          <p:nvPr/>
        </p:nvSpPr>
        <p:spPr>
          <a:xfrm>
            <a:off x="4882220" y="3107402"/>
            <a:ext cx="1517073"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Hidden State</a:t>
            </a:r>
          </a:p>
        </p:txBody>
      </p:sp>
      <p:sp>
        <p:nvSpPr>
          <p:cNvPr id="11" name="TextBox 10">
            <a:extLst>
              <a:ext uri="{FF2B5EF4-FFF2-40B4-BE49-F238E27FC236}">
                <a16:creationId xmlns:a16="http://schemas.microsoft.com/office/drawing/2014/main" id="{F1E5CE5C-A48D-99A6-D697-1B8F759739FB}"/>
              </a:ext>
            </a:extLst>
          </p:cNvPr>
          <p:cNvSpPr txBox="1"/>
          <p:nvPr/>
        </p:nvSpPr>
        <p:spPr>
          <a:xfrm>
            <a:off x="4404141" y="5097211"/>
            <a:ext cx="6615546" cy="70788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Note: in RNN, we use the </a:t>
            </a:r>
            <a:r>
              <a:rPr lang="en-US" sz="2000" dirty="0">
                <a:solidFill>
                  <a:srgbClr val="C00000"/>
                </a:solidFill>
                <a:latin typeface="Arial" panose="020B0604020202020204" pitchFamily="34" charset="0"/>
                <a:cs typeface="Arial" panose="020B0604020202020204" pitchFamily="34" charset="0"/>
              </a:rPr>
              <a:t>SAME</a:t>
            </a:r>
            <a:r>
              <a:rPr lang="en-US" sz="2000" dirty="0">
                <a:latin typeface="Arial" panose="020B0604020202020204" pitchFamily="34" charset="0"/>
                <a:cs typeface="Arial" panose="020B0604020202020204" pitchFamily="34" charset="0"/>
              </a:rPr>
              <a:t> function and set of parameters at every time step. </a:t>
            </a:r>
          </a:p>
        </p:txBody>
      </p:sp>
      <p:sp>
        <p:nvSpPr>
          <p:cNvPr id="3" name="Subtitle 2">
            <a:extLst>
              <a:ext uri="{FF2B5EF4-FFF2-40B4-BE49-F238E27FC236}">
                <a16:creationId xmlns:a16="http://schemas.microsoft.com/office/drawing/2014/main" id="{2FB2C733-BC3E-D8DF-8433-EFD62A991994}"/>
              </a:ext>
            </a:extLst>
          </p:cNvPr>
          <p:cNvSpPr txBox="1">
            <a:spLocks/>
          </p:cNvSpPr>
          <p:nvPr/>
        </p:nvSpPr>
        <p:spPr>
          <a:xfrm>
            <a:off x="8992690" y="3065632"/>
            <a:ext cx="1517073"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Input vector</a:t>
            </a:r>
          </a:p>
        </p:txBody>
      </p:sp>
      <p:sp>
        <p:nvSpPr>
          <p:cNvPr id="12" name="Subtitle 2">
            <a:extLst>
              <a:ext uri="{FF2B5EF4-FFF2-40B4-BE49-F238E27FC236}">
                <a16:creationId xmlns:a16="http://schemas.microsoft.com/office/drawing/2014/main" id="{507D25E9-5F55-2ADA-FE8E-C97337D3FFC4}"/>
              </a:ext>
            </a:extLst>
          </p:cNvPr>
          <p:cNvSpPr txBox="1">
            <a:spLocks/>
          </p:cNvSpPr>
          <p:nvPr/>
        </p:nvSpPr>
        <p:spPr>
          <a:xfrm>
            <a:off x="7475617" y="3094168"/>
            <a:ext cx="1517073" cy="7676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Previous </a:t>
            </a:r>
          </a:p>
          <a:p>
            <a:pPr marL="0" indent="0" algn="ctr">
              <a:buNone/>
            </a:pPr>
            <a:r>
              <a:rPr lang="en-US" sz="1600" dirty="0">
                <a:latin typeface="Arial" panose="020B0604020202020204" pitchFamily="34" charset="0"/>
                <a:cs typeface="Arial" panose="020B0604020202020204" pitchFamily="34" charset="0"/>
              </a:rPr>
              <a:t>hidden state</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625303F-BA16-8DCA-BB25-C2065A2BB080}"/>
                  </a:ext>
                </a:extLst>
              </p:cNvPr>
              <p:cNvSpPr txBox="1"/>
              <p:nvPr/>
            </p:nvSpPr>
            <p:spPr>
              <a:xfrm>
                <a:off x="5664532" y="4279532"/>
                <a:ext cx="1834733" cy="5019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latin typeface="Cambria Math" panose="02040503050406030204" pitchFamily="18" charset="0"/>
                            </a:rPr>
                          </m:ctrlPr>
                        </m:accPr>
                        <m:e>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𝑡</m:t>
                              </m:r>
                            </m:sub>
                          </m:sSub>
                        </m:e>
                      </m:acc>
                      <m:r>
                        <a:rPr lang="en-US" sz="2800" b="0" i="1" smtClean="0">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𝑊</m:t>
                          </m:r>
                        </m:e>
                        <m:sub>
                          <m:r>
                            <a:rPr lang="en-US" sz="2800" i="1">
                              <a:latin typeface="Cambria Math" panose="02040503050406030204" pitchFamily="18" charset="0"/>
                            </a:rPr>
                            <m:t>h</m:t>
                          </m:r>
                          <m:r>
                            <m:rPr>
                              <m:sty m:val="p"/>
                            </m:rPr>
                            <a:rPr lang="en-US" sz="2800" i="1" smtClean="0">
                              <a:latin typeface="Cambria Math" panose="02040503050406030204" pitchFamily="18" charset="0"/>
                            </a:rPr>
                            <m:t>y</m:t>
                          </m:r>
                        </m:sub>
                        <m:sup>
                          <m:r>
                            <a:rPr lang="en-US" sz="2800" i="1">
                              <a:latin typeface="Cambria Math" panose="02040503050406030204" pitchFamily="18" charset="0"/>
                            </a:rPr>
                            <m:t>𝑇</m:t>
                          </m:r>
                        </m:sup>
                      </m:sSubSup>
                      <m:sSub>
                        <m:sSubPr>
                          <m:ctrlPr>
                            <a:rPr lang="en-US" sz="2800" i="1">
                              <a:latin typeface="Cambria Math" panose="02040503050406030204" pitchFamily="18" charset="0"/>
                            </a:rPr>
                          </m:ctrlPr>
                        </m:sSubPr>
                        <m:e>
                          <m:r>
                            <a:rPr lang="en-US" sz="2800" i="1">
                              <a:latin typeface="Cambria Math" panose="02040503050406030204" pitchFamily="18" charset="0"/>
                            </a:rPr>
                            <m:t>h</m:t>
                          </m:r>
                        </m:e>
                        <m:sub>
                          <m:r>
                            <a:rPr lang="en-US" sz="2800" i="1">
                              <a:latin typeface="Cambria Math" panose="02040503050406030204" pitchFamily="18" charset="0"/>
                            </a:rPr>
                            <m:t>𝑡</m:t>
                          </m:r>
                        </m:sub>
                      </m:sSub>
                    </m:oMath>
                  </m:oMathPara>
                </a14:m>
                <a:endParaRPr lang="en-US" sz="2800" dirty="0"/>
              </a:p>
            </p:txBody>
          </p:sp>
        </mc:Choice>
        <mc:Fallback xmlns="">
          <p:sp>
            <p:nvSpPr>
              <p:cNvPr id="14" name="TextBox 13">
                <a:extLst>
                  <a:ext uri="{FF2B5EF4-FFF2-40B4-BE49-F238E27FC236}">
                    <a16:creationId xmlns:a16="http://schemas.microsoft.com/office/drawing/2014/main" id="{F1E35F31-7E8B-4A14-77A3-4C501281F99B}"/>
                  </a:ext>
                </a:extLst>
              </p:cNvPr>
              <p:cNvSpPr txBox="1">
                <a:spLocks noRot="1" noChangeAspect="1" noMove="1" noResize="1" noEditPoints="1" noAdjustHandles="1" noChangeArrowheads="1" noChangeShapeType="1" noTextEdit="1"/>
              </p:cNvSpPr>
              <p:nvPr/>
            </p:nvSpPr>
            <p:spPr>
              <a:xfrm>
                <a:off x="5664532" y="4279532"/>
                <a:ext cx="1834733" cy="501932"/>
              </a:xfrm>
              <a:prstGeom prst="rect">
                <a:avLst/>
              </a:prstGeom>
              <a:blipFill>
                <a:blip r:embed="rId5"/>
                <a:stretch>
                  <a:fillRect l="-3425" t="-9756" b="-19512"/>
                </a:stretch>
              </a:blipFill>
            </p:spPr>
            <p:txBody>
              <a:bodyPr/>
              <a:lstStyle/>
              <a:p>
                <a:r>
                  <a:rPr lang="en-US">
                    <a:noFill/>
                  </a:rPr>
                  <a:t> </a:t>
                </a:r>
              </a:p>
            </p:txBody>
          </p:sp>
        </mc:Fallback>
      </mc:AlternateContent>
      <p:sp>
        <p:nvSpPr>
          <p:cNvPr id="15" name="Subtitle 2">
            <a:extLst>
              <a:ext uri="{FF2B5EF4-FFF2-40B4-BE49-F238E27FC236}">
                <a16:creationId xmlns:a16="http://schemas.microsoft.com/office/drawing/2014/main" id="{E3541B70-B7F5-520A-4580-2369A92E6653}"/>
              </a:ext>
            </a:extLst>
          </p:cNvPr>
          <p:cNvSpPr txBox="1">
            <a:spLocks/>
          </p:cNvSpPr>
          <p:nvPr/>
        </p:nvSpPr>
        <p:spPr>
          <a:xfrm>
            <a:off x="6194841" y="3091710"/>
            <a:ext cx="1517073" cy="8199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Activation </a:t>
            </a:r>
          </a:p>
          <a:p>
            <a:pPr marL="0" indent="0" algn="ctr">
              <a:buNone/>
            </a:pPr>
            <a:r>
              <a:rPr lang="en-US" sz="1600" dirty="0">
                <a:latin typeface="Arial" panose="020B0604020202020204" pitchFamily="34" charset="0"/>
                <a:cs typeface="Arial" panose="020B0604020202020204" pitchFamily="34" charset="0"/>
              </a:rPr>
              <a:t>function</a:t>
            </a:r>
          </a:p>
        </p:txBody>
      </p:sp>
      <p:sp>
        <p:nvSpPr>
          <p:cNvPr id="2" name="Subtitle 2">
            <a:extLst>
              <a:ext uri="{FF2B5EF4-FFF2-40B4-BE49-F238E27FC236}">
                <a16:creationId xmlns:a16="http://schemas.microsoft.com/office/drawing/2014/main" id="{5C8DB5C2-F1ED-07B7-6290-9232A43AA9EC}"/>
              </a:ext>
            </a:extLst>
          </p:cNvPr>
          <p:cNvSpPr txBox="1">
            <a:spLocks/>
          </p:cNvSpPr>
          <p:nvPr/>
        </p:nvSpPr>
        <p:spPr>
          <a:xfrm>
            <a:off x="7957788" y="2278959"/>
            <a:ext cx="1517073"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solidFill>
                  <a:srgbClr val="C00000"/>
                </a:solidFill>
                <a:latin typeface="Arial" panose="020B0604020202020204" pitchFamily="34" charset="0"/>
                <a:cs typeface="Arial" panose="020B0604020202020204" pitchFamily="34" charset="0"/>
              </a:rPr>
              <a:t>past memory</a:t>
            </a:r>
          </a:p>
        </p:txBody>
      </p:sp>
    </p:spTree>
    <p:extLst>
      <p:ext uri="{BB962C8B-B14F-4D97-AF65-F5344CB8AC3E}">
        <p14:creationId xmlns:p14="http://schemas.microsoft.com/office/powerpoint/2010/main" val="46931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12" grpId="0"/>
      <p:bldP spid="14" grpId="0"/>
      <p:bldP spid="15"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07CD6-0E2E-CD19-61FA-29B0A70813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D9B107-0882-0403-2CD9-887C0999EAE5}"/>
              </a:ext>
            </a:extLst>
          </p:cNvPr>
          <p:cNvSpPr>
            <a:spLocks noGrp="1"/>
          </p:cNvSpPr>
          <p:nvPr>
            <p:ph type="sldNum" sz="quarter" idx="12"/>
          </p:nvPr>
        </p:nvSpPr>
        <p:spPr/>
        <p:txBody>
          <a:bodyPr/>
          <a:lstStyle/>
          <a:p>
            <a:fld id="{B3533053-B928-004D-A0E8-A0A092123CEE}" type="slidenum">
              <a:rPr lang="en-US" smtClean="0"/>
              <a:t>4</a:t>
            </a:fld>
            <a:endParaRPr lang="en-US"/>
          </a:p>
        </p:txBody>
      </p:sp>
      <p:sp>
        <p:nvSpPr>
          <p:cNvPr id="3" name="Title 1">
            <a:extLst>
              <a:ext uri="{FF2B5EF4-FFF2-40B4-BE49-F238E27FC236}">
                <a16:creationId xmlns:a16="http://schemas.microsoft.com/office/drawing/2014/main" id="{F87B2953-191B-2981-B7A9-552FDFE479F9}"/>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Recap: motivation of LSTM</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(1997)</a:t>
            </a:r>
            <a:endParaRPr lang="en-US"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63CB6420-FD55-B1F1-D38B-5EC099A79ABA}"/>
              </a:ext>
            </a:extLst>
          </p:cNvPr>
          <p:cNvSpPr txBox="1">
            <a:spLocks/>
          </p:cNvSpPr>
          <p:nvPr/>
        </p:nvSpPr>
        <p:spPr>
          <a:xfrm>
            <a:off x="6492615" y="6357491"/>
            <a:ext cx="6615546"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Ava Amini</a:t>
            </a:r>
          </a:p>
        </p:txBody>
      </p:sp>
      <p:pic>
        <p:nvPicPr>
          <p:cNvPr id="4" name="Picture 3">
            <a:extLst>
              <a:ext uri="{FF2B5EF4-FFF2-40B4-BE49-F238E27FC236}">
                <a16:creationId xmlns:a16="http://schemas.microsoft.com/office/drawing/2014/main" id="{13CF447A-A3A6-93C1-9C00-AF0E69E74985}"/>
              </a:ext>
            </a:extLst>
          </p:cNvPr>
          <p:cNvPicPr>
            <a:picLocks noChangeAspect="1"/>
          </p:cNvPicPr>
          <p:nvPr/>
        </p:nvPicPr>
        <p:blipFill>
          <a:blip r:embed="rId3"/>
          <a:stretch>
            <a:fillRect/>
          </a:stretch>
        </p:blipFill>
        <p:spPr>
          <a:xfrm>
            <a:off x="694718" y="3539346"/>
            <a:ext cx="6615546" cy="2318268"/>
          </a:xfrm>
          <a:prstGeom prst="rect">
            <a:avLst/>
          </a:prstGeom>
        </p:spPr>
      </p:pic>
      <p:sp>
        <p:nvSpPr>
          <p:cNvPr id="7" name="TextBox 6">
            <a:extLst>
              <a:ext uri="{FF2B5EF4-FFF2-40B4-BE49-F238E27FC236}">
                <a16:creationId xmlns:a16="http://schemas.microsoft.com/office/drawing/2014/main" id="{D3321CB0-75FD-E302-F25F-6AF42E4B81D9}"/>
              </a:ext>
            </a:extLst>
          </p:cNvPr>
          <p:cNvSpPr txBox="1"/>
          <p:nvPr/>
        </p:nvSpPr>
        <p:spPr>
          <a:xfrm>
            <a:off x="838200" y="1790189"/>
            <a:ext cx="10071059"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Why is vanishing gradient is a problem?</a:t>
            </a:r>
          </a:p>
        </p:txBody>
      </p:sp>
      <p:sp>
        <p:nvSpPr>
          <p:cNvPr id="13" name="TextBox 12">
            <a:extLst>
              <a:ext uri="{FF2B5EF4-FFF2-40B4-BE49-F238E27FC236}">
                <a16:creationId xmlns:a16="http://schemas.microsoft.com/office/drawing/2014/main" id="{538D9A7F-9800-2C13-2AC7-79A451D36346}"/>
              </a:ext>
            </a:extLst>
          </p:cNvPr>
          <p:cNvSpPr txBox="1"/>
          <p:nvPr/>
        </p:nvSpPr>
        <p:spPr>
          <a:xfrm>
            <a:off x="838199" y="2299770"/>
            <a:ext cx="10071059"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Vanishing gradient is a problem because if we multiply many small numbers together, we would have smaller and smaller gradient, and the bias parameters are only there to capture short-term dependencies. </a:t>
            </a:r>
          </a:p>
        </p:txBody>
      </p:sp>
      <p:sp>
        <p:nvSpPr>
          <p:cNvPr id="15" name="Rectangle 14">
            <a:extLst>
              <a:ext uri="{FF2B5EF4-FFF2-40B4-BE49-F238E27FC236}">
                <a16:creationId xmlns:a16="http://schemas.microsoft.com/office/drawing/2014/main" id="{A5C73749-C63B-1194-E9F6-F21AECD1E56F}"/>
              </a:ext>
            </a:extLst>
          </p:cNvPr>
          <p:cNvSpPr/>
          <p:nvPr/>
        </p:nvSpPr>
        <p:spPr>
          <a:xfrm>
            <a:off x="3338243" y="3308546"/>
            <a:ext cx="1094014" cy="3133250"/>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1FA96F09-70AF-4412-C0EF-190D5EC22CD9}"/>
              </a:ext>
            </a:extLst>
          </p:cNvPr>
          <p:cNvGrpSpPr/>
          <p:nvPr/>
        </p:nvGrpSpPr>
        <p:grpSpPr>
          <a:xfrm>
            <a:off x="7759745" y="3346085"/>
            <a:ext cx="3873501" cy="2422227"/>
            <a:chOff x="1255643" y="3150528"/>
            <a:chExt cx="3873501" cy="2422227"/>
          </a:xfrm>
        </p:grpSpPr>
        <p:pic>
          <p:nvPicPr>
            <p:cNvPr id="8" name="Picture 7">
              <a:extLst>
                <a:ext uri="{FF2B5EF4-FFF2-40B4-BE49-F238E27FC236}">
                  <a16:creationId xmlns:a16="http://schemas.microsoft.com/office/drawing/2014/main" id="{F6DF458E-D2F0-F2AB-DA81-DFD0D318264B}"/>
                </a:ext>
              </a:extLst>
            </p:cNvPr>
            <p:cNvPicPr>
              <a:picLocks noChangeAspect="1"/>
            </p:cNvPicPr>
            <p:nvPr/>
          </p:nvPicPr>
          <p:blipFill>
            <a:blip r:embed="rId4"/>
            <a:stretch>
              <a:fillRect/>
            </a:stretch>
          </p:blipFill>
          <p:spPr>
            <a:xfrm>
              <a:off x="1633606" y="3150528"/>
              <a:ext cx="3060700" cy="1600200"/>
            </a:xfrm>
            <a:prstGeom prst="rect">
              <a:avLst/>
            </a:prstGeom>
          </p:spPr>
        </p:pic>
        <p:sp>
          <p:nvSpPr>
            <p:cNvPr id="9" name="TextBox 8">
              <a:extLst>
                <a:ext uri="{FF2B5EF4-FFF2-40B4-BE49-F238E27FC236}">
                  <a16:creationId xmlns:a16="http://schemas.microsoft.com/office/drawing/2014/main" id="{9E4D98A6-5177-546E-41FF-1E5D25F5FDE0}"/>
                </a:ext>
              </a:extLst>
            </p:cNvPr>
            <p:cNvSpPr txBox="1"/>
            <p:nvPr/>
          </p:nvSpPr>
          <p:spPr>
            <a:xfrm>
              <a:off x="1255643" y="4926424"/>
              <a:ext cx="3873501"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Gates can optionally let information</a:t>
              </a:r>
            </a:p>
            <a:p>
              <a:r>
                <a:rPr lang="en-US" dirty="0">
                  <a:latin typeface="Arial" panose="020B0604020202020204" pitchFamily="34" charset="0"/>
                  <a:cs typeface="Arial" panose="020B0604020202020204" pitchFamily="34" charset="0"/>
                </a:rPr>
                <a:t>through the cell</a:t>
              </a:r>
            </a:p>
          </p:txBody>
        </p:sp>
      </p:grpSp>
    </p:spTree>
    <p:extLst>
      <p:ext uri="{BB962C8B-B14F-4D97-AF65-F5344CB8AC3E}">
        <p14:creationId xmlns:p14="http://schemas.microsoft.com/office/powerpoint/2010/main" val="235056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ED1E-D097-ACF2-F95A-B6495CAD87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75E912-D120-2295-3275-900A627BC0C7}"/>
              </a:ext>
            </a:extLst>
          </p:cNvPr>
          <p:cNvSpPr>
            <a:spLocks noGrp="1"/>
          </p:cNvSpPr>
          <p:nvPr>
            <p:ph type="sldNum" sz="quarter" idx="12"/>
          </p:nvPr>
        </p:nvSpPr>
        <p:spPr/>
        <p:txBody>
          <a:bodyPr/>
          <a:lstStyle/>
          <a:p>
            <a:fld id="{B3533053-B928-004D-A0E8-A0A092123CEE}" type="slidenum">
              <a:rPr lang="en-US" smtClean="0"/>
              <a:t>5</a:t>
            </a:fld>
            <a:endParaRPr lang="en-US"/>
          </a:p>
        </p:txBody>
      </p:sp>
      <p:sp>
        <p:nvSpPr>
          <p:cNvPr id="6" name="Title 1">
            <a:extLst>
              <a:ext uri="{FF2B5EF4-FFF2-40B4-BE49-F238E27FC236}">
                <a16:creationId xmlns:a16="http://schemas.microsoft.com/office/drawing/2014/main" id="{8D03300E-7BAF-00B8-586D-08F588D9F9A0}"/>
              </a:ext>
            </a:extLst>
          </p:cNvPr>
          <p:cNvSpPr>
            <a:spLocks noGrp="1"/>
          </p:cNvSpPr>
          <p:nvPr>
            <p:ph type="title"/>
          </p:nvPr>
        </p:nvSpPr>
        <p:spPr>
          <a:xfrm>
            <a:off x="741311" y="778933"/>
            <a:ext cx="11231613" cy="5577417"/>
          </a:xfrm>
        </p:spPr>
        <p:txBody>
          <a:bodyPr>
            <a:normAutofit/>
          </a:bodyPr>
          <a:lstStyle/>
          <a:p>
            <a:br>
              <a:rPr lang="en-US" altLang="zh-CN" dirty="0">
                <a:latin typeface="Arial" panose="020B0604020202020204" pitchFamily="34" charset="0"/>
                <a:cs typeface="Arial" panose="020B0604020202020204" pitchFamily="34" charset="0"/>
              </a:rPr>
            </a:br>
            <a:r>
              <a:rPr lang="en-US" altLang="zh-CN" dirty="0">
                <a:solidFill>
                  <a:srgbClr val="C00000"/>
                </a:solidFill>
                <a:latin typeface="Arial" panose="020B0604020202020204" pitchFamily="34" charset="0"/>
                <a:cs typeface="Arial" panose="020B0604020202020204" pitchFamily="34" charset="0"/>
              </a:rPr>
              <a:t>1. More on LSTM</a:t>
            </a:r>
            <a:br>
              <a:rPr lang="en-US" altLang="zh-CN" dirty="0">
                <a:latin typeface="Arial" panose="020B0604020202020204" pitchFamily="34" charset="0"/>
                <a:cs typeface="Arial" panose="020B0604020202020204" pitchFamily="34" charset="0"/>
              </a:rPr>
            </a:br>
            <a:br>
              <a:rPr lang="en-US" altLang="zh-CN" dirty="0">
                <a:latin typeface="Arial" panose="020B0604020202020204" pitchFamily="34" charset="0"/>
                <a:cs typeface="Arial" panose="020B0604020202020204" pitchFamily="34" charset="0"/>
              </a:rPr>
            </a:br>
            <a:r>
              <a:rPr lang="en-US" altLang="zh-CN" dirty="0">
                <a:latin typeface="Arial" panose="020B0604020202020204" pitchFamily="34" charset="0"/>
                <a:cs typeface="Arial" panose="020B0604020202020204" pitchFamily="34" charset="0"/>
              </a:rPr>
              <a:t>2. Attention and Transformers</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309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DFFAF-7CE0-B327-5D48-38C5347482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5EE88F-DF69-1664-7B32-2A1AC55AE6E2}"/>
              </a:ext>
            </a:extLst>
          </p:cNvPr>
          <p:cNvSpPr>
            <a:spLocks noGrp="1"/>
          </p:cNvSpPr>
          <p:nvPr>
            <p:ph type="sldNum" sz="quarter" idx="12"/>
          </p:nvPr>
        </p:nvSpPr>
        <p:spPr/>
        <p:txBody>
          <a:bodyPr/>
          <a:lstStyle/>
          <a:p>
            <a:fld id="{B3533053-B928-004D-A0E8-A0A092123CEE}" type="slidenum">
              <a:rPr lang="en-US" smtClean="0"/>
              <a:t>6</a:t>
            </a:fld>
            <a:endParaRPr lang="en-US" dirty="0"/>
          </a:p>
        </p:txBody>
      </p:sp>
      <p:sp>
        <p:nvSpPr>
          <p:cNvPr id="3" name="Title 1">
            <a:extLst>
              <a:ext uri="{FF2B5EF4-FFF2-40B4-BE49-F238E27FC236}">
                <a16:creationId xmlns:a16="http://schemas.microsoft.com/office/drawing/2014/main" id="{AD920E93-D891-0D56-1CB0-0A655BED3FEB}"/>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LSTM</a:t>
            </a:r>
          </a:p>
        </p:txBody>
      </p:sp>
      <p:grpSp>
        <p:nvGrpSpPr>
          <p:cNvPr id="22" name="Group 21">
            <a:extLst>
              <a:ext uri="{FF2B5EF4-FFF2-40B4-BE49-F238E27FC236}">
                <a16:creationId xmlns:a16="http://schemas.microsoft.com/office/drawing/2014/main" id="{E3A6B53F-D7C5-6741-2BEA-B09E4B2A07BA}"/>
              </a:ext>
            </a:extLst>
          </p:cNvPr>
          <p:cNvGrpSpPr/>
          <p:nvPr/>
        </p:nvGrpSpPr>
        <p:grpSpPr>
          <a:xfrm>
            <a:off x="838200" y="1741649"/>
            <a:ext cx="2706549" cy="3097429"/>
            <a:chOff x="838200" y="1741649"/>
            <a:chExt cx="2706549" cy="3097429"/>
          </a:xfrm>
        </p:grpSpPr>
        <p:pic>
          <p:nvPicPr>
            <p:cNvPr id="10" name="Picture 9">
              <a:extLst>
                <a:ext uri="{FF2B5EF4-FFF2-40B4-BE49-F238E27FC236}">
                  <a16:creationId xmlns:a16="http://schemas.microsoft.com/office/drawing/2014/main" id="{7B13FE9C-D6E4-AE78-1366-5115E43C8ACA}"/>
                </a:ext>
              </a:extLst>
            </p:cNvPr>
            <p:cNvPicPr>
              <a:picLocks noChangeAspect="1"/>
            </p:cNvPicPr>
            <p:nvPr/>
          </p:nvPicPr>
          <p:blipFill>
            <a:blip r:embed="rId3"/>
            <a:stretch>
              <a:fillRect/>
            </a:stretch>
          </p:blipFill>
          <p:spPr>
            <a:xfrm>
              <a:off x="1132245" y="2387513"/>
              <a:ext cx="2048277" cy="2451565"/>
            </a:xfrm>
            <a:prstGeom prst="rect">
              <a:avLst/>
            </a:prstGeom>
          </p:spPr>
        </p:pic>
        <p:sp>
          <p:nvSpPr>
            <p:cNvPr id="11" name="Rectangle 10">
              <a:extLst>
                <a:ext uri="{FF2B5EF4-FFF2-40B4-BE49-F238E27FC236}">
                  <a16:creationId xmlns:a16="http://schemas.microsoft.com/office/drawing/2014/main" id="{7CA5192F-04DA-93CE-C68C-1B0659D48C04}"/>
                </a:ext>
              </a:extLst>
            </p:cNvPr>
            <p:cNvSpPr/>
            <p:nvPr/>
          </p:nvSpPr>
          <p:spPr>
            <a:xfrm>
              <a:off x="838200" y="1741649"/>
              <a:ext cx="2706549" cy="506368"/>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Vanilla RNN</a:t>
              </a:r>
            </a:p>
          </p:txBody>
        </p:sp>
      </p:grpSp>
      <p:pic>
        <p:nvPicPr>
          <p:cNvPr id="12" name="Picture 11">
            <a:extLst>
              <a:ext uri="{FF2B5EF4-FFF2-40B4-BE49-F238E27FC236}">
                <a16:creationId xmlns:a16="http://schemas.microsoft.com/office/drawing/2014/main" id="{DEF45B76-31F4-5688-CF56-94AA12133D39}"/>
              </a:ext>
            </a:extLst>
          </p:cNvPr>
          <p:cNvPicPr>
            <a:picLocks noChangeAspect="1"/>
          </p:cNvPicPr>
          <p:nvPr/>
        </p:nvPicPr>
        <p:blipFill>
          <a:blip r:embed="rId4"/>
          <a:stretch>
            <a:fillRect/>
          </a:stretch>
        </p:blipFill>
        <p:spPr>
          <a:xfrm>
            <a:off x="940696" y="5240861"/>
            <a:ext cx="3893103" cy="722618"/>
          </a:xfrm>
          <a:prstGeom prst="rect">
            <a:avLst/>
          </a:prstGeom>
        </p:spPr>
      </p:pic>
      <p:sp>
        <p:nvSpPr>
          <p:cNvPr id="14" name="Subtitle 2">
            <a:extLst>
              <a:ext uri="{FF2B5EF4-FFF2-40B4-BE49-F238E27FC236}">
                <a16:creationId xmlns:a16="http://schemas.microsoft.com/office/drawing/2014/main" id="{06E65C3D-2C15-3D62-8F0B-47EF20887B9A}"/>
              </a:ext>
            </a:extLst>
          </p:cNvPr>
          <p:cNvSpPr txBox="1">
            <a:spLocks/>
          </p:cNvSpPr>
          <p:nvPr/>
        </p:nvSpPr>
        <p:spPr>
          <a:xfrm>
            <a:off x="2786212" y="5963479"/>
            <a:ext cx="1517073"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rgbClr val="C00000"/>
                </a:solidFill>
                <a:latin typeface="Arial" panose="020B0604020202020204" pitchFamily="34" charset="0"/>
                <a:cs typeface="Arial" panose="020B0604020202020204" pitchFamily="34" charset="0"/>
              </a:rPr>
              <a:t>Input vector</a:t>
            </a:r>
          </a:p>
        </p:txBody>
      </p:sp>
      <p:grpSp>
        <p:nvGrpSpPr>
          <p:cNvPr id="24" name="Group 23">
            <a:extLst>
              <a:ext uri="{FF2B5EF4-FFF2-40B4-BE49-F238E27FC236}">
                <a16:creationId xmlns:a16="http://schemas.microsoft.com/office/drawing/2014/main" id="{2D87CA56-DB5C-ADDA-A78B-91B824BBF5A9}"/>
              </a:ext>
            </a:extLst>
          </p:cNvPr>
          <p:cNvGrpSpPr/>
          <p:nvPr/>
        </p:nvGrpSpPr>
        <p:grpSpPr>
          <a:xfrm>
            <a:off x="6600398" y="1792009"/>
            <a:ext cx="4694583" cy="3306627"/>
            <a:chOff x="6600398" y="1792009"/>
            <a:chExt cx="4694583" cy="3306627"/>
          </a:xfrm>
        </p:grpSpPr>
        <p:pic>
          <p:nvPicPr>
            <p:cNvPr id="17" name="Picture 16">
              <a:extLst>
                <a:ext uri="{FF2B5EF4-FFF2-40B4-BE49-F238E27FC236}">
                  <a16:creationId xmlns:a16="http://schemas.microsoft.com/office/drawing/2014/main" id="{B64950D5-EAB3-D936-65B5-51E4456314B3}"/>
                </a:ext>
              </a:extLst>
            </p:cNvPr>
            <p:cNvPicPr>
              <a:picLocks noChangeAspect="1"/>
            </p:cNvPicPr>
            <p:nvPr/>
          </p:nvPicPr>
          <p:blipFill>
            <a:blip r:embed="rId5"/>
            <a:stretch>
              <a:fillRect/>
            </a:stretch>
          </p:blipFill>
          <p:spPr>
            <a:xfrm>
              <a:off x="6600398" y="2674050"/>
              <a:ext cx="4694583" cy="2424586"/>
            </a:xfrm>
            <a:prstGeom prst="rect">
              <a:avLst/>
            </a:prstGeom>
          </p:spPr>
        </p:pic>
        <p:sp>
          <p:nvSpPr>
            <p:cNvPr id="18" name="Rectangle 17">
              <a:extLst>
                <a:ext uri="{FF2B5EF4-FFF2-40B4-BE49-F238E27FC236}">
                  <a16:creationId xmlns:a16="http://schemas.microsoft.com/office/drawing/2014/main" id="{A9DEE05E-58EC-000A-E2DA-C58E6E927397}"/>
                </a:ext>
              </a:extLst>
            </p:cNvPr>
            <p:cNvSpPr/>
            <p:nvPr/>
          </p:nvSpPr>
          <p:spPr>
            <a:xfrm>
              <a:off x="6600398" y="1792009"/>
              <a:ext cx="4694583" cy="506368"/>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LSTM</a:t>
              </a:r>
            </a:p>
          </p:txBody>
        </p:sp>
      </p:grpSp>
      <p:grpSp>
        <p:nvGrpSpPr>
          <p:cNvPr id="25" name="Group 24">
            <a:extLst>
              <a:ext uri="{FF2B5EF4-FFF2-40B4-BE49-F238E27FC236}">
                <a16:creationId xmlns:a16="http://schemas.microsoft.com/office/drawing/2014/main" id="{D4E9F153-7741-3A3F-71FC-300FE1B1C42B}"/>
              </a:ext>
            </a:extLst>
          </p:cNvPr>
          <p:cNvGrpSpPr/>
          <p:nvPr/>
        </p:nvGrpSpPr>
        <p:grpSpPr>
          <a:xfrm>
            <a:off x="6677756" y="5348986"/>
            <a:ext cx="4096671" cy="1042619"/>
            <a:chOff x="6677756" y="5348986"/>
            <a:chExt cx="4096671" cy="1042619"/>
          </a:xfrm>
        </p:grpSpPr>
        <p:sp>
          <p:nvSpPr>
            <p:cNvPr id="16" name="Subtitle 2">
              <a:extLst>
                <a:ext uri="{FF2B5EF4-FFF2-40B4-BE49-F238E27FC236}">
                  <a16:creationId xmlns:a16="http://schemas.microsoft.com/office/drawing/2014/main" id="{C6A937D0-8A8B-76F8-520D-ABAC080FB00C}"/>
                </a:ext>
              </a:extLst>
            </p:cNvPr>
            <p:cNvSpPr txBox="1">
              <a:spLocks/>
            </p:cNvSpPr>
            <p:nvPr/>
          </p:nvSpPr>
          <p:spPr>
            <a:xfrm>
              <a:off x="6677756" y="5348986"/>
              <a:ext cx="4096671"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At</a:t>
              </a:r>
              <a:r>
                <a:rPr lang="zh-CN" altLang="en-US" sz="16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each time step: </a:t>
              </a:r>
              <a:r>
                <a:rPr lang="en-US" sz="1600" dirty="0">
                  <a:latin typeface="Arial" panose="020B0604020202020204" pitchFamily="34" charset="0"/>
                  <a:cs typeface="Arial" panose="020B0604020202020204" pitchFamily="34" charset="0"/>
                </a:rPr>
                <a:t> we introduce 4 </a:t>
              </a:r>
              <a:r>
                <a:rPr lang="en-US" sz="1600" b="1" dirty="0">
                  <a:solidFill>
                    <a:srgbClr val="C00000"/>
                  </a:solidFill>
                  <a:latin typeface="Arial" panose="020B0604020202020204" pitchFamily="34" charset="0"/>
                  <a:cs typeface="Arial" panose="020B0604020202020204" pitchFamily="34" charset="0"/>
                </a:rPr>
                <a:t>gates</a:t>
              </a:r>
              <a:r>
                <a:rPr lang="en-US" sz="1600" dirty="0">
                  <a:latin typeface="Arial" panose="020B0604020202020204" pitchFamily="34" charset="0"/>
                  <a:cs typeface="Arial" panose="020B0604020202020204" pitchFamily="34" charset="0"/>
                </a:rPr>
                <a:t> and a new </a:t>
              </a:r>
              <a:r>
                <a:rPr lang="en-US" sz="1600" b="1" dirty="0">
                  <a:solidFill>
                    <a:srgbClr val="C00000"/>
                  </a:solidFill>
                  <a:latin typeface="Arial" panose="020B0604020202020204" pitchFamily="34" charset="0"/>
                  <a:cs typeface="Arial" panose="020B0604020202020204" pitchFamily="34" charset="0"/>
                </a:rPr>
                <a:t>state</a:t>
              </a:r>
              <a:r>
                <a:rPr lang="en-US" sz="1600" dirty="0">
                  <a:latin typeface="Arial" panose="020B0604020202020204" pitchFamily="34" charset="0"/>
                  <a:cs typeface="Arial" panose="020B0604020202020204" pitchFamily="34" charset="0"/>
                </a:rPr>
                <a:t> -&gt; cell state </a:t>
              </a:r>
            </a:p>
          </p:txBody>
        </p:sp>
        <p:pic>
          <p:nvPicPr>
            <p:cNvPr id="19" name="Picture 18">
              <a:extLst>
                <a:ext uri="{FF2B5EF4-FFF2-40B4-BE49-F238E27FC236}">
                  <a16:creationId xmlns:a16="http://schemas.microsoft.com/office/drawing/2014/main" id="{C2BCF458-2577-F183-2E93-AB0234D93DAB}"/>
                </a:ext>
              </a:extLst>
            </p:cNvPr>
            <p:cNvPicPr>
              <a:picLocks noChangeAspect="1"/>
            </p:cNvPicPr>
            <p:nvPr/>
          </p:nvPicPr>
          <p:blipFill>
            <a:blip r:embed="rId6"/>
            <a:stretch>
              <a:fillRect/>
            </a:stretch>
          </p:blipFill>
          <p:spPr>
            <a:xfrm>
              <a:off x="7833897" y="5927329"/>
              <a:ext cx="1784387" cy="464276"/>
            </a:xfrm>
            <a:prstGeom prst="rect">
              <a:avLst/>
            </a:prstGeom>
          </p:spPr>
        </p:pic>
      </p:grpSp>
      <p:sp>
        <p:nvSpPr>
          <p:cNvPr id="21" name="Subtitle 2">
            <a:extLst>
              <a:ext uri="{FF2B5EF4-FFF2-40B4-BE49-F238E27FC236}">
                <a16:creationId xmlns:a16="http://schemas.microsoft.com/office/drawing/2014/main" id="{EBDF7E30-D731-8695-397F-018051CB7D9A}"/>
              </a:ext>
            </a:extLst>
          </p:cNvPr>
          <p:cNvSpPr txBox="1">
            <a:spLocks/>
          </p:cNvSpPr>
          <p:nvPr/>
        </p:nvSpPr>
        <p:spPr>
          <a:xfrm>
            <a:off x="6310511" y="6448532"/>
            <a:ext cx="6615546"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Justin Johnson</a:t>
            </a:r>
          </a:p>
        </p:txBody>
      </p:sp>
      <p:sp>
        <p:nvSpPr>
          <p:cNvPr id="23" name="Subtitle 2">
            <a:extLst>
              <a:ext uri="{FF2B5EF4-FFF2-40B4-BE49-F238E27FC236}">
                <a16:creationId xmlns:a16="http://schemas.microsoft.com/office/drawing/2014/main" id="{44E1AA05-E2A6-BB47-603F-0AFEF03E8390}"/>
              </a:ext>
            </a:extLst>
          </p:cNvPr>
          <p:cNvSpPr txBox="1">
            <a:spLocks/>
          </p:cNvSpPr>
          <p:nvPr/>
        </p:nvSpPr>
        <p:spPr>
          <a:xfrm>
            <a:off x="2887247" y="4908342"/>
            <a:ext cx="2217188"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rgbClr val="C00000"/>
                </a:solidFill>
                <a:latin typeface="Arial" panose="020B0604020202020204" pitchFamily="34" charset="0"/>
                <a:cs typeface="Arial" panose="020B0604020202020204" pitchFamily="34" charset="0"/>
              </a:rPr>
              <a:t>Previous hidden state</a:t>
            </a:r>
          </a:p>
        </p:txBody>
      </p:sp>
      <p:grpSp>
        <p:nvGrpSpPr>
          <p:cNvPr id="31" name="Group 30">
            <a:extLst>
              <a:ext uri="{FF2B5EF4-FFF2-40B4-BE49-F238E27FC236}">
                <a16:creationId xmlns:a16="http://schemas.microsoft.com/office/drawing/2014/main" id="{73295C4F-FEE6-C416-FA1D-4FBBF8DECBFD}"/>
              </a:ext>
            </a:extLst>
          </p:cNvPr>
          <p:cNvGrpSpPr/>
          <p:nvPr/>
        </p:nvGrpSpPr>
        <p:grpSpPr>
          <a:xfrm>
            <a:off x="9524722" y="4416899"/>
            <a:ext cx="2144806" cy="738664"/>
            <a:chOff x="9524722" y="4416899"/>
            <a:chExt cx="2144806" cy="738664"/>
          </a:xfrm>
        </p:grpSpPr>
        <p:sp>
          <p:nvSpPr>
            <p:cNvPr id="26" name="TextBox 25">
              <a:extLst>
                <a:ext uri="{FF2B5EF4-FFF2-40B4-BE49-F238E27FC236}">
                  <a16:creationId xmlns:a16="http://schemas.microsoft.com/office/drawing/2014/main" id="{034EB5FD-A68E-EBE7-A4B3-7B8DAA45FD02}"/>
                </a:ext>
              </a:extLst>
            </p:cNvPr>
            <p:cNvSpPr txBox="1"/>
            <p:nvPr/>
          </p:nvSpPr>
          <p:spPr>
            <a:xfrm>
              <a:off x="9982200" y="4416899"/>
              <a:ext cx="1687328"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Hadamard elementwise product operator </a:t>
              </a:r>
            </a:p>
          </p:txBody>
        </p:sp>
        <p:cxnSp>
          <p:nvCxnSpPr>
            <p:cNvPr id="28" name="Straight Arrow Connector 27">
              <a:extLst>
                <a:ext uri="{FF2B5EF4-FFF2-40B4-BE49-F238E27FC236}">
                  <a16:creationId xmlns:a16="http://schemas.microsoft.com/office/drawing/2014/main" id="{4424ACF0-8443-B775-E639-D11A441C2F2C}"/>
                </a:ext>
              </a:extLst>
            </p:cNvPr>
            <p:cNvCxnSpPr>
              <a:cxnSpLocks/>
            </p:cNvCxnSpPr>
            <p:nvPr/>
          </p:nvCxnSpPr>
          <p:spPr>
            <a:xfrm flipH="1" flipV="1">
              <a:off x="9524722" y="4543235"/>
              <a:ext cx="457478" cy="264758"/>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9916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xample of linear and nonlinear data: green points are a cluster and the blue ones are another. Linear data can be separated by a line while non linear data can not.">
            <a:extLst>
              <a:ext uri="{FF2B5EF4-FFF2-40B4-BE49-F238E27FC236}">
                <a16:creationId xmlns:a16="http://schemas.microsoft.com/office/drawing/2014/main" id="{EB2D660E-D1BB-C939-F489-F89F7085D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2833" y="3952094"/>
            <a:ext cx="2303706" cy="173681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CD13EDA-B0C0-79CB-E166-17D120EE7771}"/>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Recall:</a:t>
            </a:r>
            <a:r>
              <a:rPr lang="zh-CN" alt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activation functions</a:t>
            </a:r>
          </a:p>
        </p:txBody>
      </p:sp>
      <p:sp>
        <p:nvSpPr>
          <p:cNvPr id="3" name="TextBox 2">
            <a:extLst>
              <a:ext uri="{FF2B5EF4-FFF2-40B4-BE49-F238E27FC236}">
                <a16:creationId xmlns:a16="http://schemas.microsoft.com/office/drawing/2014/main" id="{C7AD824C-9304-FDA0-5C74-4C1196830DE0}"/>
              </a:ext>
            </a:extLst>
          </p:cNvPr>
          <p:cNvSpPr txBox="1"/>
          <p:nvPr/>
        </p:nvSpPr>
        <p:spPr>
          <a:xfrm>
            <a:off x="838200" y="1506022"/>
            <a:ext cx="3536301" cy="1569660"/>
          </a:xfrm>
          <a:prstGeom prst="rect">
            <a:avLst/>
          </a:prstGeom>
          <a:noFill/>
        </p:spPr>
        <p:txBody>
          <a:bodyPr wrap="square" rtlCol="0">
            <a:spAutoFit/>
          </a:bodyPr>
          <a:lstStyle/>
          <a:p>
            <a:pPr marL="457200" indent="-457200">
              <a:buAutoNum type="arabicPeriod"/>
            </a:pPr>
            <a:r>
              <a:rPr lang="en-US" sz="2400" dirty="0">
                <a:latin typeface="Arial" panose="020B0604020202020204" pitchFamily="34" charset="0"/>
                <a:cs typeface="Arial" panose="020B0604020202020204" pitchFamily="34" charset="0"/>
              </a:rPr>
              <a:t>It is important to introduce non-linearity when analyze data</a:t>
            </a:r>
          </a:p>
        </p:txBody>
      </p:sp>
      <p:sp>
        <p:nvSpPr>
          <p:cNvPr id="6" name="Slide Number Placeholder 5">
            <a:extLst>
              <a:ext uri="{FF2B5EF4-FFF2-40B4-BE49-F238E27FC236}">
                <a16:creationId xmlns:a16="http://schemas.microsoft.com/office/drawing/2014/main" id="{45C927F3-8722-60FA-FAA1-526394104C19}"/>
              </a:ext>
            </a:extLst>
          </p:cNvPr>
          <p:cNvSpPr>
            <a:spLocks noGrp="1"/>
          </p:cNvSpPr>
          <p:nvPr>
            <p:ph type="sldNum" sz="quarter" idx="12"/>
          </p:nvPr>
        </p:nvSpPr>
        <p:spPr/>
        <p:txBody>
          <a:bodyPr/>
          <a:lstStyle/>
          <a:p>
            <a:fld id="{B3533053-B928-004D-A0E8-A0A092123CEE}" type="slidenum">
              <a:rPr lang="en-US" smtClean="0"/>
              <a:t>7</a:t>
            </a:fld>
            <a:endParaRPr lang="en-US"/>
          </a:p>
        </p:txBody>
      </p:sp>
      <p:grpSp>
        <p:nvGrpSpPr>
          <p:cNvPr id="10" name="Group 9">
            <a:extLst>
              <a:ext uri="{FF2B5EF4-FFF2-40B4-BE49-F238E27FC236}">
                <a16:creationId xmlns:a16="http://schemas.microsoft.com/office/drawing/2014/main" id="{EA8B13A8-0E94-E9B5-0AE9-5FE46B4F7EA2}"/>
              </a:ext>
            </a:extLst>
          </p:cNvPr>
          <p:cNvGrpSpPr/>
          <p:nvPr/>
        </p:nvGrpSpPr>
        <p:grpSpPr>
          <a:xfrm>
            <a:off x="4143124" y="1533764"/>
            <a:ext cx="8329859" cy="4137272"/>
            <a:chOff x="4143124" y="1533764"/>
            <a:chExt cx="8329859" cy="4137272"/>
          </a:xfrm>
        </p:grpSpPr>
        <p:sp>
          <p:nvSpPr>
            <p:cNvPr id="4" name="TextBox 3">
              <a:extLst>
                <a:ext uri="{FF2B5EF4-FFF2-40B4-BE49-F238E27FC236}">
                  <a16:creationId xmlns:a16="http://schemas.microsoft.com/office/drawing/2014/main" id="{0BDC56B8-9F3F-C026-6824-D1CAC0A05A1F}"/>
                </a:ext>
              </a:extLst>
            </p:cNvPr>
            <p:cNvSpPr txBox="1"/>
            <p:nvPr/>
          </p:nvSpPr>
          <p:spPr>
            <a:xfrm>
              <a:off x="4143124" y="1533764"/>
              <a:ext cx="7926956" cy="470429"/>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2. Common activation functions</a:t>
              </a:r>
              <a:r>
                <a:rPr lang="zh-CN" altLang="en-US" sz="2400"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to introduce </a:t>
              </a:r>
              <a:r>
                <a:rPr lang="en-US" sz="2400" dirty="0">
                  <a:latin typeface="Arial" panose="020B0604020202020204" pitchFamily="34" charset="0"/>
                  <a:cs typeface="Arial" panose="020B0604020202020204" pitchFamily="34" charset="0"/>
                </a:rPr>
                <a:t>non-linearity</a:t>
              </a:r>
            </a:p>
          </p:txBody>
        </p:sp>
        <p:grpSp>
          <p:nvGrpSpPr>
            <p:cNvPr id="22" name="Group 21">
              <a:extLst>
                <a:ext uri="{FF2B5EF4-FFF2-40B4-BE49-F238E27FC236}">
                  <a16:creationId xmlns:a16="http://schemas.microsoft.com/office/drawing/2014/main" id="{E4A73DCF-1FE3-5BCD-47F9-7A85B9358210}"/>
                </a:ext>
              </a:extLst>
            </p:cNvPr>
            <p:cNvGrpSpPr/>
            <p:nvPr/>
          </p:nvGrpSpPr>
          <p:grpSpPr>
            <a:xfrm>
              <a:off x="4516313" y="5355647"/>
              <a:ext cx="1878205" cy="315381"/>
              <a:chOff x="1455071" y="6368526"/>
              <a:chExt cx="2493626" cy="309506"/>
            </a:xfrm>
          </p:grpSpPr>
          <p:sp>
            <p:nvSpPr>
              <p:cNvPr id="14" name="Rectangle 13">
                <a:extLst>
                  <a:ext uri="{FF2B5EF4-FFF2-40B4-BE49-F238E27FC236}">
                    <a16:creationId xmlns:a16="http://schemas.microsoft.com/office/drawing/2014/main" id="{785340A0-8AC8-1850-61B9-5ACD373B22F0}"/>
                  </a:ext>
                </a:extLst>
              </p:cNvPr>
              <p:cNvSpPr/>
              <p:nvPr/>
            </p:nvSpPr>
            <p:spPr>
              <a:xfrm>
                <a:off x="1661565" y="6376818"/>
                <a:ext cx="2287132" cy="3012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0" i="0" dirty="0" err="1">
                    <a:solidFill>
                      <a:srgbClr val="FFFFFF"/>
                    </a:solidFill>
                    <a:effectLst/>
                    <a:latin typeface="Söhne Mono"/>
                  </a:rPr>
                  <a:t>torch.sigmoid</a:t>
                </a:r>
                <a:r>
                  <a:rPr lang="en-US" b="0" i="0" dirty="0">
                    <a:solidFill>
                      <a:srgbClr val="FFFFFF"/>
                    </a:solidFill>
                    <a:effectLst/>
                    <a:latin typeface="Söhne Mono"/>
                  </a:rPr>
                  <a:t>(x)</a:t>
                </a:r>
                <a:endParaRPr lang="en-US" dirty="0"/>
              </a:p>
            </p:txBody>
          </p:sp>
          <p:pic>
            <p:nvPicPr>
              <p:cNvPr id="17" name="Picture 16">
                <a:extLst>
                  <a:ext uri="{FF2B5EF4-FFF2-40B4-BE49-F238E27FC236}">
                    <a16:creationId xmlns:a16="http://schemas.microsoft.com/office/drawing/2014/main" id="{2C9A043F-7A74-420D-B280-3F4E80ECF65B}"/>
                  </a:ext>
                </a:extLst>
              </p:cNvPr>
              <p:cNvPicPr>
                <a:picLocks noChangeAspect="1"/>
              </p:cNvPicPr>
              <p:nvPr/>
            </p:nvPicPr>
            <p:blipFill>
              <a:blip r:embed="rId4"/>
              <a:stretch>
                <a:fillRect/>
              </a:stretch>
            </p:blipFill>
            <p:spPr>
              <a:xfrm>
                <a:off x="1455071" y="6368526"/>
                <a:ext cx="270260" cy="301214"/>
              </a:xfrm>
              <a:prstGeom prst="rect">
                <a:avLst/>
              </a:prstGeom>
            </p:spPr>
          </p:pic>
        </p:grpSp>
        <p:grpSp>
          <p:nvGrpSpPr>
            <p:cNvPr id="23" name="Group 22">
              <a:extLst>
                <a:ext uri="{FF2B5EF4-FFF2-40B4-BE49-F238E27FC236}">
                  <a16:creationId xmlns:a16="http://schemas.microsoft.com/office/drawing/2014/main" id="{17C556F1-0EE7-D3CE-F8B1-7D75FDC58DC2}"/>
                </a:ext>
              </a:extLst>
            </p:cNvPr>
            <p:cNvGrpSpPr/>
            <p:nvPr/>
          </p:nvGrpSpPr>
          <p:grpSpPr>
            <a:xfrm>
              <a:off x="7259905" y="5364104"/>
              <a:ext cx="1730775" cy="306932"/>
              <a:chOff x="4413425" y="6368526"/>
              <a:chExt cx="2297889" cy="301214"/>
            </a:xfrm>
          </p:grpSpPr>
          <p:sp>
            <p:nvSpPr>
              <p:cNvPr id="18" name="Rectangle 17">
                <a:extLst>
                  <a:ext uri="{FF2B5EF4-FFF2-40B4-BE49-F238E27FC236}">
                    <a16:creationId xmlns:a16="http://schemas.microsoft.com/office/drawing/2014/main" id="{54B17364-3988-52D5-70E4-1F2AF232FB1C}"/>
                  </a:ext>
                </a:extLst>
              </p:cNvPr>
              <p:cNvSpPr/>
              <p:nvPr/>
            </p:nvSpPr>
            <p:spPr>
              <a:xfrm>
                <a:off x="4424182" y="6368526"/>
                <a:ext cx="2287132" cy="3012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solidFill>
                      <a:srgbClr val="FFFFFF"/>
                    </a:solidFill>
                    <a:latin typeface="Söhne Mono"/>
                  </a:rPr>
                  <a:t>t</a:t>
                </a:r>
                <a:r>
                  <a:rPr lang="en-US" b="0" i="0" dirty="0" err="1">
                    <a:solidFill>
                      <a:srgbClr val="FFFFFF"/>
                    </a:solidFill>
                    <a:effectLst/>
                    <a:latin typeface="Söhne Mono"/>
                  </a:rPr>
                  <a:t>orch</a:t>
                </a:r>
                <a:r>
                  <a:rPr lang="en-US" dirty="0" err="1">
                    <a:solidFill>
                      <a:srgbClr val="FFFFFF"/>
                    </a:solidFill>
                    <a:latin typeface="Söhne Mono"/>
                  </a:rPr>
                  <a:t>.tanh</a:t>
                </a:r>
                <a:r>
                  <a:rPr lang="en-US" b="0" i="0" dirty="0">
                    <a:solidFill>
                      <a:srgbClr val="FFFFFF"/>
                    </a:solidFill>
                    <a:effectLst/>
                    <a:latin typeface="Söhne Mono"/>
                  </a:rPr>
                  <a:t>(x)</a:t>
                </a:r>
                <a:endParaRPr lang="en-US" dirty="0"/>
              </a:p>
            </p:txBody>
          </p:sp>
          <p:pic>
            <p:nvPicPr>
              <p:cNvPr id="19" name="Picture 18">
                <a:extLst>
                  <a:ext uri="{FF2B5EF4-FFF2-40B4-BE49-F238E27FC236}">
                    <a16:creationId xmlns:a16="http://schemas.microsoft.com/office/drawing/2014/main" id="{0DC5D84F-6AA8-025D-0CA6-430F0ACAA147}"/>
                  </a:ext>
                </a:extLst>
              </p:cNvPr>
              <p:cNvPicPr>
                <a:picLocks noChangeAspect="1"/>
              </p:cNvPicPr>
              <p:nvPr/>
            </p:nvPicPr>
            <p:blipFill>
              <a:blip r:embed="rId4"/>
              <a:stretch>
                <a:fillRect/>
              </a:stretch>
            </p:blipFill>
            <p:spPr>
              <a:xfrm>
                <a:off x="4413425" y="6368526"/>
                <a:ext cx="270260" cy="301214"/>
              </a:xfrm>
              <a:prstGeom prst="rect">
                <a:avLst/>
              </a:prstGeom>
            </p:spPr>
          </p:pic>
        </p:grpSp>
        <p:grpSp>
          <p:nvGrpSpPr>
            <p:cNvPr id="24" name="Group 23">
              <a:extLst>
                <a:ext uri="{FF2B5EF4-FFF2-40B4-BE49-F238E27FC236}">
                  <a16:creationId xmlns:a16="http://schemas.microsoft.com/office/drawing/2014/main" id="{63B7A754-3624-E1A3-0594-E7C5AFBE3B38}"/>
                </a:ext>
              </a:extLst>
            </p:cNvPr>
            <p:cNvGrpSpPr/>
            <p:nvPr/>
          </p:nvGrpSpPr>
          <p:grpSpPr>
            <a:xfrm>
              <a:off x="9898950" y="5351973"/>
              <a:ext cx="1730776" cy="306936"/>
              <a:chOff x="7195994" y="6369489"/>
              <a:chExt cx="2297890" cy="301218"/>
            </a:xfrm>
          </p:grpSpPr>
          <p:sp>
            <p:nvSpPr>
              <p:cNvPr id="20" name="Rectangle 19">
                <a:extLst>
                  <a:ext uri="{FF2B5EF4-FFF2-40B4-BE49-F238E27FC236}">
                    <a16:creationId xmlns:a16="http://schemas.microsoft.com/office/drawing/2014/main" id="{F53463FC-24C3-9344-8D8D-6FCB3BFA8183}"/>
                  </a:ext>
                </a:extLst>
              </p:cNvPr>
              <p:cNvSpPr/>
              <p:nvPr/>
            </p:nvSpPr>
            <p:spPr>
              <a:xfrm>
                <a:off x="7206752" y="6369489"/>
                <a:ext cx="2287132" cy="3012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0" i="0" dirty="0" err="1">
                    <a:solidFill>
                      <a:srgbClr val="FFFFFF"/>
                    </a:solidFill>
                    <a:effectLst/>
                    <a:latin typeface="Söhne Mono"/>
                  </a:rPr>
                  <a:t>torch.</a:t>
                </a:r>
                <a:r>
                  <a:rPr lang="en-US" dirty="0" err="1">
                    <a:solidFill>
                      <a:srgbClr val="FFFFFF"/>
                    </a:solidFill>
                    <a:latin typeface="Söhne Mono"/>
                  </a:rPr>
                  <a:t>relu</a:t>
                </a:r>
                <a:r>
                  <a:rPr lang="en-US" b="0" i="0" dirty="0">
                    <a:solidFill>
                      <a:srgbClr val="FFFFFF"/>
                    </a:solidFill>
                    <a:effectLst/>
                    <a:latin typeface="Söhne Mono"/>
                  </a:rPr>
                  <a:t>(x)</a:t>
                </a:r>
                <a:endParaRPr lang="en-US" dirty="0"/>
              </a:p>
            </p:txBody>
          </p:sp>
          <p:pic>
            <p:nvPicPr>
              <p:cNvPr id="21" name="Picture 20">
                <a:extLst>
                  <a:ext uri="{FF2B5EF4-FFF2-40B4-BE49-F238E27FC236}">
                    <a16:creationId xmlns:a16="http://schemas.microsoft.com/office/drawing/2014/main" id="{D06BF82E-1118-7300-9270-D6DC463357A7}"/>
                  </a:ext>
                </a:extLst>
              </p:cNvPr>
              <p:cNvPicPr>
                <a:picLocks noChangeAspect="1"/>
              </p:cNvPicPr>
              <p:nvPr/>
            </p:nvPicPr>
            <p:blipFill>
              <a:blip r:embed="rId4"/>
              <a:stretch>
                <a:fillRect/>
              </a:stretch>
            </p:blipFill>
            <p:spPr>
              <a:xfrm>
                <a:off x="7195994" y="6369493"/>
                <a:ext cx="270259" cy="301214"/>
              </a:xfrm>
              <a:prstGeom prst="rect">
                <a:avLst/>
              </a:prstGeom>
            </p:spPr>
          </p:pic>
        </p:grpSp>
        <p:pic>
          <p:nvPicPr>
            <p:cNvPr id="9" name="Picture 8">
              <a:extLst>
                <a:ext uri="{FF2B5EF4-FFF2-40B4-BE49-F238E27FC236}">
                  <a16:creationId xmlns:a16="http://schemas.microsoft.com/office/drawing/2014/main" id="{BE38A3DF-8ABA-147C-8C91-44BBC7D7075A}"/>
                </a:ext>
              </a:extLst>
            </p:cNvPr>
            <p:cNvPicPr>
              <a:picLocks noChangeAspect="1"/>
            </p:cNvPicPr>
            <p:nvPr/>
          </p:nvPicPr>
          <p:blipFill>
            <a:blip r:embed="rId5"/>
            <a:stretch>
              <a:fillRect/>
            </a:stretch>
          </p:blipFill>
          <p:spPr>
            <a:xfrm>
              <a:off x="4143124" y="2169785"/>
              <a:ext cx="8329859" cy="3182193"/>
            </a:xfrm>
            <a:prstGeom prst="rect">
              <a:avLst/>
            </a:prstGeom>
          </p:spPr>
        </p:pic>
      </p:grpSp>
    </p:spTree>
    <p:extLst>
      <p:ext uri="{BB962C8B-B14F-4D97-AF65-F5344CB8AC3E}">
        <p14:creationId xmlns:p14="http://schemas.microsoft.com/office/powerpoint/2010/main" val="589214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28185-3AC2-3884-5164-3045AA47F44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4C8754-39AD-DCF6-5516-4A98B52FF90F}"/>
              </a:ext>
            </a:extLst>
          </p:cNvPr>
          <p:cNvSpPr>
            <a:spLocks noGrp="1"/>
          </p:cNvSpPr>
          <p:nvPr>
            <p:ph type="sldNum" sz="quarter" idx="12"/>
          </p:nvPr>
        </p:nvSpPr>
        <p:spPr/>
        <p:txBody>
          <a:bodyPr/>
          <a:lstStyle/>
          <a:p>
            <a:fld id="{B3533053-B928-004D-A0E8-A0A092123CEE}" type="slidenum">
              <a:rPr lang="en-US" smtClean="0"/>
              <a:t>8</a:t>
            </a:fld>
            <a:endParaRPr lang="en-US" dirty="0"/>
          </a:p>
        </p:txBody>
      </p:sp>
      <p:sp>
        <p:nvSpPr>
          <p:cNvPr id="3" name="Title 1">
            <a:extLst>
              <a:ext uri="{FF2B5EF4-FFF2-40B4-BE49-F238E27FC236}">
                <a16:creationId xmlns:a16="http://schemas.microsoft.com/office/drawing/2014/main" id="{D380CE19-43A2-7767-3149-48AD30B785D2}"/>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Unpack Gates in LSTM</a:t>
            </a:r>
          </a:p>
        </p:txBody>
      </p:sp>
      <p:sp>
        <p:nvSpPr>
          <p:cNvPr id="16" name="Subtitle 2">
            <a:extLst>
              <a:ext uri="{FF2B5EF4-FFF2-40B4-BE49-F238E27FC236}">
                <a16:creationId xmlns:a16="http://schemas.microsoft.com/office/drawing/2014/main" id="{CE8E39D3-361E-0B53-8ABC-15345DAF6F3B}"/>
              </a:ext>
            </a:extLst>
          </p:cNvPr>
          <p:cNvSpPr txBox="1">
            <a:spLocks/>
          </p:cNvSpPr>
          <p:nvPr/>
        </p:nvSpPr>
        <p:spPr>
          <a:xfrm>
            <a:off x="838200" y="2157275"/>
            <a:ext cx="10585268"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a:latin typeface="Arial" panose="020B0604020202020204" pitchFamily="34" charset="0"/>
                <a:cs typeface="Arial" panose="020B0604020202020204" pitchFamily="34" charset="0"/>
              </a:rPr>
              <a:t>At</a:t>
            </a:r>
            <a:r>
              <a:rPr lang="zh-CN" altLang="en-US" sz="2600"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each time step: </a:t>
            </a:r>
            <a:r>
              <a:rPr lang="en-US" sz="2600" dirty="0">
                <a:latin typeface="Arial" panose="020B0604020202020204" pitchFamily="34" charset="0"/>
                <a:cs typeface="Arial" panose="020B0604020202020204" pitchFamily="34" charset="0"/>
              </a:rPr>
              <a:t> we introduce 4 </a:t>
            </a:r>
            <a:r>
              <a:rPr lang="en-US" sz="2600" b="1" dirty="0">
                <a:solidFill>
                  <a:srgbClr val="C00000"/>
                </a:solidFill>
                <a:latin typeface="Arial" panose="020B0604020202020204" pitchFamily="34" charset="0"/>
                <a:cs typeface="Arial" panose="020B0604020202020204" pitchFamily="34" charset="0"/>
              </a:rPr>
              <a:t>gates</a:t>
            </a:r>
            <a:r>
              <a:rPr lang="en-US" sz="2600" dirty="0">
                <a:latin typeface="Arial" panose="020B0604020202020204" pitchFamily="34" charset="0"/>
                <a:cs typeface="Arial" panose="020B0604020202020204" pitchFamily="34" charset="0"/>
              </a:rPr>
              <a:t> and a new </a:t>
            </a:r>
            <a:r>
              <a:rPr lang="en-US" sz="2600" b="1" dirty="0">
                <a:solidFill>
                  <a:srgbClr val="C00000"/>
                </a:solidFill>
                <a:latin typeface="Arial" panose="020B0604020202020204" pitchFamily="34" charset="0"/>
                <a:cs typeface="Arial" panose="020B0604020202020204" pitchFamily="34" charset="0"/>
              </a:rPr>
              <a:t>state</a:t>
            </a:r>
            <a:r>
              <a:rPr lang="en-US" sz="2600" dirty="0">
                <a:latin typeface="Arial" panose="020B0604020202020204" pitchFamily="34" charset="0"/>
                <a:cs typeface="Arial" panose="020B0604020202020204" pitchFamily="34" charset="0"/>
              </a:rPr>
              <a:t> -&gt; cell state </a:t>
            </a:r>
          </a:p>
        </p:txBody>
      </p:sp>
      <p:pic>
        <p:nvPicPr>
          <p:cNvPr id="7" name="Picture 6">
            <a:extLst>
              <a:ext uri="{FF2B5EF4-FFF2-40B4-BE49-F238E27FC236}">
                <a16:creationId xmlns:a16="http://schemas.microsoft.com/office/drawing/2014/main" id="{0966A7C3-A20B-329A-6D20-B6C24E3CA302}"/>
              </a:ext>
            </a:extLst>
          </p:cNvPr>
          <p:cNvPicPr>
            <a:picLocks noChangeAspect="1"/>
          </p:cNvPicPr>
          <p:nvPr/>
        </p:nvPicPr>
        <p:blipFill>
          <a:blip r:embed="rId3"/>
          <a:stretch>
            <a:fillRect/>
          </a:stretch>
        </p:blipFill>
        <p:spPr>
          <a:xfrm>
            <a:off x="7026705" y="564174"/>
            <a:ext cx="5071165" cy="1359808"/>
          </a:xfrm>
          <a:prstGeom prst="rect">
            <a:avLst/>
          </a:prstGeom>
        </p:spPr>
      </p:pic>
      <p:sp>
        <p:nvSpPr>
          <p:cNvPr id="9" name="Subtitle 2">
            <a:extLst>
              <a:ext uri="{FF2B5EF4-FFF2-40B4-BE49-F238E27FC236}">
                <a16:creationId xmlns:a16="http://schemas.microsoft.com/office/drawing/2014/main" id="{2F051992-05D5-D6B0-0A69-E94A10032E0A}"/>
              </a:ext>
            </a:extLst>
          </p:cNvPr>
          <p:cNvSpPr txBox="1">
            <a:spLocks/>
          </p:cNvSpPr>
          <p:nvPr/>
        </p:nvSpPr>
        <p:spPr>
          <a:xfrm>
            <a:off x="11252429" y="4017683"/>
            <a:ext cx="1879141"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C00000"/>
                </a:solidFill>
                <a:latin typeface="Arial" panose="020B0604020202020204" pitchFamily="34" charset="0"/>
                <a:cs typeface="Arial" panose="020B0604020202020204" pitchFamily="34" charset="0"/>
              </a:rPr>
              <a:t>[0,1]</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B0EF95E-449D-EDC8-6550-20B597256D54}"/>
                  </a:ext>
                </a:extLst>
              </p:cNvPr>
              <p:cNvSpPr txBox="1"/>
              <p:nvPr/>
            </p:nvSpPr>
            <p:spPr>
              <a:xfrm>
                <a:off x="7112993" y="3090770"/>
                <a:ext cx="340785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i="1">
                              <a:latin typeface="Cambria Math" panose="02040503050406030204" pitchFamily="18" charset="0"/>
                            </a:rPr>
                            <m:t>𝑡</m:t>
                          </m:r>
                        </m:sub>
                      </m:sSub>
                      <m:r>
                        <a:rPr lang="en-US" sz="2000" b="0" i="1" smtClean="0">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𝜎</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𝑡</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𝑥𝑖</m:t>
                              </m:r>
                            </m:sub>
                          </m:sSub>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h</m:t>
                              </m:r>
                            </m:e>
                            <m:sub>
                              <m:r>
                                <a:rPr lang="en-US" sz="2000" i="1">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sSub>
                            <m:sSubPr>
                              <m:ctrlPr>
                                <a:rPr lang="en-US" sz="2000" i="1" smtClean="0">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𝑖</m:t>
                              </m:r>
                            </m:sub>
                          </m:sSub>
                        </m:e>
                      </m:d>
                    </m:oMath>
                  </m:oMathPara>
                </a14:m>
                <a:endParaRPr lang="en-US" sz="2000" dirty="0"/>
              </a:p>
            </p:txBody>
          </p:sp>
        </mc:Choice>
        <mc:Fallback>
          <p:sp>
            <p:nvSpPr>
              <p:cNvPr id="13" name="TextBox 12">
                <a:extLst>
                  <a:ext uri="{FF2B5EF4-FFF2-40B4-BE49-F238E27FC236}">
                    <a16:creationId xmlns:a16="http://schemas.microsoft.com/office/drawing/2014/main" id="{DB0EF95E-449D-EDC8-6550-20B597256D54}"/>
                  </a:ext>
                </a:extLst>
              </p:cNvPr>
              <p:cNvSpPr txBox="1">
                <a:spLocks noRot="1" noChangeAspect="1" noMove="1" noResize="1" noEditPoints="1" noAdjustHandles="1" noChangeArrowheads="1" noChangeShapeType="1" noTextEdit="1"/>
              </p:cNvSpPr>
              <p:nvPr/>
            </p:nvSpPr>
            <p:spPr>
              <a:xfrm>
                <a:off x="7112993" y="3090770"/>
                <a:ext cx="3407856" cy="307777"/>
              </a:xfrm>
              <a:prstGeom prst="rect">
                <a:avLst/>
              </a:prstGeom>
              <a:blipFill>
                <a:blip r:embed="rId4"/>
                <a:stretch>
                  <a:fillRect l="-1487" t="-8000" b="-3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1E8499DA-CF74-2B49-5420-D5444FA33837}"/>
                  </a:ext>
                </a:extLst>
              </p:cNvPr>
              <p:cNvSpPr txBox="1"/>
              <p:nvPr/>
            </p:nvSpPr>
            <p:spPr>
              <a:xfrm>
                <a:off x="7095009" y="3753526"/>
                <a:ext cx="3564374" cy="3545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i="1">
                              <a:latin typeface="Cambria Math" panose="02040503050406030204" pitchFamily="18" charset="0"/>
                            </a:rPr>
                            <m:t>𝑡</m:t>
                          </m:r>
                        </m:sub>
                      </m:sSub>
                      <m:r>
                        <a:rPr lang="en-US" sz="2000" b="0" i="1" smtClean="0">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𝜎</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𝑡</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𝑥𝑓</m:t>
                              </m:r>
                            </m:sub>
                          </m:sSub>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h</m:t>
                              </m:r>
                            </m:e>
                            <m:sub>
                              <m:r>
                                <a:rPr lang="en-US" sz="2000" i="1">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h𝑓</m:t>
                              </m:r>
                            </m:sub>
                          </m:sSub>
                          <m:r>
                            <a:rPr lang="en-US" sz="2000" i="1">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𝑓</m:t>
                              </m:r>
                            </m:sub>
                          </m:sSub>
                        </m:e>
                      </m:d>
                    </m:oMath>
                  </m:oMathPara>
                </a14:m>
                <a:endParaRPr lang="en-US" sz="2000" dirty="0"/>
              </a:p>
            </p:txBody>
          </p:sp>
        </mc:Choice>
        <mc:Fallback>
          <p:sp>
            <p:nvSpPr>
              <p:cNvPr id="15" name="TextBox 14">
                <a:extLst>
                  <a:ext uri="{FF2B5EF4-FFF2-40B4-BE49-F238E27FC236}">
                    <a16:creationId xmlns:a16="http://schemas.microsoft.com/office/drawing/2014/main" id="{1E8499DA-CF74-2B49-5420-D5444FA33837}"/>
                  </a:ext>
                </a:extLst>
              </p:cNvPr>
              <p:cNvSpPr txBox="1">
                <a:spLocks noRot="1" noChangeAspect="1" noMove="1" noResize="1" noEditPoints="1" noAdjustHandles="1" noChangeArrowheads="1" noChangeShapeType="1" noTextEdit="1"/>
              </p:cNvSpPr>
              <p:nvPr/>
            </p:nvSpPr>
            <p:spPr>
              <a:xfrm>
                <a:off x="7095009" y="3753526"/>
                <a:ext cx="3564374" cy="354521"/>
              </a:xfrm>
              <a:prstGeom prst="rect">
                <a:avLst/>
              </a:prstGeom>
              <a:blipFill>
                <a:blip r:embed="rId5"/>
                <a:stretch>
                  <a:fillRect l="-2128" b="-275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C0027D9C-1A8E-A4A3-CE31-FF96871106B7}"/>
                  </a:ext>
                </a:extLst>
              </p:cNvPr>
              <p:cNvSpPr txBox="1"/>
              <p:nvPr/>
            </p:nvSpPr>
            <p:spPr>
              <a:xfrm>
                <a:off x="7112993" y="4487132"/>
                <a:ext cx="356091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𝑜</m:t>
                          </m:r>
                        </m:e>
                        <m:sub>
                          <m:r>
                            <a:rPr lang="en-US" sz="2000" i="1">
                              <a:latin typeface="Cambria Math" panose="02040503050406030204" pitchFamily="18" charset="0"/>
                            </a:rPr>
                            <m:t>𝑡</m:t>
                          </m:r>
                        </m:sub>
                      </m:sSub>
                      <m:r>
                        <a:rPr lang="en-US" sz="2000" b="0" i="1" smtClean="0">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𝜎</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𝑡</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𝑥𝑜</m:t>
                              </m:r>
                            </m:sub>
                          </m:sSub>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h</m:t>
                              </m:r>
                            </m:e>
                            <m:sub>
                              <m:r>
                                <a:rPr lang="en-US" sz="2000" i="1">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h𝑜</m:t>
                              </m:r>
                            </m:sub>
                          </m:sSub>
                          <m:r>
                            <a:rPr lang="en-US" sz="2000" i="1">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𝑜</m:t>
                              </m:r>
                            </m:sub>
                          </m:sSub>
                        </m:e>
                      </m:d>
                    </m:oMath>
                  </m:oMathPara>
                </a14:m>
                <a:endParaRPr lang="en-US" sz="2000" dirty="0"/>
              </a:p>
            </p:txBody>
          </p:sp>
        </mc:Choice>
        <mc:Fallback>
          <p:sp>
            <p:nvSpPr>
              <p:cNvPr id="19" name="TextBox 18">
                <a:extLst>
                  <a:ext uri="{FF2B5EF4-FFF2-40B4-BE49-F238E27FC236}">
                    <a16:creationId xmlns:a16="http://schemas.microsoft.com/office/drawing/2014/main" id="{C0027D9C-1A8E-A4A3-CE31-FF96871106B7}"/>
                  </a:ext>
                </a:extLst>
              </p:cNvPr>
              <p:cNvSpPr txBox="1">
                <a:spLocks noRot="1" noChangeAspect="1" noMove="1" noResize="1" noEditPoints="1" noAdjustHandles="1" noChangeArrowheads="1" noChangeShapeType="1" noTextEdit="1"/>
              </p:cNvSpPr>
              <p:nvPr/>
            </p:nvSpPr>
            <p:spPr>
              <a:xfrm>
                <a:off x="7112993" y="4487132"/>
                <a:ext cx="3560911" cy="307777"/>
              </a:xfrm>
              <a:prstGeom prst="rect">
                <a:avLst/>
              </a:prstGeom>
              <a:blipFill>
                <a:blip r:embed="rId6"/>
                <a:stretch>
                  <a:fillRect l="-712" t="-8000" b="-3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423673AC-485D-EF5D-7801-7898C532E50B}"/>
                  </a:ext>
                </a:extLst>
              </p:cNvPr>
              <p:cNvSpPr txBox="1"/>
              <p:nvPr/>
            </p:nvSpPr>
            <p:spPr>
              <a:xfrm>
                <a:off x="7026705" y="5081002"/>
                <a:ext cx="4004686" cy="3548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i="1">
                              <a:latin typeface="Cambria Math" panose="02040503050406030204" pitchFamily="18" charset="0"/>
                            </a:rPr>
                            <m:t>𝑡</m:t>
                          </m:r>
                        </m:sub>
                      </m:sSub>
                      <m:r>
                        <a:rPr lang="en-US" sz="2000" b="0" i="1" smtClean="0">
                          <a:latin typeface="Cambria Math" panose="02040503050406030204" pitchFamily="18" charset="0"/>
                        </a:rPr>
                        <m:t>=</m:t>
                      </m:r>
                      <m:r>
                        <a:rPr lang="en-US" sz="2000" b="0" i="1" smtClean="0">
                          <a:latin typeface="Cambria Math" panose="02040503050406030204" pitchFamily="18" charset="0"/>
                        </a:rPr>
                        <m:t>𝑡𝑎𝑛h</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𝑡</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𝑥𝑔</m:t>
                              </m:r>
                            </m:sub>
                          </m:sSub>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h</m:t>
                              </m:r>
                            </m:e>
                            <m:sub>
                              <m:r>
                                <a:rPr lang="en-US" sz="2000" i="1">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𝑊</m:t>
                              </m:r>
                            </m:e>
                            <m:sub>
                              <m:r>
                                <a:rPr lang="en-US" sz="2000" b="0" i="1" smtClean="0">
                                  <a:latin typeface="Cambria Math" panose="02040503050406030204" pitchFamily="18" charset="0"/>
                                  <a:ea typeface="Cambria Math" panose="02040503050406030204" pitchFamily="18" charset="0"/>
                                </a:rPr>
                                <m:t>h𝑔</m:t>
                              </m:r>
                            </m:sub>
                          </m:sSub>
                          <m:r>
                            <a:rPr lang="en-US" sz="2000" i="1">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𝑔</m:t>
                              </m:r>
                            </m:sub>
                          </m:sSub>
                        </m:e>
                      </m:d>
                    </m:oMath>
                  </m:oMathPara>
                </a14:m>
                <a:endParaRPr lang="en-US" sz="2000" dirty="0"/>
              </a:p>
            </p:txBody>
          </p:sp>
        </mc:Choice>
        <mc:Fallback>
          <p:sp>
            <p:nvSpPr>
              <p:cNvPr id="20" name="TextBox 19">
                <a:extLst>
                  <a:ext uri="{FF2B5EF4-FFF2-40B4-BE49-F238E27FC236}">
                    <a16:creationId xmlns:a16="http://schemas.microsoft.com/office/drawing/2014/main" id="{423673AC-485D-EF5D-7801-7898C532E50B}"/>
                  </a:ext>
                </a:extLst>
              </p:cNvPr>
              <p:cNvSpPr txBox="1">
                <a:spLocks noRot="1" noChangeAspect="1" noMove="1" noResize="1" noEditPoints="1" noAdjustHandles="1" noChangeArrowheads="1" noChangeShapeType="1" noTextEdit="1"/>
              </p:cNvSpPr>
              <p:nvPr/>
            </p:nvSpPr>
            <p:spPr>
              <a:xfrm>
                <a:off x="7026705" y="5081002"/>
                <a:ext cx="4004686" cy="354841"/>
              </a:xfrm>
              <a:prstGeom prst="rect">
                <a:avLst/>
              </a:prstGeom>
              <a:blipFill>
                <a:blip r:embed="rId7"/>
                <a:stretch>
                  <a:fillRect l="-1266" b="-23333"/>
                </a:stretch>
              </a:blipFill>
            </p:spPr>
            <p:txBody>
              <a:bodyPr/>
              <a:lstStyle/>
              <a:p>
                <a:r>
                  <a:rPr lang="en-US">
                    <a:noFill/>
                  </a:rPr>
                  <a:t> </a:t>
                </a:r>
              </a:p>
            </p:txBody>
          </p:sp>
        </mc:Fallback>
      </mc:AlternateContent>
      <p:sp>
        <p:nvSpPr>
          <p:cNvPr id="21" name="Subtitle 2">
            <a:extLst>
              <a:ext uri="{FF2B5EF4-FFF2-40B4-BE49-F238E27FC236}">
                <a16:creationId xmlns:a16="http://schemas.microsoft.com/office/drawing/2014/main" id="{DFE5BD9B-9652-8361-1129-0E61B44F130E}"/>
              </a:ext>
            </a:extLst>
          </p:cNvPr>
          <p:cNvSpPr txBox="1">
            <a:spLocks/>
          </p:cNvSpPr>
          <p:nvPr/>
        </p:nvSpPr>
        <p:spPr>
          <a:xfrm>
            <a:off x="11252428" y="5262686"/>
            <a:ext cx="1879141"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C00000"/>
                </a:solidFill>
                <a:latin typeface="Arial" panose="020B0604020202020204" pitchFamily="34" charset="0"/>
                <a:cs typeface="Arial" panose="020B0604020202020204" pitchFamily="34" charset="0"/>
              </a:rPr>
              <a:t>[-1,1]</a:t>
            </a:r>
          </a:p>
        </p:txBody>
      </p:sp>
      <p:sp>
        <p:nvSpPr>
          <p:cNvPr id="22" name="Subtitle 2">
            <a:extLst>
              <a:ext uri="{FF2B5EF4-FFF2-40B4-BE49-F238E27FC236}">
                <a16:creationId xmlns:a16="http://schemas.microsoft.com/office/drawing/2014/main" id="{A0B65915-8889-A568-D161-0D1276A08ECD}"/>
              </a:ext>
            </a:extLst>
          </p:cNvPr>
          <p:cNvSpPr txBox="1">
            <a:spLocks/>
          </p:cNvSpPr>
          <p:nvPr/>
        </p:nvSpPr>
        <p:spPr>
          <a:xfrm>
            <a:off x="6310511" y="6448532"/>
            <a:ext cx="6615546"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Justin Johnson</a:t>
            </a:r>
          </a:p>
        </p:txBody>
      </p:sp>
      <p:sp>
        <p:nvSpPr>
          <p:cNvPr id="23" name="Subtitle 2">
            <a:extLst>
              <a:ext uri="{FF2B5EF4-FFF2-40B4-BE49-F238E27FC236}">
                <a16:creationId xmlns:a16="http://schemas.microsoft.com/office/drawing/2014/main" id="{02A432A9-CC1A-E08B-DAF6-8A2CD91E1E5F}"/>
              </a:ext>
            </a:extLst>
          </p:cNvPr>
          <p:cNvSpPr txBox="1">
            <a:spLocks/>
          </p:cNvSpPr>
          <p:nvPr/>
        </p:nvSpPr>
        <p:spPr>
          <a:xfrm>
            <a:off x="7838935" y="5820663"/>
            <a:ext cx="10585268"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a:solidFill>
                  <a:srgbClr val="C00000"/>
                </a:solidFill>
                <a:latin typeface="Arial" panose="020B0604020202020204" pitchFamily="34" charset="0"/>
                <a:cs typeface="Arial" panose="020B0604020202020204" pitchFamily="34" charset="0"/>
              </a:rPr>
              <a:t>Learned weights!</a:t>
            </a:r>
          </a:p>
        </p:txBody>
      </p:sp>
      <p:grpSp>
        <p:nvGrpSpPr>
          <p:cNvPr id="5" name="Group 4">
            <a:extLst>
              <a:ext uri="{FF2B5EF4-FFF2-40B4-BE49-F238E27FC236}">
                <a16:creationId xmlns:a16="http://schemas.microsoft.com/office/drawing/2014/main" id="{EE39C2B0-75A8-9BBF-C007-48B1841ED620}"/>
              </a:ext>
            </a:extLst>
          </p:cNvPr>
          <p:cNvGrpSpPr/>
          <p:nvPr/>
        </p:nvGrpSpPr>
        <p:grpSpPr>
          <a:xfrm>
            <a:off x="899329" y="2896936"/>
            <a:ext cx="4694583" cy="3306627"/>
            <a:chOff x="6600398" y="1792009"/>
            <a:chExt cx="4694583" cy="3306627"/>
          </a:xfrm>
        </p:grpSpPr>
        <p:pic>
          <p:nvPicPr>
            <p:cNvPr id="6" name="Picture 5">
              <a:extLst>
                <a:ext uri="{FF2B5EF4-FFF2-40B4-BE49-F238E27FC236}">
                  <a16:creationId xmlns:a16="http://schemas.microsoft.com/office/drawing/2014/main" id="{BCEC5D4A-1EB0-057C-4374-6E274117A72A}"/>
                </a:ext>
              </a:extLst>
            </p:cNvPr>
            <p:cNvPicPr>
              <a:picLocks noChangeAspect="1"/>
            </p:cNvPicPr>
            <p:nvPr/>
          </p:nvPicPr>
          <p:blipFill>
            <a:blip r:embed="rId8"/>
            <a:stretch>
              <a:fillRect/>
            </a:stretch>
          </p:blipFill>
          <p:spPr>
            <a:xfrm>
              <a:off x="6600398" y="2674050"/>
              <a:ext cx="4694583" cy="2424586"/>
            </a:xfrm>
            <a:prstGeom prst="rect">
              <a:avLst/>
            </a:prstGeom>
          </p:spPr>
        </p:pic>
        <p:sp>
          <p:nvSpPr>
            <p:cNvPr id="8" name="Rectangle 7">
              <a:extLst>
                <a:ext uri="{FF2B5EF4-FFF2-40B4-BE49-F238E27FC236}">
                  <a16:creationId xmlns:a16="http://schemas.microsoft.com/office/drawing/2014/main" id="{802C8B88-C08E-466D-0737-77729EFC7D5A}"/>
                </a:ext>
              </a:extLst>
            </p:cNvPr>
            <p:cNvSpPr/>
            <p:nvPr/>
          </p:nvSpPr>
          <p:spPr>
            <a:xfrm>
              <a:off x="6600398" y="1792009"/>
              <a:ext cx="4694583" cy="506368"/>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LSTM</a:t>
              </a:r>
            </a:p>
          </p:txBody>
        </p:sp>
      </p:grpSp>
    </p:spTree>
    <p:extLst>
      <p:ext uri="{BB962C8B-B14F-4D97-AF65-F5344CB8AC3E}">
        <p14:creationId xmlns:p14="http://schemas.microsoft.com/office/powerpoint/2010/main" val="1469425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5" grpId="0"/>
      <p:bldP spid="19" grpId="0"/>
      <p:bldP spid="20" grpId="0"/>
      <p:bldP spid="21"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6596-ED33-39D2-217F-0EA4F12E21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92664D-E8FE-FF78-5D36-29B0256FC50A}"/>
              </a:ext>
            </a:extLst>
          </p:cNvPr>
          <p:cNvSpPr>
            <a:spLocks noGrp="1"/>
          </p:cNvSpPr>
          <p:nvPr>
            <p:ph type="sldNum" sz="quarter" idx="12"/>
          </p:nvPr>
        </p:nvSpPr>
        <p:spPr/>
        <p:txBody>
          <a:bodyPr/>
          <a:lstStyle/>
          <a:p>
            <a:fld id="{B3533053-B928-004D-A0E8-A0A092123CEE}" type="slidenum">
              <a:rPr lang="en-US" smtClean="0"/>
              <a:t>9</a:t>
            </a:fld>
            <a:endParaRPr lang="en-US" dirty="0"/>
          </a:p>
        </p:txBody>
      </p:sp>
      <p:sp>
        <p:nvSpPr>
          <p:cNvPr id="3" name="Title 1">
            <a:extLst>
              <a:ext uri="{FF2B5EF4-FFF2-40B4-BE49-F238E27FC236}">
                <a16:creationId xmlns:a16="http://schemas.microsoft.com/office/drawing/2014/main" id="{96AA06CA-805A-0E48-2991-945D3E45EE2C}"/>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LSTM </a:t>
            </a:r>
          </a:p>
        </p:txBody>
      </p:sp>
      <p:sp>
        <p:nvSpPr>
          <p:cNvPr id="16" name="Subtitle 2">
            <a:extLst>
              <a:ext uri="{FF2B5EF4-FFF2-40B4-BE49-F238E27FC236}">
                <a16:creationId xmlns:a16="http://schemas.microsoft.com/office/drawing/2014/main" id="{5C6D9013-34EE-7F5E-4609-FB1B5A8CD7F3}"/>
              </a:ext>
            </a:extLst>
          </p:cNvPr>
          <p:cNvSpPr txBox="1">
            <a:spLocks/>
          </p:cNvSpPr>
          <p:nvPr/>
        </p:nvSpPr>
        <p:spPr>
          <a:xfrm>
            <a:off x="768532" y="1740665"/>
            <a:ext cx="10585268"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a:latin typeface="Arial" panose="020B0604020202020204" pitchFamily="34" charset="0"/>
                <a:cs typeface="Arial" panose="020B0604020202020204" pitchFamily="34" charset="0"/>
              </a:rPr>
              <a:t>At</a:t>
            </a:r>
            <a:r>
              <a:rPr lang="zh-CN" altLang="en-US" sz="2600"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each time step: </a:t>
            </a:r>
            <a:r>
              <a:rPr lang="en-US" sz="2600" dirty="0">
                <a:latin typeface="Arial" panose="020B0604020202020204" pitchFamily="34" charset="0"/>
                <a:cs typeface="Arial" panose="020B0604020202020204" pitchFamily="34" charset="0"/>
              </a:rPr>
              <a:t> we introduce 4 </a:t>
            </a:r>
            <a:r>
              <a:rPr lang="en-US" sz="2600" b="1" dirty="0">
                <a:solidFill>
                  <a:srgbClr val="C00000"/>
                </a:solidFill>
                <a:latin typeface="Arial" panose="020B0604020202020204" pitchFamily="34" charset="0"/>
                <a:cs typeface="Arial" panose="020B0604020202020204" pitchFamily="34" charset="0"/>
              </a:rPr>
              <a:t>gates</a:t>
            </a:r>
            <a:r>
              <a:rPr lang="en-US" sz="2600" dirty="0">
                <a:latin typeface="Arial" panose="020B0604020202020204" pitchFamily="34" charset="0"/>
                <a:cs typeface="Arial" panose="020B0604020202020204" pitchFamily="34" charset="0"/>
              </a:rPr>
              <a:t> and a new </a:t>
            </a:r>
            <a:r>
              <a:rPr lang="en-US" sz="2600" b="1" dirty="0">
                <a:solidFill>
                  <a:srgbClr val="C00000"/>
                </a:solidFill>
                <a:latin typeface="Arial" panose="020B0604020202020204" pitchFamily="34" charset="0"/>
                <a:cs typeface="Arial" panose="020B0604020202020204" pitchFamily="34" charset="0"/>
              </a:rPr>
              <a:t>state</a:t>
            </a:r>
            <a:r>
              <a:rPr lang="en-US" sz="2600" dirty="0">
                <a:latin typeface="Arial" panose="020B0604020202020204" pitchFamily="34" charset="0"/>
                <a:cs typeface="Arial" panose="020B0604020202020204" pitchFamily="34" charset="0"/>
              </a:rPr>
              <a:t> -&gt; cell state </a:t>
            </a:r>
          </a:p>
        </p:txBody>
      </p:sp>
      <p:pic>
        <p:nvPicPr>
          <p:cNvPr id="5" name="Picture 4">
            <a:extLst>
              <a:ext uri="{FF2B5EF4-FFF2-40B4-BE49-F238E27FC236}">
                <a16:creationId xmlns:a16="http://schemas.microsoft.com/office/drawing/2014/main" id="{E7EE7E39-D3D9-11CA-0461-0C00F3402FF6}"/>
              </a:ext>
            </a:extLst>
          </p:cNvPr>
          <p:cNvPicPr>
            <a:picLocks noChangeAspect="1"/>
          </p:cNvPicPr>
          <p:nvPr/>
        </p:nvPicPr>
        <p:blipFill>
          <a:blip r:embed="rId3"/>
          <a:stretch>
            <a:fillRect/>
          </a:stretch>
        </p:blipFill>
        <p:spPr>
          <a:xfrm>
            <a:off x="2887317" y="2247033"/>
            <a:ext cx="6417365" cy="3892188"/>
          </a:xfrm>
          <a:prstGeom prst="rect">
            <a:avLst/>
          </a:prstGeom>
        </p:spPr>
      </p:pic>
      <p:sp>
        <p:nvSpPr>
          <p:cNvPr id="6" name="Subtitle 2">
            <a:extLst>
              <a:ext uri="{FF2B5EF4-FFF2-40B4-BE49-F238E27FC236}">
                <a16:creationId xmlns:a16="http://schemas.microsoft.com/office/drawing/2014/main" id="{2428957E-F722-0E17-B911-DC7865C48157}"/>
              </a:ext>
            </a:extLst>
          </p:cNvPr>
          <p:cNvSpPr txBox="1">
            <a:spLocks/>
          </p:cNvSpPr>
          <p:nvPr/>
        </p:nvSpPr>
        <p:spPr>
          <a:xfrm>
            <a:off x="6310511" y="6448532"/>
            <a:ext cx="6615546"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Justin Johnson</a:t>
            </a:r>
          </a:p>
        </p:txBody>
      </p:sp>
      <p:sp>
        <p:nvSpPr>
          <p:cNvPr id="9" name="Subtitle 2">
            <a:extLst>
              <a:ext uri="{FF2B5EF4-FFF2-40B4-BE49-F238E27FC236}">
                <a16:creationId xmlns:a16="http://schemas.microsoft.com/office/drawing/2014/main" id="{C5C00E47-ABBA-A41D-1ED7-43C26890203A}"/>
              </a:ext>
            </a:extLst>
          </p:cNvPr>
          <p:cNvSpPr txBox="1">
            <a:spLocks/>
          </p:cNvSpPr>
          <p:nvPr/>
        </p:nvSpPr>
        <p:spPr>
          <a:xfrm>
            <a:off x="9304682" y="2922632"/>
            <a:ext cx="2348531"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cell state </a:t>
            </a:r>
          </a:p>
        </p:txBody>
      </p:sp>
      <p:sp>
        <p:nvSpPr>
          <p:cNvPr id="10" name="Subtitle 2">
            <a:extLst>
              <a:ext uri="{FF2B5EF4-FFF2-40B4-BE49-F238E27FC236}">
                <a16:creationId xmlns:a16="http://schemas.microsoft.com/office/drawing/2014/main" id="{704C3DAE-9A62-6E75-89C9-67E8CD6F2502}"/>
              </a:ext>
            </a:extLst>
          </p:cNvPr>
          <p:cNvSpPr txBox="1">
            <a:spLocks/>
          </p:cNvSpPr>
          <p:nvPr/>
        </p:nvSpPr>
        <p:spPr>
          <a:xfrm>
            <a:off x="9387634" y="5176861"/>
            <a:ext cx="2348531"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hidden state </a:t>
            </a:r>
          </a:p>
        </p:txBody>
      </p:sp>
      <p:sp>
        <p:nvSpPr>
          <p:cNvPr id="11" name="Subtitle 2">
            <a:extLst>
              <a:ext uri="{FF2B5EF4-FFF2-40B4-BE49-F238E27FC236}">
                <a16:creationId xmlns:a16="http://schemas.microsoft.com/office/drawing/2014/main" id="{93760E50-B76B-DCA2-93F1-AAF95034F1D4}"/>
              </a:ext>
            </a:extLst>
          </p:cNvPr>
          <p:cNvSpPr txBox="1">
            <a:spLocks/>
          </p:cNvSpPr>
          <p:nvPr/>
        </p:nvSpPr>
        <p:spPr>
          <a:xfrm>
            <a:off x="4551345" y="3610287"/>
            <a:ext cx="2348531" cy="5063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solidFill>
                  <a:srgbClr val="C00000"/>
                </a:solidFill>
                <a:latin typeface="Arial" panose="020B0604020202020204" pitchFamily="34" charset="0"/>
                <a:cs typeface="Arial" panose="020B0604020202020204" pitchFamily="34" charset="0"/>
              </a:rPr>
              <a:t>gates</a:t>
            </a:r>
          </a:p>
        </p:txBody>
      </p:sp>
    </p:spTree>
    <p:extLst>
      <p:ext uri="{BB962C8B-B14F-4D97-AF65-F5344CB8AC3E}">
        <p14:creationId xmlns:p14="http://schemas.microsoft.com/office/powerpoint/2010/main" val="50488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F85BA-6D5A-94A2-A605-B40DB3506E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4B7240-2A00-C62A-F224-788664643FD4}"/>
              </a:ext>
            </a:extLst>
          </p:cNvPr>
          <p:cNvSpPr>
            <a:spLocks noGrp="1"/>
          </p:cNvSpPr>
          <p:nvPr>
            <p:ph type="sldNum" sz="quarter" idx="12"/>
          </p:nvPr>
        </p:nvSpPr>
        <p:spPr/>
        <p:txBody>
          <a:bodyPr/>
          <a:lstStyle/>
          <a:p>
            <a:fld id="{B3533053-B928-004D-A0E8-A0A092123CEE}" type="slidenum">
              <a:rPr lang="en-US" smtClean="0"/>
              <a:t>10</a:t>
            </a:fld>
            <a:endParaRPr lang="en-US" dirty="0"/>
          </a:p>
        </p:txBody>
      </p:sp>
      <p:sp>
        <p:nvSpPr>
          <p:cNvPr id="3" name="Title 1">
            <a:extLst>
              <a:ext uri="{FF2B5EF4-FFF2-40B4-BE49-F238E27FC236}">
                <a16:creationId xmlns:a16="http://schemas.microsoft.com/office/drawing/2014/main" id="{D9D101F5-9C98-5EF0-0358-2B0FC6666E63}"/>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Stacking RNN and LSTM  </a:t>
            </a:r>
          </a:p>
        </p:txBody>
      </p:sp>
      <p:pic>
        <p:nvPicPr>
          <p:cNvPr id="6" name="Picture 5">
            <a:extLst>
              <a:ext uri="{FF2B5EF4-FFF2-40B4-BE49-F238E27FC236}">
                <a16:creationId xmlns:a16="http://schemas.microsoft.com/office/drawing/2014/main" id="{D3FAF1F2-674B-D493-4A81-8DF46E9895FC}"/>
              </a:ext>
            </a:extLst>
          </p:cNvPr>
          <p:cNvPicPr>
            <a:picLocks noChangeAspect="1"/>
          </p:cNvPicPr>
          <p:nvPr/>
        </p:nvPicPr>
        <p:blipFill>
          <a:blip r:embed="rId3"/>
          <a:stretch>
            <a:fillRect/>
          </a:stretch>
        </p:blipFill>
        <p:spPr>
          <a:xfrm>
            <a:off x="6742671" y="1690688"/>
            <a:ext cx="4261260" cy="4349038"/>
          </a:xfrm>
          <a:prstGeom prst="rect">
            <a:avLst/>
          </a:prstGeom>
        </p:spPr>
      </p:pic>
      <p:pic>
        <p:nvPicPr>
          <p:cNvPr id="7" name="Picture 6">
            <a:extLst>
              <a:ext uri="{FF2B5EF4-FFF2-40B4-BE49-F238E27FC236}">
                <a16:creationId xmlns:a16="http://schemas.microsoft.com/office/drawing/2014/main" id="{39C1C687-2BF2-DA2C-BEFF-67F9EBA7542D}"/>
              </a:ext>
            </a:extLst>
          </p:cNvPr>
          <p:cNvPicPr>
            <a:picLocks noChangeAspect="1"/>
          </p:cNvPicPr>
          <p:nvPr/>
        </p:nvPicPr>
        <p:blipFill>
          <a:blip r:embed="rId4"/>
          <a:stretch>
            <a:fillRect/>
          </a:stretch>
        </p:blipFill>
        <p:spPr>
          <a:xfrm>
            <a:off x="1124549" y="1463912"/>
            <a:ext cx="3924529" cy="5257563"/>
          </a:xfrm>
          <a:prstGeom prst="rect">
            <a:avLst/>
          </a:prstGeom>
        </p:spPr>
      </p:pic>
      <p:sp>
        <p:nvSpPr>
          <p:cNvPr id="8" name="Subtitle 2">
            <a:extLst>
              <a:ext uri="{FF2B5EF4-FFF2-40B4-BE49-F238E27FC236}">
                <a16:creationId xmlns:a16="http://schemas.microsoft.com/office/drawing/2014/main" id="{B1242029-F02C-ACAD-6166-5A808D995542}"/>
              </a:ext>
            </a:extLst>
          </p:cNvPr>
          <p:cNvSpPr txBox="1">
            <a:spLocks/>
          </p:cNvSpPr>
          <p:nvPr/>
        </p:nvSpPr>
        <p:spPr>
          <a:xfrm>
            <a:off x="6310511" y="6448532"/>
            <a:ext cx="6615546"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Justin Johnson</a:t>
            </a:r>
          </a:p>
        </p:txBody>
      </p:sp>
    </p:spTree>
    <p:extLst>
      <p:ext uri="{BB962C8B-B14F-4D97-AF65-F5344CB8AC3E}">
        <p14:creationId xmlns:p14="http://schemas.microsoft.com/office/powerpoint/2010/main" val="176785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9D713-EE06-B19B-4A29-5DE3FABA05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A4A242-738F-DD1A-E9A7-11477B420DFF}"/>
              </a:ext>
            </a:extLst>
          </p:cNvPr>
          <p:cNvSpPr>
            <a:spLocks noGrp="1"/>
          </p:cNvSpPr>
          <p:nvPr>
            <p:ph type="sldNum" sz="quarter" idx="12"/>
          </p:nvPr>
        </p:nvSpPr>
        <p:spPr/>
        <p:txBody>
          <a:bodyPr/>
          <a:lstStyle/>
          <a:p>
            <a:fld id="{B3533053-B928-004D-A0E8-A0A092123CEE}" type="slidenum">
              <a:rPr lang="en-US" smtClean="0"/>
              <a:t>11</a:t>
            </a:fld>
            <a:endParaRPr lang="en-US" dirty="0"/>
          </a:p>
        </p:txBody>
      </p:sp>
      <p:sp>
        <p:nvSpPr>
          <p:cNvPr id="3" name="Title 1">
            <a:extLst>
              <a:ext uri="{FF2B5EF4-FFF2-40B4-BE49-F238E27FC236}">
                <a16:creationId xmlns:a16="http://schemas.microsoft.com/office/drawing/2014/main" id="{A41199B2-78CE-4D86-7DDA-3FC570F18144}"/>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Key Concepts</a:t>
            </a:r>
          </a:p>
        </p:txBody>
      </p:sp>
      <p:sp>
        <p:nvSpPr>
          <p:cNvPr id="4" name="TextBox 3">
            <a:extLst>
              <a:ext uri="{FF2B5EF4-FFF2-40B4-BE49-F238E27FC236}">
                <a16:creationId xmlns:a16="http://schemas.microsoft.com/office/drawing/2014/main" id="{C46262F1-E99A-F393-58BB-E027130991AA}"/>
              </a:ext>
            </a:extLst>
          </p:cNvPr>
          <p:cNvSpPr txBox="1"/>
          <p:nvPr/>
        </p:nvSpPr>
        <p:spPr>
          <a:xfrm>
            <a:off x="470451" y="1690688"/>
            <a:ext cx="8971723" cy="1754326"/>
          </a:xfrm>
          <a:prstGeom prst="rect">
            <a:avLst/>
          </a:prstGeom>
          <a:noFill/>
        </p:spPr>
        <p:txBody>
          <a:bodyPr wrap="square">
            <a:spAutoFit/>
          </a:bodyPr>
          <a:lstStyle/>
          <a:p>
            <a:pPr lvl="1"/>
            <a:r>
              <a:rPr lang="en-US" sz="2800" dirty="0">
                <a:latin typeface="Arial" panose="020B0604020202020204" pitchFamily="34" charset="0"/>
                <a:cs typeface="Arial" panose="020B0604020202020204" pitchFamily="34" charset="0"/>
              </a:rPr>
              <a:t>RNN</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Can model the </a:t>
            </a:r>
            <a:r>
              <a:rPr lang="en-US" sz="2000" b="1" u="sng" dirty="0">
                <a:solidFill>
                  <a:srgbClr val="C00000"/>
                </a:solidFill>
                <a:latin typeface="Arial" panose="020B0604020202020204" pitchFamily="34" charset="0"/>
                <a:cs typeface="Arial" panose="020B0604020202020204" pitchFamily="34" charset="0"/>
              </a:rPr>
              <a:t>sequential</a:t>
            </a:r>
            <a:r>
              <a:rPr lang="en-US" sz="2000" dirty="0">
                <a:latin typeface="Arial" panose="020B0604020202020204" pitchFamily="34" charset="0"/>
                <a:cs typeface="Arial" panose="020B0604020202020204" pitchFamily="34" charset="0"/>
              </a:rPr>
              <a:t> data </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Backward flow of gradients in RNN can explode or vanish</a:t>
            </a:r>
          </a:p>
          <a:p>
            <a:pPr marL="1257300" lvl="2"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Exploding is controlled with </a:t>
            </a:r>
            <a:r>
              <a:rPr lang="en-US" sz="2000" u="sng" dirty="0">
                <a:latin typeface="Arial" panose="020B0604020202020204" pitchFamily="34" charset="0"/>
                <a:cs typeface="Arial" panose="020B0604020202020204" pitchFamily="34" charset="0"/>
              </a:rPr>
              <a:t>gradient clipping</a:t>
            </a:r>
          </a:p>
          <a:p>
            <a:pPr marL="1257300" lvl="2"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Vanishing is controlled with additive interaction (</a:t>
            </a:r>
            <a:r>
              <a:rPr lang="en-US" sz="2000" u="sng" dirty="0">
                <a:latin typeface="Arial" panose="020B0604020202020204" pitchFamily="34" charset="0"/>
                <a:cs typeface="Arial" panose="020B0604020202020204" pitchFamily="34" charset="0"/>
              </a:rPr>
              <a:t>gates cells</a:t>
            </a:r>
            <a:r>
              <a:rPr lang="en-US" sz="2000" dirty="0">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FEEB7318-524D-6493-6ED8-F20D29E29344}"/>
              </a:ext>
            </a:extLst>
          </p:cNvPr>
          <p:cNvSpPr txBox="1"/>
          <p:nvPr/>
        </p:nvSpPr>
        <p:spPr>
          <a:xfrm>
            <a:off x="470451" y="4151649"/>
            <a:ext cx="8971723" cy="2369880"/>
          </a:xfrm>
          <a:prstGeom prst="rect">
            <a:avLst/>
          </a:prstGeom>
          <a:noFill/>
        </p:spPr>
        <p:txBody>
          <a:bodyPr wrap="square">
            <a:spAutoFit/>
          </a:bodyPr>
          <a:lstStyle/>
          <a:p>
            <a:pPr lvl="1"/>
            <a:r>
              <a:rPr lang="en-US" sz="2800" dirty="0">
                <a:latin typeface="Arial" panose="020B0604020202020204" pitchFamily="34" charset="0"/>
                <a:cs typeface="Arial" panose="020B0604020202020204" pitchFamily="34" charset="0"/>
              </a:rPr>
              <a:t>LSTM</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Maintain a </a:t>
            </a:r>
            <a:r>
              <a:rPr lang="en-US" sz="2000" b="1" u="sng" dirty="0">
                <a:latin typeface="Arial" panose="020B0604020202020204" pitchFamily="34" charset="0"/>
                <a:cs typeface="Arial" panose="020B0604020202020204" pitchFamily="34" charset="0"/>
              </a:rPr>
              <a:t>cell state</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Use gates to control the flow of information</a:t>
            </a:r>
          </a:p>
          <a:p>
            <a:pPr marL="1257300" lvl="2"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Input gate </a:t>
            </a:r>
            <a:r>
              <a:rPr lang="en-US" sz="2000" dirty="0">
                <a:solidFill>
                  <a:srgbClr val="C00000"/>
                </a:solidFill>
                <a:latin typeface="Arial" panose="020B0604020202020204" pitchFamily="34" charset="0"/>
                <a:cs typeface="Arial" panose="020B0604020202020204" pitchFamily="34" charset="0"/>
              </a:rPr>
              <a:t>stores</a:t>
            </a:r>
            <a:r>
              <a:rPr lang="en-US" sz="2000" dirty="0">
                <a:latin typeface="Arial" panose="020B0604020202020204" pitchFamily="34" charset="0"/>
                <a:cs typeface="Arial" panose="020B0604020202020204" pitchFamily="34" charset="0"/>
              </a:rPr>
              <a:t> relevant info</a:t>
            </a:r>
          </a:p>
          <a:p>
            <a:pPr marL="1257300" lvl="2"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Forget gate </a:t>
            </a:r>
            <a:r>
              <a:rPr lang="en-US" sz="2000" dirty="0">
                <a:solidFill>
                  <a:srgbClr val="C00000"/>
                </a:solidFill>
                <a:latin typeface="Arial" panose="020B0604020202020204" pitchFamily="34" charset="0"/>
                <a:cs typeface="Arial" panose="020B0604020202020204" pitchFamily="34" charset="0"/>
              </a:rPr>
              <a:t>gets ride of </a:t>
            </a:r>
            <a:r>
              <a:rPr lang="en-US" sz="2000" dirty="0">
                <a:latin typeface="Arial" panose="020B0604020202020204" pitchFamily="34" charset="0"/>
                <a:cs typeface="Arial" panose="020B0604020202020204" pitchFamily="34" charset="0"/>
              </a:rPr>
              <a:t>irrelevant info</a:t>
            </a:r>
          </a:p>
          <a:p>
            <a:pPr marL="1257300" lvl="2"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Selectively </a:t>
            </a:r>
            <a:r>
              <a:rPr lang="en-US" sz="2000" dirty="0">
                <a:solidFill>
                  <a:srgbClr val="C00000"/>
                </a:solidFill>
                <a:latin typeface="Arial" panose="020B0604020202020204" pitchFamily="34" charset="0"/>
                <a:cs typeface="Arial" panose="020B0604020202020204" pitchFamily="34" charset="0"/>
              </a:rPr>
              <a:t>update</a:t>
            </a:r>
            <a:r>
              <a:rPr lang="en-US" sz="2000" dirty="0">
                <a:latin typeface="Arial" panose="020B0604020202020204" pitchFamily="34" charset="0"/>
                <a:cs typeface="Arial" panose="020B0604020202020204" pitchFamily="34" charset="0"/>
              </a:rPr>
              <a:t> cell state </a:t>
            </a:r>
          </a:p>
          <a:p>
            <a:pPr marL="1257300" lvl="2"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Output fate returns a filtered version of the cell state </a:t>
            </a:r>
          </a:p>
        </p:txBody>
      </p:sp>
    </p:spTree>
    <p:extLst>
      <p:ext uri="{BB962C8B-B14F-4D97-AF65-F5344CB8AC3E}">
        <p14:creationId xmlns:p14="http://schemas.microsoft.com/office/powerpoint/2010/main" val="238187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4184A-82EA-F8D9-CC36-2FCB5CDF9AA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35C644-A150-FC15-F4B3-0D8D00F90106}"/>
              </a:ext>
            </a:extLst>
          </p:cNvPr>
          <p:cNvSpPr>
            <a:spLocks noGrp="1"/>
          </p:cNvSpPr>
          <p:nvPr>
            <p:ph type="sldNum" sz="quarter" idx="12"/>
          </p:nvPr>
        </p:nvSpPr>
        <p:spPr/>
        <p:txBody>
          <a:bodyPr/>
          <a:lstStyle/>
          <a:p>
            <a:fld id="{B3533053-B928-004D-A0E8-A0A092123CEE}" type="slidenum">
              <a:rPr lang="en-US" smtClean="0"/>
              <a:t>12</a:t>
            </a:fld>
            <a:endParaRPr lang="en-US"/>
          </a:p>
        </p:txBody>
      </p:sp>
      <p:sp>
        <p:nvSpPr>
          <p:cNvPr id="6" name="Title 1">
            <a:extLst>
              <a:ext uri="{FF2B5EF4-FFF2-40B4-BE49-F238E27FC236}">
                <a16:creationId xmlns:a16="http://schemas.microsoft.com/office/drawing/2014/main" id="{CB647E90-183F-CEFA-423C-BF4C8B0F9A07}"/>
              </a:ext>
            </a:extLst>
          </p:cNvPr>
          <p:cNvSpPr>
            <a:spLocks noGrp="1"/>
          </p:cNvSpPr>
          <p:nvPr>
            <p:ph type="title"/>
          </p:nvPr>
        </p:nvSpPr>
        <p:spPr>
          <a:xfrm>
            <a:off x="787609" y="477991"/>
            <a:ext cx="11231613" cy="5577417"/>
          </a:xfrm>
        </p:spPr>
        <p:txBody>
          <a:bodyPr>
            <a:normAutofit/>
          </a:bodyPr>
          <a:lstStyle/>
          <a:p>
            <a:br>
              <a:rPr lang="en-US" altLang="zh-CN" dirty="0">
                <a:latin typeface="Arial" panose="020B0604020202020204" pitchFamily="34" charset="0"/>
                <a:cs typeface="Arial" panose="020B0604020202020204" pitchFamily="34" charset="0"/>
              </a:rPr>
            </a:br>
            <a:r>
              <a:rPr lang="en-US" altLang="zh-CN" dirty="0">
                <a:latin typeface="Arial" panose="020B0604020202020204" pitchFamily="34" charset="0"/>
                <a:cs typeface="Arial" panose="020B0604020202020204" pitchFamily="34" charset="0"/>
              </a:rPr>
              <a:t>1. LSTM</a:t>
            </a:r>
            <a:br>
              <a:rPr lang="en-US" altLang="zh-CN" dirty="0">
                <a:latin typeface="Arial" panose="020B0604020202020204" pitchFamily="34" charset="0"/>
                <a:cs typeface="Arial" panose="020B0604020202020204" pitchFamily="34" charset="0"/>
              </a:rPr>
            </a:br>
            <a:br>
              <a:rPr lang="en-US" altLang="zh-CN" dirty="0">
                <a:latin typeface="Arial" panose="020B0604020202020204" pitchFamily="34" charset="0"/>
                <a:cs typeface="Arial" panose="020B0604020202020204" pitchFamily="34" charset="0"/>
              </a:rPr>
            </a:br>
            <a:r>
              <a:rPr lang="en-US" altLang="zh-CN" dirty="0">
                <a:solidFill>
                  <a:srgbClr val="C00000"/>
                </a:solidFill>
                <a:latin typeface="Arial" panose="020B0604020202020204" pitchFamily="34" charset="0"/>
                <a:cs typeface="Arial" panose="020B0604020202020204" pitchFamily="34" charset="0"/>
              </a:rPr>
              <a:t>2. Attention and Transformers</a:t>
            </a:r>
            <a:endParaRPr lang="en-US"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2153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C1710-4890-EAC1-684D-6237351223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AD2A68-2849-392A-EA90-0B507F39F76B}"/>
              </a:ext>
            </a:extLst>
          </p:cNvPr>
          <p:cNvSpPr>
            <a:spLocks noGrp="1"/>
          </p:cNvSpPr>
          <p:nvPr>
            <p:ph type="sldNum" sz="quarter" idx="12"/>
          </p:nvPr>
        </p:nvSpPr>
        <p:spPr/>
        <p:txBody>
          <a:bodyPr/>
          <a:lstStyle/>
          <a:p>
            <a:fld id="{B3533053-B928-004D-A0E8-A0A092123CEE}" type="slidenum">
              <a:rPr lang="en-US" smtClean="0"/>
              <a:t>13</a:t>
            </a:fld>
            <a:endParaRPr lang="en-US"/>
          </a:p>
        </p:txBody>
      </p:sp>
      <p:sp>
        <p:nvSpPr>
          <p:cNvPr id="6" name="Title 1">
            <a:extLst>
              <a:ext uri="{FF2B5EF4-FFF2-40B4-BE49-F238E27FC236}">
                <a16:creationId xmlns:a16="http://schemas.microsoft.com/office/drawing/2014/main" id="{69F09CCB-2573-D868-E237-4AE9FB441ED7}"/>
              </a:ext>
            </a:extLst>
          </p:cNvPr>
          <p:cNvSpPr>
            <a:spLocks noGrp="1"/>
          </p:cNvSpPr>
          <p:nvPr>
            <p:ph type="title"/>
          </p:nvPr>
        </p:nvSpPr>
        <p:spPr>
          <a:xfrm>
            <a:off x="741311" y="778933"/>
            <a:ext cx="11231613" cy="5577417"/>
          </a:xfrm>
        </p:spPr>
        <p:txBody>
          <a:bodyPr>
            <a:normAutofit/>
          </a:bodyPr>
          <a:lstStyle/>
          <a:p>
            <a:br>
              <a:rPr lang="en-US" altLang="zh-CN" dirty="0">
                <a:latin typeface="Arial" panose="020B0604020202020204" pitchFamily="34" charset="0"/>
                <a:cs typeface="Arial" panose="020B0604020202020204" pitchFamily="34" charset="0"/>
              </a:rPr>
            </a:br>
            <a:endParaRPr lang="en-US" b="1" dirty="0">
              <a:solidFill>
                <a:srgbClr val="C00000"/>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AFCF9C9A-A116-26DD-D834-87E086EAE397}"/>
              </a:ext>
            </a:extLst>
          </p:cNvPr>
          <p:cNvSpPr txBox="1">
            <a:spLocks/>
          </p:cNvSpPr>
          <p:nvPr/>
        </p:nvSpPr>
        <p:spPr>
          <a:xfrm>
            <a:off x="814198" y="19245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C00000"/>
                </a:solidFill>
                <a:latin typeface="Arial" panose="020B0604020202020204" pitchFamily="34" charset="0"/>
                <a:cs typeface="Arial" panose="020B0604020202020204" pitchFamily="34" charset="0"/>
              </a:rPr>
              <a:t>Attention</a:t>
            </a:r>
            <a:r>
              <a:rPr lang="en-US" dirty="0">
                <a:latin typeface="Arial" panose="020B0604020202020204" pitchFamily="34" charset="0"/>
                <a:cs typeface="Arial" panose="020B0604020202020204" pitchFamily="34" charset="0"/>
              </a:rPr>
              <a:t> Is All You Need</a:t>
            </a:r>
          </a:p>
        </p:txBody>
      </p:sp>
      <p:sp>
        <p:nvSpPr>
          <p:cNvPr id="8" name="Title 1">
            <a:extLst>
              <a:ext uri="{FF2B5EF4-FFF2-40B4-BE49-F238E27FC236}">
                <a16:creationId xmlns:a16="http://schemas.microsoft.com/office/drawing/2014/main" id="{696B6492-84D0-05EC-D763-2B44549B2683}"/>
              </a:ext>
            </a:extLst>
          </p:cNvPr>
          <p:cNvSpPr txBox="1">
            <a:spLocks/>
          </p:cNvSpPr>
          <p:nvPr/>
        </p:nvSpPr>
        <p:spPr>
          <a:xfrm>
            <a:off x="2518723" y="34290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Arial" panose="020B0604020202020204" pitchFamily="34" charset="0"/>
                <a:cs typeface="Arial" panose="020B0604020202020204" pitchFamily="34" charset="0"/>
              </a:rPr>
              <a:t>ChatGP</a:t>
            </a:r>
            <a:r>
              <a:rPr lang="en-US" sz="3600" dirty="0">
                <a:solidFill>
                  <a:srgbClr val="C00000"/>
                </a:solidFill>
                <a:latin typeface="Arial" panose="020B0604020202020204" pitchFamily="34" charset="0"/>
                <a:cs typeface="Arial" panose="020B0604020202020204" pitchFamily="34" charset="0"/>
              </a:rPr>
              <a:t>T</a:t>
            </a:r>
          </a:p>
        </p:txBody>
      </p:sp>
      <p:sp>
        <p:nvSpPr>
          <p:cNvPr id="9" name="Title 1">
            <a:extLst>
              <a:ext uri="{FF2B5EF4-FFF2-40B4-BE49-F238E27FC236}">
                <a16:creationId xmlns:a16="http://schemas.microsoft.com/office/drawing/2014/main" id="{790CD334-3A51-0D2C-DFF6-0011FD8B6692}"/>
              </a:ext>
            </a:extLst>
          </p:cNvPr>
          <p:cNvSpPr txBox="1">
            <a:spLocks/>
          </p:cNvSpPr>
          <p:nvPr/>
        </p:nvSpPr>
        <p:spPr>
          <a:xfrm>
            <a:off x="5440827" y="343007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Arial" panose="020B0604020202020204" pitchFamily="34" charset="0"/>
                <a:cs typeface="Arial" panose="020B0604020202020204" pitchFamily="34" charset="0"/>
              </a:rPr>
              <a:t>BER</a:t>
            </a:r>
            <a:r>
              <a:rPr lang="en-US" sz="3600" dirty="0">
                <a:solidFill>
                  <a:srgbClr val="C00000"/>
                </a:solidFill>
                <a:latin typeface="Arial" panose="020B0604020202020204" pitchFamily="34" charset="0"/>
                <a:cs typeface="Arial" panose="020B0604020202020204" pitchFamily="34" charset="0"/>
              </a:rPr>
              <a:t>T</a:t>
            </a:r>
          </a:p>
        </p:txBody>
      </p:sp>
      <p:sp>
        <p:nvSpPr>
          <p:cNvPr id="10" name="Title 1">
            <a:extLst>
              <a:ext uri="{FF2B5EF4-FFF2-40B4-BE49-F238E27FC236}">
                <a16:creationId xmlns:a16="http://schemas.microsoft.com/office/drawing/2014/main" id="{A2A6A6A0-11F8-5D53-CD73-CED9EC2240D3}"/>
              </a:ext>
            </a:extLst>
          </p:cNvPr>
          <p:cNvSpPr txBox="1">
            <a:spLocks/>
          </p:cNvSpPr>
          <p:nvPr/>
        </p:nvSpPr>
        <p:spPr>
          <a:xfrm>
            <a:off x="7282267" y="44433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C00000"/>
                </a:solidFill>
                <a:latin typeface="Arial" panose="020B0604020202020204" pitchFamily="34" charset="0"/>
                <a:cs typeface="Arial" panose="020B0604020202020204" pitchFamily="34" charset="0"/>
              </a:rPr>
              <a:t>Transformer</a:t>
            </a:r>
          </a:p>
        </p:txBody>
      </p:sp>
    </p:spTree>
    <p:extLst>
      <p:ext uri="{BB962C8B-B14F-4D97-AF65-F5344CB8AC3E}">
        <p14:creationId xmlns:p14="http://schemas.microsoft.com/office/powerpoint/2010/main" val="1964256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16D02-8C65-D7E6-5CDD-671016A0D9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BB61DB-B4E8-1680-0609-50B74039EF3C}"/>
              </a:ext>
            </a:extLst>
          </p:cNvPr>
          <p:cNvSpPr>
            <a:spLocks noGrp="1"/>
          </p:cNvSpPr>
          <p:nvPr>
            <p:ph type="sldNum" sz="quarter" idx="12"/>
          </p:nvPr>
        </p:nvSpPr>
        <p:spPr/>
        <p:txBody>
          <a:bodyPr/>
          <a:lstStyle/>
          <a:p>
            <a:fld id="{B3533053-B928-004D-A0E8-A0A092123CEE}" type="slidenum">
              <a:rPr lang="en-US" smtClean="0"/>
              <a:t>14</a:t>
            </a:fld>
            <a:endParaRPr lang="en-US"/>
          </a:p>
        </p:txBody>
      </p:sp>
      <p:sp>
        <p:nvSpPr>
          <p:cNvPr id="6" name="Title 1">
            <a:extLst>
              <a:ext uri="{FF2B5EF4-FFF2-40B4-BE49-F238E27FC236}">
                <a16:creationId xmlns:a16="http://schemas.microsoft.com/office/drawing/2014/main" id="{2D50C447-0615-DCD1-A17F-BD04087937CF}"/>
              </a:ext>
            </a:extLst>
          </p:cNvPr>
          <p:cNvSpPr>
            <a:spLocks noGrp="1"/>
          </p:cNvSpPr>
          <p:nvPr>
            <p:ph type="title"/>
          </p:nvPr>
        </p:nvSpPr>
        <p:spPr>
          <a:xfrm>
            <a:off x="741311" y="778933"/>
            <a:ext cx="11231613" cy="5577417"/>
          </a:xfrm>
        </p:spPr>
        <p:txBody>
          <a:bodyPr>
            <a:normAutofit/>
          </a:bodyPr>
          <a:lstStyle/>
          <a:p>
            <a:br>
              <a:rPr lang="en-US" altLang="zh-CN" dirty="0">
                <a:latin typeface="Arial" panose="020B0604020202020204" pitchFamily="34" charset="0"/>
                <a:cs typeface="Arial" panose="020B0604020202020204" pitchFamily="34" charset="0"/>
              </a:rPr>
            </a:br>
            <a:endParaRPr lang="en-US" b="1" dirty="0">
              <a:solidFill>
                <a:srgbClr val="C0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F1DAB5D-9B83-8933-2CFF-01E30102E99E}"/>
              </a:ext>
            </a:extLst>
          </p:cNvPr>
          <p:cNvPicPr>
            <a:picLocks noChangeAspect="1"/>
          </p:cNvPicPr>
          <p:nvPr/>
        </p:nvPicPr>
        <p:blipFill>
          <a:blip r:embed="rId3"/>
          <a:stretch>
            <a:fillRect/>
          </a:stretch>
        </p:blipFill>
        <p:spPr>
          <a:xfrm>
            <a:off x="1898191" y="179053"/>
            <a:ext cx="7772400" cy="5371501"/>
          </a:xfrm>
          <a:prstGeom prst="rect">
            <a:avLst/>
          </a:prstGeom>
        </p:spPr>
      </p:pic>
      <p:sp>
        <p:nvSpPr>
          <p:cNvPr id="5" name="TextBox 4">
            <a:extLst>
              <a:ext uri="{FF2B5EF4-FFF2-40B4-BE49-F238E27FC236}">
                <a16:creationId xmlns:a16="http://schemas.microsoft.com/office/drawing/2014/main" id="{A435CAAC-32F5-DAE8-3230-83BAE7A53895}"/>
              </a:ext>
            </a:extLst>
          </p:cNvPr>
          <p:cNvSpPr txBox="1"/>
          <p:nvPr/>
        </p:nvSpPr>
        <p:spPr>
          <a:xfrm>
            <a:off x="741311" y="5582702"/>
            <a:ext cx="8971723" cy="1138773"/>
          </a:xfrm>
          <a:prstGeom prst="rect">
            <a:avLst/>
          </a:prstGeom>
          <a:noFill/>
        </p:spPr>
        <p:txBody>
          <a:bodyPr wrap="square">
            <a:spAutoFit/>
          </a:bodyPr>
          <a:lstStyle/>
          <a:p>
            <a:pPr lvl="1"/>
            <a:r>
              <a:rPr lang="en-US" sz="2800" dirty="0">
                <a:latin typeface="Arial" panose="020B0604020202020204" pitchFamily="34" charset="0"/>
                <a:cs typeface="Arial" panose="020B0604020202020204" pitchFamily="34" charset="0"/>
              </a:rPr>
              <a:t>Core idea:</a:t>
            </a:r>
          </a:p>
          <a:p>
            <a:pPr marL="800100" lvl="1" indent="-342900">
              <a:buFont typeface="Arial" panose="020B0604020202020204" pitchFamily="34" charset="0"/>
              <a:buChar char="•"/>
            </a:pPr>
            <a:r>
              <a:rPr lang="en-US" sz="2000" b="1" u="sng" dirty="0">
                <a:solidFill>
                  <a:srgbClr val="C00000"/>
                </a:solidFill>
                <a:latin typeface="Arial" panose="020B0604020202020204" pitchFamily="34" charset="0"/>
                <a:cs typeface="Arial" panose="020B0604020202020204" pitchFamily="34" charset="0"/>
              </a:rPr>
              <a:t>Attending</a:t>
            </a:r>
            <a:r>
              <a:rPr lang="en-US" sz="2000" dirty="0">
                <a:latin typeface="Arial" panose="020B0604020202020204" pitchFamily="34" charset="0"/>
                <a:cs typeface="Arial" panose="020B0604020202020204" pitchFamily="34" charset="0"/>
              </a:rPr>
              <a:t> to the most important parts of an input</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Extract the features with high attention (learned by the network)</a:t>
            </a:r>
          </a:p>
        </p:txBody>
      </p:sp>
      <p:sp>
        <p:nvSpPr>
          <p:cNvPr id="7" name="Title 1">
            <a:extLst>
              <a:ext uri="{FF2B5EF4-FFF2-40B4-BE49-F238E27FC236}">
                <a16:creationId xmlns:a16="http://schemas.microsoft.com/office/drawing/2014/main" id="{9F4988D4-505B-F335-857F-8390D76A10FC}"/>
              </a:ext>
            </a:extLst>
          </p:cNvPr>
          <p:cNvSpPr txBox="1">
            <a:spLocks/>
          </p:cNvSpPr>
          <p:nvPr/>
        </p:nvSpPr>
        <p:spPr>
          <a:xfrm>
            <a:off x="7282267" y="4443343"/>
            <a:ext cx="27432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574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DDF50-4034-491B-62C2-6A1FC7E380D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A very approximate timeline</a:t>
            </a:r>
          </a:p>
        </p:txBody>
      </p:sp>
      <p:sp>
        <p:nvSpPr>
          <p:cNvPr id="3" name="Content Placeholder 2">
            <a:extLst>
              <a:ext uri="{FF2B5EF4-FFF2-40B4-BE49-F238E27FC236}">
                <a16:creationId xmlns:a16="http://schemas.microsoft.com/office/drawing/2014/main" id="{F0070291-1DFA-98C0-15D2-EF763451F5EC}"/>
              </a:ext>
            </a:extLst>
          </p:cNvPr>
          <p:cNvSpPr>
            <a:spLocks noGrp="1"/>
          </p:cNvSpPr>
          <p:nvPr>
            <p:ph idx="1"/>
          </p:nvPr>
        </p:nvSpPr>
        <p:spPr/>
        <p:txBody>
          <a:bodyPr>
            <a:normAutofit lnSpcReduction="10000"/>
          </a:bodyPr>
          <a:lstStyle/>
          <a:p>
            <a:r>
              <a:rPr lang="en-US" dirty="0">
                <a:latin typeface="Arial" panose="020B0604020202020204" pitchFamily="34" charset="0"/>
                <a:cs typeface="Arial" panose="020B0604020202020204" pitchFamily="34" charset="0"/>
              </a:rPr>
              <a:t>1986 RNN</a:t>
            </a:r>
          </a:p>
          <a:p>
            <a:r>
              <a:rPr lang="en-US" dirty="0">
                <a:latin typeface="Arial" panose="020B0604020202020204" pitchFamily="34" charset="0"/>
                <a:cs typeface="Arial" panose="020B0604020202020204" pitchFamily="34" charset="0"/>
              </a:rPr>
              <a:t>1997 LSTM</a:t>
            </a:r>
          </a:p>
          <a:p>
            <a:r>
              <a:rPr lang="en-US" dirty="0">
                <a:latin typeface="Arial" panose="020B0604020202020204" pitchFamily="34" charset="0"/>
                <a:cs typeface="Arial" panose="020B0604020202020204" pitchFamily="34" charset="0"/>
              </a:rPr>
              <a:t>1990 Static Word Embeddings</a:t>
            </a:r>
          </a:p>
          <a:p>
            <a:r>
              <a:rPr lang="en-US" dirty="0">
                <a:latin typeface="Arial" panose="020B0604020202020204" pitchFamily="34" charset="0"/>
                <a:cs typeface="Arial" panose="020B0604020202020204" pitchFamily="34" charset="0"/>
              </a:rPr>
              <a:t>2003 Neural Language Model</a:t>
            </a:r>
          </a:p>
          <a:p>
            <a:r>
              <a:rPr lang="en-US" dirty="0">
                <a:latin typeface="Arial" panose="020B0604020202020204" pitchFamily="34" charset="0"/>
                <a:cs typeface="Arial" panose="020B0604020202020204" pitchFamily="34" charset="0"/>
              </a:rPr>
              <a:t>2008 Multi-Task Learning</a:t>
            </a:r>
          </a:p>
          <a:p>
            <a:r>
              <a:rPr lang="en-US" dirty="0">
                <a:latin typeface="Arial" panose="020B0604020202020204" pitchFamily="34" charset="0"/>
                <a:cs typeface="Arial" panose="020B0604020202020204" pitchFamily="34" charset="0"/>
              </a:rPr>
              <a:t>2015 Attention</a:t>
            </a:r>
          </a:p>
          <a:p>
            <a:r>
              <a:rPr lang="en-US" dirty="0">
                <a:latin typeface="Arial" panose="020B0604020202020204" pitchFamily="34" charset="0"/>
                <a:cs typeface="Arial" panose="020B0604020202020204" pitchFamily="34" charset="0"/>
              </a:rPr>
              <a:t>2017 Transformer</a:t>
            </a:r>
          </a:p>
          <a:p>
            <a:r>
              <a:rPr lang="en-US" dirty="0">
                <a:latin typeface="Arial" panose="020B0604020202020204" pitchFamily="34" charset="0"/>
                <a:cs typeface="Arial" panose="020B0604020202020204" pitchFamily="34" charset="0"/>
              </a:rPr>
              <a:t>2018 Contextual Word Embeddings and Pretraining</a:t>
            </a:r>
          </a:p>
          <a:p>
            <a:r>
              <a:rPr lang="en-US" dirty="0">
                <a:latin typeface="Arial" panose="020B0604020202020204" pitchFamily="34" charset="0"/>
                <a:cs typeface="Arial" panose="020B0604020202020204" pitchFamily="34" charset="0"/>
              </a:rPr>
              <a:t>2019 Prompting</a:t>
            </a:r>
          </a:p>
        </p:txBody>
      </p:sp>
    </p:spTree>
    <p:extLst>
      <p:ext uri="{BB962C8B-B14F-4D97-AF65-F5344CB8AC3E}">
        <p14:creationId xmlns:p14="http://schemas.microsoft.com/office/powerpoint/2010/main" val="1889557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E2CDE-DC2A-3D17-0310-75E317E0EE6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D9B28C-75BB-4EFD-BC02-CF344D454A6A}"/>
              </a:ext>
            </a:extLst>
          </p:cNvPr>
          <p:cNvSpPr>
            <a:spLocks noGrp="1"/>
          </p:cNvSpPr>
          <p:nvPr>
            <p:ph type="sldNum" sz="quarter" idx="12"/>
          </p:nvPr>
        </p:nvSpPr>
        <p:spPr/>
        <p:txBody>
          <a:bodyPr/>
          <a:lstStyle/>
          <a:p>
            <a:fld id="{B3533053-B928-004D-A0E8-A0A092123CEE}" type="slidenum">
              <a:rPr lang="en-US" smtClean="0"/>
              <a:t>16</a:t>
            </a:fld>
            <a:endParaRPr lang="en-US" dirty="0"/>
          </a:p>
        </p:txBody>
      </p:sp>
      <p:sp>
        <p:nvSpPr>
          <p:cNvPr id="3" name="Title 1">
            <a:extLst>
              <a:ext uri="{FF2B5EF4-FFF2-40B4-BE49-F238E27FC236}">
                <a16:creationId xmlns:a16="http://schemas.microsoft.com/office/drawing/2014/main" id="{7BEBDAA3-3680-DFB5-9D02-A8DC454B3017}"/>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Attention as a mechanism </a:t>
            </a:r>
          </a:p>
        </p:txBody>
      </p:sp>
      <p:sp>
        <p:nvSpPr>
          <p:cNvPr id="13" name="TextBox 12">
            <a:extLst>
              <a:ext uri="{FF2B5EF4-FFF2-40B4-BE49-F238E27FC236}">
                <a16:creationId xmlns:a16="http://schemas.microsoft.com/office/drawing/2014/main" id="{94381A08-8522-06C9-D7C8-A7B78DE2DBCA}"/>
              </a:ext>
            </a:extLst>
          </p:cNvPr>
          <p:cNvSpPr txBox="1"/>
          <p:nvPr/>
        </p:nvSpPr>
        <p:spPr>
          <a:xfrm>
            <a:off x="838200" y="1690688"/>
            <a:ext cx="10515600" cy="2215991"/>
          </a:xfrm>
          <a:prstGeom prst="rect">
            <a:avLst/>
          </a:prstGeom>
          <a:noFill/>
        </p:spPr>
        <p:txBody>
          <a:bodyPr wrap="square">
            <a:spAutoFit/>
          </a:bodyPr>
          <a:lstStyle/>
          <a:p>
            <a:pPr marL="0" indent="0"/>
            <a:r>
              <a:rPr lang="en-US" sz="2400" dirty="0">
                <a:latin typeface="Arial" panose="020B0604020202020204" pitchFamily="34" charset="0"/>
                <a:cs typeface="Arial" panose="020B0604020202020204" pitchFamily="34" charset="0"/>
              </a:rPr>
              <a:t>A </a:t>
            </a:r>
            <a:r>
              <a:rPr lang="en-US" sz="2400" dirty="0">
                <a:solidFill>
                  <a:srgbClr val="C00000"/>
                </a:solidFill>
                <a:latin typeface="Arial" panose="020B0604020202020204" pitchFamily="34" charset="0"/>
                <a:cs typeface="Arial" panose="020B0604020202020204" pitchFamily="34" charset="0"/>
              </a:rPr>
              <a:t>mechanism</a:t>
            </a:r>
            <a:r>
              <a:rPr lang="en-US" sz="2400" dirty="0">
                <a:latin typeface="Arial" panose="020B0604020202020204" pitchFamily="34" charset="0"/>
                <a:cs typeface="Arial" panose="020B0604020202020204" pitchFamily="34" charset="0"/>
              </a:rPr>
              <a:t> for helping compute the </a:t>
            </a:r>
            <a:r>
              <a:rPr lang="en-US" sz="2400" b="1" u="sng" dirty="0">
                <a:solidFill>
                  <a:srgbClr val="C00000"/>
                </a:solidFill>
                <a:latin typeface="Arial" panose="020B0604020202020204" pitchFamily="34" charset="0"/>
                <a:cs typeface="Arial" panose="020B0604020202020204" pitchFamily="34" charset="0"/>
              </a:rPr>
              <a:t>embedding</a:t>
            </a:r>
            <a:r>
              <a:rPr lang="en-US" sz="2400" dirty="0">
                <a:latin typeface="Arial" panose="020B0604020202020204" pitchFamily="34" charset="0"/>
                <a:cs typeface="Arial" panose="020B0604020202020204" pitchFamily="34" charset="0"/>
              </a:rPr>
              <a:t> for a token by selectively attending to and integrating information from surrounding tokens (at the previous layer).</a:t>
            </a:r>
          </a:p>
          <a:p>
            <a:pPr marL="0" indent="0"/>
            <a:endParaRPr lang="en-US" sz="2400" dirty="0">
              <a:latin typeface="Arial" panose="020B0604020202020204" pitchFamily="34" charset="0"/>
              <a:cs typeface="Arial" panose="020B0604020202020204" pitchFamily="34" charset="0"/>
            </a:endParaRPr>
          </a:p>
          <a:p>
            <a:pPr marL="0" indent="0"/>
            <a:r>
              <a:rPr lang="en-US" sz="2400" dirty="0">
                <a:latin typeface="Arial" panose="020B0604020202020204" pitchFamily="34" charset="0"/>
                <a:cs typeface="Arial" panose="020B0604020202020204" pitchFamily="34" charset="0"/>
              </a:rPr>
              <a:t>More formally: a method for doing a weighted sum of vectors.</a:t>
            </a:r>
            <a:br>
              <a:rPr lang="en-US" sz="1800" dirty="0">
                <a:latin typeface="Arial" panose="020B0604020202020204" pitchFamily="34" charset="0"/>
                <a:cs typeface="Arial" panose="020B0604020202020204" pitchFamily="34" charset="0"/>
              </a:rPr>
            </a:br>
            <a:endParaRPr lang="en-US" sz="18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741CA31-580A-F02D-6A92-162B6E0D6F54}"/>
              </a:ext>
            </a:extLst>
          </p:cNvPr>
          <p:cNvSpPr txBox="1"/>
          <p:nvPr/>
        </p:nvSpPr>
        <p:spPr>
          <a:xfrm>
            <a:off x="838200" y="3984367"/>
            <a:ext cx="10728233" cy="2041585"/>
          </a:xfrm>
          <a:prstGeom prst="rect">
            <a:avLst/>
          </a:prstGeom>
          <a:noFill/>
        </p:spPr>
        <p:txBody>
          <a:bodyPr wrap="square" rtlCol="0">
            <a:spAutoFit/>
          </a:bodyPr>
          <a:lstStyle/>
          <a:p>
            <a:r>
              <a:rPr lang="en-US" sz="2400" b="1" u="sng" dirty="0">
                <a:latin typeface="Arial" panose="020B0604020202020204" pitchFamily="34" charset="0"/>
                <a:cs typeface="Arial" panose="020B0604020202020204" pitchFamily="34" charset="0"/>
              </a:rPr>
              <a:t>Input: </a:t>
            </a:r>
            <a:r>
              <a:rPr lang="en-US" sz="2400" dirty="0">
                <a:latin typeface="Arial" panose="020B0604020202020204" pitchFamily="34" charset="0"/>
                <a:cs typeface="Arial" panose="020B0604020202020204" pitchFamily="34" charset="0"/>
              </a:rPr>
              <a:t>Given a sequence of token embeddings:</a:t>
            </a:r>
          </a:p>
          <a:p>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1 </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2   </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3</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4</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5</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6</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7</a:t>
            </a:r>
            <a:r>
              <a:rPr lang="en-US" sz="2400" dirty="0">
                <a:latin typeface="Arial" panose="020B0604020202020204" pitchFamily="34" charset="0"/>
                <a:cs typeface="Arial" panose="020B0604020202020204" pitchFamily="34" charset="0"/>
              </a:rPr>
              <a:t>  </a:t>
            </a:r>
            <a:endParaRPr lang="en-US" sz="2400" baseline="-25000" dirty="0">
              <a:latin typeface="Arial" panose="020B0604020202020204" pitchFamily="34" charset="0"/>
              <a:cs typeface="Arial" panose="020B0604020202020204" pitchFamily="34" charset="0"/>
            </a:endParaRPr>
          </a:p>
          <a:p>
            <a:endParaRPr lang="en-US" sz="2400" baseline="-25000" dirty="0">
              <a:latin typeface="Arial" panose="020B0604020202020204" pitchFamily="34" charset="0"/>
              <a:cs typeface="Arial" panose="020B0604020202020204" pitchFamily="34" charset="0"/>
            </a:endParaRPr>
          </a:p>
          <a:p>
            <a:r>
              <a:rPr lang="en-US" sz="2400" b="1" u="sng" dirty="0">
                <a:latin typeface="Arial" panose="020B0604020202020204" pitchFamily="34" charset="0"/>
                <a:cs typeface="Arial" panose="020B0604020202020204" pitchFamily="34" charset="0"/>
              </a:rPr>
              <a:t>Output: </a:t>
            </a:r>
            <a:r>
              <a:rPr lang="en-US" sz="2400" b="1" dirty="0">
                <a:latin typeface="Arial" panose="020B0604020202020204" pitchFamily="34" charset="0"/>
                <a:cs typeface="Arial" panose="020B0604020202020204" pitchFamily="34" charset="0"/>
              </a:rPr>
              <a:t>a</a:t>
            </a:r>
            <a:r>
              <a:rPr lang="en-US" sz="2400" baseline="-25000" dirty="0">
                <a:latin typeface="Arial" panose="020B0604020202020204" pitchFamily="34" charset="0"/>
                <a:cs typeface="Arial" panose="020B0604020202020204" pitchFamily="34" charset="0"/>
              </a:rPr>
              <a:t>i</a:t>
            </a:r>
            <a:r>
              <a:rPr lang="en-US" sz="2400" dirty="0">
                <a:latin typeface="Arial" panose="020B0604020202020204" pitchFamily="34" charset="0"/>
                <a:cs typeface="Arial" panose="020B0604020202020204" pitchFamily="34" charset="0"/>
              </a:rPr>
              <a:t> = a weighted sum of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1</a:t>
            </a:r>
            <a:r>
              <a:rPr lang="en-US" sz="2400" dirty="0">
                <a:latin typeface="Arial" panose="020B0604020202020204" pitchFamily="34" charset="0"/>
                <a:cs typeface="Arial" panose="020B0604020202020204" pitchFamily="34" charset="0"/>
              </a:rPr>
              <a:t> through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7 </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Weighted by their similarity to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i</a:t>
            </a:r>
          </a:p>
          <a:p>
            <a:endParaRPr lang="en-US" sz="2200" baseline="-25000" dirty="0">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4343118C-AC8F-AD01-0961-AA5799722CF1}"/>
              </a:ext>
            </a:extLst>
          </p:cNvPr>
          <p:cNvPicPr>
            <a:picLocks noChangeAspect="1"/>
          </p:cNvPicPr>
          <p:nvPr/>
        </p:nvPicPr>
        <p:blipFill>
          <a:blip r:embed="rId3"/>
          <a:stretch>
            <a:fillRect/>
          </a:stretch>
        </p:blipFill>
        <p:spPr>
          <a:xfrm>
            <a:off x="8305800" y="4673094"/>
            <a:ext cx="3048000" cy="1281043"/>
          </a:xfrm>
          <a:prstGeom prst="rect">
            <a:avLst/>
          </a:prstGeom>
        </p:spPr>
      </p:pic>
      <p:sp>
        <p:nvSpPr>
          <p:cNvPr id="16" name="Rectangle 15">
            <a:extLst>
              <a:ext uri="{FF2B5EF4-FFF2-40B4-BE49-F238E27FC236}">
                <a16:creationId xmlns:a16="http://schemas.microsoft.com/office/drawing/2014/main" id="{C28EDEBE-422A-FCE3-5E82-9A2AF8957A0D}"/>
              </a:ext>
            </a:extLst>
          </p:cNvPr>
          <p:cNvSpPr/>
          <p:nvPr/>
        </p:nvSpPr>
        <p:spPr>
          <a:xfrm>
            <a:off x="9562383" y="4442577"/>
            <a:ext cx="1391478" cy="1449470"/>
          </a:xfrm>
          <a:prstGeom prst="rect">
            <a:avLst/>
          </a:prstGeom>
          <a:no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8741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F13EC5-0DB3-5970-3010-2AF01E294173}"/>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High-level idea: instead of using input vectors directly, we'll represent 3 separate roles each vector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𝑥</m:t>
                        </m:r>
                      </m:e>
                      <m:sub>
                        <m:r>
                          <a:rPr lang="en-US" b="0" i="1" smtClean="0">
                            <a:latin typeface="Cambria Math" panose="02040503050406030204" pitchFamily="18" charset="0"/>
                            <a:cs typeface="Arial" panose="020B0604020202020204" pitchFamily="34" charset="0"/>
                          </a:rPr>
                          <m:t>𝑖</m:t>
                        </m:r>
                      </m:sub>
                    </m:sSub>
                  </m:oMath>
                </a14:m>
                <a:r>
                  <a:rPr lang="en-US" dirty="0">
                    <a:latin typeface="Arial" panose="020B0604020202020204" pitchFamily="34" charset="0"/>
                    <a:cs typeface="Arial" panose="020B0604020202020204" pitchFamily="34" charset="0"/>
                  </a:rPr>
                  <a:t> plays:</a:t>
                </a:r>
              </a:p>
              <a:p>
                <a:endParaRPr lang="en-US"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b="1" u="sng" dirty="0">
                    <a:solidFill>
                      <a:srgbClr val="C00000"/>
                    </a:solidFill>
                    <a:latin typeface="Arial" panose="020B0604020202020204" pitchFamily="34" charset="0"/>
                    <a:cs typeface="Arial" panose="020B0604020202020204" pitchFamily="34" charset="0"/>
                  </a:rPr>
                  <a:t>query: </a:t>
                </a:r>
                <a:r>
                  <a:rPr lang="en-US" dirty="0">
                    <a:latin typeface="Arial" panose="020B0604020202020204" pitchFamily="34" charset="0"/>
                    <a:cs typeface="Arial" panose="020B0604020202020204" pitchFamily="34" charset="0"/>
                  </a:rPr>
                  <a:t>As the current element being compared to the preceding inputs. </a:t>
                </a:r>
              </a:p>
              <a:p>
                <a:pPr marL="457200" indent="-457200">
                  <a:buFont typeface="Arial" panose="020B0604020202020204" pitchFamily="34" charset="0"/>
                  <a:buChar char="•"/>
                </a:pPr>
                <a:r>
                  <a:rPr lang="en-US" b="1" u="sng" dirty="0">
                    <a:solidFill>
                      <a:srgbClr val="C00000"/>
                    </a:solidFill>
                    <a:latin typeface="Arial" panose="020B0604020202020204" pitchFamily="34" charset="0"/>
                    <a:cs typeface="Arial" panose="020B0604020202020204" pitchFamily="34" charset="0"/>
                  </a:rPr>
                  <a:t>key: </a:t>
                </a:r>
                <a:r>
                  <a:rPr lang="en-US" dirty="0">
                    <a:latin typeface="Arial" panose="020B0604020202020204" pitchFamily="34" charset="0"/>
                    <a:cs typeface="Arial" panose="020B0604020202020204" pitchFamily="34" charset="0"/>
                  </a:rPr>
                  <a:t>as a preceding input that is being compared to the current element to determine a similarity</a:t>
                </a:r>
              </a:p>
              <a:p>
                <a:pPr marL="457200" indent="-457200">
                  <a:buFont typeface="Arial" panose="020B0604020202020204" pitchFamily="34" charset="0"/>
                  <a:buChar char="•"/>
                </a:pPr>
                <a:r>
                  <a:rPr lang="en-US" b="1" u="sng" dirty="0">
                    <a:solidFill>
                      <a:srgbClr val="C00000"/>
                    </a:solidFill>
                    <a:latin typeface="Arial" panose="020B0604020202020204" pitchFamily="34" charset="0"/>
                    <a:cs typeface="Arial" panose="020B0604020202020204" pitchFamily="34" charset="0"/>
                  </a:rPr>
                  <a:t>value: </a:t>
                </a:r>
                <a:r>
                  <a:rPr lang="en-US" dirty="0">
                    <a:latin typeface="Arial" panose="020B0604020202020204" pitchFamily="34" charset="0"/>
                    <a:cs typeface="Arial" panose="020B0604020202020204" pitchFamily="34" charset="0"/>
                  </a:rPr>
                  <a:t>a value of a preceding element that gets weighted and summed </a:t>
                </a:r>
              </a:p>
              <a:p>
                <a:pPr marL="457200" indent="-457200">
                  <a:buFont typeface="Arial" panose="020B0604020202020204" pitchFamily="34" charset="0"/>
                  <a:buChar char="•"/>
                </a:pPr>
                <a:endParaRPr lang="en-US" dirty="0"/>
              </a:p>
              <a:p>
                <a:endParaRPr lang="en-US" dirty="0"/>
              </a:p>
            </p:txBody>
          </p:sp>
        </mc:Choice>
        <mc:Fallback xmlns="">
          <p:sp>
            <p:nvSpPr>
              <p:cNvPr id="3" name="Content Placeholder 2">
                <a:extLst>
                  <a:ext uri="{FF2B5EF4-FFF2-40B4-BE49-F238E27FC236}">
                    <a16:creationId xmlns:a16="http://schemas.microsoft.com/office/drawing/2014/main" id="{FDF13EC5-0DB3-5970-3010-2AF01E294173}"/>
                  </a:ext>
                </a:extLst>
              </p:cNvPr>
              <p:cNvSpPr>
                <a:spLocks noGrp="1" noRot="1" noChangeAspect="1" noMove="1" noResize="1" noEditPoints="1" noAdjustHandles="1" noChangeArrowheads="1" noChangeShapeType="1" noTextEdit="1"/>
              </p:cNvSpPr>
              <p:nvPr>
                <p:ph idx="1"/>
              </p:nvPr>
            </p:nvSpPr>
            <p:spPr>
              <a:blipFill>
                <a:blip r:embed="rId3"/>
                <a:stretch>
                  <a:fillRect l="-1086" t="-2326" r="-241"/>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E1E63063-85FE-C4B9-D476-E8B0DB78A0A7}"/>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Attention introduces 3 separate </a:t>
            </a:r>
            <a:r>
              <a:rPr lang="en-US" dirty="0" err="1">
                <a:latin typeface="Arial" panose="020B0604020202020204" pitchFamily="34" charset="0"/>
                <a:cs typeface="Arial" panose="020B0604020202020204" pitchFamily="34" charset="0"/>
              </a:rPr>
              <a:t>rols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701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04B96-F083-6D1F-5168-239C9CF91C9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1A9352-640A-4C11-5E59-B78528A2C9CF}"/>
              </a:ext>
            </a:extLst>
          </p:cNvPr>
          <p:cNvSpPr>
            <a:spLocks noGrp="1"/>
          </p:cNvSpPr>
          <p:nvPr>
            <p:ph type="sldNum" sz="quarter" idx="12"/>
          </p:nvPr>
        </p:nvSpPr>
        <p:spPr/>
        <p:txBody>
          <a:bodyPr/>
          <a:lstStyle/>
          <a:p>
            <a:fld id="{B3533053-B928-004D-A0E8-A0A092123CEE}" type="slidenum">
              <a:rPr lang="en-US" smtClean="0"/>
              <a:t>18</a:t>
            </a:fld>
            <a:endParaRPr lang="en-US" dirty="0"/>
          </a:p>
        </p:txBody>
      </p:sp>
      <p:sp>
        <p:nvSpPr>
          <p:cNvPr id="3" name="Title 1">
            <a:extLst>
              <a:ext uri="{FF2B5EF4-FFF2-40B4-BE49-F238E27FC236}">
                <a16:creationId xmlns:a16="http://schemas.microsoft.com/office/drawing/2014/main" id="{E5A147C6-7341-B86F-E9AF-740483B52168}"/>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Attention for sequence modeling</a:t>
            </a:r>
          </a:p>
        </p:txBody>
      </p:sp>
      <p:pic>
        <p:nvPicPr>
          <p:cNvPr id="6" name="Picture 5">
            <a:extLst>
              <a:ext uri="{FF2B5EF4-FFF2-40B4-BE49-F238E27FC236}">
                <a16:creationId xmlns:a16="http://schemas.microsoft.com/office/drawing/2014/main" id="{E90A6A27-298B-AEEE-04AD-6A7BBA0F6305}"/>
              </a:ext>
            </a:extLst>
          </p:cNvPr>
          <p:cNvPicPr>
            <a:picLocks noChangeAspect="1"/>
          </p:cNvPicPr>
          <p:nvPr/>
        </p:nvPicPr>
        <p:blipFill>
          <a:blip r:embed="rId3"/>
          <a:stretch>
            <a:fillRect/>
          </a:stretch>
        </p:blipFill>
        <p:spPr>
          <a:xfrm>
            <a:off x="3041374" y="2526162"/>
            <a:ext cx="5569226" cy="1175906"/>
          </a:xfrm>
          <a:prstGeom prst="rect">
            <a:avLst/>
          </a:prstGeom>
        </p:spPr>
      </p:pic>
      <p:sp>
        <p:nvSpPr>
          <p:cNvPr id="7" name="Content Placeholder 2">
            <a:extLst>
              <a:ext uri="{FF2B5EF4-FFF2-40B4-BE49-F238E27FC236}">
                <a16:creationId xmlns:a16="http://schemas.microsoft.com/office/drawing/2014/main" id="{5B05C06B-D5AC-1802-91C9-2F9756E73653}"/>
              </a:ext>
            </a:extLst>
          </p:cNvPr>
          <p:cNvSpPr>
            <a:spLocks noGrp="1"/>
          </p:cNvSpPr>
          <p:nvPr>
            <p:ph idx="1"/>
          </p:nvPr>
        </p:nvSpPr>
        <p:spPr>
          <a:xfrm>
            <a:off x="838200" y="1954316"/>
            <a:ext cx="10515600" cy="758549"/>
          </a:xfrm>
        </p:spPr>
        <p:txBody>
          <a:bodyPr>
            <a:normAutofit/>
          </a:bodyPr>
          <a:lstStyle/>
          <a:p>
            <a:pPr marL="0" indent="0">
              <a:buNone/>
            </a:pPr>
            <a:r>
              <a:rPr lang="en-US" dirty="0">
                <a:latin typeface="Arial" panose="020B0604020202020204" pitchFamily="34" charset="0"/>
                <a:cs typeface="Arial" panose="020B0604020202020204" pitchFamily="34" charset="0"/>
              </a:rPr>
              <a:t>Goal: identify and attend to most important features in input </a:t>
            </a:r>
          </a:p>
        </p:txBody>
      </p:sp>
      <p:sp>
        <p:nvSpPr>
          <p:cNvPr id="8" name="Content Placeholder 2">
            <a:extLst>
              <a:ext uri="{FF2B5EF4-FFF2-40B4-BE49-F238E27FC236}">
                <a16:creationId xmlns:a16="http://schemas.microsoft.com/office/drawing/2014/main" id="{9FABDB8C-0F1B-F9F5-B95E-8B679B3CE19C}"/>
              </a:ext>
            </a:extLst>
          </p:cNvPr>
          <p:cNvSpPr txBox="1">
            <a:spLocks/>
          </p:cNvSpPr>
          <p:nvPr/>
        </p:nvSpPr>
        <p:spPr>
          <a:xfrm>
            <a:off x="1036983" y="5353589"/>
            <a:ext cx="10515600" cy="14129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F81EF0B1-5CD5-2113-341A-FCD46D459023}"/>
              </a:ext>
            </a:extLst>
          </p:cNvPr>
          <p:cNvSpPr txBox="1">
            <a:spLocks/>
          </p:cNvSpPr>
          <p:nvPr/>
        </p:nvSpPr>
        <p:spPr>
          <a:xfrm>
            <a:off x="1036983" y="5304713"/>
            <a:ext cx="9081052" cy="1813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rial" panose="020B0604020202020204" pitchFamily="34" charset="0"/>
                <a:cs typeface="Arial" panose="020B0604020202020204" pitchFamily="34" charset="0"/>
              </a:rPr>
              <a:t>Data is fed in all at once, not going to handle this timestep by timestep. </a:t>
            </a:r>
          </a:p>
          <a:p>
            <a:r>
              <a:rPr lang="en-US" dirty="0">
                <a:latin typeface="Arial" panose="020B0604020202020204" pitchFamily="34" charset="0"/>
                <a:cs typeface="Arial" panose="020B0604020202020204" pitchFamily="34" charset="0"/>
              </a:rPr>
              <a:t>What information is lost?</a:t>
            </a:r>
          </a:p>
        </p:txBody>
      </p:sp>
      <p:pic>
        <p:nvPicPr>
          <p:cNvPr id="12" name="Picture 11">
            <a:extLst>
              <a:ext uri="{FF2B5EF4-FFF2-40B4-BE49-F238E27FC236}">
                <a16:creationId xmlns:a16="http://schemas.microsoft.com/office/drawing/2014/main" id="{D94D2320-30B5-9B71-024E-723C5FF5109F}"/>
              </a:ext>
            </a:extLst>
          </p:cNvPr>
          <p:cNvPicPr>
            <a:picLocks noChangeAspect="1"/>
          </p:cNvPicPr>
          <p:nvPr/>
        </p:nvPicPr>
        <p:blipFill>
          <a:blip r:embed="rId4"/>
          <a:stretch>
            <a:fillRect/>
          </a:stretch>
        </p:blipFill>
        <p:spPr>
          <a:xfrm>
            <a:off x="2686729" y="3844190"/>
            <a:ext cx="5569226" cy="859448"/>
          </a:xfrm>
          <a:prstGeom prst="rect">
            <a:avLst/>
          </a:prstGeom>
        </p:spPr>
      </p:pic>
      <p:sp>
        <p:nvSpPr>
          <p:cNvPr id="14" name="TextBox 13">
            <a:extLst>
              <a:ext uri="{FF2B5EF4-FFF2-40B4-BE49-F238E27FC236}">
                <a16:creationId xmlns:a16="http://schemas.microsoft.com/office/drawing/2014/main" id="{5C41A8EA-109F-A72C-3D80-8236CC0F5565}"/>
              </a:ext>
            </a:extLst>
          </p:cNvPr>
          <p:cNvSpPr txBox="1"/>
          <p:nvPr/>
        </p:nvSpPr>
        <p:spPr>
          <a:xfrm>
            <a:off x="3047036" y="3374549"/>
            <a:ext cx="6094070"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x</a:t>
            </a:r>
            <a:r>
              <a:rPr lang="en-US" sz="1800" baseline="-25000" dirty="0">
                <a:latin typeface="Arial" panose="020B0604020202020204" pitchFamily="34" charset="0"/>
                <a:cs typeface="Arial" panose="020B0604020202020204" pitchFamily="34" charset="0"/>
              </a:rPr>
              <a:t>i</a:t>
            </a:r>
          </a:p>
        </p:txBody>
      </p:sp>
    </p:spTree>
    <p:extLst>
      <p:ext uri="{BB962C8B-B14F-4D97-AF65-F5344CB8AC3E}">
        <p14:creationId xmlns:p14="http://schemas.microsoft.com/office/powerpoint/2010/main" val="145399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662A5-3F65-A7CB-EDF8-DB8ECA1669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BF6CED-5323-726D-4483-0B76B061558A}"/>
              </a:ext>
            </a:extLst>
          </p:cNvPr>
          <p:cNvSpPr>
            <a:spLocks noGrp="1"/>
          </p:cNvSpPr>
          <p:nvPr>
            <p:ph type="sldNum" sz="quarter" idx="12"/>
          </p:nvPr>
        </p:nvSpPr>
        <p:spPr/>
        <p:txBody>
          <a:bodyPr/>
          <a:lstStyle/>
          <a:p>
            <a:fld id="{B3533053-B928-004D-A0E8-A0A092123CEE}" type="slidenum">
              <a:rPr lang="en-US" smtClean="0"/>
              <a:t>19</a:t>
            </a:fld>
            <a:endParaRPr lang="en-US" dirty="0"/>
          </a:p>
        </p:txBody>
      </p:sp>
      <p:sp>
        <p:nvSpPr>
          <p:cNvPr id="3" name="Title 1">
            <a:extLst>
              <a:ext uri="{FF2B5EF4-FFF2-40B4-BE49-F238E27FC236}">
                <a16:creationId xmlns:a16="http://schemas.microsoft.com/office/drawing/2014/main" id="{0B7523D6-CFD0-D4D8-8379-7B5FBBA95755}"/>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Positional embedding</a:t>
            </a:r>
          </a:p>
        </p:txBody>
      </p:sp>
      <p:sp>
        <p:nvSpPr>
          <p:cNvPr id="8" name="Content Placeholder 2">
            <a:extLst>
              <a:ext uri="{FF2B5EF4-FFF2-40B4-BE49-F238E27FC236}">
                <a16:creationId xmlns:a16="http://schemas.microsoft.com/office/drawing/2014/main" id="{4E6C8022-8905-0138-17FF-4277D4201939}"/>
              </a:ext>
            </a:extLst>
          </p:cNvPr>
          <p:cNvSpPr txBox="1">
            <a:spLocks/>
          </p:cNvSpPr>
          <p:nvPr/>
        </p:nvSpPr>
        <p:spPr>
          <a:xfrm>
            <a:off x="1036983" y="5353589"/>
            <a:ext cx="10515600" cy="14129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803EC06-CFE8-8A98-0E3C-3BCFB7FEAC76}"/>
              </a:ext>
            </a:extLst>
          </p:cNvPr>
          <p:cNvPicPr>
            <a:picLocks noChangeAspect="1"/>
          </p:cNvPicPr>
          <p:nvPr/>
        </p:nvPicPr>
        <p:blipFill>
          <a:blip r:embed="rId3"/>
          <a:stretch>
            <a:fillRect/>
          </a:stretch>
        </p:blipFill>
        <p:spPr>
          <a:xfrm>
            <a:off x="2441294" y="2330303"/>
            <a:ext cx="5695708" cy="3977709"/>
          </a:xfrm>
          <a:prstGeom prst="rect">
            <a:avLst/>
          </a:prstGeom>
        </p:spPr>
      </p:pic>
      <p:sp>
        <p:nvSpPr>
          <p:cNvPr id="11" name="Content Placeholder 2">
            <a:extLst>
              <a:ext uri="{FF2B5EF4-FFF2-40B4-BE49-F238E27FC236}">
                <a16:creationId xmlns:a16="http://schemas.microsoft.com/office/drawing/2014/main" id="{22AABF8E-01F1-190E-AD1F-FE4BFDE711AA}"/>
              </a:ext>
            </a:extLst>
          </p:cNvPr>
          <p:cNvSpPr>
            <a:spLocks noGrp="1"/>
          </p:cNvSpPr>
          <p:nvPr>
            <p:ph idx="1"/>
          </p:nvPr>
        </p:nvSpPr>
        <p:spPr>
          <a:xfrm>
            <a:off x="838200" y="1690688"/>
            <a:ext cx="10515600" cy="758549"/>
          </a:xfrm>
        </p:spPr>
        <p:txBody>
          <a:bodyPr>
            <a:normAutofit/>
          </a:bodyPr>
          <a:lstStyle/>
          <a:p>
            <a:pPr marL="0" indent="0">
              <a:buNone/>
            </a:pPr>
            <a:r>
              <a:rPr lang="en-US" dirty="0">
                <a:latin typeface="Arial" panose="020B0604020202020204" pitchFamily="34" charset="0"/>
                <a:cs typeface="Arial" panose="020B0604020202020204" pitchFamily="34" charset="0"/>
              </a:rPr>
              <a:t>Data is fed in all at once, we need to encode position information</a:t>
            </a:r>
          </a:p>
        </p:txBody>
      </p:sp>
    </p:spTree>
    <p:extLst>
      <p:ext uri="{BB962C8B-B14F-4D97-AF65-F5344CB8AC3E}">
        <p14:creationId xmlns:p14="http://schemas.microsoft.com/office/powerpoint/2010/main" val="32929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DC71F-F45A-D3CB-E93F-5F3D7A70D8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04AECD-BDA4-C6FE-9F4C-0A5E77DF39D0}"/>
              </a:ext>
            </a:extLst>
          </p:cNvPr>
          <p:cNvSpPr>
            <a:spLocks noGrp="1"/>
          </p:cNvSpPr>
          <p:nvPr>
            <p:ph type="sldNum" sz="quarter" idx="12"/>
          </p:nvPr>
        </p:nvSpPr>
        <p:spPr/>
        <p:txBody>
          <a:bodyPr/>
          <a:lstStyle/>
          <a:p>
            <a:fld id="{B3533053-B928-004D-A0E8-A0A092123CEE}" type="slidenum">
              <a:rPr lang="en-US" smtClean="0"/>
              <a:t>20</a:t>
            </a:fld>
            <a:endParaRPr lang="en-US" dirty="0"/>
          </a:p>
        </p:txBody>
      </p:sp>
      <p:sp>
        <p:nvSpPr>
          <p:cNvPr id="3" name="Title 1">
            <a:extLst>
              <a:ext uri="{FF2B5EF4-FFF2-40B4-BE49-F238E27FC236}">
                <a16:creationId xmlns:a16="http://schemas.microsoft.com/office/drawing/2014/main" id="{4DD97EB6-D85E-98CC-81DC-BF7DF2CE27A2}"/>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Extract query, key, value</a:t>
            </a:r>
          </a:p>
        </p:txBody>
      </p:sp>
      <p:sp>
        <p:nvSpPr>
          <p:cNvPr id="8" name="Content Placeholder 2">
            <a:extLst>
              <a:ext uri="{FF2B5EF4-FFF2-40B4-BE49-F238E27FC236}">
                <a16:creationId xmlns:a16="http://schemas.microsoft.com/office/drawing/2014/main" id="{0CC00EE8-2EED-BD67-B31B-E3501F388D15}"/>
              </a:ext>
            </a:extLst>
          </p:cNvPr>
          <p:cNvSpPr txBox="1">
            <a:spLocks/>
          </p:cNvSpPr>
          <p:nvPr/>
        </p:nvSpPr>
        <p:spPr>
          <a:xfrm>
            <a:off x="1036983" y="5353589"/>
            <a:ext cx="10515600" cy="14129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1AE019D-4AAA-C51D-FFC2-5F284B582C3A}"/>
              </a:ext>
            </a:extLst>
          </p:cNvPr>
          <p:cNvPicPr>
            <a:picLocks noChangeAspect="1"/>
          </p:cNvPicPr>
          <p:nvPr/>
        </p:nvPicPr>
        <p:blipFill>
          <a:blip r:embed="rId3"/>
          <a:stretch>
            <a:fillRect/>
          </a:stretch>
        </p:blipFill>
        <p:spPr>
          <a:xfrm>
            <a:off x="1490868" y="3027673"/>
            <a:ext cx="1570383" cy="1848472"/>
          </a:xfrm>
          <a:prstGeom prst="rect">
            <a:avLst/>
          </a:prstGeom>
        </p:spPr>
      </p:pic>
      <p:pic>
        <p:nvPicPr>
          <p:cNvPr id="13" name="Picture 12">
            <a:extLst>
              <a:ext uri="{FF2B5EF4-FFF2-40B4-BE49-F238E27FC236}">
                <a16:creationId xmlns:a16="http://schemas.microsoft.com/office/drawing/2014/main" id="{5925CA74-BC59-4B7F-9B5E-5D025B8BD1AA}"/>
              </a:ext>
            </a:extLst>
          </p:cNvPr>
          <p:cNvPicPr>
            <a:picLocks noChangeAspect="1"/>
          </p:cNvPicPr>
          <p:nvPr/>
        </p:nvPicPr>
        <p:blipFill>
          <a:blip r:embed="rId4"/>
          <a:stretch>
            <a:fillRect/>
          </a:stretch>
        </p:blipFill>
        <p:spPr>
          <a:xfrm>
            <a:off x="5426766" y="2328980"/>
            <a:ext cx="4543773" cy="4529020"/>
          </a:xfrm>
          <a:prstGeom prst="rect">
            <a:avLst/>
          </a:prstGeom>
        </p:spPr>
      </p:pic>
      <p:cxnSp>
        <p:nvCxnSpPr>
          <p:cNvPr id="15" name="Straight Arrow Connector 14">
            <a:extLst>
              <a:ext uri="{FF2B5EF4-FFF2-40B4-BE49-F238E27FC236}">
                <a16:creationId xmlns:a16="http://schemas.microsoft.com/office/drawing/2014/main" id="{77ED3D5D-481C-328D-E8F1-58B3AFFAAF4D}"/>
              </a:ext>
            </a:extLst>
          </p:cNvPr>
          <p:cNvCxnSpPr/>
          <p:nvPr/>
        </p:nvCxnSpPr>
        <p:spPr>
          <a:xfrm>
            <a:off x="3359426" y="3951909"/>
            <a:ext cx="17691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2A593210-528D-A079-E2B2-8889639C9DFE}"/>
              </a:ext>
            </a:extLst>
          </p:cNvPr>
          <p:cNvSpPr>
            <a:spLocks noGrp="1"/>
          </p:cNvSpPr>
          <p:nvPr>
            <p:ph idx="1"/>
          </p:nvPr>
        </p:nvSpPr>
        <p:spPr>
          <a:xfrm>
            <a:off x="838200" y="1690688"/>
            <a:ext cx="10515600" cy="758549"/>
          </a:xfrm>
        </p:spPr>
        <p:txBody>
          <a:bodyPr>
            <a:normAutofit/>
          </a:bodyPr>
          <a:lstStyle/>
          <a:p>
            <a:pPr marL="0" indent="0">
              <a:buNone/>
            </a:pPr>
            <a:r>
              <a:rPr lang="en-US" dirty="0">
                <a:latin typeface="Arial" panose="020B0604020202020204" pitchFamily="34" charset="0"/>
                <a:cs typeface="Arial" panose="020B0604020202020204" pitchFamily="34" charset="0"/>
              </a:rPr>
              <a:t>Extract the three introduced components </a:t>
            </a:r>
            <a:r>
              <a:rPr lang="en-US" i="1" dirty="0">
                <a:latin typeface="Arial" panose="020B0604020202020204" pitchFamily="34" charset="0"/>
                <a:cs typeface="Arial" panose="020B0604020202020204" pitchFamily="34" charset="0"/>
              </a:rPr>
              <a:t>Q, K, V</a:t>
            </a:r>
          </a:p>
        </p:txBody>
      </p:sp>
    </p:spTree>
    <p:extLst>
      <p:ext uri="{BB962C8B-B14F-4D97-AF65-F5344CB8AC3E}">
        <p14:creationId xmlns:p14="http://schemas.microsoft.com/office/powerpoint/2010/main" val="4288597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079A-316C-D633-4287-5D3C1655F5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5327B4-69FE-CA3E-6634-4974BB5FDA47}"/>
              </a:ext>
            </a:extLst>
          </p:cNvPr>
          <p:cNvSpPr>
            <a:spLocks noGrp="1"/>
          </p:cNvSpPr>
          <p:nvPr>
            <p:ph type="sldNum" sz="quarter" idx="12"/>
          </p:nvPr>
        </p:nvSpPr>
        <p:spPr/>
        <p:txBody>
          <a:bodyPr/>
          <a:lstStyle/>
          <a:p>
            <a:fld id="{B3533053-B928-004D-A0E8-A0A092123CEE}" type="slidenum">
              <a:rPr lang="en-US" smtClean="0"/>
              <a:t>21</a:t>
            </a:fld>
            <a:endParaRPr lang="en-US" dirty="0"/>
          </a:p>
        </p:txBody>
      </p:sp>
      <p:sp>
        <p:nvSpPr>
          <p:cNvPr id="3" name="Title 1">
            <a:extLst>
              <a:ext uri="{FF2B5EF4-FFF2-40B4-BE49-F238E27FC236}">
                <a16:creationId xmlns:a16="http://schemas.microsoft.com/office/drawing/2014/main" id="{E0D7329C-DF8C-9505-2B85-9D29AC9BE1E4}"/>
              </a:ext>
            </a:extLst>
          </p:cNvPr>
          <p:cNvSpPr>
            <a:spLocks noGrp="1"/>
          </p:cNvSpPr>
          <p:nvPr>
            <p:ph type="title"/>
          </p:nvPr>
        </p:nvSpPr>
        <p:spPr>
          <a:xfrm>
            <a:off x="838200" y="438622"/>
            <a:ext cx="10515600" cy="1325563"/>
          </a:xfrm>
        </p:spPr>
        <p:txBody>
          <a:bodyPr/>
          <a:lstStyle/>
          <a:p>
            <a:r>
              <a:rPr lang="en-US" dirty="0">
                <a:latin typeface="Arial" panose="020B0604020202020204" pitchFamily="34" charset="0"/>
                <a:cs typeface="Arial" panose="020B0604020202020204" pitchFamily="34" charset="0"/>
              </a:rPr>
              <a:t>Compute attention weights</a:t>
            </a:r>
          </a:p>
        </p:txBody>
      </p:sp>
      <p:sp>
        <p:nvSpPr>
          <p:cNvPr id="8" name="Content Placeholder 2">
            <a:extLst>
              <a:ext uri="{FF2B5EF4-FFF2-40B4-BE49-F238E27FC236}">
                <a16:creationId xmlns:a16="http://schemas.microsoft.com/office/drawing/2014/main" id="{A17F71A7-F048-7BD6-65A2-BF7DF5FE71A1}"/>
              </a:ext>
            </a:extLst>
          </p:cNvPr>
          <p:cNvSpPr txBox="1">
            <a:spLocks/>
          </p:cNvSpPr>
          <p:nvPr/>
        </p:nvSpPr>
        <p:spPr>
          <a:xfrm>
            <a:off x="1036983" y="5353589"/>
            <a:ext cx="10515600" cy="14129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A226786-F423-3A9B-D75E-7415447A17BA}"/>
              </a:ext>
            </a:extLst>
          </p:cNvPr>
          <p:cNvPicPr>
            <a:picLocks noChangeAspect="1"/>
          </p:cNvPicPr>
          <p:nvPr/>
        </p:nvPicPr>
        <p:blipFill>
          <a:blip r:embed="rId3"/>
          <a:stretch>
            <a:fillRect/>
          </a:stretch>
        </p:blipFill>
        <p:spPr>
          <a:xfrm>
            <a:off x="1774548" y="2599303"/>
            <a:ext cx="6975913" cy="3157294"/>
          </a:xfrm>
          <a:prstGeom prst="rect">
            <a:avLst/>
          </a:prstGeom>
        </p:spPr>
      </p:pic>
      <p:sp>
        <p:nvSpPr>
          <p:cNvPr id="5" name="Content Placeholder 2">
            <a:extLst>
              <a:ext uri="{FF2B5EF4-FFF2-40B4-BE49-F238E27FC236}">
                <a16:creationId xmlns:a16="http://schemas.microsoft.com/office/drawing/2014/main" id="{2217FE2F-0311-CD31-88FD-58FA8A97CD44}"/>
              </a:ext>
            </a:extLst>
          </p:cNvPr>
          <p:cNvSpPr>
            <a:spLocks noGrp="1"/>
          </p:cNvSpPr>
          <p:nvPr>
            <p:ph idx="1"/>
          </p:nvPr>
        </p:nvSpPr>
        <p:spPr>
          <a:xfrm>
            <a:off x="838200" y="1690688"/>
            <a:ext cx="10515600" cy="758549"/>
          </a:xfrm>
        </p:spPr>
        <p:txBody>
          <a:bodyPr>
            <a:normAutofit/>
          </a:bodyPr>
          <a:lstStyle/>
          <a:p>
            <a:pPr marL="0" indent="0">
              <a:buNone/>
            </a:pPr>
            <a:r>
              <a:rPr lang="en-US" dirty="0">
                <a:latin typeface="Arial" panose="020B0604020202020204" pitchFamily="34" charset="0"/>
                <a:cs typeface="Arial" panose="020B0604020202020204" pitchFamily="34" charset="0"/>
              </a:rPr>
              <a:t>Extract the three introduced components </a:t>
            </a:r>
            <a:r>
              <a:rPr lang="en-US" i="1" dirty="0">
                <a:latin typeface="Arial" panose="020B0604020202020204" pitchFamily="34" charset="0"/>
                <a:cs typeface="Arial" panose="020B0604020202020204" pitchFamily="34" charset="0"/>
              </a:rPr>
              <a:t>Q, K, V</a:t>
            </a:r>
          </a:p>
        </p:txBody>
      </p:sp>
    </p:spTree>
    <p:extLst>
      <p:ext uri="{BB962C8B-B14F-4D97-AF65-F5344CB8AC3E}">
        <p14:creationId xmlns:p14="http://schemas.microsoft.com/office/powerpoint/2010/main" val="250575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D8C77-B5A5-E322-50F5-A36812A3161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CC941F-B1C8-4868-744E-22A8874DF38F}"/>
              </a:ext>
            </a:extLst>
          </p:cNvPr>
          <p:cNvSpPr>
            <a:spLocks noGrp="1"/>
          </p:cNvSpPr>
          <p:nvPr>
            <p:ph type="sldNum" sz="quarter" idx="12"/>
          </p:nvPr>
        </p:nvSpPr>
        <p:spPr/>
        <p:txBody>
          <a:bodyPr/>
          <a:lstStyle/>
          <a:p>
            <a:fld id="{B3533053-B928-004D-A0E8-A0A092123CEE}" type="slidenum">
              <a:rPr lang="en-US" smtClean="0"/>
              <a:t>22</a:t>
            </a:fld>
            <a:endParaRPr lang="en-US" dirty="0"/>
          </a:p>
        </p:txBody>
      </p:sp>
      <p:sp>
        <p:nvSpPr>
          <p:cNvPr id="3" name="Title 1">
            <a:extLst>
              <a:ext uri="{FF2B5EF4-FFF2-40B4-BE49-F238E27FC236}">
                <a16:creationId xmlns:a16="http://schemas.microsoft.com/office/drawing/2014/main" id="{26FEDA30-D134-F438-12EF-15358D89C2B3}"/>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Extract features using self attention</a:t>
            </a:r>
          </a:p>
        </p:txBody>
      </p:sp>
      <p:sp>
        <p:nvSpPr>
          <p:cNvPr id="8" name="Content Placeholder 2">
            <a:extLst>
              <a:ext uri="{FF2B5EF4-FFF2-40B4-BE49-F238E27FC236}">
                <a16:creationId xmlns:a16="http://schemas.microsoft.com/office/drawing/2014/main" id="{BEE523FE-EC17-AB53-D46C-AFD18B71BB9F}"/>
              </a:ext>
            </a:extLst>
          </p:cNvPr>
          <p:cNvSpPr txBox="1">
            <a:spLocks/>
          </p:cNvSpPr>
          <p:nvPr/>
        </p:nvSpPr>
        <p:spPr>
          <a:xfrm>
            <a:off x="1036983" y="5353589"/>
            <a:ext cx="10515600" cy="14129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849F67C-85C3-2630-0702-84D2259C68BC}"/>
              </a:ext>
            </a:extLst>
          </p:cNvPr>
          <p:cNvPicPr>
            <a:picLocks noChangeAspect="1"/>
          </p:cNvPicPr>
          <p:nvPr/>
        </p:nvPicPr>
        <p:blipFill>
          <a:blip r:embed="rId3"/>
          <a:stretch>
            <a:fillRect/>
          </a:stretch>
        </p:blipFill>
        <p:spPr>
          <a:xfrm>
            <a:off x="1389276" y="3429000"/>
            <a:ext cx="5693465" cy="2776813"/>
          </a:xfrm>
          <a:prstGeom prst="rect">
            <a:avLst/>
          </a:prstGeom>
        </p:spPr>
      </p:pic>
      <p:pic>
        <p:nvPicPr>
          <p:cNvPr id="7" name="Picture 6">
            <a:extLst>
              <a:ext uri="{FF2B5EF4-FFF2-40B4-BE49-F238E27FC236}">
                <a16:creationId xmlns:a16="http://schemas.microsoft.com/office/drawing/2014/main" id="{B58FFC54-8AB5-7F54-AFC2-A99D235FD63B}"/>
              </a:ext>
            </a:extLst>
          </p:cNvPr>
          <p:cNvPicPr>
            <a:picLocks noChangeAspect="1"/>
          </p:cNvPicPr>
          <p:nvPr/>
        </p:nvPicPr>
        <p:blipFill>
          <a:blip r:embed="rId4"/>
          <a:stretch>
            <a:fillRect/>
          </a:stretch>
        </p:blipFill>
        <p:spPr>
          <a:xfrm>
            <a:off x="7754724" y="4176262"/>
            <a:ext cx="3048000" cy="1281043"/>
          </a:xfrm>
          <a:prstGeom prst="rect">
            <a:avLst/>
          </a:prstGeom>
        </p:spPr>
      </p:pic>
      <p:sp>
        <p:nvSpPr>
          <p:cNvPr id="9" name="TextBox 8">
            <a:extLst>
              <a:ext uri="{FF2B5EF4-FFF2-40B4-BE49-F238E27FC236}">
                <a16:creationId xmlns:a16="http://schemas.microsoft.com/office/drawing/2014/main" id="{4C72680E-FDA7-5FA2-272A-5D7508A6253C}"/>
              </a:ext>
            </a:extLst>
          </p:cNvPr>
          <p:cNvSpPr txBox="1"/>
          <p:nvPr/>
        </p:nvSpPr>
        <p:spPr>
          <a:xfrm>
            <a:off x="838200" y="1513915"/>
            <a:ext cx="10728233" cy="2041585"/>
          </a:xfrm>
          <a:prstGeom prst="rect">
            <a:avLst/>
          </a:prstGeom>
          <a:noFill/>
        </p:spPr>
        <p:txBody>
          <a:bodyPr wrap="square" rtlCol="0">
            <a:spAutoFit/>
          </a:bodyPr>
          <a:lstStyle/>
          <a:p>
            <a:r>
              <a:rPr lang="en-US" sz="2400" b="1" u="sng" dirty="0">
                <a:latin typeface="Arial" panose="020B0604020202020204" pitchFamily="34" charset="0"/>
                <a:cs typeface="Arial" panose="020B0604020202020204" pitchFamily="34" charset="0"/>
              </a:rPr>
              <a:t>Input: </a:t>
            </a:r>
            <a:r>
              <a:rPr lang="en-US" sz="2400" dirty="0">
                <a:latin typeface="Arial" panose="020B0604020202020204" pitchFamily="34" charset="0"/>
                <a:cs typeface="Arial" panose="020B0604020202020204" pitchFamily="34" charset="0"/>
              </a:rPr>
              <a:t>Given a sequence of token embeddings:</a:t>
            </a:r>
          </a:p>
          <a:p>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1 </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2   </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3</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4</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5</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6</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7</a:t>
            </a:r>
            <a:r>
              <a:rPr lang="en-US" sz="2400" dirty="0">
                <a:latin typeface="Arial" panose="020B0604020202020204" pitchFamily="34" charset="0"/>
                <a:cs typeface="Arial" panose="020B0604020202020204" pitchFamily="34" charset="0"/>
              </a:rPr>
              <a:t>  </a:t>
            </a:r>
            <a:endParaRPr lang="en-US" sz="2400" baseline="-25000" dirty="0">
              <a:latin typeface="Arial" panose="020B0604020202020204" pitchFamily="34" charset="0"/>
              <a:cs typeface="Arial" panose="020B0604020202020204" pitchFamily="34" charset="0"/>
            </a:endParaRPr>
          </a:p>
          <a:p>
            <a:endParaRPr lang="en-US" sz="2400" baseline="-25000" dirty="0">
              <a:latin typeface="Arial" panose="020B0604020202020204" pitchFamily="34" charset="0"/>
              <a:cs typeface="Arial" panose="020B0604020202020204" pitchFamily="34" charset="0"/>
            </a:endParaRPr>
          </a:p>
          <a:p>
            <a:r>
              <a:rPr lang="en-US" sz="2400" b="1" u="sng" dirty="0">
                <a:latin typeface="Arial" panose="020B0604020202020204" pitchFamily="34" charset="0"/>
                <a:cs typeface="Arial" panose="020B0604020202020204" pitchFamily="34" charset="0"/>
              </a:rPr>
              <a:t>Output: </a:t>
            </a:r>
            <a:r>
              <a:rPr lang="en-US" sz="2400" b="1" dirty="0">
                <a:latin typeface="Arial" panose="020B0604020202020204" pitchFamily="34" charset="0"/>
                <a:cs typeface="Arial" panose="020B0604020202020204" pitchFamily="34" charset="0"/>
              </a:rPr>
              <a:t>a</a:t>
            </a:r>
            <a:r>
              <a:rPr lang="en-US" sz="2400" baseline="-25000" dirty="0">
                <a:latin typeface="Arial" panose="020B0604020202020204" pitchFamily="34" charset="0"/>
                <a:cs typeface="Arial" panose="020B0604020202020204" pitchFamily="34" charset="0"/>
              </a:rPr>
              <a:t>i</a:t>
            </a:r>
            <a:r>
              <a:rPr lang="en-US" sz="2400" dirty="0">
                <a:latin typeface="Arial" panose="020B0604020202020204" pitchFamily="34" charset="0"/>
                <a:cs typeface="Arial" panose="020B0604020202020204" pitchFamily="34" charset="0"/>
              </a:rPr>
              <a:t> = a weighted sum of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1</a:t>
            </a:r>
            <a:r>
              <a:rPr lang="en-US" sz="2400" dirty="0">
                <a:latin typeface="Arial" panose="020B0604020202020204" pitchFamily="34" charset="0"/>
                <a:cs typeface="Arial" panose="020B0604020202020204" pitchFamily="34" charset="0"/>
              </a:rPr>
              <a:t> through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7 </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Weighted by their similarity to </a:t>
            </a:r>
            <a:r>
              <a:rPr lang="en-US" sz="2400" b="1" dirty="0">
                <a:latin typeface="Arial" panose="020B0604020202020204" pitchFamily="34" charset="0"/>
                <a:cs typeface="Arial" panose="020B0604020202020204" pitchFamily="34" charset="0"/>
              </a:rPr>
              <a:t>x</a:t>
            </a:r>
            <a:r>
              <a:rPr lang="en-US" sz="2400" baseline="-25000" dirty="0">
                <a:latin typeface="Arial" panose="020B0604020202020204" pitchFamily="34" charset="0"/>
                <a:cs typeface="Arial" panose="020B0604020202020204" pitchFamily="34" charset="0"/>
              </a:rPr>
              <a:t>i</a:t>
            </a:r>
          </a:p>
          <a:p>
            <a:endParaRPr lang="en-US" sz="2200" baseline="-25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617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38FD2-0DD7-B961-A9D3-FDB1E6D730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F05A86-F01F-D673-34B2-25F7EA103E8C}"/>
              </a:ext>
            </a:extLst>
          </p:cNvPr>
          <p:cNvSpPr>
            <a:spLocks noGrp="1"/>
          </p:cNvSpPr>
          <p:nvPr>
            <p:ph type="sldNum" sz="quarter" idx="12"/>
          </p:nvPr>
        </p:nvSpPr>
        <p:spPr/>
        <p:txBody>
          <a:bodyPr/>
          <a:lstStyle/>
          <a:p>
            <a:fld id="{B3533053-B928-004D-A0E8-A0A092123CEE}" type="slidenum">
              <a:rPr lang="en-US" smtClean="0"/>
              <a:t>23</a:t>
            </a:fld>
            <a:endParaRPr lang="en-US" dirty="0"/>
          </a:p>
        </p:txBody>
      </p:sp>
      <p:sp>
        <p:nvSpPr>
          <p:cNvPr id="3" name="Title 1">
            <a:extLst>
              <a:ext uri="{FF2B5EF4-FFF2-40B4-BE49-F238E27FC236}">
                <a16:creationId xmlns:a16="http://schemas.microsoft.com/office/drawing/2014/main" id="{1AE0DFD7-211E-279F-6839-B72CE953A0D5}"/>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Learning attention with neural networks</a:t>
            </a:r>
          </a:p>
        </p:txBody>
      </p:sp>
      <p:sp>
        <p:nvSpPr>
          <p:cNvPr id="8" name="Content Placeholder 2">
            <a:extLst>
              <a:ext uri="{FF2B5EF4-FFF2-40B4-BE49-F238E27FC236}">
                <a16:creationId xmlns:a16="http://schemas.microsoft.com/office/drawing/2014/main" id="{85DDBC92-410E-572A-C524-5F62E82758BB}"/>
              </a:ext>
            </a:extLst>
          </p:cNvPr>
          <p:cNvSpPr txBox="1">
            <a:spLocks/>
          </p:cNvSpPr>
          <p:nvPr/>
        </p:nvSpPr>
        <p:spPr>
          <a:xfrm>
            <a:off x="1036983" y="5353589"/>
            <a:ext cx="10515600" cy="14129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17081D3-0237-C394-0911-2CF5A81DA825}"/>
              </a:ext>
            </a:extLst>
          </p:cNvPr>
          <p:cNvPicPr>
            <a:picLocks noChangeAspect="1"/>
          </p:cNvPicPr>
          <p:nvPr/>
        </p:nvPicPr>
        <p:blipFill>
          <a:blip r:embed="rId3"/>
          <a:stretch>
            <a:fillRect/>
          </a:stretch>
        </p:blipFill>
        <p:spPr>
          <a:xfrm>
            <a:off x="5961635" y="1641514"/>
            <a:ext cx="4663085" cy="3842868"/>
          </a:xfrm>
          <a:prstGeom prst="rect">
            <a:avLst/>
          </a:prstGeom>
        </p:spPr>
      </p:pic>
      <p:pic>
        <p:nvPicPr>
          <p:cNvPr id="10" name="Picture 9">
            <a:extLst>
              <a:ext uri="{FF2B5EF4-FFF2-40B4-BE49-F238E27FC236}">
                <a16:creationId xmlns:a16="http://schemas.microsoft.com/office/drawing/2014/main" id="{8B1EEFA1-9F35-4E35-7BC3-98537902EB6D}"/>
              </a:ext>
            </a:extLst>
          </p:cNvPr>
          <p:cNvPicPr>
            <a:picLocks noChangeAspect="1"/>
          </p:cNvPicPr>
          <p:nvPr/>
        </p:nvPicPr>
        <p:blipFill>
          <a:blip r:embed="rId4"/>
          <a:stretch>
            <a:fillRect/>
          </a:stretch>
        </p:blipFill>
        <p:spPr>
          <a:xfrm>
            <a:off x="1868257" y="4533805"/>
            <a:ext cx="2527300" cy="711200"/>
          </a:xfrm>
          <a:prstGeom prst="rect">
            <a:avLst/>
          </a:prstGeom>
        </p:spPr>
      </p:pic>
      <p:pic>
        <p:nvPicPr>
          <p:cNvPr id="11" name="Picture 10">
            <a:extLst>
              <a:ext uri="{FF2B5EF4-FFF2-40B4-BE49-F238E27FC236}">
                <a16:creationId xmlns:a16="http://schemas.microsoft.com/office/drawing/2014/main" id="{FC37723A-7BE4-BA0B-5C8D-DCBE60D66E42}"/>
              </a:ext>
            </a:extLst>
          </p:cNvPr>
          <p:cNvPicPr>
            <a:picLocks noChangeAspect="1"/>
          </p:cNvPicPr>
          <p:nvPr/>
        </p:nvPicPr>
        <p:blipFill>
          <a:blip r:embed="rId5"/>
          <a:stretch>
            <a:fillRect/>
          </a:stretch>
        </p:blipFill>
        <p:spPr>
          <a:xfrm>
            <a:off x="838200" y="1967448"/>
            <a:ext cx="4587415" cy="1825912"/>
          </a:xfrm>
          <a:prstGeom prst="rect">
            <a:avLst/>
          </a:prstGeom>
        </p:spPr>
      </p:pic>
    </p:spTree>
    <p:extLst>
      <p:ext uri="{BB962C8B-B14F-4D97-AF65-F5344CB8AC3E}">
        <p14:creationId xmlns:p14="http://schemas.microsoft.com/office/powerpoint/2010/main" val="2844738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39710-36FD-45D6-10C2-1300424C0E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67A6FAC-24E4-9738-41A0-9A5A70D43875}"/>
              </a:ext>
            </a:extLst>
          </p:cNvPr>
          <p:cNvSpPr>
            <a:spLocks noGrp="1"/>
          </p:cNvSpPr>
          <p:nvPr>
            <p:ph type="title"/>
          </p:nvPr>
        </p:nvSpPr>
        <p:spPr>
          <a:xfrm>
            <a:off x="838200" y="365125"/>
            <a:ext cx="11353800" cy="1325563"/>
          </a:xfrm>
        </p:spPr>
        <p:txBody>
          <a:bodyPr/>
          <a:lstStyle/>
          <a:p>
            <a:r>
              <a:rPr lang="en-US" dirty="0">
                <a:latin typeface="Arial" panose="020B0604020202020204" pitchFamily="34" charset="0"/>
                <a:cs typeface="Arial" panose="020B0604020202020204" pitchFamily="34" charset="0"/>
              </a:rPr>
              <a:t>in-class practice</a:t>
            </a:r>
          </a:p>
        </p:txBody>
      </p:sp>
      <p:sp>
        <p:nvSpPr>
          <p:cNvPr id="2" name="Slide Number Placeholder 1">
            <a:extLst>
              <a:ext uri="{FF2B5EF4-FFF2-40B4-BE49-F238E27FC236}">
                <a16:creationId xmlns:a16="http://schemas.microsoft.com/office/drawing/2014/main" id="{1400AEFE-1E3A-A254-4681-BA829F86000F}"/>
              </a:ext>
            </a:extLst>
          </p:cNvPr>
          <p:cNvSpPr>
            <a:spLocks noGrp="1"/>
          </p:cNvSpPr>
          <p:nvPr>
            <p:ph type="sldNum" sz="quarter" idx="12"/>
          </p:nvPr>
        </p:nvSpPr>
        <p:spPr/>
        <p:txBody>
          <a:bodyPr/>
          <a:lstStyle/>
          <a:p>
            <a:fld id="{B3533053-B928-004D-A0E8-A0A092123CEE}" type="slidenum">
              <a:rPr lang="en-US" smtClean="0"/>
              <a:t>24</a:t>
            </a:fld>
            <a:endParaRPr lang="en-US"/>
          </a:p>
        </p:txBody>
      </p:sp>
      <p:sp>
        <p:nvSpPr>
          <p:cNvPr id="3" name="Content Placeholder 2">
            <a:extLst>
              <a:ext uri="{FF2B5EF4-FFF2-40B4-BE49-F238E27FC236}">
                <a16:creationId xmlns:a16="http://schemas.microsoft.com/office/drawing/2014/main" id="{B49BE94E-A357-DAE3-4227-0276B71E1744}"/>
              </a:ext>
            </a:extLst>
          </p:cNvPr>
          <p:cNvSpPr>
            <a:spLocks noGrp="1"/>
          </p:cNvSpPr>
          <p:nvPr>
            <p:ph idx="1"/>
          </p:nvPr>
        </p:nvSpPr>
        <p:spPr>
          <a:xfrm>
            <a:off x="838200" y="1825625"/>
            <a:ext cx="10515600" cy="4351338"/>
          </a:xfrm>
        </p:spPr>
        <p:txBody>
          <a:bodyPr>
            <a:normAutofit/>
          </a:bodyPr>
          <a:lstStyle/>
          <a:p>
            <a:pPr marL="0" indent="0">
              <a:buNone/>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dirty="0"/>
          </a:p>
          <a:p>
            <a:endParaRPr lang="en-US" dirty="0"/>
          </a:p>
        </p:txBody>
      </p:sp>
      <p:sp>
        <p:nvSpPr>
          <p:cNvPr id="6" name="Content Placeholder 2">
            <a:extLst>
              <a:ext uri="{FF2B5EF4-FFF2-40B4-BE49-F238E27FC236}">
                <a16:creationId xmlns:a16="http://schemas.microsoft.com/office/drawing/2014/main" id="{1A8EFDBD-2164-C968-248E-0180D10E3E92}"/>
              </a:ext>
            </a:extLst>
          </p:cNvPr>
          <p:cNvSpPr txBox="1">
            <a:spLocks/>
          </p:cNvSpPr>
          <p:nvPr/>
        </p:nvSpPr>
        <p:spPr>
          <a:xfrm>
            <a:off x="1845198" y="2489341"/>
            <a:ext cx="10515600" cy="7585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Arial" panose="020B0604020202020204" pitchFamily="34" charset="0"/>
                <a:cs typeface="Arial" panose="020B0604020202020204" pitchFamily="34" charset="0"/>
              </a:rPr>
              <a:t>Attention from scratch </a:t>
            </a:r>
            <a:endParaRPr lang="en-US"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016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5C8C-E21E-54CD-D27D-238A50B896F6}"/>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Actual Attention: multi-head</a:t>
            </a:r>
          </a:p>
        </p:txBody>
      </p:sp>
      <p:sp>
        <p:nvSpPr>
          <p:cNvPr id="3" name="Content Placeholder 2">
            <a:extLst>
              <a:ext uri="{FF2B5EF4-FFF2-40B4-BE49-F238E27FC236}">
                <a16:creationId xmlns:a16="http://schemas.microsoft.com/office/drawing/2014/main" id="{FDF13EC5-0DB3-5970-3010-2AF01E294173}"/>
              </a:ext>
            </a:extLst>
          </p:cNvPr>
          <p:cNvSpPr>
            <a:spLocks noGrp="1"/>
          </p:cNvSpPr>
          <p:nvPr>
            <p:ph idx="1"/>
          </p:nvPr>
        </p:nvSpPr>
        <p:spPr/>
        <p:txBody>
          <a:bodyPr>
            <a:normAutofit/>
          </a:bodyPr>
          <a:lstStyle/>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Instead of one attention head, we'll have lots of them!</a:t>
            </a:r>
          </a:p>
          <a:p>
            <a:pPr marL="457200" indent="-457200">
              <a:buFont typeface="Arial" panose="020B0604020202020204" pitchFamily="34" charset="0"/>
              <a:buChar char="•"/>
            </a:pPr>
            <a:r>
              <a:rPr lang="en-US" sz="2400" dirty="0">
                <a:effectLst/>
                <a:latin typeface="Arial" panose="020B0604020202020204" pitchFamily="34" charset="0"/>
                <a:cs typeface="Arial" panose="020B0604020202020204" pitchFamily="34" charset="0"/>
              </a:rPr>
              <a:t>Intuition: each head might be attending to the context for different purposes</a:t>
            </a:r>
          </a:p>
          <a:p>
            <a:pPr marL="1311245" lvl="2" indent="-457200"/>
            <a:r>
              <a:rPr lang="en-US" dirty="0">
                <a:latin typeface="Arial" panose="020B0604020202020204" pitchFamily="34" charset="0"/>
                <a:cs typeface="Arial" panose="020B0604020202020204" pitchFamily="34" charset="0"/>
              </a:rPr>
              <a:t>D</a:t>
            </a:r>
            <a:r>
              <a:rPr lang="en-US" dirty="0">
                <a:effectLst/>
                <a:latin typeface="Arial" panose="020B0604020202020204" pitchFamily="34" charset="0"/>
                <a:cs typeface="Arial" panose="020B0604020202020204" pitchFamily="34" charset="0"/>
              </a:rPr>
              <a:t>ifferent linguistic relationships or patterns in the context</a:t>
            </a:r>
          </a:p>
          <a:p>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dirty="0"/>
          </a:p>
          <a:p>
            <a:endParaRPr lang="en-US" dirty="0"/>
          </a:p>
        </p:txBody>
      </p:sp>
      <p:pic>
        <p:nvPicPr>
          <p:cNvPr id="5" name="Picture 4">
            <a:extLst>
              <a:ext uri="{FF2B5EF4-FFF2-40B4-BE49-F238E27FC236}">
                <a16:creationId xmlns:a16="http://schemas.microsoft.com/office/drawing/2014/main" id="{603F52C6-DDEF-E68A-EDF2-FAC5D7497328}"/>
              </a:ext>
            </a:extLst>
          </p:cNvPr>
          <p:cNvPicPr>
            <a:picLocks noChangeAspect="1"/>
          </p:cNvPicPr>
          <p:nvPr/>
        </p:nvPicPr>
        <p:blipFill>
          <a:blip r:embed="rId3"/>
          <a:stretch>
            <a:fillRect/>
          </a:stretch>
        </p:blipFill>
        <p:spPr>
          <a:xfrm>
            <a:off x="1510748" y="4278569"/>
            <a:ext cx="7772400" cy="1356578"/>
          </a:xfrm>
          <a:prstGeom prst="rect">
            <a:avLst/>
          </a:prstGeom>
        </p:spPr>
      </p:pic>
    </p:spTree>
    <p:extLst>
      <p:ext uri="{BB962C8B-B14F-4D97-AF65-F5344CB8AC3E}">
        <p14:creationId xmlns:p14="http://schemas.microsoft.com/office/powerpoint/2010/main" val="285704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2CA6BC-8F84-788C-99A7-33D8F63079E7}"/>
              </a:ext>
            </a:extLst>
          </p:cNvPr>
          <p:cNvPicPr>
            <a:picLocks noChangeAspect="1"/>
          </p:cNvPicPr>
          <p:nvPr/>
        </p:nvPicPr>
        <p:blipFill>
          <a:blip r:embed="rId2"/>
          <a:stretch>
            <a:fillRect/>
          </a:stretch>
        </p:blipFill>
        <p:spPr>
          <a:xfrm>
            <a:off x="3677016" y="1376689"/>
            <a:ext cx="4115263" cy="5081002"/>
          </a:xfrm>
          <a:prstGeom prst="rect">
            <a:avLst/>
          </a:prstGeom>
        </p:spPr>
      </p:pic>
      <p:sp>
        <p:nvSpPr>
          <p:cNvPr id="7" name="Title 1">
            <a:extLst>
              <a:ext uri="{FF2B5EF4-FFF2-40B4-BE49-F238E27FC236}">
                <a16:creationId xmlns:a16="http://schemas.microsoft.com/office/drawing/2014/main" id="{8181C27E-2368-1E55-4A3B-D61168698C2F}"/>
              </a:ext>
            </a:extLst>
          </p:cNvPr>
          <p:cNvSpPr>
            <a:spLocks noGrp="1"/>
          </p:cNvSpPr>
          <p:nvPr>
            <p:ph type="title"/>
          </p:nvPr>
        </p:nvSpPr>
        <p:spPr>
          <a:xfrm>
            <a:off x="838200" y="438622"/>
            <a:ext cx="10515600" cy="1325563"/>
          </a:xfrm>
        </p:spPr>
        <p:txBody>
          <a:bodyPr/>
          <a:lstStyle/>
          <a:p>
            <a:r>
              <a:rPr lang="en-US" dirty="0">
                <a:latin typeface="Arial" panose="020B0604020202020204" pitchFamily="34" charset="0"/>
                <a:cs typeface="Arial" panose="020B0604020202020204" pitchFamily="34" charset="0"/>
              </a:rPr>
              <a:t>From attention to transformer model</a:t>
            </a:r>
          </a:p>
        </p:txBody>
      </p:sp>
    </p:spTree>
    <p:extLst>
      <p:ext uri="{BB962C8B-B14F-4D97-AF65-F5344CB8AC3E}">
        <p14:creationId xmlns:p14="http://schemas.microsoft.com/office/powerpoint/2010/main" val="1314508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06131-7CB3-9A23-17A9-3745F7E066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7E9BC6-0412-A219-68AC-AD63B6483710}"/>
              </a:ext>
            </a:extLst>
          </p:cNvPr>
          <p:cNvSpPr>
            <a:spLocks noGrp="1"/>
          </p:cNvSpPr>
          <p:nvPr>
            <p:ph type="sldNum" sz="quarter" idx="12"/>
          </p:nvPr>
        </p:nvSpPr>
        <p:spPr/>
        <p:txBody>
          <a:bodyPr/>
          <a:lstStyle/>
          <a:p>
            <a:fld id="{B3533053-B928-004D-A0E8-A0A092123CEE}" type="slidenum">
              <a:rPr lang="en-US" smtClean="0"/>
              <a:t>27</a:t>
            </a:fld>
            <a:endParaRPr lang="en-US" dirty="0"/>
          </a:p>
        </p:txBody>
      </p:sp>
      <p:sp>
        <p:nvSpPr>
          <p:cNvPr id="3" name="Title 1">
            <a:extLst>
              <a:ext uri="{FF2B5EF4-FFF2-40B4-BE49-F238E27FC236}">
                <a16:creationId xmlns:a16="http://schemas.microsoft.com/office/drawing/2014/main" id="{DC33E5AD-6EE8-4CA1-9C14-E46502059F56}"/>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Summary</a:t>
            </a:r>
          </a:p>
        </p:txBody>
      </p:sp>
      <p:sp>
        <p:nvSpPr>
          <p:cNvPr id="6" name="Content Placeholder 2">
            <a:extLst>
              <a:ext uri="{FF2B5EF4-FFF2-40B4-BE49-F238E27FC236}">
                <a16:creationId xmlns:a16="http://schemas.microsoft.com/office/drawing/2014/main" id="{9F7BD93D-A04B-D047-3B82-1E07C2256788}"/>
              </a:ext>
            </a:extLst>
          </p:cNvPr>
          <p:cNvSpPr>
            <a:spLocks noGrp="1"/>
          </p:cNvSpPr>
          <p:nvPr>
            <p:ph idx="1"/>
          </p:nvPr>
        </p:nvSpPr>
        <p:spPr>
          <a:xfrm>
            <a:off x="838200" y="1954316"/>
            <a:ext cx="10515600" cy="3174275"/>
          </a:xfrm>
        </p:spPr>
        <p:txBody>
          <a:bodyPr>
            <a:normAutofit/>
          </a:bodyPr>
          <a:lstStyle/>
          <a:p>
            <a:r>
              <a:rPr lang="en-US" dirty="0">
                <a:latin typeface="Arial" panose="020B0604020202020204" pitchFamily="34" charset="0"/>
                <a:cs typeface="Arial" panose="020B0604020202020204" pitchFamily="34" charset="0"/>
              </a:rPr>
              <a:t>RNN are well suited for sequence modeling tasks.</a:t>
            </a:r>
          </a:p>
          <a:p>
            <a:r>
              <a:rPr lang="en-US" dirty="0">
                <a:latin typeface="Arial" panose="020B0604020202020204" pitchFamily="34" charset="0"/>
                <a:cs typeface="Arial" panose="020B0604020202020204" pitchFamily="34" charset="0"/>
              </a:rPr>
              <a:t>Model sequence via a recurrence relation</a:t>
            </a:r>
          </a:p>
          <a:p>
            <a:r>
              <a:rPr lang="en-US" dirty="0">
                <a:latin typeface="Arial" panose="020B0604020202020204" pitchFamily="34" charset="0"/>
                <a:cs typeface="Arial" panose="020B0604020202020204" pitchFamily="34" charset="0"/>
              </a:rPr>
              <a:t>LSTM can resolve the gradient vanishing issue</a:t>
            </a:r>
          </a:p>
          <a:p>
            <a:r>
              <a:rPr lang="en-US" dirty="0">
                <a:latin typeface="Arial" panose="020B0604020202020204" pitchFamily="34" charset="0"/>
                <a:cs typeface="Arial" panose="020B0604020202020204" pitchFamily="34" charset="0"/>
              </a:rPr>
              <a:t>Attention mechanism can model sequences without recurrence </a:t>
            </a:r>
          </a:p>
          <a:p>
            <a:r>
              <a:rPr lang="en-US" dirty="0">
                <a:latin typeface="Arial" panose="020B0604020202020204" pitchFamily="34" charset="0"/>
                <a:cs typeface="Arial" panose="020B0604020202020204" pitchFamily="34" charset="0"/>
              </a:rPr>
              <a:t>Attention is the basis for transformer and many large language models</a:t>
            </a:r>
          </a:p>
        </p:txBody>
      </p:sp>
    </p:spTree>
    <p:extLst>
      <p:ext uri="{BB962C8B-B14F-4D97-AF65-F5344CB8AC3E}">
        <p14:creationId xmlns:p14="http://schemas.microsoft.com/office/powerpoint/2010/main" val="3443859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AA22F-3DAE-C5DF-8F08-0A848290CC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56C885-B919-0D0A-D735-8E4BDB886999}"/>
              </a:ext>
            </a:extLst>
          </p:cNvPr>
          <p:cNvSpPr>
            <a:spLocks noGrp="1"/>
          </p:cNvSpPr>
          <p:nvPr>
            <p:ph type="sldNum" sz="quarter" idx="12"/>
          </p:nvPr>
        </p:nvSpPr>
        <p:spPr/>
        <p:txBody>
          <a:bodyPr/>
          <a:lstStyle/>
          <a:p>
            <a:fld id="{B3533053-B928-004D-A0E8-A0A092123CEE}" type="slidenum">
              <a:rPr lang="en-US" smtClean="0"/>
              <a:t>28</a:t>
            </a:fld>
            <a:endParaRPr lang="en-US" dirty="0"/>
          </a:p>
        </p:txBody>
      </p:sp>
      <p:sp>
        <p:nvSpPr>
          <p:cNvPr id="3" name="Title 1">
            <a:extLst>
              <a:ext uri="{FF2B5EF4-FFF2-40B4-BE49-F238E27FC236}">
                <a16:creationId xmlns:a16="http://schemas.microsoft.com/office/drawing/2014/main" id="{1BF80403-FCE0-354C-899F-BB1F22F3318A}"/>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FAQ about final project </a:t>
            </a:r>
          </a:p>
        </p:txBody>
      </p:sp>
      <p:sp>
        <p:nvSpPr>
          <p:cNvPr id="6" name="Content Placeholder 2">
            <a:extLst>
              <a:ext uri="{FF2B5EF4-FFF2-40B4-BE49-F238E27FC236}">
                <a16:creationId xmlns:a16="http://schemas.microsoft.com/office/drawing/2014/main" id="{382C408D-AC13-52AF-A4D1-867B989F8775}"/>
              </a:ext>
            </a:extLst>
          </p:cNvPr>
          <p:cNvSpPr>
            <a:spLocks noGrp="1"/>
          </p:cNvSpPr>
          <p:nvPr>
            <p:ph idx="1"/>
          </p:nvPr>
        </p:nvSpPr>
        <p:spPr>
          <a:xfrm>
            <a:off x="838200" y="2436381"/>
            <a:ext cx="10515600" cy="3174275"/>
          </a:xfrm>
        </p:spPr>
        <p:txBody>
          <a:bodyPr>
            <a:normAutofit/>
          </a:bodyPr>
          <a:lstStyle/>
          <a:p>
            <a:r>
              <a:rPr lang="en-US" dirty="0">
                <a:latin typeface="Arial" panose="020B0604020202020204" pitchFamily="34" charset="0"/>
                <a:cs typeface="Arial" panose="020B0604020202020204" pitchFamily="34" charset="0"/>
              </a:rPr>
              <a:t>About dataset size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About model complexity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About the performance of the model </a:t>
            </a: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1239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FC516F-DEDB-9D52-EC3E-F3EDD0CD2630}"/>
              </a:ext>
            </a:extLst>
          </p:cNvPr>
          <p:cNvSpPr>
            <a:spLocks noGrp="1"/>
          </p:cNvSpPr>
          <p:nvPr>
            <p:ph idx="1"/>
          </p:nvPr>
        </p:nvSpPr>
        <p:spPr>
          <a:xfrm>
            <a:off x="838200" y="1690688"/>
            <a:ext cx="10515600" cy="4895850"/>
          </a:xfrm>
        </p:spPr>
        <p:txBody>
          <a:bodyPr>
            <a:normAutofit/>
          </a:bodyPr>
          <a:lstStyle/>
          <a:p>
            <a:pPr marL="0" indent="0">
              <a:buNone/>
            </a:pPr>
            <a:r>
              <a:rPr lang="en-US" sz="3600" dirty="0">
                <a:latin typeface="Arial" panose="020B0604020202020204" pitchFamily="34" charset="0"/>
                <a:cs typeface="Arial" panose="020B0604020202020204" pitchFamily="34" charset="0"/>
              </a:rPr>
              <a:t>HW8 out.</a:t>
            </a:r>
          </a:p>
          <a:p>
            <a:pPr marL="0" indent="0">
              <a:buNone/>
            </a:pPr>
            <a:endParaRPr lang="en-US" sz="3600" dirty="0">
              <a:latin typeface="Arial" panose="020B0604020202020204" pitchFamily="34" charset="0"/>
              <a:cs typeface="Arial" panose="020B0604020202020204" pitchFamily="34" charset="0"/>
            </a:endParaRPr>
          </a:p>
          <a:p>
            <a:pPr marL="0" indent="0">
              <a:buNone/>
            </a:pPr>
            <a:r>
              <a:rPr lang="en-US" sz="3600" dirty="0">
                <a:latin typeface="Arial" panose="020B0604020202020204" pitchFamily="34" charset="0"/>
                <a:cs typeface="Arial" panose="020B0604020202020204" pitchFamily="34" charset="0"/>
              </a:rPr>
              <a:t>Final project out (</a:t>
            </a:r>
            <a:r>
              <a:rPr lang="en-US" sz="3600" b="1" dirty="0">
                <a:solidFill>
                  <a:srgbClr val="C00000"/>
                </a:solidFill>
                <a:latin typeface="Arial" panose="020B0604020202020204" pitchFamily="34" charset="0"/>
                <a:cs typeface="Arial" panose="020B0604020202020204" pitchFamily="34" charset="0"/>
              </a:rPr>
              <a:t>start early</a:t>
            </a:r>
            <a:r>
              <a:rPr lang="en-US" sz="3600"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Coming next: </a:t>
            </a:r>
          </a:p>
          <a:p>
            <a:pPr marL="0" indent="0">
              <a:buNone/>
            </a:pPr>
            <a:r>
              <a:rPr lang="en-US" dirty="0">
                <a:latin typeface="Arial" panose="020B0604020202020204" pitchFamily="34" charset="0"/>
                <a:cs typeface="Arial" panose="020B0604020202020204" pitchFamily="34" charset="0"/>
              </a:rPr>
              <a:t>      CNN</a:t>
            </a:r>
          </a:p>
          <a:p>
            <a:pPr marL="0" indent="0">
              <a:buNone/>
            </a:pP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2E4B29F-2D71-6D11-6E58-3E873E306B83}"/>
              </a:ext>
            </a:extLst>
          </p:cNvPr>
          <p:cNvSpPr>
            <a:spLocks noGrp="1"/>
          </p:cNvSpPr>
          <p:nvPr>
            <p:ph type="sldNum" sz="quarter" idx="12"/>
          </p:nvPr>
        </p:nvSpPr>
        <p:spPr/>
        <p:txBody>
          <a:bodyPr/>
          <a:lstStyle/>
          <a:p>
            <a:fld id="{B3533053-B928-004D-A0E8-A0A092123CEE}" type="slidenum">
              <a:rPr lang="en-US" smtClean="0">
                <a:latin typeface="Arial" panose="020B0604020202020204" pitchFamily="34" charset="0"/>
                <a:cs typeface="Arial" panose="020B0604020202020204" pitchFamily="34" charset="0"/>
              </a:rPr>
              <a:t>29</a:t>
            </a:fld>
            <a:endParaRPr lang="en-US">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74A0597E-1F99-6DF2-FAEE-F3444F66B01E}"/>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Other things</a:t>
            </a:r>
            <a:endParaRPr lang="en-US" sz="4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0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54616</TotalTime>
  <Words>1403</Words>
  <Application>Microsoft Macintosh PowerPoint</Application>
  <PresentationFormat>Widescreen</PresentationFormat>
  <Paragraphs>247</Paragraphs>
  <Slides>30</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NimbusRomNo9L</vt:lpstr>
      <vt:lpstr>Söhne Mono</vt:lpstr>
      <vt:lpstr>Arial</vt:lpstr>
      <vt:lpstr>Calibri</vt:lpstr>
      <vt:lpstr>Calibri Light</vt:lpstr>
      <vt:lpstr>Cambria Math</vt:lpstr>
      <vt:lpstr>Times New Roman</vt:lpstr>
      <vt:lpstr>Office Theme</vt:lpstr>
      <vt:lpstr>STATS 507 Data Analysis in Python</vt:lpstr>
      <vt:lpstr>Solution for in-class practice</vt:lpstr>
      <vt:lpstr>Recap: Sequence modeling</vt:lpstr>
      <vt:lpstr>Recap: RNN (1986)</vt:lpstr>
      <vt:lpstr>Recap: motivation of LSTM (1997)</vt:lpstr>
      <vt:lpstr> 1. More on LSTM  2. Attention and Transformers</vt:lpstr>
      <vt:lpstr>LSTM</vt:lpstr>
      <vt:lpstr>Recall: activation functions</vt:lpstr>
      <vt:lpstr>Unpack Gates in LSTM</vt:lpstr>
      <vt:lpstr>LSTM </vt:lpstr>
      <vt:lpstr>Stacking RNN and LSTM  </vt:lpstr>
      <vt:lpstr>Key Concepts</vt:lpstr>
      <vt:lpstr> 1. LSTM  2. Attention and Transformers</vt:lpstr>
      <vt:lpstr> </vt:lpstr>
      <vt:lpstr> </vt:lpstr>
      <vt:lpstr>A very approximate timeline</vt:lpstr>
      <vt:lpstr>Attention as a mechanism </vt:lpstr>
      <vt:lpstr>Attention introduces 3 separate rols</vt:lpstr>
      <vt:lpstr>Attention for sequence modeling</vt:lpstr>
      <vt:lpstr>Positional embedding</vt:lpstr>
      <vt:lpstr>Extract query, key, value</vt:lpstr>
      <vt:lpstr>Compute attention weights</vt:lpstr>
      <vt:lpstr>Extract features using self attention</vt:lpstr>
      <vt:lpstr>Learning attention with neural networks</vt:lpstr>
      <vt:lpstr>in-class practice</vt:lpstr>
      <vt:lpstr>Actual Attention: multi-head</vt:lpstr>
      <vt:lpstr>From attention to transformer model</vt:lpstr>
      <vt:lpstr>Summary</vt:lpstr>
      <vt:lpstr>FAQ about final project </vt:lpstr>
      <vt:lpstr>Other things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in Python Objected Oriented Programming</dc:title>
  <dc:creator>Ding, Yanran</dc:creator>
  <cp:lastModifiedBy>Zhang, Xian</cp:lastModifiedBy>
  <cp:revision>3298</cp:revision>
  <cp:lastPrinted>2023-12-31T19:39:16Z</cp:lastPrinted>
  <dcterms:created xsi:type="dcterms:W3CDTF">2023-12-29T21:23:06Z</dcterms:created>
  <dcterms:modified xsi:type="dcterms:W3CDTF">2025-04-03T19:05:45Z</dcterms:modified>
</cp:coreProperties>
</file>