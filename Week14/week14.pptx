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610" r:id="rId3"/>
    <p:sldId id="615" r:id="rId4"/>
    <p:sldId id="617" r:id="rId5"/>
    <p:sldId id="572" r:id="rId6"/>
    <p:sldId id="303" r:id="rId7"/>
    <p:sldId id="308" r:id="rId8"/>
    <p:sldId id="307" r:id="rId9"/>
    <p:sldId id="632" r:id="rId10"/>
    <p:sldId id="620" r:id="rId11"/>
    <p:sldId id="621" r:id="rId12"/>
    <p:sldId id="622" r:id="rId13"/>
    <p:sldId id="619" r:id="rId14"/>
    <p:sldId id="623" r:id="rId15"/>
    <p:sldId id="633" r:id="rId16"/>
    <p:sldId id="634" r:id="rId17"/>
    <p:sldId id="635" r:id="rId18"/>
    <p:sldId id="636" r:id="rId19"/>
    <p:sldId id="637" r:id="rId20"/>
    <p:sldId id="638" r:id="rId21"/>
    <p:sldId id="639" r:id="rId22"/>
    <p:sldId id="624" r:id="rId23"/>
    <p:sldId id="640" r:id="rId24"/>
    <p:sldId id="641" r:id="rId25"/>
    <p:sldId id="642" r:id="rId26"/>
    <p:sldId id="643" r:id="rId27"/>
    <p:sldId id="575" r:id="rId28"/>
    <p:sldId id="613" r:id="rId29"/>
    <p:sldId id="626" r:id="rId30"/>
    <p:sldId id="627" r:id="rId31"/>
    <p:sldId id="628" r:id="rId32"/>
    <p:sldId id="629" r:id="rId33"/>
    <p:sldId id="630" r:id="rId34"/>
    <p:sldId id="631" r:id="rId35"/>
    <p:sldId id="32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F48DF2-8227-5C48-8BD3-896CAD3EE341}">
          <p14:sldIdLst>
            <p14:sldId id="256"/>
            <p14:sldId id="610"/>
            <p14:sldId id="615"/>
            <p14:sldId id="617"/>
            <p14:sldId id="572"/>
            <p14:sldId id="303"/>
            <p14:sldId id="308"/>
            <p14:sldId id="307"/>
            <p14:sldId id="632"/>
            <p14:sldId id="620"/>
            <p14:sldId id="621"/>
            <p14:sldId id="622"/>
            <p14:sldId id="619"/>
            <p14:sldId id="623"/>
            <p14:sldId id="633"/>
            <p14:sldId id="634"/>
            <p14:sldId id="635"/>
            <p14:sldId id="636"/>
            <p14:sldId id="637"/>
            <p14:sldId id="638"/>
            <p14:sldId id="639"/>
            <p14:sldId id="624"/>
            <p14:sldId id="640"/>
            <p14:sldId id="641"/>
            <p14:sldId id="642"/>
            <p14:sldId id="643"/>
            <p14:sldId id="575"/>
            <p14:sldId id="613"/>
            <p14:sldId id="626"/>
            <p14:sldId id="627"/>
            <p14:sldId id="628"/>
            <p14:sldId id="629"/>
            <p14:sldId id="630"/>
            <p14:sldId id="631"/>
            <p14:sldId id="328"/>
          </p14:sldIdLst>
        </p14:section>
        <p14:section name="Untitled Section" id="{377F1EDF-B55F-C345-A29A-F7E49ACDC973}">
          <p14:sldIdLst/>
        </p14:section>
        <p14:section name="Untitled Section" id="{9F1CDEDB-F8F2-4F48-B18F-8E9C3FCDD6C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18"/>
    <p:restoredTop sz="90788"/>
  </p:normalViewPr>
  <p:slideViewPr>
    <p:cSldViewPr snapToGrid="0">
      <p:cViewPr varScale="1">
        <p:scale>
          <a:sx n="99" d="100"/>
          <a:sy n="99" d="100"/>
        </p:scale>
        <p:origin x="184" y="312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3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5C28F-5EA1-BF43-9008-79EE04C73EA8}" type="datetimeFigureOut">
              <a:rPr lang="en-US" smtClean="0"/>
              <a:t>4/6/25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86EBC-7713-6E46-84A4-B57B150E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9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9560-9817-5313-4918-DEF12CF6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9349D-BCC1-5D10-089D-6EBD93283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38476-B680-43C4-C7ED-24FC2183E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B4D8F-2483-80FF-C311-677464327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2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FFAF-B597-6FFA-EA8E-9471057F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BFD8B-B85C-2B81-14AF-EA58A72C1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158B9-0672-C18D-9DBA-8E71CE4E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7290-A528-8398-5DB2-F991673A2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4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58EF-566F-A6FA-78D6-63EDC8892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057E2-2E8F-07F1-D6E7-8495BC16E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652C5-92E6-3B2F-B556-9A9C109CE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3F30F-68CD-9D9F-5479-655F63397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3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84E7-BD02-F9AD-62EC-213C0EE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FCC21-1E87-B315-5D20-C654C524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641E4-EB88-ABFC-B42F-63D11B18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9E0-70DE-8DBD-971E-E0CBC634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0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35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2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8AC6-FEAC-0C6D-1EDA-9DE153F6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493CF-ACD6-55FB-D9D2-D79112385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F26ED-0F83-3C8F-AFD6-6934CB808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031E5-ECCD-946A-9089-E8B8FAE07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58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D72E-F658-522D-E5E0-64E4ABE2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54D7A-EECD-5B40-19EE-913FF91A9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BB834-1892-FF3F-B699-A28203E64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468D9-9C3E-3762-DE5F-9D221DEC5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62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2774-5514-BD68-D6DE-21EF7B11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0FCE7-A558-D5EE-8079-402F50D27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601E5-ADC5-FFE6-A981-957878E55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AD1A5-11EA-BDF2-83C2-3027ED966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01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9932-DACE-E85C-35E5-C6180BC4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FCCD7-F4A6-A9A1-856E-2A47A1025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97DBE-8CDB-DE0F-D740-439C878B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FF036-598C-6FAD-5A00-78F833E8B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82A9-77E7-F72A-D512-8C5E3427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A083C-D057-F3D0-615B-3676C01D3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A6BEC-2478-B241-6253-E4AACEEE3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0FA1-BC15-E1B8-DD94-564482158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30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E55D-3A86-B87E-B571-76C9F59A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2F549-0E01-4440-BF13-14493CF97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F9BEF-DDE0-1494-FF31-528D647BB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CE56E-1B4D-E25D-1943-6D777B1E1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47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5E79-BD81-8606-AA44-CFB7475C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4C9EC-80DB-9804-53B5-FF1C9D2B8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EDDA2-28C4-3EC0-EBC4-BD30E101A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8160-2A79-444B-FCBC-CB9ACF07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60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B587-1950-B50F-EB59-06134673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6DFC4-B63D-04E6-34AE-7A2A52A8B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E6037-46A8-E01C-A532-1BE2B326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D89C5-3822-C0FA-0400-7E2B6F18A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9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787D-4EB2-0441-4766-9FF5D4B3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BCED2-A952-E0D7-4780-291E25D17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67A8C-214E-142A-B36A-C79AC8254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25056-2E2D-4EE3-F941-58F41A219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89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06DD-D3FD-00FD-BD9D-B3C8D79F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6C647-B143-BD25-0606-E02F4C6B9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53D00-060D-5ABA-BE66-BE230CFEB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D97D5-67D1-E4DB-B745-E55CA9297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70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4C4D-E8E6-BA19-FE52-9981F0B8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30415-CD1C-413D-FCC1-99E4F31C0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87DD5-F80C-F428-2E34-417BFCF3E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1E596-CC2C-223F-601F-E1550DDA3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80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FA2C-4BF0-04A8-3A68-804AD792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E7920-CF4E-3A4B-ABD5-05C69B787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FE535-1A98-9B99-893E-7111631F4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CC5D1-D625-3B86-B4AC-6851BB98E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13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7D50-FA1F-C7D9-1BAF-80D27642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FC7BA-D897-0229-B9CD-0829BFAD2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9A00A-7821-270D-8BD3-8C9B89FCC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FECF-9293-3413-D523-1A9A65A64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41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FB073-A3F2-534A-F278-845440BD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12AD6-1ED5-CB88-1F35-22807C366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35B92-DE1A-AF14-4DEF-6424913D3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10915-3E42-E76A-2888-C94904BDB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72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9321-E321-8AA6-4072-339900067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D922C-25DE-A650-686B-BBAFA6B48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0D79B-2E76-BB5A-1BDB-C07EE7B5D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9903A-17B6-A0E2-4851-611F9B4CB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12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891E-17FF-A672-8E6E-DE1B2881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F7D04-27F5-ECFF-1987-E90B3275C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8B262-B156-EF9F-E689-A2B0331FA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27423-3207-01E5-4DA0-9A072CBE7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88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B661-0CE0-9A5D-3111-6FBA8344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3DCAC-DF06-3286-FFF7-80E40F255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E4DDD-469F-E38F-E0F9-3352A3F4F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7DB5F-47D4-2513-00F0-F83FFC30D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21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019E-0F20-F435-76C0-2DF6EB84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C3E8A-6248-3969-33E8-98D444B73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08758-00B4-A6AA-B57A-A8594498B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34261-AB15-6758-B564-809A7E368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8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28CC-EB71-69B5-6DEB-0BB7EF8D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7555D-6EC9-7FAC-D903-DCD8CFDF6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B8E43-0706-BB76-6CEC-BF706FBD8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35563-16E3-2717-D67B-BA439C4E2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869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97B-4A79-2662-9FE4-B5F1C9BB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5189B-3372-AC02-CE77-30FF7BA49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34E65-239C-DFA8-4B6E-B09A110E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BFA6E-0AAF-A20F-5F71-B629C99FE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48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0BF1-7FCF-E798-445C-798DFE7F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FF1E8-98AC-987B-FC58-29DABC5A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80854-765D-DB46-2CC2-FDE44635F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212D2-843B-8AEA-DADC-398958078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94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FD58-8765-C4A1-65F7-63F4AD5E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35B7F-7515-D95C-5E2F-CDE5463B0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CBEB3-28BC-988D-8326-171BB611B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03E1C-302E-FF07-C9DF-FA5FEDD52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9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5A5A-959C-ED48-C953-D199A1DE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E4411-4754-C4D1-C089-7CFA1874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40DCE-D9E5-F023-688B-7FB733F02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896B7-FA77-98D5-26E5-680497F36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5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0371-177F-17CC-930E-358503FC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178AE-5345-CF94-8DDA-5CD4CB7F6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AE12D-4844-919C-C80A-81042FF48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705E1-9466-4663-9C11-9182CD692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216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4DDD-4C34-E711-4D0D-5D163597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82E74-AD34-10C2-749B-E9F7BE5FA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24293-2171-3129-D4CA-83B0AFA2B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FC3B0-F32C-683E-9657-5CDCAF910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24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315A-0832-A88E-5065-491541EA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99BC1-B6E1-C00A-E10F-103E8FBB5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A2F11-408E-A8E3-D202-2DDF0A9B5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FAC77-EFCE-6754-85BC-561C45B8F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38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09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A21B-2D46-78D9-136B-5B9165B38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4453A-120E-6C59-7539-64173B9E1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46158-2C56-594F-FADC-36CCE99A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C45B-1BB9-0943-9823-AD542BC30B25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9EF0-E5F2-554D-A219-C9AED352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D625-2AE5-84E8-99F8-626D110C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D178-FA57-DA64-F07B-CA5B7147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7DCBA-2F46-B040-B491-95AF06B8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5051-A099-A3F9-D05D-4939C29A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0FFE-A325-5D45-8375-3CFF78786F32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30682-1817-DF10-55B4-C1FC0F16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CD24-623E-F898-57D1-FB1BE59D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4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3B39-B86D-32A3-4272-FC2A3389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A6AC0-9413-085E-19A8-67A8D2C3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03B7E-2465-9120-D8AB-71B0E2B3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E7C0-8E9F-1E49-95FE-6B6CCDA2C761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B14EE-4E42-8A49-F74D-7CB77D9C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75CF-1A13-580C-B1E9-93EA3169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4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8D2D-EDB7-DA68-6D76-4ECD1F57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F064-A9B7-9B9D-1CE6-662B2FCB4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AE1FB-42FE-1F5D-FD73-68B497C82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9B129-46B1-FDAE-F8E3-EECEFC0C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493CC-F684-524E-9167-37139A3E6226}" type="datetime1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19DEE-4D35-03F7-F88B-28D60FA7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86351-0989-A567-9C85-3F897F80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2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16A3-973B-A3EE-24EF-B3DE555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8342F-4B43-CE46-E667-31F75D558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42D3B-C508-5446-B9C5-D4DA30E90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4A9E7-00A2-8C95-A8E9-BFA068A23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3C0C9-ADB7-0B30-866E-4736C9E15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089C8-45BF-29CB-8E17-BF91E81A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7EA1-4AFA-6640-BB57-CC4591A30E71}" type="datetime1">
              <a:rPr lang="en-US" smtClean="0"/>
              <a:t>4/6/25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2A531-1774-75AB-6944-06879B46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2A8C9-9082-C22D-69A5-6BA16371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5999-C066-9A42-605E-CC7179F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8E2D-E358-0778-198F-7A7532CA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1F4-99B0-7E46-BDDE-8BA512BD333E}" type="datetime1">
              <a:rPr lang="en-US" smtClean="0"/>
              <a:t>4/6/25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CA04F-256B-3B5C-28A1-B397D139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40B76-8B5C-EDB2-2F84-031946FA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7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6575A-3650-6F51-03CB-CF60A6D6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DB4D-C8DB-2540-8C12-73F97B6A0988}" type="datetime1">
              <a:rPr lang="en-US" smtClean="0"/>
              <a:t>4/6/25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A4367-9E5D-4563-C589-8A4782D6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503AC-D3E2-5CB4-641D-CF26C81C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26DD-34B1-D5B2-6570-F048C6AB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DEEFF-4730-C3C1-DC30-5FCCF5B40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0C45D-832F-CCAA-0083-16F2742D6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106B9-6E04-7D73-7D63-E2C8F1E7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AF77-ED6A-6443-93CE-19138089D463}" type="datetime1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4EAE8-62FB-FA0A-DB7E-5A672AF1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720D6-14ED-444E-0A55-1DD26301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2AFF-FBE0-5A9D-364D-F157EA7D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17B5D-FCD1-E977-6965-EE4876678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22EC6-6BEA-722F-7647-74E4D7FEC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DBB70-3C02-F485-0B1B-3917FF5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FBB2-712D-C24F-B36C-E378F1B9621A}" type="datetime1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9A224-9F6A-2E65-3364-48555A93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1D5D7-7ED1-5D8B-C785-EAC1CF3C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9C38-D4E2-9D49-489B-E1CF4803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B60D7-196C-3AA6-341F-21353AD5B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1E4C-C362-788B-78EF-4CE2C23D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15B7-8014-1B49-8973-2DCA7344A507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6C0DA-54EE-2D30-7BAA-8F14B460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647-9E31-2398-B565-28B3F995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1AFAD-215E-72C8-4752-A4920ED35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3A5C6-30C4-38A6-3D38-3814E9406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8882-6B34-C859-88A1-D5966FE7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A22-B29A-DB4D-873C-D5BA5380E407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28E73-C47E-B5C1-0B06-126F64CA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A5C9F-1077-38DA-A928-FE2AD188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5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62A28-072D-3751-0623-07363DA6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1445D-1387-81C7-E846-3083FD0BB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ECE20-5897-50FF-F614-CE7B83C5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1262B-65F9-D849-8215-E3367B9F9C3D}" type="datetime1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B051-C83C-3D36-BEA9-9B6C8CD8B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D62C-6021-4265-E05B-E26CE9FEA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1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pytorch.org/docs/stable/generated/torch.nn.Conv2d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generated/torch.nn.Conv2d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kriz/cifar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index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datasets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orch.org/docs/stable/data.html#torch.utils.data.DataLoader" TargetMode="Externa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vision/stable/io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hyperlink" Target="https://pytorch.org/vision/stable/models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transforms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EB8A-3BAD-4DA1-8682-A700B2545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89" y="1041400"/>
            <a:ext cx="11652422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STATS 507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Analysis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94AEC-397F-89CB-6E4B-4A58284F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1490"/>
            <a:ext cx="9144000" cy="1655762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Week14-1: CNN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DBE0F6-B6C7-5FC4-DC5E-CA04E44A60AE}"/>
              </a:ext>
            </a:extLst>
          </p:cNvPr>
          <p:cNvSpPr txBox="1">
            <a:spLocks/>
          </p:cNvSpPr>
          <p:nvPr/>
        </p:nvSpPr>
        <p:spPr>
          <a:xfrm>
            <a:off x="1524000" y="5487542"/>
            <a:ext cx="9144000" cy="1141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Dr. Xian Zhang</a:t>
            </a:r>
          </a:p>
        </p:txBody>
      </p:sp>
    </p:spTree>
    <p:extLst>
      <p:ext uri="{BB962C8B-B14F-4D97-AF65-F5344CB8AC3E}">
        <p14:creationId xmlns:p14="http://schemas.microsoft.com/office/powerpoint/2010/main" val="159459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51B5-7FFD-5717-8FE8-467FB547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4E2E9A-F232-0769-193A-EA773106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Sequential Modeling with RNN</a:t>
            </a:r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1C744A-CE9C-AC54-2709-6357A22F4DF8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E8DD8-959F-B1D6-F7CC-1A60CADDA075}"/>
              </a:ext>
            </a:extLst>
          </p:cNvPr>
          <p:cNvSpPr txBox="1"/>
          <p:nvPr/>
        </p:nvSpPr>
        <p:spPr>
          <a:xfrm>
            <a:off x="4404141" y="1739111"/>
            <a:ext cx="7473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 hidden state (cell state)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39A514-C226-2E1C-14D2-D2274C78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57" y="2093054"/>
            <a:ext cx="2966856" cy="3551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87D263-215A-5449-DDFA-337BF9A85706}"/>
                  </a:ext>
                </a:extLst>
              </p:cNvPr>
              <p:cNvSpPr txBox="1"/>
              <p:nvPr/>
            </p:nvSpPr>
            <p:spPr>
              <a:xfrm>
                <a:off x="5664532" y="2557092"/>
                <a:ext cx="4586512" cy="448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D99EFD-97C9-D1B1-18AB-E9736D894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532" y="2557092"/>
                <a:ext cx="4586512" cy="448200"/>
              </a:xfrm>
              <a:prstGeom prst="rect">
                <a:avLst/>
              </a:prstGeom>
              <a:blipFill>
                <a:blip r:embed="rId4"/>
                <a:stretch>
                  <a:fillRect l="-1377" r="-220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ubtitle 2">
            <a:extLst>
              <a:ext uri="{FF2B5EF4-FFF2-40B4-BE49-F238E27FC236}">
                <a16:creationId xmlns:a16="http://schemas.microsoft.com/office/drawing/2014/main" id="{A7B77D57-D285-0284-95CA-48108098DED7}"/>
              </a:ext>
            </a:extLst>
          </p:cNvPr>
          <p:cNvSpPr txBox="1">
            <a:spLocks/>
          </p:cNvSpPr>
          <p:nvPr/>
        </p:nvSpPr>
        <p:spPr>
          <a:xfrm>
            <a:off x="4882220" y="3107402"/>
            <a:ext cx="1517073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5CE5C-A48D-99A6-D697-1B8F759739FB}"/>
              </a:ext>
            </a:extLst>
          </p:cNvPr>
          <p:cNvSpPr txBox="1"/>
          <p:nvPr/>
        </p:nvSpPr>
        <p:spPr>
          <a:xfrm>
            <a:off x="4404141" y="5097211"/>
            <a:ext cx="6615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in RNN, we use the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function and set of parameters at every time step.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2C733-BC3E-D8DF-8433-EFD62A991994}"/>
              </a:ext>
            </a:extLst>
          </p:cNvPr>
          <p:cNvSpPr txBox="1">
            <a:spLocks/>
          </p:cNvSpPr>
          <p:nvPr/>
        </p:nvSpPr>
        <p:spPr>
          <a:xfrm>
            <a:off x="8992690" y="3065632"/>
            <a:ext cx="1517073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vector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07D25E9-5F55-2ADA-FE8E-C97337D3FFC4}"/>
              </a:ext>
            </a:extLst>
          </p:cNvPr>
          <p:cNvSpPr txBox="1">
            <a:spLocks/>
          </p:cNvSpPr>
          <p:nvPr/>
        </p:nvSpPr>
        <p:spPr>
          <a:xfrm>
            <a:off x="7475617" y="3094168"/>
            <a:ext cx="1517073" cy="767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Previous </a:t>
            </a: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25303F-BA16-8DCA-BB25-C2065A2BB080}"/>
                  </a:ext>
                </a:extLst>
              </p:cNvPr>
              <p:cNvSpPr txBox="1"/>
              <p:nvPr/>
            </p:nvSpPr>
            <p:spPr>
              <a:xfrm>
                <a:off x="5664532" y="4279532"/>
                <a:ext cx="1834733" cy="501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en-US" sz="280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E35F31-7E8B-4A14-77A3-4C501281F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532" y="4279532"/>
                <a:ext cx="1834733" cy="501932"/>
              </a:xfrm>
              <a:prstGeom prst="rect">
                <a:avLst/>
              </a:prstGeom>
              <a:blipFill>
                <a:blip r:embed="rId5"/>
                <a:stretch>
                  <a:fillRect l="-3425" t="-9756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ubtitle 2">
            <a:extLst>
              <a:ext uri="{FF2B5EF4-FFF2-40B4-BE49-F238E27FC236}">
                <a16:creationId xmlns:a16="http://schemas.microsoft.com/office/drawing/2014/main" id="{E3541B70-B7F5-520A-4580-2369A92E6653}"/>
              </a:ext>
            </a:extLst>
          </p:cNvPr>
          <p:cNvSpPr txBox="1">
            <a:spLocks/>
          </p:cNvSpPr>
          <p:nvPr/>
        </p:nvSpPr>
        <p:spPr>
          <a:xfrm>
            <a:off x="6194841" y="3091710"/>
            <a:ext cx="1517073" cy="819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Activation </a:t>
            </a: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C8DB5C2-F1ED-07B7-6290-9232A43AA9EC}"/>
              </a:ext>
            </a:extLst>
          </p:cNvPr>
          <p:cNvSpPr txBox="1">
            <a:spLocks/>
          </p:cNvSpPr>
          <p:nvPr/>
        </p:nvSpPr>
        <p:spPr>
          <a:xfrm>
            <a:off x="7957788" y="2278959"/>
            <a:ext cx="1517073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 memory</a:t>
            </a:r>
          </a:p>
        </p:txBody>
      </p:sp>
    </p:spTree>
    <p:extLst>
      <p:ext uri="{BB962C8B-B14F-4D97-AF65-F5344CB8AC3E}">
        <p14:creationId xmlns:p14="http://schemas.microsoft.com/office/powerpoint/2010/main" val="46931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12" grpId="0"/>
      <p:bldP spid="14" grpId="0"/>
      <p:bldP spid="15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8185-3AC2-3884-5164-3045AA47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C8754-39AD-DCF6-5516-4A98B52F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80CE19-43A2-7767-3149-48AD30B7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LSTM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E8E39D3-361E-0B53-8ABC-15345DAF6F3B}"/>
              </a:ext>
            </a:extLst>
          </p:cNvPr>
          <p:cNvSpPr txBox="1">
            <a:spLocks/>
          </p:cNvSpPr>
          <p:nvPr/>
        </p:nvSpPr>
        <p:spPr>
          <a:xfrm>
            <a:off x="838200" y="2157275"/>
            <a:ext cx="10585268" cy="50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each time step: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we introduce 4 </a:t>
            </a: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and a new </a:t>
            </a: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-&gt; cell state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6A7C3-A20B-329A-6D20-B6C24E3C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705" y="564174"/>
            <a:ext cx="5071165" cy="135980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F051992-05D5-D6B0-0A69-E94A10032E0A}"/>
              </a:ext>
            </a:extLst>
          </p:cNvPr>
          <p:cNvSpPr txBox="1">
            <a:spLocks/>
          </p:cNvSpPr>
          <p:nvPr/>
        </p:nvSpPr>
        <p:spPr>
          <a:xfrm>
            <a:off x="11252429" y="4017683"/>
            <a:ext cx="1879141" cy="50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0EF95E-449D-EDC8-6550-20B597256D54}"/>
                  </a:ext>
                </a:extLst>
              </p:cNvPr>
              <p:cNvSpPr txBox="1"/>
              <p:nvPr/>
            </p:nvSpPr>
            <p:spPr>
              <a:xfrm>
                <a:off x="7112993" y="3090770"/>
                <a:ext cx="34078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0EF95E-449D-EDC8-6550-20B597256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93" y="3090770"/>
                <a:ext cx="3407856" cy="307777"/>
              </a:xfrm>
              <a:prstGeom prst="rect">
                <a:avLst/>
              </a:prstGeom>
              <a:blipFill>
                <a:blip r:embed="rId5"/>
                <a:stretch>
                  <a:fillRect l="-1487" t="-800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8499DA-CF74-2B49-5420-D5444FA33837}"/>
                  </a:ext>
                </a:extLst>
              </p:cNvPr>
              <p:cNvSpPr txBox="1"/>
              <p:nvPr/>
            </p:nvSpPr>
            <p:spPr>
              <a:xfrm>
                <a:off x="7095009" y="3753526"/>
                <a:ext cx="3564373" cy="354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𝑥𝑓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h𝑓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8499DA-CF74-2B49-5420-D5444FA33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009" y="3753526"/>
                <a:ext cx="3564373" cy="354521"/>
              </a:xfrm>
              <a:prstGeom prst="rect">
                <a:avLst/>
              </a:prstGeom>
              <a:blipFill>
                <a:blip r:embed="rId6"/>
                <a:stretch>
                  <a:fillRect l="-2128" r="-709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027D9C-1A8E-A4A3-CE31-FF96871106B7}"/>
                  </a:ext>
                </a:extLst>
              </p:cNvPr>
              <p:cNvSpPr txBox="1"/>
              <p:nvPr/>
            </p:nvSpPr>
            <p:spPr>
              <a:xfrm>
                <a:off x="7112993" y="4487132"/>
                <a:ext cx="35609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𝑥𝑜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h𝑜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027D9C-1A8E-A4A3-CE31-FF9687110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93" y="4487132"/>
                <a:ext cx="3560911" cy="307777"/>
              </a:xfrm>
              <a:prstGeom prst="rect">
                <a:avLst/>
              </a:prstGeom>
              <a:blipFill>
                <a:blip r:embed="rId7"/>
                <a:stretch>
                  <a:fillRect l="-712" t="-800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3673AC-485D-EF5D-7801-7898C532E50B}"/>
                  </a:ext>
                </a:extLst>
              </p:cNvPr>
              <p:cNvSpPr txBox="1"/>
              <p:nvPr/>
            </p:nvSpPr>
            <p:spPr>
              <a:xfrm>
                <a:off x="7026705" y="5081002"/>
                <a:ext cx="4068678" cy="354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𝑥𝑔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h𝑔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3673AC-485D-EF5D-7801-7898C532E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705" y="5081002"/>
                <a:ext cx="4068678" cy="354841"/>
              </a:xfrm>
              <a:prstGeom prst="rect">
                <a:avLst/>
              </a:prstGeom>
              <a:blipFill>
                <a:blip r:embed="rId8"/>
                <a:stretch>
                  <a:fillRect l="-31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ubtitle 2">
            <a:extLst>
              <a:ext uri="{FF2B5EF4-FFF2-40B4-BE49-F238E27FC236}">
                <a16:creationId xmlns:a16="http://schemas.microsoft.com/office/drawing/2014/main" id="{DFE5BD9B-9652-8361-1129-0E61B44F130E}"/>
              </a:ext>
            </a:extLst>
          </p:cNvPr>
          <p:cNvSpPr txBox="1">
            <a:spLocks/>
          </p:cNvSpPr>
          <p:nvPr/>
        </p:nvSpPr>
        <p:spPr>
          <a:xfrm>
            <a:off x="11252428" y="5262686"/>
            <a:ext cx="1879141" cy="50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[-1,1]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A0B65915-8889-A568-D161-0D1276A08ECD}"/>
              </a:ext>
            </a:extLst>
          </p:cNvPr>
          <p:cNvSpPr txBox="1">
            <a:spLocks/>
          </p:cNvSpPr>
          <p:nvPr/>
        </p:nvSpPr>
        <p:spPr>
          <a:xfrm>
            <a:off x="6310511" y="6448532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Justin Johnson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2A432A9-CC1A-E08B-DAF6-8A2CD91E1E5F}"/>
              </a:ext>
            </a:extLst>
          </p:cNvPr>
          <p:cNvSpPr txBox="1">
            <a:spLocks/>
          </p:cNvSpPr>
          <p:nvPr/>
        </p:nvSpPr>
        <p:spPr>
          <a:xfrm>
            <a:off x="7838935" y="5820663"/>
            <a:ext cx="10585268" cy="50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Learned weights!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844906-417E-7C7E-F55B-B1B66FC17B14}"/>
              </a:ext>
            </a:extLst>
          </p:cNvPr>
          <p:cNvGrpSpPr/>
          <p:nvPr/>
        </p:nvGrpSpPr>
        <p:grpSpPr>
          <a:xfrm>
            <a:off x="838200" y="2987706"/>
            <a:ext cx="4694583" cy="3306627"/>
            <a:chOff x="6600398" y="1792009"/>
            <a:chExt cx="4694583" cy="330662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E6FE97-A8C6-0A0D-7264-8CF69DA88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0398" y="2674050"/>
              <a:ext cx="4694583" cy="2424586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7C76B6-BAD6-D1E1-36F9-A80F79AA45C0}"/>
                </a:ext>
              </a:extLst>
            </p:cNvPr>
            <p:cNvSpPr/>
            <p:nvPr/>
          </p:nvSpPr>
          <p:spPr>
            <a:xfrm>
              <a:off x="6600398" y="1792009"/>
              <a:ext cx="4694583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LSTM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321A31-04E3-A8DB-3FF7-33D63C12AD1D}"/>
              </a:ext>
            </a:extLst>
          </p:cNvPr>
          <p:cNvSpPr txBox="1"/>
          <p:nvPr/>
        </p:nvSpPr>
        <p:spPr>
          <a:xfrm>
            <a:off x="2716696" y="365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2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9" grpId="0"/>
      <p:bldP spid="20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925F-6A8E-0E26-4446-1ED32C94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38A73-9F8A-4A16-24FC-CFE81015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35B955-2294-C5F8-2591-0EBBA1C6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Attention and transformer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AF205-FFD9-766E-6572-1236108F2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57" y="1690688"/>
            <a:ext cx="3879574" cy="3197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FEF33C-EB7A-9C72-9AB0-D9FA4E6C0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477" y="1640473"/>
            <a:ext cx="4115263" cy="5081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695550-C632-6156-3DC2-1DA1F52E7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782" y="5260023"/>
            <a:ext cx="3213077" cy="127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4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ED1E-D097-ACF2-F95A-B6495CAD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5E912-D120-2295-3275-900A627B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The Power of Computer Vision in AI: Unlocking the Future!">
            <a:extLst>
              <a:ext uri="{FF2B5EF4-FFF2-40B4-BE49-F238E27FC236}">
                <a16:creationId xmlns:a16="http://schemas.microsoft.com/office/drawing/2014/main" id="{B31A13B8-5E8B-282B-3BCF-24288F5A9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82" y="1576320"/>
            <a:ext cx="7170531" cy="403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C105FDC-B658-E3BA-9918-6ED446B1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Today: teach machine to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CNN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7714E9-FFDF-ABFF-C17E-8DEB04FA0DF2}"/>
              </a:ext>
            </a:extLst>
          </p:cNvPr>
          <p:cNvSpPr txBox="1">
            <a:spLocks/>
          </p:cNvSpPr>
          <p:nvPr/>
        </p:nvSpPr>
        <p:spPr>
          <a:xfrm>
            <a:off x="1076739" y="56935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Vision: to see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3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60B05B16-998D-5DF3-5B64-9B83A722D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2B718A-BF55-0797-B21D-A1B2A7E61BB3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Multiclass classification problem (discrete classes, &gt;2 possible classes)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Convolutional network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F1002C-9B0E-0690-CE22-0849F991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30251-E6B0-2714-992B-767A996B8041}"/>
              </a:ext>
            </a:extLst>
          </p:cNvPr>
          <p:cNvSpPr txBox="1">
            <a:spLocks/>
          </p:cNvSpPr>
          <p:nvPr/>
        </p:nvSpPr>
        <p:spPr>
          <a:xfrm>
            <a:off x="6371585" y="6347186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Simon Prince</a:t>
            </a:r>
          </a:p>
        </p:txBody>
      </p:sp>
    </p:spTree>
    <p:extLst>
      <p:ext uri="{BB962C8B-B14F-4D97-AF65-F5344CB8AC3E}">
        <p14:creationId xmlns:p14="http://schemas.microsoft.com/office/powerpoint/2010/main" val="308996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11C3-40C1-994A-D65A-22862941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 detection</a:t>
            </a:r>
          </a:p>
        </p:txBody>
      </p:sp>
      <p:pic>
        <p:nvPicPr>
          <p:cNvPr id="6" name="Picture 5" descr="A collage of pictures of a person and a dog&#10;&#10;Description automatically generated with low confidence">
            <a:extLst>
              <a:ext uri="{FF2B5EF4-FFF2-40B4-BE49-F238E27FC236}">
                <a16:creationId xmlns:a16="http://schemas.microsoft.com/office/drawing/2014/main" id="{87CCC7B7-CB57-22C2-B429-1F8DDA050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9" y="1690688"/>
            <a:ext cx="11028365" cy="406065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015CEBD-B8FD-D249-2A2F-3852E6453FB9}"/>
              </a:ext>
            </a:extLst>
          </p:cNvPr>
          <p:cNvSpPr txBox="1">
            <a:spLocks/>
          </p:cNvSpPr>
          <p:nvPr/>
        </p:nvSpPr>
        <p:spPr>
          <a:xfrm>
            <a:off x="6371585" y="6347186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Simon Prince</a:t>
            </a:r>
          </a:p>
        </p:txBody>
      </p:sp>
    </p:spTree>
    <p:extLst>
      <p:ext uri="{BB962C8B-B14F-4D97-AF65-F5344CB8AC3E}">
        <p14:creationId xmlns:p14="http://schemas.microsoft.com/office/powerpoint/2010/main" val="3696680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94F3B6-0E3F-70BE-C783-8BF19E182C1D}"/>
              </a:ext>
            </a:extLst>
          </p:cNvPr>
          <p:cNvSpPr txBox="1">
            <a:spLocks/>
          </p:cNvSpPr>
          <p:nvPr/>
        </p:nvSpPr>
        <p:spPr>
          <a:xfrm>
            <a:off x="882650" y="5438597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Multivariate binary classification problem (many outputs, two discrete classes)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Convolutional encoder-decoder network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9F3913-F9A0-B5DD-8D3A-BB0B087E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 segmentation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FA4F7B92-A29F-85A2-A108-69A7422CE2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7" r="1803"/>
          <a:stretch/>
        </p:blipFill>
        <p:spPr>
          <a:xfrm>
            <a:off x="304800" y="1782074"/>
            <a:ext cx="11671300" cy="295569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AA94455-CAED-BE4E-FBA8-5F475D383B3A}"/>
              </a:ext>
            </a:extLst>
          </p:cNvPr>
          <p:cNvSpPr txBox="1">
            <a:spLocks/>
          </p:cNvSpPr>
          <p:nvPr/>
        </p:nvSpPr>
        <p:spPr>
          <a:xfrm>
            <a:off x="6371585" y="6347186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Simon Prince</a:t>
            </a:r>
          </a:p>
        </p:txBody>
      </p:sp>
    </p:spTree>
    <p:extLst>
      <p:ext uri="{BB962C8B-B14F-4D97-AF65-F5344CB8AC3E}">
        <p14:creationId xmlns:p14="http://schemas.microsoft.com/office/powerpoint/2010/main" val="281985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22E0-37B9-DF56-4C33-BF0CFD48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9B105C-EE79-12E7-5A6A-C6E00B00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teach a machine to see?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C00EB-6599-7ACC-E885-5996ACB5FEF0}"/>
              </a:ext>
            </a:extLst>
          </p:cNvPr>
          <p:cNvSpPr txBox="1">
            <a:spLocks/>
          </p:cNvSpPr>
          <p:nvPr/>
        </p:nvSpPr>
        <p:spPr>
          <a:xfrm>
            <a:off x="838200" y="56947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Manual Feature Extraction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Through Learning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D3742-E84D-27AA-241E-7ADEA672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94" y="1855926"/>
            <a:ext cx="8396080" cy="3859251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07D22A0-6268-9B57-BD4F-24C812EF3561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349853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5122-D5C4-3D6E-595D-C27D643A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8370E2-5232-BAFD-39DB-BF2F33173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Feature Extraction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B94DD-BF4D-F0A8-E055-AF207B25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4" y="1551542"/>
            <a:ext cx="9450180" cy="141598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C40CAB1-E6D2-9B43-530C-65D631C7556C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ACE55AC-FC99-BF35-7B60-BE9A0D41EE85}"/>
              </a:ext>
            </a:extLst>
          </p:cNvPr>
          <p:cNvSpPr txBox="1">
            <a:spLocks/>
          </p:cNvSpPr>
          <p:nvPr/>
        </p:nvSpPr>
        <p:spPr>
          <a:xfrm>
            <a:off x="655720" y="5296428"/>
            <a:ext cx="10515600" cy="1852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Human face feature: eyes, noses, mouths…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Detect small features first and then do the classify task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Types of features are very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define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E5625-57F7-4573-0726-1779E7278A9F}"/>
              </a:ext>
            </a:extLst>
          </p:cNvPr>
          <p:cNvGrpSpPr/>
          <p:nvPr/>
        </p:nvGrpSpPr>
        <p:grpSpPr>
          <a:xfrm>
            <a:off x="1195658" y="2682597"/>
            <a:ext cx="13577203" cy="2893590"/>
            <a:chOff x="1195658" y="2682597"/>
            <a:chExt cx="13577203" cy="2893590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A5BE6964-51E8-DA2B-7E55-597294076D35}"/>
                </a:ext>
              </a:extLst>
            </p:cNvPr>
            <p:cNvSpPr txBox="1">
              <a:spLocks/>
            </p:cNvSpPr>
            <p:nvPr/>
          </p:nvSpPr>
          <p:spPr>
            <a:xfrm>
              <a:off x="4257261" y="2682597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Problem?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9722CD6-AD5C-C85F-EFE6-34B61CE4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5658" y="3723226"/>
              <a:ext cx="3747100" cy="18529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4985CFB-6C4D-8B43-5341-C0A1C0D2B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4719" y="3658034"/>
              <a:ext cx="4543049" cy="1809179"/>
            </a:xfrm>
            <a:prstGeom prst="rect">
              <a:avLst/>
            </a:prstGeom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A6B0536A-C7F5-BF9E-1DD7-872DE3B0479C}"/>
              </a:ext>
            </a:extLst>
          </p:cNvPr>
          <p:cNvSpPr txBox="1">
            <a:spLocks/>
          </p:cNvSpPr>
          <p:nvPr/>
        </p:nvSpPr>
        <p:spPr>
          <a:xfrm>
            <a:off x="7292412" y="2671158"/>
            <a:ext cx="39849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160645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780E-E561-85C2-018A-E1CEE9A8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2F8073-AEA5-9C79-00C8-F484F859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Learning with Neural Network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976D2-6E12-DAC3-1745-1204656C3C66}"/>
              </a:ext>
            </a:extLst>
          </p:cNvPr>
          <p:cNvSpPr txBox="1">
            <a:spLocks/>
          </p:cNvSpPr>
          <p:nvPr/>
        </p:nvSpPr>
        <p:spPr>
          <a:xfrm>
            <a:off x="718454" y="1472394"/>
            <a:ext cx="99561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we want: detect the features in image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68BEB-A5B8-395B-C13E-79C36663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34" y="3394882"/>
            <a:ext cx="8414513" cy="245679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4D31D3-DFFC-31D3-270F-0416F09FD89C}"/>
              </a:ext>
            </a:extLst>
          </p:cNvPr>
          <p:cNvSpPr txBox="1">
            <a:spLocks/>
          </p:cNvSpPr>
          <p:nvPr/>
        </p:nvSpPr>
        <p:spPr>
          <a:xfrm>
            <a:off x="718454" y="2287613"/>
            <a:ext cx="99561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Ideally can learn a hierarchy of features.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50E3661-E2FF-9DBA-D4E5-C26597411C23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113202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B73F-C9F7-BE04-5601-7348C198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C02D4BA-2CD8-8FF9-8254-F916284B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Learning with MLP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E347D-45EA-898E-BB15-CA8C52847EC0}"/>
              </a:ext>
            </a:extLst>
          </p:cNvPr>
          <p:cNvSpPr/>
          <p:nvPr/>
        </p:nvSpPr>
        <p:spPr>
          <a:xfrm>
            <a:off x="9314762" y="1553700"/>
            <a:ext cx="2877238" cy="506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CA1625-4D27-9D9B-5C92-7C2D531675AC}"/>
              </a:ext>
            </a:extLst>
          </p:cNvPr>
          <p:cNvGrpSpPr/>
          <p:nvPr/>
        </p:nvGrpSpPr>
        <p:grpSpPr>
          <a:xfrm>
            <a:off x="393586" y="1560511"/>
            <a:ext cx="2901632" cy="3437233"/>
            <a:chOff x="393586" y="1560511"/>
            <a:chExt cx="2901632" cy="34372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EBE153-3D38-DA98-5247-335209DE2350}"/>
                </a:ext>
              </a:extLst>
            </p:cNvPr>
            <p:cNvSpPr/>
            <p:nvPr/>
          </p:nvSpPr>
          <p:spPr>
            <a:xfrm>
              <a:off x="393586" y="1560511"/>
              <a:ext cx="2569028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82CB17D2-BDB7-A093-BA09-C8D51D0276E2}"/>
                </a:ext>
              </a:extLst>
            </p:cNvPr>
            <p:cNvSpPr txBox="1">
              <a:spLocks/>
            </p:cNvSpPr>
            <p:nvPr/>
          </p:nvSpPr>
          <p:spPr>
            <a:xfrm>
              <a:off x="393586" y="2875476"/>
              <a:ext cx="2901632" cy="21222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2D image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Vector of pixel values (</a:t>
              </a:r>
              <a:r>
                <a:rPr lang="en-US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flattened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…)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26B98FC-0C4E-34D8-0DE2-6CF3E1412A44}"/>
              </a:ext>
            </a:extLst>
          </p:cNvPr>
          <p:cNvSpPr txBox="1">
            <a:spLocks/>
          </p:cNvSpPr>
          <p:nvPr/>
        </p:nvSpPr>
        <p:spPr>
          <a:xfrm>
            <a:off x="9314762" y="2611047"/>
            <a:ext cx="28772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 Spatial information preserved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2F6AE8C-94D3-5332-BA8E-AF15CF7A287F}"/>
              </a:ext>
            </a:extLst>
          </p:cNvPr>
          <p:cNvSpPr txBox="1">
            <a:spLocks/>
          </p:cNvSpPr>
          <p:nvPr/>
        </p:nvSpPr>
        <p:spPr>
          <a:xfrm>
            <a:off x="9259378" y="4275000"/>
            <a:ext cx="28772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Many many parameters…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22611C-7778-6AB6-1C11-7ECB9DB13EF3}"/>
              </a:ext>
            </a:extLst>
          </p:cNvPr>
          <p:cNvGrpSpPr/>
          <p:nvPr/>
        </p:nvGrpSpPr>
        <p:grpSpPr>
          <a:xfrm>
            <a:off x="3406530" y="1560511"/>
            <a:ext cx="5660982" cy="4544587"/>
            <a:chOff x="3406530" y="1560511"/>
            <a:chExt cx="5660982" cy="45445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2A4444-9A6D-3590-B65E-57EEB398E286}"/>
                </a:ext>
              </a:extLst>
            </p:cNvPr>
            <p:cNvSpPr/>
            <p:nvPr/>
          </p:nvSpPr>
          <p:spPr>
            <a:xfrm>
              <a:off x="3406530" y="1560511"/>
              <a:ext cx="5660982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Fully Connected Neural Network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7D5438-F476-F310-9963-85ED1B85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7207" y="2276938"/>
              <a:ext cx="3365436" cy="194481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C552B5A-DC22-57B5-7F2A-D636FC95A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34439" y="4221750"/>
              <a:ext cx="3174182" cy="1883348"/>
            </a:xfrm>
            <a:prstGeom prst="rect">
              <a:avLst/>
            </a:prstGeom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E5BFCB14-087E-9BA2-A554-C59FAFC7EA7B}"/>
              </a:ext>
            </a:extLst>
          </p:cNvPr>
          <p:cNvSpPr txBox="1">
            <a:spLocks/>
          </p:cNvSpPr>
          <p:nvPr/>
        </p:nvSpPr>
        <p:spPr>
          <a:xfrm>
            <a:off x="569049" y="5927459"/>
            <a:ext cx="98471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can we use the </a:t>
            </a:r>
            <a:r>
              <a:rPr lang="en-US" sz="28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structure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the input?</a:t>
            </a:r>
          </a:p>
        </p:txBody>
      </p:sp>
    </p:spTree>
    <p:extLst>
      <p:ext uri="{BB962C8B-B14F-4D97-AF65-F5344CB8AC3E}">
        <p14:creationId xmlns:p14="http://schemas.microsoft.com/office/powerpoint/2010/main" val="205810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20D8-1941-0725-D822-B4436E78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E1F19-B391-FB99-91DF-AD9405EE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9A3E8-30FA-3F07-8AF5-E73A29F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09" y="477991"/>
            <a:ext cx="11231613" cy="5577417"/>
          </a:xfrm>
        </p:spPr>
        <p:txBody>
          <a:bodyPr>
            <a:normAutofit/>
          </a:bodyPr>
          <a:lstStyle/>
          <a:p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CNN basics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 vision in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794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BF6B-9DA1-4F8B-D87D-75D635E2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48A79D-2244-4207-C69A-C9676A6F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Learning with spatial structure: patching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EDE5DE-3B6F-4991-87A2-7686555DC16C}"/>
              </a:ext>
            </a:extLst>
          </p:cNvPr>
          <p:cNvGrpSpPr/>
          <p:nvPr/>
        </p:nvGrpSpPr>
        <p:grpSpPr>
          <a:xfrm>
            <a:off x="718453" y="1880679"/>
            <a:ext cx="3933059" cy="3069008"/>
            <a:chOff x="718453" y="1880679"/>
            <a:chExt cx="3933059" cy="30690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4454F6-0ADE-0F29-3203-10B4037019BE}"/>
                </a:ext>
              </a:extLst>
            </p:cNvPr>
            <p:cNvSpPr/>
            <p:nvPr/>
          </p:nvSpPr>
          <p:spPr>
            <a:xfrm>
              <a:off x="718454" y="1880679"/>
              <a:ext cx="3933058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174BD54-19E7-CE82-C93E-1C0DED716C8D}"/>
                </a:ext>
              </a:extLst>
            </p:cNvPr>
            <p:cNvSpPr txBox="1">
              <a:spLocks/>
            </p:cNvSpPr>
            <p:nvPr/>
          </p:nvSpPr>
          <p:spPr>
            <a:xfrm>
              <a:off x="718453" y="3135452"/>
              <a:ext cx="3933059" cy="18142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2D image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Array of pixel values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flattening…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264904-DC79-D42A-857E-7F54E5488A51}"/>
              </a:ext>
            </a:extLst>
          </p:cNvPr>
          <p:cNvGrpSpPr/>
          <p:nvPr/>
        </p:nvGrpSpPr>
        <p:grpSpPr>
          <a:xfrm>
            <a:off x="5184437" y="1873543"/>
            <a:ext cx="7007563" cy="3924284"/>
            <a:chOff x="5184437" y="1873543"/>
            <a:chExt cx="7007563" cy="39242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04A05A-1294-DF3D-FCBA-2313BA8B1CFA}"/>
                </a:ext>
              </a:extLst>
            </p:cNvPr>
            <p:cNvSpPr/>
            <p:nvPr/>
          </p:nvSpPr>
          <p:spPr>
            <a:xfrm>
              <a:off x="5184437" y="1873543"/>
              <a:ext cx="6782276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does the perceptron act on the input?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8F5208-5BFE-2E9C-2AB6-B0E33986834C}"/>
                </a:ext>
              </a:extLst>
            </p:cNvPr>
            <p:cNvGrpSpPr/>
            <p:nvPr/>
          </p:nvGrpSpPr>
          <p:grpSpPr>
            <a:xfrm>
              <a:off x="5184437" y="2562767"/>
              <a:ext cx="7007563" cy="3235060"/>
              <a:chOff x="5184437" y="2562767"/>
              <a:chExt cx="7007563" cy="323506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FF5878CF-0914-BC87-E40B-296D2DB8F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4437" y="2562767"/>
                <a:ext cx="6782276" cy="3235060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64CD41-AD07-34C3-2EEF-C0475169F94D}"/>
                  </a:ext>
                </a:extLst>
              </p:cNvPr>
              <p:cNvSpPr/>
              <p:nvPr/>
            </p:nvSpPr>
            <p:spPr>
              <a:xfrm>
                <a:off x="9031357" y="3476039"/>
                <a:ext cx="3160643" cy="9640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B4CF367-07C0-5572-021D-769581409BFA}"/>
              </a:ext>
            </a:extLst>
          </p:cNvPr>
          <p:cNvSpPr txBox="1">
            <a:spLocks/>
          </p:cNvSpPr>
          <p:nvPr/>
        </p:nvSpPr>
        <p:spPr>
          <a:xfrm>
            <a:off x="8598290" y="2946951"/>
            <a:ext cx="3637722" cy="96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neuron only connects (“see”) a </a:t>
            </a:r>
            <a:r>
              <a:rPr lang="en-US" sz="20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the input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27A34F5-8D06-3DEE-B78C-8B4AD1DE199A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29142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AC12-ED82-7FE7-F085-C692E28A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58ECA-A9DE-114F-ABC9-24501BD4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Sliding to see different patches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444A5B-946F-CF0C-99B3-EBEEEC47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4" y="2351396"/>
            <a:ext cx="4816612" cy="2804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261C33-B059-0EDA-E0F1-7E1F6BDDC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18" y="2351396"/>
            <a:ext cx="5061226" cy="280419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E8DF740-F811-D9B8-CD47-4243637A149C}"/>
              </a:ext>
            </a:extLst>
          </p:cNvPr>
          <p:cNvSpPr txBox="1">
            <a:spLocks/>
          </p:cNvSpPr>
          <p:nvPr/>
        </p:nvSpPr>
        <p:spPr>
          <a:xfrm>
            <a:off x="719756" y="1533076"/>
            <a:ext cx="10753789" cy="96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Connect patches in input layer to a single neuron in subsequent layer, using a sliding window to define connections.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3688B6-45A8-6DD6-BF75-0DECA8C56FF1}"/>
              </a:ext>
            </a:extLst>
          </p:cNvPr>
          <p:cNvSpPr txBox="1">
            <a:spLocks/>
          </p:cNvSpPr>
          <p:nvPr/>
        </p:nvSpPr>
        <p:spPr>
          <a:xfrm>
            <a:off x="719105" y="5658440"/>
            <a:ext cx="10753789" cy="96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filter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(weights) for different local regions across the image.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2A9E23F-EAA9-3F69-97C2-54EBA02C74B5}"/>
              </a:ext>
            </a:extLst>
          </p:cNvPr>
          <p:cNvSpPr txBox="1">
            <a:spLocks/>
          </p:cNvSpPr>
          <p:nvPr/>
        </p:nvSpPr>
        <p:spPr>
          <a:xfrm>
            <a:off x="9939890" y="5009812"/>
            <a:ext cx="4816612" cy="96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Feature map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1B21810-700B-84E9-240C-8CE26937A172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57386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E604-2AFD-89D3-25A7-F355FD77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4DE16F-898A-65C9-E40B-EAED1E7E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 features with convolution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1067C81-3570-6A42-5D24-AEA21404EA7C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5DC442-037C-A2B2-873F-727204F3973B}"/>
              </a:ext>
            </a:extLst>
          </p:cNvPr>
          <p:cNvSpPr txBox="1">
            <a:spLocks/>
          </p:cNvSpPr>
          <p:nvPr/>
        </p:nvSpPr>
        <p:spPr>
          <a:xfrm>
            <a:off x="838200" y="1790892"/>
            <a:ext cx="10276108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allows us to extract local features with spatial  info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Apply a set of weights – a filter – to extract local features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multiple filters to extract different local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Spatially share parameters of each filter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4B00C-2A5C-D0FB-8F1A-5301C443F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250" y="3718866"/>
            <a:ext cx="3895985" cy="21585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8DFB3D0-03C0-985A-6A9F-ED20C2DB0248}"/>
              </a:ext>
            </a:extLst>
          </p:cNvPr>
          <p:cNvSpPr txBox="1">
            <a:spLocks/>
          </p:cNvSpPr>
          <p:nvPr/>
        </p:nvSpPr>
        <p:spPr>
          <a:xfrm>
            <a:off x="5708696" y="3979105"/>
            <a:ext cx="10276108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Filter of 4*4: 16 weights</a:t>
            </a:r>
          </a:p>
          <a:p>
            <a:pPr marL="457200" indent="-457200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Apply the same filter to 4*4 patches in input</a:t>
            </a:r>
          </a:p>
          <a:p>
            <a:pPr marL="457200" indent="-457200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Shift by 2 pixels for next patch</a:t>
            </a:r>
          </a:p>
        </p:txBody>
      </p:sp>
    </p:spTree>
    <p:extLst>
      <p:ext uri="{BB962C8B-B14F-4D97-AF65-F5344CB8AC3E}">
        <p14:creationId xmlns:p14="http://schemas.microsoft.com/office/powerpoint/2010/main" val="384682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211E-7EEC-6AB0-4931-134B7DD1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CB2D121-340E-02BB-E5E4-89D3CD4F7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Convolution Operation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14C6C1-0794-A7AF-FA42-8D67E4FC22F8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663A2-9C38-3B5E-EAC1-935920AFC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232" y="2047362"/>
            <a:ext cx="6615546" cy="31693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26B8DAD-1951-F1EB-90C4-1DC6C0D9F4C1}"/>
              </a:ext>
            </a:extLst>
          </p:cNvPr>
          <p:cNvSpPr txBox="1">
            <a:spLocks/>
          </p:cNvSpPr>
          <p:nvPr/>
        </p:nvSpPr>
        <p:spPr>
          <a:xfrm>
            <a:off x="718454" y="1133888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Suppose we want to compute the convolution of a 5 * 5 image and a 3*3 filter..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B44F79-07A1-E7FB-5073-BF91CA0D5D31}"/>
              </a:ext>
            </a:extLst>
          </p:cNvPr>
          <p:cNvSpPr txBox="1">
            <a:spLocks/>
          </p:cNvSpPr>
          <p:nvPr/>
        </p:nvSpPr>
        <p:spPr>
          <a:xfrm>
            <a:off x="718454" y="4977286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slide the same 3*3 filter over the input image, element-wise multiply, and add the outputs to represent the ”local” feature… </a:t>
            </a:r>
          </a:p>
        </p:txBody>
      </p:sp>
    </p:spTree>
    <p:extLst>
      <p:ext uri="{BB962C8B-B14F-4D97-AF65-F5344CB8AC3E}">
        <p14:creationId xmlns:p14="http://schemas.microsoft.com/office/powerpoint/2010/main" val="237431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6B85-E7D8-B14F-C4CE-CACA7E2D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3EE997-5F01-CD07-F2E0-0310D663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Convolution Operation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48AD739-CD5A-8BEA-7CA1-5F1B2FAFDACF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FE5B6E-39C0-AAF5-62E8-922162EC68CE}"/>
              </a:ext>
            </a:extLst>
          </p:cNvPr>
          <p:cNvSpPr txBox="1">
            <a:spLocks/>
          </p:cNvSpPr>
          <p:nvPr/>
        </p:nvSpPr>
        <p:spPr>
          <a:xfrm>
            <a:off x="718454" y="1294958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slide the same 3*3 filter over the input image, element-wise multiply, and add the outputs to represent the ”local” feature…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B0C36-623B-5A52-2832-6C3478191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346" y="2646799"/>
            <a:ext cx="9162984" cy="338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74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D797-ED9B-6784-47B9-0521EE0E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B4C92B-3DFA-27A2-023B-6756A59E8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Convolution Operation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75E0084-58EF-90DC-DA92-DD2F5016706E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202C6C-4F3D-F9CE-9D43-666BC568021F}"/>
              </a:ext>
            </a:extLst>
          </p:cNvPr>
          <p:cNvSpPr txBox="1">
            <a:spLocks/>
          </p:cNvSpPr>
          <p:nvPr/>
        </p:nvSpPr>
        <p:spPr>
          <a:xfrm>
            <a:off x="718454" y="1294958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slide the same 3*3 filter over the input image, element-wise multiply, and add the outputs to represent the ”local” feature…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39817-090B-B57A-63B4-E76B609D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738" y="2620521"/>
            <a:ext cx="9194524" cy="326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4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37DC4-C560-D8FA-29F3-11E41D1B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0D70A03-25EE-1C22-4ED3-56BAFAB4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Convolution Operation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ECF1779-1658-3F17-E571-0F9AC9A1232E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F5EE7C-F745-6F67-7E98-90CAD1CE745A}"/>
              </a:ext>
            </a:extLst>
          </p:cNvPr>
          <p:cNvSpPr txBox="1">
            <a:spLocks/>
          </p:cNvSpPr>
          <p:nvPr/>
        </p:nvSpPr>
        <p:spPr>
          <a:xfrm>
            <a:off x="718454" y="1294958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slide the same 3*3 filter over the input image, element-wise multiply, and add the outputs to represent the ”local” feature…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F32259-F020-F893-1EE0-D2882697C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59" y="2620521"/>
            <a:ext cx="8681555" cy="328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0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FD8D-F461-2651-498F-C27E99C5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6502D9-D04D-8845-068A-EB6429BB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maps with different filters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10DBA7-00E3-429F-039A-A4BBA5F4B977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E59F8-BE12-5721-2F3D-69C2E9E3F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70" y="2220650"/>
            <a:ext cx="11095859" cy="363012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82B4DB7-44B3-0CB6-2452-67E917B07106}"/>
              </a:ext>
            </a:extLst>
          </p:cNvPr>
          <p:cNvSpPr txBox="1">
            <a:spLocks/>
          </p:cNvSpPr>
          <p:nvPr/>
        </p:nvSpPr>
        <p:spPr>
          <a:xfrm>
            <a:off x="718454" y="1027906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 extract different local features with different filters.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90D508-D210-3FD7-ABF0-8C9B1A19676A}"/>
              </a:ext>
            </a:extLst>
          </p:cNvPr>
          <p:cNvSpPr txBox="1">
            <a:spLocks/>
          </p:cNvSpPr>
          <p:nvPr/>
        </p:nvSpPr>
        <p:spPr>
          <a:xfrm>
            <a:off x="755842" y="5011040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filter -&gt; One feature maps…</a:t>
            </a:r>
          </a:p>
        </p:txBody>
      </p:sp>
    </p:spTree>
    <p:extLst>
      <p:ext uri="{BB962C8B-B14F-4D97-AF65-F5344CB8AC3E}">
        <p14:creationId xmlns:p14="http://schemas.microsoft.com/office/powerpoint/2010/main" val="42737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493D-1A14-0565-7070-7532CF77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4AE1B7-23A3-F5C1-1F8F-1C476EA5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Convolution to CNN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23A73-1BFE-D022-718F-5461A3542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52" y="1690688"/>
            <a:ext cx="7938604" cy="261205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734889A-21B3-A327-A137-AF706B44ABB2}"/>
              </a:ext>
            </a:extLst>
          </p:cNvPr>
          <p:cNvSpPr txBox="1">
            <a:spLocks/>
          </p:cNvSpPr>
          <p:nvPr/>
        </p:nvSpPr>
        <p:spPr>
          <a:xfrm>
            <a:off x="897358" y="4670106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Three main operations:</a:t>
            </a:r>
          </a:p>
          <a:p>
            <a:pPr marL="457200" indent="-457200"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extract different feature maps</a:t>
            </a:r>
          </a:p>
          <a:p>
            <a:pPr marL="457200" indent="-457200">
              <a:buAutoNum type="arabicParenR"/>
            </a:pP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Nonlinearity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Often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AutoNum type="arabicParenR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Pooling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downsample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operation on each feature map.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2FE4515-CBBC-E73C-A2F2-87982F5F7431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170774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0B8F2-B008-0D7B-8A24-595C8D7B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6B6D13-5D0C-901D-7438-75D18A24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404881"/>
            <a:ext cx="11473546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Convolutional layers: to extract local features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15940-9898-41BD-D3E4-82427598E8B3}"/>
              </a:ext>
            </a:extLst>
          </p:cNvPr>
          <p:cNvGrpSpPr/>
          <p:nvPr/>
        </p:nvGrpSpPr>
        <p:grpSpPr>
          <a:xfrm>
            <a:off x="6096000" y="1544180"/>
            <a:ext cx="5537983" cy="3835796"/>
            <a:chOff x="6096000" y="1544180"/>
            <a:chExt cx="5537983" cy="38357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60F426-FAA0-E95C-A1AE-77F10690C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1756" y="2949634"/>
              <a:ext cx="4386470" cy="2430342"/>
            </a:xfrm>
            <a:prstGeom prst="rect">
              <a:avLst/>
            </a:prstGeom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492B183D-2B5B-63AA-9B37-4BDDED2ED3A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1544180"/>
              <a:ext cx="5537983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For a neuron on a CNN layer:</a:t>
              </a:r>
            </a:p>
            <a:p>
              <a:pPr marL="457200" indent="-457200">
                <a:buAutoNum type="arabicParenR"/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Takes 2d Input from a patch</a:t>
              </a:r>
            </a:p>
            <a:p>
              <a:pPr marL="457200" indent="-457200">
                <a:buAutoNum type="arabicParenR"/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Compute weighted sum</a:t>
              </a:r>
            </a:p>
            <a:p>
              <a:pPr marL="457200" indent="-457200">
                <a:buAutoNum type="arabicParenR"/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Add bias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7E6488A-1BD8-A2D1-D127-98E18D6CA682}"/>
              </a:ext>
            </a:extLst>
          </p:cNvPr>
          <p:cNvGrpSpPr/>
          <p:nvPr/>
        </p:nvGrpSpPr>
        <p:grpSpPr>
          <a:xfrm>
            <a:off x="174067" y="2250535"/>
            <a:ext cx="5921933" cy="4360141"/>
            <a:chOff x="174067" y="2250535"/>
            <a:chExt cx="5921933" cy="436014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96E5CA-7DE8-2594-8111-FE840CD37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067" y="2250535"/>
              <a:ext cx="5921933" cy="24744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BB60022-34CE-A7C6-FE7E-33F09EDD6917}"/>
                    </a:ext>
                  </a:extLst>
                </p:cNvPr>
                <p:cNvSpPr txBox="1"/>
                <p:nvPr/>
              </p:nvSpPr>
              <p:spPr>
                <a:xfrm>
                  <a:off x="359227" y="5678048"/>
                  <a:ext cx="4232651" cy="9326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BB60022-34CE-A7C6-FE7E-33F09EDD6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27" y="5678048"/>
                  <a:ext cx="4232651" cy="932628"/>
                </a:xfrm>
                <a:prstGeom prst="rect">
                  <a:avLst/>
                </a:prstGeom>
                <a:blipFill>
                  <a:blip r:embed="rId5"/>
                  <a:stretch>
                    <a:fillRect t="-101333" b="-154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F3B64A-BA46-6DC2-8366-5246C298732C}"/>
              </a:ext>
            </a:extLst>
          </p:cNvPr>
          <p:cNvGrpSpPr/>
          <p:nvPr/>
        </p:nvGrpSpPr>
        <p:grpSpPr>
          <a:xfrm>
            <a:off x="6095999" y="5481580"/>
            <a:ext cx="6686186" cy="1325563"/>
            <a:chOff x="6095999" y="5481580"/>
            <a:chExt cx="6686186" cy="1325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18989B-6FA0-37E4-876F-CEF5B56A7DDC}"/>
                    </a:ext>
                  </a:extLst>
                </p:cNvPr>
                <p:cNvSpPr txBox="1"/>
                <p:nvPr/>
              </p:nvSpPr>
              <p:spPr>
                <a:xfrm>
                  <a:off x="7648387" y="5551087"/>
                  <a:ext cx="5133798" cy="9911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18989B-6FA0-37E4-876F-CEF5B56A7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387" y="5551087"/>
                  <a:ext cx="5133798" cy="991169"/>
                </a:xfrm>
                <a:prstGeom prst="rect">
                  <a:avLst/>
                </a:prstGeom>
                <a:blipFill>
                  <a:blip r:embed="rId6"/>
                  <a:stretch>
                    <a:fillRect t="-94937" b="-1430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CF07B9B1-9B1E-9802-A83C-6B50918E61CE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5481580"/>
              <a:ext cx="5537983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For a 4*4 filter</a:t>
              </a:r>
            </a:p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For neuron (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p,q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429E289D-6E9D-BDAB-B7FF-F82FE7913C85}"/>
              </a:ext>
            </a:extLst>
          </p:cNvPr>
          <p:cNvSpPr txBox="1">
            <a:spLocks/>
          </p:cNvSpPr>
          <p:nvPr/>
        </p:nvSpPr>
        <p:spPr>
          <a:xfrm>
            <a:off x="6429079" y="6491490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279673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6D415-7D33-CC49-C22C-28D713D7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1627B7-DBD2-7B03-0F9C-542CB83E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404881"/>
            <a:ext cx="11473546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Convolutional layers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98BDF-691E-7A30-5C73-5D281A577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328" y="1466663"/>
            <a:ext cx="5515113" cy="3660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08876C-4563-3BED-9338-E2AB6B778B2D}"/>
              </a:ext>
            </a:extLst>
          </p:cNvPr>
          <p:cNvSpPr txBox="1"/>
          <p:nvPr/>
        </p:nvSpPr>
        <p:spPr>
          <a:xfrm>
            <a:off x="506895" y="6129953"/>
            <a:ext cx="8140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https://pytorch.org/docs/stable/generated/torch.nn.Conv2d.html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684BB3-AAD5-BABA-2A54-A1D3F664C258}"/>
              </a:ext>
            </a:extLst>
          </p:cNvPr>
          <p:cNvGrpSpPr/>
          <p:nvPr/>
        </p:nvGrpSpPr>
        <p:grpSpPr>
          <a:xfrm>
            <a:off x="494273" y="1700709"/>
            <a:ext cx="5829222" cy="3281363"/>
            <a:chOff x="494273" y="1700709"/>
            <a:chExt cx="5829222" cy="328136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0DD5F2-D55C-7C65-CC46-687A7A0E7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6895" y="1700709"/>
              <a:ext cx="5816600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8420F8-95F2-C43A-D403-0E53924CA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273" y="3026272"/>
              <a:ext cx="5232400" cy="1955800"/>
            </a:xfrm>
            <a:prstGeom prst="rect">
              <a:avLst/>
            </a:prstGeom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6369736F-A74F-D865-7F97-10552DDD57AC}"/>
              </a:ext>
            </a:extLst>
          </p:cNvPr>
          <p:cNvSpPr txBox="1">
            <a:spLocks/>
          </p:cNvSpPr>
          <p:nvPr/>
        </p:nvSpPr>
        <p:spPr>
          <a:xfrm>
            <a:off x="7181113" y="4880801"/>
            <a:ext cx="55379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Depth: number of filters/feature maps</a:t>
            </a:r>
          </a:p>
        </p:txBody>
      </p:sp>
    </p:spTree>
    <p:extLst>
      <p:ext uri="{BB962C8B-B14F-4D97-AF65-F5344CB8AC3E}">
        <p14:creationId xmlns:p14="http://schemas.microsoft.com/office/powerpoint/2010/main" val="34183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42372-1A30-19D3-CAE7-C375CEE3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1504B5-74A1-2DD2-8E43-677DBE8F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404881"/>
            <a:ext cx="11473546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Introducing non-linearity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5CDDFFE-F02A-CE98-0398-B4C8F22D2921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54151-72F7-05BA-1BB0-278EB97FC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150" y="2740867"/>
            <a:ext cx="3509892" cy="29985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369315-7490-2591-1ED8-B44242F4F6FA}"/>
              </a:ext>
            </a:extLst>
          </p:cNvPr>
          <p:cNvSpPr txBox="1">
            <a:spLocks/>
          </p:cNvSpPr>
          <p:nvPr/>
        </p:nvSpPr>
        <p:spPr>
          <a:xfrm>
            <a:off x="359227" y="1572874"/>
            <a:ext cx="10433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Apply after every convolutional operation (after convolutional layers)</a:t>
            </a:r>
          </a:p>
        </p:txBody>
      </p:sp>
    </p:spTree>
    <p:extLst>
      <p:ext uri="{BB962C8B-B14F-4D97-AF65-F5344CB8AC3E}">
        <p14:creationId xmlns:p14="http://schemas.microsoft.com/office/powerpoint/2010/main" val="965171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8A8C-D0C4-FA65-DD7A-FB5FA662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240FEE7-C50A-3684-38D0-3200CAB4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404881"/>
            <a:ext cx="11473546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Pooling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003C7-5B11-7D10-FB34-8BDB5A192DE6}"/>
              </a:ext>
            </a:extLst>
          </p:cNvPr>
          <p:cNvSpPr txBox="1"/>
          <p:nvPr/>
        </p:nvSpPr>
        <p:spPr>
          <a:xfrm>
            <a:off x="506895" y="6129953"/>
            <a:ext cx="8140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https://pytorch.org/docs/stable/generated/torch.nn.Conv2d.html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A67D04A-2D25-A4C0-19A9-2D7206930000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E2BCBF-6B88-B10F-4E56-7650CAAB1C7D}"/>
              </a:ext>
            </a:extLst>
          </p:cNvPr>
          <p:cNvSpPr txBox="1">
            <a:spLocks/>
          </p:cNvSpPr>
          <p:nvPr/>
        </p:nvSpPr>
        <p:spPr>
          <a:xfrm>
            <a:off x="359227" y="1415304"/>
            <a:ext cx="10433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Downsample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still preserve spatial structure?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1E91F49-FD34-04C7-AC2C-CB3968E736C0}"/>
              </a:ext>
            </a:extLst>
          </p:cNvPr>
          <p:cNvSpPr txBox="1">
            <a:spLocks/>
          </p:cNvSpPr>
          <p:nvPr/>
        </p:nvSpPr>
        <p:spPr>
          <a:xfrm>
            <a:off x="3430194" y="3109846"/>
            <a:ext cx="10433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2225E1-7AAA-C509-2A43-BFF1EDF33FD6}"/>
              </a:ext>
            </a:extLst>
          </p:cNvPr>
          <p:cNvGrpSpPr/>
          <p:nvPr/>
        </p:nvGrpSpPr>
        <p:grpSpPr>
          <a:xfrm>
            <a:off x="1399078" y="2740867"/>
            <a:ext cx="13328321" cy="2765801"/>
            <a:chOff x="1399078" y="2740867"/>
            <a:chExt cx="13328321" cy="276580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84570BD-D8D7-8341-7EDC-CB983850A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9078" y="2740867"/>
              <a:ext cx="2698751" cy="276580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D4CE812-7A43-3155-0E1E-AF4DC7064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41297" y="3370820"/>
              <a:ext cx="1685359" cy="1325563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57AB24A-8DDB-1F9C-2F31-8B6823CC22EF}"/>
                </a:ext>
              </a:extLst>
            </p:cNvPr>
            <p:cNvGrpSpPr/>
            <p:nvPr/>
          </p:nvGrpSpPr>
          <p:grpSpPr>
            <a:xfrm>
              <a:off x="4293704" y="2890041"/>
              <a:ext cx="10433695" cy="1325563"/>
              <a:chOff x="4293704" y="2890041"/>
              <a:chExt cx="10433695" cy="1325563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05188A8-94BB-92AA-69A9-10D88EF38F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3704" y="4070797"/>
                <a:ext cx="4353337" cy="5297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59C6B4F6-429D-90A7-D35B-109D8A9AF8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93704" y="2890041"/>
                <a:ext cx="10433695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Max pool with 2*2 filters with stride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613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817-C3EE-6D7A-576E-ACFF1C97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7F6AF-AF38-C534-7A13-8498036F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5F47C0-92FA-E73E-EAA6-CE23231C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it all together: in-class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93179-F7CD-1936-619A-B8ACE98B50DB}"/>
              </a:ext>
            </a:extLst>
          </p:cNvPr>
          <p:cNvSpPr/>
          <p:nvPr/>
        </p:nvSpPr>
        <p:spPr>
          <a:xfrm>
            <a:off x="2434938" y="2035404"/>
            <a:ext cx="7066871" cy="528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a CNN for CIFAR-10 images classification using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65EB0-00F5-69E7-0810-C17138D31E08}"/>
              </a:ext>
            </a:extLst>
          </p:cNvPr>
          <p:cNvSpPr txBox="1"/>
          <p:nvPr/>
        </p:nvSpPr>
        <p:spPr>
          <a:xfrm>
            <a:off x="2507974" y="3084774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https://www.cs.toronto.edu/~kriz/cifar.html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186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184A-82EA-F8D9-CC36-2FCB5CDF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C644-A150-FC15-F4B3-0D8D00F9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647E90-183F-CEFA-423C-BF4C8B0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09" y="477991"/>
            <a:ext cx="11231613" cy="5577417"/>
          </a:xfrm>
        </p:spPr>
        <p:txBody>
          <a:bodyPr>
            <a:normAutofit/>
          </a:bodyPr>
          <a:lstStyle/>
          <a:p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1. CNN basics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zh-CN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Vision in </a:t>
            </a:r>
            <a:r>
              <a:rPr lang="en-US" altLang="zh-CN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53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B6A62-879C-52CD-3076-C43CF68D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830401D-AC46-3201-914A-2C952AD2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50FB1-369F-9C88-5989-412E0A8A21FD}"/>
              </a:ext>
            </a:extLst>
          </p:cNvPr>
          <p:cNvSpPr txBox="1"/>
          <p:nvPr/>
        </p:nvSpPr>
        <p:spPr>
          <a:xfrm>
            <a:off x="718454" y="6308209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https://pytorch.org/vision/stable/index.html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0E0777-2865-BF3A-AF3F-207C946E87C2}"/>
              </a:ext>
            </a:extLst>
          </p:cNvPr>
          <p:cNvSpPr txBox="1">
            <a:spLocks/>
          </p:cNvSpPr>
          <p:nvPr/>
        </p:nvSpPr>
        <p:spPr>
          <a:xfrm>
            <a:off x="803366" y="1690688"/>
            <a:ext cx="10585268" cy="50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600" u="sng" dirty="0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within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C4F60-7ACD-95D9-FA9C-9FBAC6CD4E16}"/>
              </a:ext>
            </a:extLst>
          </p:cNvPr>
          <p:cNvSpPr txBox="1"/>
          <p:nvPr/>
        </p:nvSpPr>
        <p:spPr>
          <a:xfrm>
            <a:off x="2726635" y="5488069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b="0" i="0" dirty="0">
                <a:solidFill>
                  <a:srgbClr val="212529"/>
                </a:solidFill>
                <a:effectLst/>
                <a:latin typeface="FreightSans"/>
              </a:rPr>
            </a:br>
            <a:endParaRPr lang="en-US" b="0" i="0" dirty="0">
              <a:solidFill>
                <a:srgbClr val="212529"/>
              </a:solidFill>
              <a:effectLst/>
              <a:latin typeface="Freight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7376E2-7A6B-52B4-3793-8A4306A1B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591" y="3019952"/>
            <a:ext cx="2520905" cy="2294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D15744-A232-57AD-E188-FF2DC17B9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978" y="2964261"/>
            <a:ext cx="2102424" cy="20730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48B005-8C44-00ED-C76F-444AE9CD8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023" y="2964261"/>
            <a:ext cx="2841333" cy="217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BE4-1133-DE40-F73B-F57A519E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56809FB-79F2-49F1-5CBC-4159D907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Dataloader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01C9D-B1CC-C093-4D9C-4CA4473B2FF0}"/>
              </a:ext>
            </a:extLst>
          </p:cNvPr>
          <p:cNvSpPr txBox="1"/>
          <p:nvPr/>
        </p:nvSpPr>
        <p:spPr>
          <a:xfrm>
            <a:off x="803366" y="6211669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https://pytorch.org/vision/stable/datasets.html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6FF61-D59B-A9DB-6469-1F23054141B2}"/>
              </a:ext>
            </a:extLst>
          </p:cNvPr>
          <p:cNvSpPr txBox="1"/>
          <p:nvPr/>
        </p:nvSpPr>
        <p:spPr>
          <a:xfrm>
            <a:off x="718454" y="1690688"/>
            <a:ext cx="11163347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provides many </a:t>
            </a:r>
            <a:r>
              <a:rPr lang="en-US" sz="2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datasets in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torchvision.datasets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module, as well as utility classes for building your own datasets.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5CC2D9-789B-325A-C4E2-154B36FCC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66" y="4233177"/>
            <a:ext cx="7772400" cy="16783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7C7916-8F1C-6381-D400-E0FA21DC6749}"/>
              </a:ext>
            </a:extLst>
          </p:cNvPr>
          <p:cNvSpPr txBox="1"/>
          <p:nvPr/>
        </p:nvSpPr>
        <p:spPr>
          <a:xfrm>
            <a:off x="718454" y="3097868"/>
            <a:ext cx="11473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1: Load the datasets using </a:t>
            </a:r>
            <a:r>
              <a:rPr lang="en-US" b="0" i="0" u="none" strike="noStrike" dirty="0" err="1">
                <a:solidFill>
                  <a:srgbClr val="4974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torchvision.datasets</a:t>
            </a:r>
            <a:endParaRPr lang="en-US" b="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P</a:t>
            </a:r>
            <a:r>
              <a:rPr lang="en-US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 the dataset to a </a:t>
            </a:r>
            <a:r>
              <a:rPr lang="en-US" b="0" i="0" strike="noStrike" dirty="0">
                <a:solidFill>
                  <a:srgbClr val="4974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(in PyTorch v2.5)"/>
              </a:rPr>
              <a:t>torch.utils.data.DataLoader</a:t>
            </a:r>
            <a:r>
              <a:rPr lang="en-US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which can load (and batch) multiple samples in parallel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3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31E8-A26B-D623-5136-EBC6E926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93BCF84-413A-EFCC-239D-01FB9A3B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io: read/write image/video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08E187-259C-FCE9-BB0A-E2882FA8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40" y="3296892"/>
            <a:ext cx="7132853" cy="3195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F0E906-C988-0251-A4BA-BB40E8806C56}"/>
              </a:ext>
            </a:extLst>
          </p:cNvPr>
          <p:cNvSpPr txBox="1"/>
          <p:nvPr/>
        </p:nvSpPr>
        <p:spPr>
          <a:xfrm>
            <a:off x="718454" y="1644085"/>
            <a:ext cx="963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US" sz="2400" dirty="0" err="1">
                <a:solidFill>
                  <a:srgbClr val="6C6C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torchvision.io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module provides utilities for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decoding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images and videos.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340D9-A9BE-E17F-058E-D4A9B400679C}"/>
              </a:ext>
            </a:extLst>
          </p:cNvPr>
          <p:cNvSpPr/>
          <p:nvPr/>
        </p:nvSpPr>
        <p:spPr>
          <a:xfrm>
            <a:off x="2015146" y="2709417"/>
            <a:ext cx="3736297" cy="506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720BB2-775F-3CA2-F955-F0E08492D65C}"/>
              </a:ext>
            </a:extLst>
          </p:cNvPr>
          <p:cNvSpPr/>
          <p:nvPr/>
        </p:nvSpPr>
        <p:spPr>
          <a:xfrm>
            <a:off x="6620277" y="2706518"/>
            <a:ext cx="3736297" cy="506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C02B16-B5EB-B5E7-FDE3-C8AC345263EF}"/>
              </a:ext>
            </a:extLst>
          </p:cNvPr>
          <p:cNvSpPr txBox="1"/>
          <p:nvPr/>
        </p:nvSpPr>
        <p:spPr>
          <a:xfrm>
            <a:off x="242191" y="4342012"/>
            <a:ext cx="2361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It will decode images straight into (uint8 [0, 255]) image tensors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BA2A0-6522-648D-993A-3162E7CCB8B2}"/>
              </a:ext>
            </a:extLst>
          </p:cNvPr>
          <p:cNvSpPr txBox="1"/>
          <p:nvPr/>
        </p:nvSpPr>
        <p:spPr>
          <a:xfrm>
            <a:off x="261254" y="3450120"/>
            <a:ext cx="21485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 a JPEG or a PNG image into a 3d RGB tensor.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9E664-C559-9A68-BCB1-19CA1D03535A}"/>
              </a:ext>
            </a:extLst>
          </p:cNvPr>
          <p:cNvSpPr txBox="1"/>
          <p:nvPr/>
        </p:nvSpPr>
        <p:spPr>
          <a:xfrm>
            <a:off x="140973" y="6451873"/>
            <a:ext cx="49261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Optionally convert the image to the desired format…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273856-140A-29FA-8292-F786D36D1657}"/>
              </a:ext>
            </a:extLst>
          </p:cNvPr>
          <p:cNvSpPr txBox="1"/>
          <p:nvPr/>
        </p:nvSpPr>
        <p:spPr>
          <a:xfrm>
            <a:off x="6620277" y="6267207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https://pytorch.org/vision/stable/io.html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0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9D38-2F56-0661-0274-385973EC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D09F4BE-BF38-528D-16E9-89BD2F06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models/pretrained weights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B94C3-827E-ED77-4B63-324E02E33294}"/>
              </a:ext>
            </a:extLst>
          </p:cNvPr>
          <p:cNvSpPr txBox="1"/>
          <p:nvPr/>
        </p:nvSpPr>
        <p:spPr>
          <a:xfrm>
            <a:off x="718453" y="1690688"/>
            <a:ext cx="5377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US" sz="2400" dirty="0" err="1">
                <a:solidFill>
                  <a:srgbClr val="6C6C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torchvision.models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subpackage contains definitions of models for addressing different tasks, including: </a:t>
            </a:r>
          </a:p>
          <a:p>
            <a:endParaRPr lang="en-US" sz="2400" b="0" i="0" dirty="0"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pixelwise semantic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 detection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instance segmentation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 </a:t>
            </a:r>
            <a:r>
              <a:rPr lang="en-US" sz="2000" b="0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video classification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D85239-2A3C-CD6D-9EB5-CBE50B132F14}"/>
              </a:ext>
            </a:extLst>
          </p:cNvPr>
          <p:cNvGrpSpPr/>
          <p:nvPr/>
        </p:nvGrpSpPr>
        <p:grpSpPr>
          <a:xfrm>
            <a:off x="5523549" y="4922342"/>
            <a:ext cx="9638120" cy="1262060"/>
            <a:chOff x="5523549" y="4922342"/>
            <a:chExt cx="9638120" cy="126206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827E30E-9903-5BE0-FC81-A23B0CC83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3549" y="5460927"/>
              <a:ext cx="6643914" cy="7234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C2E242-FA5C-48BB-97CB-26A678981550}"/>
                </a:ext>
              </a:extLst>
            </p:cNvPr>
            <p:cNvSpPr txBox="1"/>
            <p:nvPr/>
          </p:nvSpPr>
          <p:spPr>
            <a:xfrm>
              <a:off x="5523549" y="4922342"/>
              <a:ext cx="9638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0" i="0" dirty="0">
                  <a:solidFill>
                    <a:srgbClr val="26262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Use pretrained weights to initialize a model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CF71F05-1934-4817-08B1-553EC9BF99E0}"/>
              </a:ext>
            </a:extLst>
          </p:cNvPr>
          <p:cNvSpPr txBox="1"/>
          <p:nvPr/>
        </p:nvSpPr>
        <p:spPr>
          <a:xfrm>
            <a:off x="718453" y="6341762"/>
            <a:ext cx="729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https://pytorch.org/vision/stable/models.html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E39965-372C-B487-640B-C0BA6AC08DC0}"/>
              </a:ext>
            </a:extLst>
          </p:cNvPr>
          <p:cNvGrpSpPr/>
          <p:nvPr/>
        </p:nvGrpSpPr>
        <p:grpSpPr>
          <a:xfrm>
            <a:off x="6888523" y="1654775"/>
            <a:ext cx="9638120" cy="2279813"/>
            <a:chOff x="6888523" y="1654775"/>
            <a:chExt cx="9638120" cy="22798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E18D55-7411-B4CF-0C01-D3DFAC31F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30488" y="2116440"/>
              <a:ext cx="4777095" cy="181814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928196-017B-45EA-1CAE-EF8D8371CEA2}"/>
                </a:ext>
              </a:extLst>
            </p:cNvPr>
            <p:cNvSpPr txBox="1"/>
            <p:nvPr/>
          </p:nvSpPr>
          <p:spPr>
            <a:xfrm>
              <a:off x="6888523" y="1654775"/>
              <a:ext cx="9638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0" i="0" dirty="0">
                  <a:solidFill>
                    <a:srgbClr val="26262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Use pre-defined model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664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992D9-50C3-AB51-E3F4-CC6DC7D7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B9E6192-34EC-0E38-4638-8D898246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transform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E09BF-7200-D8DC-73BF-DB9C5B18DBC7}"/>
              </a:ext>
            </a:extLst>
          </p:cNvPr>
          <p:cNvSpPr txBox="1"/>
          <p:nvPr/>
        </p:nvSpPr>
        <p:spPr>
          <a:xfrm>
            <a:off x="718454" y="6308209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https://pytorch.org/vision/stable/transforms.html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1371F-3D60-75E1-488E-E017CCB53AA3}"/>
              </a:ext>
            </a:extLst>
          </p:cNvPr>
          <p:cNvSpPr txBox="1"/>
          <p:nvPr/>
        </p:nvSpPr>
        <p:spPr>
          <a:xfrm>
            <a:off x="718454" y="1690688"/>
            <a:ext cx="107550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626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Transforms can be used to transform or augment data for training or inference of different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RGB to grayscale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812CED-18B0-CD2D-2FCA-B92BF7551E6C}"/>
              </a:ext>
            </a:extLst>
          </p:cNvPr>
          <p:cNvGrpSpPr/>
          <p:nvPr/>
        </p:nvGrpSpPr>
        <p:grpSpPr>
          <a:xfrm>
            <a:off x="6096000" y="4580980"/>
            <a:ext cx="10755092" cy="1346809"/>
            <a:chOff x="1752599" y="4581455"/>
            <a:chExt cx="10755092" cy="1346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9A4865-5A1B-7BF0-960F-25075E304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77784" y="4997174"/>
              <a:ext cx="5787569" cy="93109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DC0B06-3E4B-DF08-EFCE-5178A4533F6C}"/>
                </a:ext>
              </a:extLst>
            </p:cNvPr>
            <p:cNvSpPr txBox="1"/>
            <p:nvPr/>
          </p:nvSpPr>
          <p:spPr>
            <a:xfrm>
              <a:off x="1752599" y="4581455"/>
              <a:ext cx="107550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26262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Can use </a:t>
              </a:r>
              <a:r>
                <a:rPr lang="en-US" b="0" i="0" dirty="0" err="1">
                  <a:solidFill>
                    <a:srgbClr val="26262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nn.sequential</a:t>
              </a:r>
              <a:r>
                <a: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compose operations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F002A2-4349-3F10-77E0-A93DAA66EC9F}"/>
              </a:ext>
            </a:extLst>
          </p:cNvPr>
          <p:cNvGrpSpPr/>
          <p:nvPr/>
        </p:nvGrpSpPr>
        <p:grpSpPr>
          <a:xfrm>
            <a:off x="718454" y="3361451"/>
            <a:ext cx="4826000" cy="1229476"/>
            <a:chOff x="718454" y="3220821"/>
            <a:chExt cx="4826000" cy="122947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9D5FBF1-E3AA-620D-108D-E575C882E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454" y="3220821"/>
              <a:ext cx="4826000" cy="2921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3199051-8EF3-5D32-924E-303267662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454" y="3549835"/>
              <a:ext cx="3739322" cy="900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541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22C4-AE34-7EF0-07E2-AF72667D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B41CF5-4716-BB1A-9691-D6D0B161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33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F0C0B6-1A2C-C9B7-F20D-8BE35EBE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class practice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4DE4F-FA10-0E65-9163-E0B3325F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972" y="1498599"/>
            <a:ext cx="5845628" cy="46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73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516F-DEDB-9D52-EC3E-F3EDD0CD2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due on 04/22/2025 (No late days)! </a:t>
            </a:r>
          </a:p>
          <a:p>
            <a:pPr marL="0" indent="0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Coming next: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A review on learning approaches for self-driving.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Come to class if you need my help for final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4B29F-2D71-6D11-6E58-3E873E30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A0597E-1F99-6DF2-FAEE-F3444F66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things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52972</TotalTime>
  <Words>1278</Words>
  <Application>Microsoft Macintosh PowerPoint</Application>
  <PresentationFormat>Widescreen</PresentationFormat>
  <Paragraphs>229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FreightSans</vt:lpstr>
      <vt:lpstr>Arial</vt:lpstr>
      <vt:lpstr>Calibri</vt:lpstr>
      <vt:lpstr>Calibri Light</vt:lpstr>
      <vt:lpstr>Cambria Math</vt:lpstr>
      <vt:lpstr>Office Theme</vt:lpstr>
      <vt:lpstr>STATS 507 Data Analysis in Python</vt:lpstr>
      <vt:lpstr>Recap: Sequential Modeling with RNN</vt:lpstr>
      <vt:lpstr>Recap: LSTM</vt:lpstr>
      <vt:lpstr>Recap: Attention and transformer</vt:lpstr>
      <vt:lpstr>Today: teach machine to see with CNN</vt:lpstr>
      <vt:lpstr>Image classification</vt:lpstr>
      <vt:lpstr>Object detection</vt:lpstr>
      <vt:lpstr>Image segmentation</vt:lpstr>
      <vt:lpstr>How can we teach a machine to see?</vt:lpstr>
      <vt:lpstr>Manual Feature Extraction</vt:lpstr>
      <vt:lpstr>Learning with Neural Network</vt:lpstr>
      <vt:lpstr>Learning with MLP</vt:lpstr>
      <vt:lpstr> 1. CNN basics  2. torchvision: vision in PyTorch</vt:lpstr>
      <vt:lpstr>Learning with spatial structure: patching</vt:lpstr>
      <vt:lpstr>Sliding to see different patches</vt:lpstr>
      <vt:lpstr>Extract features with convolution</vt:lpstr>
      <vt:lpstr>The Convolution Operation</vt:lpstr>
      <vt:lpstr>The Convolution Operation</vt:lpstr>
      <vt:lpstr>The Convolution Operation</vt:lpstr>
      <vt:lpstr>The Convolution Operation</vt:lpstr>
      <vt:lpstr>Feature maps with different filters</vt:lpstr>
      <vt:lpstr>From Convolution to CNN</vt:lpstr>
      <vt:lpstr>Convolutional layers: to extract local features</vt:lpstr>
      <vt:lpstr>Convolutional layers in Pytorch</vt:lpstr>
      <vt:lpstr>Introducing non-linearity </vt:lpstr>
      <vt:lpstr>Pooling</vt:lpstr>
      <vt:lpstr>Put it all together: in-class practice</vt:lpstr>
      <vt:lpstr> 1. CNN basics  2. torchvision: Vision in PyTorch</vt:lpstr>
      <vt:lpstr>Torchvision overview</vt:lpstr>
      <vt:lpstr>Dataset and Dataloader</vt:lpstr>
      <vt:lpstr>Torchvision io: read/write image/video</vt:lpstr>
      <vt:lpstr>Torchvision models/pretrained weights</vt:lpstr>
      <vt:lpstr>Torchvision transform</vt:lpstr>
      <vt:lpstr>In class practice solution</vt:lpstr>
      <vt:lpstr>Other things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in Python Objected Oriented Programming</dc:title>
  <dc:creator>Ding, Yanran</dc:creator>
  <cp:lastModifiedBy>Zhang, Xian</cp:lastModifiedBy>
  <cp:revision>3523</cp:revision>
  <cp:lastPrinted>2023-12-31T19:39:16Z</cp:lastPrinted>
  <dcterms:created xsi:type="dcterms:W3CDTF">2023-12-29T21:23:06Z</dcterms:created>
  <dcterms:modified xsi:type="dcterms:W3CDTF">2025-04-06T19:25:25Z</dcterms:modified>
</cp:coreProperties>
</file>