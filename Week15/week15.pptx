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7" r:id="rId2"/>
    <p:sldId id="572" r:id="rId3"/>
    <p:sldId id="624" r:id="rId4"/>
    <p:sldId id="561" r:id="rId5"/>
    <p:sldId id="613" r:id="rId6"/>
    <p:sldId id="636" r:id="rId7"/>
    <p:sldId id="639" r:id="rId8"/>
    <p:sldId id="640" r:id="rId9"/>
    <p:sldId id="642" r:id="rId10"/>
    <p:sldId id="643" r:id="rId11"/>
    <p:sldId id="644" r:id="rId12"/>
    <p:sldId id="657" r:id="rId13"/>
    <p:sldId id="646" r:id="rId14"/>
    <p:sldId id="647" r:id="rId15"/>
    <p:sldId id="648" r:id="rId16"/>
    <p:sldId id="658" r:id="rId17"/>
    <p:sldId id="659" r:id="rId18"/>
    <p:sldId id="651" r:id="rId19"/>
    <p:sldId id="660" r:id="rId20"/>
    <p:sldId id="661" r:id="rId21"/>
    <p:sldId id="662" r:id="rId22"/>
    <p:sldId id="64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01A6708-E62B-A547-97DA-95B469FAFA6D}">
          <p14:sldIdLst/>
        </p14:section>
        <p14:section name="Default Section" id="{80F48DF2-8227-5C48-8BD3-896CAD3EE341}">
          <p14:sldIdLst>
            <p14:sldId id="257"/>
            <p14:sldId id="572"/>
            <p14:sldId id="624"/>
            <p14:sldId id="561"/>
            <p14:sldId id="613"/>
            <p14:sldId id="636"/>
            <p14:sldId id="639"/>
            <p14:sldId id="640"/>
            <p14:sldId id="642"/>
            <p14:sldId id="643"/>
            <p14:sldId id="644"/>
            <p14:sldId id="657"/>
            <p14:sldId id="646"/>
            <p14:sldId id="647"/>
            <p14:sldId id="648"/>
            <p14:sldId id="658"/>
            <p14:sldId id="659"/>
            <p14:sldId id="651"/>
            <p14:sldId id="660"/>
            <p14:sldId id="661"/>
            <p14:sldId id="662"/>
            <p14:sldId id="641"/>
          </p14:sldIdLst>
        </p14:section>
        <p14:section name="Untitled Section" id="{377F1EDF-B55F-C345-A29A-F7E49ACDC973}">
          <p14:sldIdLst/>
        </p14:section>
        <p14:section name="Untitled Section" id="{9F1CDEDB-F8F2-4F48-B18F-8E9C3FCDD6C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10"/>
    <p:restoredTop sz="95988"/>
  </p:normalViewPr>
  <p:slideViewPr>
    <p:cSldViewPr snapToGrid="0">
      <p:cViewPr varScale="1">
        <p:scale>
          <a:sx n="103" d="100"/>
          <a:sy n="103" d="100"/>
        </p:scale>
        <p:origin x="1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8CDDD-B9CA-BF45-91EF-E1D9A6DE9508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3BF89-DA15-C84E-A3EE-6CDE58002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4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91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C84E7-BD02-F9AD-62EC-213C0EEDE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FCC21-1E87-B315-5D20-C654C5240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641E4-EB88-ABFC-B42F-63D11B18F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CD9E0-70DE-8DBD-971E-E0CBC634F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00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FB073-A3F2-534A-F278-845440BD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12AD6-1ED5-CB88-1F35-22807C366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35B92-DE1A-AF14-4DEF-6424913D3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10915-3E42-E76A-2888-C94904BDB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72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62B27-9CD6-D666-F768-0BAD1CB78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EBD830-C134-BCB4-E4D0-605541EBB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010C4-7781-EFEC-E020-8CD8CC639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67EF5-9922-DBE4-ADDF-4D41DBF28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91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797B-4A79-2662-9FE4-B5F1C9BB3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5189B-3372-AC02-CE77-30FF7BA49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34E65-239C-DFA8-4B6E-B09A110ED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BFA6E-0AAF-A20F-5F71-B629C99FE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48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AFA66-BC0B-C7E2-46CC-A578EFAC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B03DD-E52A-9A64-AB1A-FBA087CEE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C1158-AF15-A808-2D8F-C0F530B38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07602-F7BB-D353-AA71-9A5794EFD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744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C84E7-BD02-F9AD-62EC-213C0EEDE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FCC21-1E87-B315-5D20-C654C5240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641E4-EB88-ABFC-B42F-63D11B18F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CD9E0-70DE-8DBD-971E-E0CBC634F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00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C532E-5047-3052-3758-D861B1412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987CE-D265-E770-8FF3-0DBA0EF15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47F70-107A-C6B7-0286-989899856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saw that deep neural networks can be thought of as transforming the data, layer by layer, from one representation into another and another.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546E3-0C56-9C0D-84B5-C93333C91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20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CEC79-68FC-CFE4-95DF-BD1F4435A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17E20-01FE-7495-011E-067A1B1B1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E6DCB-3A7C-74EF-A839-FF79308F4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saw that deep neural networks can be thought of as transforming the data, layer by layer, from one representation into another and another.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2C152-584E-7DD5-458E-1816454A7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41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EA920-5DB9-9730-18A7-F0AF7563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9DCB4-7FF8-AA1E-7EA0-B63BEBA6D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1233C-752B-8705-53F8-1CE64AEA1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07C87-4B1B-E8A5-8253-87732ECEE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0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2907-C69E-637B-32FD-A50FF00A7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F3711-504A-2DC6-51FD-8978F4479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E0BE3-503F-CBDF-3B6B-831515B79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31D08-C8F6-52D9-59BD-62FF1C8E2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61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1C5DF-FF29-92BA-62C7-FA63AD45A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8849A-CB12-43CD-D7CB-CF53BD9E5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A0158-F40A-8E3F-FB38-0853134FF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CE85C-28ED-974A-A793-33567C1DC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2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492AB-5E17-2383-5810-2788005F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E8EE3-A032-EEB2-DEFB-99B3DDE2B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013C3-68E3-3E5F-6201-A3ACF6BB4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ED591-BE24-D26F-10FE-68152ACAB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735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E1756-CB16-F8D1-73E2-993D3185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F49BF-B772-FCEB-F884-C0AF18EE0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2F2AA-4F81-0896-6FE4-2C65C5998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004E5-8262-3CAA-8D44-C9A8C6C26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421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40D5-3F24-0929-0289-CD3CD2C25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494A9-76F0-8835-B128-749D9FEE8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6C1D9-9569-4A59-1AAD-49B9B8465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A8665-4D69-A43A-81FE-56047E0DE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97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9B27E-DD4E-0409-0D70-FFA3EECDB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65D10-7C56-C663-4E1C-6B54EAF97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A1BB0-AC33-3A82-D608-6E2FD3794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15640-1A73-6138-583D-A126D2FE7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865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58EF6-54CC-F34A-5B0C-B78CA7546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3EA48-2702-AA85-DC49-074CC07C1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ACA075-EEE1-B109-89E3-FE904EC34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7B80A-59AA-37AF-6D4E-4B051C15B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346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C2B3F-CC79-E429-529C-45F8C6E50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D9E06-242B-69E3-A4A2-05B725868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F957B-50A1-E947-2451-B5EB3572B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1AC85-4D6A-D0E7-2CE1-177C0CD39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532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15BE7-5834-DB5A-5CE5-9A0FE8E1D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5FD5C-52AB-D797-9B83-5F658CED9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F48F1-B009-9D48-5E3E-C73D8007F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11911-C5C3-301A-CB1F-13431D422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505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D80BB-3FAD-BD79-376F-C136863E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1E290-6CFB-D148-28EB-9CA0C7233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E273C-CFA7-AD8D-E12E-9DA0B657C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F8361-CFF1-DE11-3BB0-1F79CD591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670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90B1-E7B2-CD07-8468-94E58DC6D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660E8-CC48-63D7-04DC-B9164ACA4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91BBE-704D-92CA-E16C-00D405D73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ACA77-3B3A-0B75-8344-5B127CCFA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590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EE968-ED59-A8B6-8136-26946B8A3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7DA15-DF7D-1F74-63AF-A019107A5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660A8-AC81-6460-CC25-2A6550C32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2C24F-BCCF-B4FC-DC28-8965BE491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5DFB8-D4AE-B388-1EA5-9B21C9826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A1A02-E8DE-D39B-C5C2-42858F3AA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ADFA4-BC63-02F5-7778-13B63473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1AFE-FBAD-264E-AFD7-6F8115638E3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2383A-8E9E-8EBC-EA2C-AA8381B8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A2905-BD5B-869D-0615-16728BF1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2A5E3-C76E-CA4C-83DE-BBC8601A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25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7A16-8903-5A18-54FA-43F0A9BC0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39EF3-D183-6FC5-E736-5178EB949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E6B24-2D83-C215-F6DB-AA1389EB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1AFE-FBAD-264E-AFD7-6F8115638E3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C87DD-15C1-3777-24F7-7125A2EB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91E1-FA1A-DCD9-DC03-AB1A8845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2A5E3-C76E-CA4C-83DE-BBC8601A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95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7B49F-DD2C-4F0C-5B02-116694F95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E181A-EB4E-3681-7CB7-19AA72496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649D7-9D49-8ACA-3630-7015C7E20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1AFE-FBAD-264E-AFD7-6F8115638E3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DDBFD-1A70-3FC6-FDB0-B5BCF81B4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07CCB-B7AE-E6C6-92D0-40CC33CB9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2A5E3-C76E-CA4C-83DE-BBC8601A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39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1537F-6D69-C28D-8CB9-FFFBC65BA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4A6CF-14D4-7A64-BDB3-DD36CFDEA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96ACB-9C2C-E3F1-F556-AC56CE26C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45D07-9B12-BE44-B401-57DEE5E16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1AFE-FBAD-264E-AFD7-6F8115638E3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07633-D145-7DF3-46F4-E796AAD7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0527D-E2AE-23A3-8AA1-50725D754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2A5E3-C76E-CA4C-83DE-BBC8601A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1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5EA56-89B7-5A17-5ABC-7032D1D19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EF063-F2E3-FCD4-4B5A-7CBE32A91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0C9BD-7FFC-01DA-0AF0-FB4306ABE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F67B5-75BB-2075-94EE-41D40246C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E27162-DFF8-7600-1CA5-A997C4E9E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B0E6EB-EE1E-E0A4-039E-3614E94F3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1AFE-FBAD-264E-AFD7-6F8115638E3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B13C0-E031-05AC-F701-B6524258E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F31066-2EFD-CA4C-4B9F-FA5BEA6A4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2A5E3-C76E-CA4C-83DE-BBC8601A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44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2A117-0AE7-617C-DFCF-3519733F0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977E7-C877-F4F4-7C9C-5E582FB22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1AFE-FBAD-264E-AFD7-6F8115638E3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E1328-5BBF-CF50-2A38-5EB1F18F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98D0E-EC93-D8BB-704F-A4CB77FF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2A5E3-C76E-CA4C-83DE-BBC8601A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68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13245-9FBE-7BA4-1626-33373D93F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1AFE-FBAD-264E-AFD7-6F8115638E3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A830F2-C0A1-3697-37EF-ADA350153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5C238-CEF5-30FD-7105-8932BD46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2A5E3-C76E-CA4C-83DE-BBC8601A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5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BE08-69EF-BC8B-57C0-1F2460749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07FED-8EB2-8205-FD2D-C2D2D6B77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C709F-A839-BC42-E576-B44329C36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414DA-FBF5-EA83-9EEF-64A51C37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1AFE-FBAD-264E-AFD7-6F8115638E3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1E59B-958A-783A-5AF7-F4A04B592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6A359-F084-3C3B-2DCE-5244FE748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2A5E3-C76E-CA4C-83DE-BBC8601A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60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B612C-BA4D-4892-A87E-773EC55C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55E40-5FF6-EC9F-AEDD-734AE483B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38C1B-B116-CDFE-E331-60D2397CC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BF8EF-5DA7-1B11-80A0-D43F69344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1AFE-FBAD-264E-AFD7-6F8115638E3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9FA0A-0899-7324-DAA3-7F33F86AD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B4246-C0C9-9EBE-21B6-3978AB56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2A5E3-C76E-CA4C-83DE-BBC8601A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7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898A-EE58-539E-132C-C46D30EE2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B620F-A470-86C2-90D0-51F29D0E3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EDE17-8422-60FC-D2ED-EB5D4309C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1AFE-FBAD-264E-AFD7-6F8115638E3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62C6A-A8A6-751E-B367-615FB2AB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77DC1-0CA3-36E3-A4D6-2C3C09CF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2A5E3-C76E-CA4C-83DE-BBC8601A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46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1FC86D-8D0C-7AD6-EF9A-1290D3BD1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094B9-4E5A-BA00-67CF-068B0ED09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83FA7-E7BB-64A3-D10A-E6094E5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1AFE-FBAD-264E-AFD7-6F8115638E3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A9471-3C66-369E-8A0B-84981DC8A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5CE89-C43B-5840-38D0-C4603EF8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2A5E3-C76E-CA4C-83DE-BBC8601A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00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D8DD7F-39B0-0203-FA4A-00CA251F5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32DB5-4FE1-1322-DF32-414842934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86130-87AA-CB62-AF07-5911DE7F9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E1AFE-FBAD-264E-AFD7-6F8115638E3C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A434-4B14-0BA3-643D-66B83147D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00B6D-A539-5FAD-DD15-E7E368C06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2A5E3-C76E-CA4C-83DE-BBC8601A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8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rail.eecs.berkeley.edu/deeprlcourse/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isionbook.mit.edu/generative_models.html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visionbook.mit.edu/representation_learning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visionbook.mit.edu/representation_learning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introtodeeplearning.com/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ntrotodeeplearning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8.png"/><Relationship Id="rId4" Type="http://schemas.openxmlformats.org/officeDocument/2006/relationships/image" Target="../media/image24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24.png"/><Relationship Id="rId9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EB8A-3BAD-4DA1-8682-A700B2545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789" y="1041400"/>
            <a:ext cx="11652422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STATS 507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Analysis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94AEC-397F-89CB-6E4B-4A58284F1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41490"/>
            <a:ext cx="9144000" cy="1655762"/>
          </a:xfrm>
        </p:spPr>
        <p:txBody>
          <a:bodyPr>
            <a:norm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Week14-1: Deep Generative Modeling and VAE</a:t>
            </a: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2FD2C3D-2D35-2B3A-D76C-59EE14EAB714}"/>
              </a:ext>
            </a:extLst>
          </p:cNvPr>
          <p:cNvSpPr txBox="1">
            <a:spLocks/>
          </p:cNvSpPr>
          <p:nvPr/>
        </p:nvSpPr>
        <p:spPr>
          <a:xfrm>
            <a:off x="2561493" y="5063760"/>
            <a:ext cx="6858000" cy="1231532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Dr. Xian Zhang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Adapted from slides by Ava Amini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MIT Introduction to Deep Learning</a:t>
            </a:r>
          </a:p>
        </p:txBody>
      </p:sp>
    </p:spTree>
    <p:extLst>
      <p:ext uri="{BB962C8B-B14F-4D97-AF65-F5344CB8AC3E}">
        <p14:creationId xmlns:p14="http://schemas.microsoft.com/office/powerpoint/2010/main" val="1594597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8ED1E-D097-ACF2-F95A-B6495CAD8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5E912-D120-2295-3275-900A627B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The Power of Computer Vision in AI: Unlocking the Future!">
            <a:extLst>
              <a:ext uri="{FF2B5EF4-FFF2-40B4-BE49-F238E27FC236}">
                <a16:creationId xmlns:a16="http://schemas.microsoft.com/office/drawing/2014/main" id="{B31A13B8-5E8B-282B-3BCF-24288F5A9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782" y="1576320"/>
            <a:ext cx="7170531" cy="403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C105FDC-B658-E3BA-9918-6ED446B1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Recap: teach machine to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CNN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7714E9-FFDF-ABFF-C17E-8DEB04FA0DF2}"/>
              </a:ext>
            </a:extLst>
          </p:cNvPr>
          <p:cNvSpPr txBox="1">
            <a:spLocks/>
          </p:cNvSpPr>
          <p:nvPr/>
        </p:nvSpPr>
        <p:spPr>
          <a:xfrm>
            <a:off x="1076739" y="56935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Vision: to see </a:t>
            </a:r>
            <a:r>
              <a:rPr lang="en-US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30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493D-1A14-0565-7070-7532CF77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C4AE1B7-23A3-F5C1-1F8F-1C476EA5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Recap: From Convolution to CNN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A23A73-1BFE-D022-718F-5461A3542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952" y="1690688"/>
            <a:ext cx="7938604" cy="261205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734889A-21B3-A327-A137-AF706B44ABB2}"/>
              </a:ext>
            </a:extLst>
          </p:cNvPr>
          <p:cNvSpPr txBox="1">
            <a:spLocks/>
          </p:cNvSpPr>
          <p:nvPr/>
        </p:nvSpPr>
        <p:spPr>
          <a:xfrm>
            <a:off x="897358" y="4670106"/>
            <a:ext cx="11473546" cy="1638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Three main operations:</a:t>
            </a:r>
          </a:p>
          <a:p>
            <a:pPr marL="457200" indent="-457200">
              <a:buAutoNum type="arabicParenR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extract different feature maps</a:t>
            </a:r>
          </a:p>
          <a:p>
            <a:pPr marL="457200" indent="-457200">
              <a:buAutoNum type="arabicParenR"/>
            </a:pP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Nonlinearity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Often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AutoNum type="arabicParenR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Pooling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downsample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operation on each feature map.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2FE4515-CBBC-E73C-A2F2-87982F5F7431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Amini</a:t>
            </a:r>
          </a:p>
        </p:txBody>
      </p:sp>
    </p:spTree>
    <p:extLst>
      <p:ext uri="{BB962C8B-B14F-4D97-AF65-F5344CB8AC3E}">
        <p14:creationId xmlns:p14="http://schemas.microsoft.com/office/powerpoint/2010/main" val="170774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7F39E-E592-1B0B-E695-385470D8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92D8DC4-F5B2-EC16-225A-577E87311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5" y="2030089"/>
            <a:ext cx="4552310" cy="3155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51555D-1629-4F74-2693-4BA2A36FE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318" y="1947789"/>
            <a:ext cx="4019681" cy="34465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0A5E62-0621-1CD6-0772-89C89331AD88}"/>
              </a:ext>
            </a:extLst>
          </p:cNvPr>
          <p:cNvSpPr txBox="1"/>
          <p:nvPr/>
        </p:nvSpPr>
        <p:spPr>
          <a:xfrm>
            <a:off x="527957" y="6029874"/>
            <a:ext cx="610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https://rail.eecs.berkeley.edu/deeprlcourse/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1E082B-6E53-9495-3BDE-1393BAF4C359}"/>
              </a:ext>
            </a:extLst>
          </p:cNvPr>
          <p:cNvCxnSpPr/>
          <p:nvPr/>
        </p:nvCxnSpPr>
        <p:spPr>
          <a:xfrm>
            <a:off x="4537827" y="1679069"/>
            <a:ext cx="0" cy="406462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8F82940-62D1-CE71-8762-2FD43F0B6A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522" y="2030089"/>
            <a:ext cx="3568700" cy="30861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54AD0B-52BC-A8E7-86BA-1FB4BF20C886}"/>
              </a:ext>
            </a:extLst>
          </p:cNvPr>
          <p:cNvCxnSpPr/>
          <p:nvPr/>
        </p:nvCxnSpPr>
        <p:spPr>
          <a:xfrm>
            <a:off x="8008735" y="1638751"/>
            <a:ext cx="0" cy="406462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A986ED79-D299-048D-2B0E-2DFA9DA3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Recap: learning problems so far…  </a:t>
            </a:r>
          </a:p>
        </p:txBody>
      </p:sp>
    </p:spTree>
    <p:extLst>
      <p:ext uri="{BB962C8B-B14F-4D97-AF65-F5344CB8AC3E}">
        <p14:creationId xmlns:p14="http://schemas.microsoft.com/office/powerpoint/2010/main" val="2614391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4184A-82EA-F8D9-CC36-2FCB5CDF9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5C644-A150-FC15-F4B3-0D8D00F9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EF114-33BA-5BAC-94F1-42E5C9E7013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Today: generative modeling</a:t>
            </a:r>
          </a:p>
        </p:txBody>
      </p:sp>
      <p:pic>
        <p:nvPicPr>
          <p:cNvPr id="1026" name="Picture 2" descr="Richard P. Feynman quote: What I cannot create, I do not understand.">
            <a:extLst>
              <a:ext uri="{FF2B5EF4-FFF2-40B4-BE49-F238E27FC236}">
                <a16:creationId xmlns:a16="http://schemas.microsoft.com/office/drawing/2014/main" id="{76B70C88-C6B3-7986-01D0-13AB01C09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753" y="1845433"/>
            <a:ext cx="8535318" cy="401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15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916E3-9994-6C73-A501-606397202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DAE37A6-7163-E58B-CA37-D1D65A9D7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generative modeling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EF411D-A496-952E-0950-1CB04CE85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247" y="2291706"/>
            <a:ext cx="6159500" cy="17653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BF30486-7670-0880-8D5B-550452B359FD}"/>
              </a:ext>
            </a:extLst>
          </p:cNvPr>
          <p:cNvSpPr txBox="1">
            <a:spLocks/>
          </p:cNvSpPr>
          <p:nvPr/>
        </p:nvSpPr>
        <p:spPr>
          <a:xfrm>
            <a:off x="838200" y="13771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Recall with an image classifier: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F61F50-F0DE-469F-B580-3CF764B58451}"/>
              </a:ext>
            </a:extLst>
          </p:cNvPr>
          <p:cNvGrpSpPr/>
          <p:nvPr/>
        </p:nvGrpSpPr>
        <p:grpSpPr>
          <a:xfrm>
            <a:off x="838200" y="3995242"/>
            <a:ext cx="10515600" cy="2841699"/>
            <a:chOff x="838200" y="3995242"/>
            <a:chExt cx="10515600" cy="28416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2E9426-6CE2-2A84-85C5-EFEA78697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88347" y="4919241"/>
              <a:ext cx="5740400" cy="1917700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A0FBA599-B7A1-5A40-F7B9-6351FDA05181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3995242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A generative model does the opposite: </a:t>
              </a:r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30AEAF12-A117-DD6B-CD11-1F1E7B49E3A3}"/>
              </a:ext>
            </a:extLst>
          </p:cNvPr>
          <p:cNvSpPr txBox="1">
            <a:spLocks/>
          </p:cNvSpPr>
          <p:nvPr/>
        </p:nvSpPr>
        <p:spPr>
          <a:xfrm>
            <a:off x="7104183" y="1575780"/>
            <a:ext cx="75461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to one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633BEE1-E46E-EC5B-FDFE-BB696E849862}"/>
              </a:ext>
            </a:extLst>
          </p:cNvPr>
          <p:cNvSpPr txBox="1">
            <a:spLocks/>
          </p:cNvSpPr>
          <p:nvPr/>
        </p:nvSpPr>
        <p:spPr>
          <a:xfrm>
            <a:off x="7104183" y="3995242"/>
            <a:ext cx="75461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to many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B02BC44-1F3A-8F9C-A7F0-F1736CC8A528}"/>
              </a:ext>
            </a:extLst>
          </p:cNvPr>
          <p:cNvSpPr txBox="1">
            <a:spLocks/>
          </p:cNvSpPr>
          <p:nvPr/>
        </p:nvSpPr>
        <p:spPr>
          <a:xfrm>
            <a:off x="9228992" y="4818087"/>
            <a:ext cx="75461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0E2F61-AC14-5C76-3F93-B9EA8FEF866D}"/>
              </a:ext>
            </a:extLst>
          </p:cNvPr>
          <p:cNvSpPr txBox="1"/>
          <p:nvPr/>
        </p:nvSpPr>
        <p:spPr>
          <a:xfrm>
            <a:off x="837614" y="6492875"/>
            <a:ext cx="8391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Ref: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https://visionbook.mit.edu/generative_models.html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43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8ED1E-D097-ACF2-F95A-B6495CAD8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5E912-D120-2295-3275-900A627B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03300E-7BAF-00B8-586D-08F588D9F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06" y="360478"/>
            <a:ext cx="11231613" cy="5577417"/>
          </a:xfrm>
        </p:spPr>
        <p:txBody>
          <a:bodyPr>
            <a:normAutofit/>
          </a:bodyPr>
          <a:lstStyle/>
          <a:p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Autoencoders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2. Variational Autoencoders (VAEs)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774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D19D-67B2-C511-B655-43EF9E71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3BA4CF8-66B1-4843-DE42-75B373F2B6B6}"/>
              </a:ext>
            </a:extLst>
          </p:cNvPr>
          <p:cNvGrpSpPr/>
          <p:nvPr/>
        </p:nvGrpSpPr>
        <p:grpSpPr>
          <a:xfrm>
            <a:off x="2016070" y="3097899"/>
            <a:ext cx="6990376" cy="3247741"/>
            <a:chOff x="2348638" y="2946825"/>
            <a:chExt cx="6990376" cy="324774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49FBCE7-68EC-F29B-47B5-1F4B44D3D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8638" y="2946825"/>
              <a:ext cx="6990376" cy="3247741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4F0861-4524-D3BF-BF4C-8BE827ECCB9F}"/>
                </a:ext>
              </a:extLst>
            </p:cNvPr>
            <p:cNvSpPr/>
            <p:nvPr/>
          </p:nvSpPr>
          <p:spPr>
            <a:xfrm>
              <a:off x="2696705" y="2977821"/>
              <a:ext cx="1441342" cy="5271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3C7EEC-DF15-789D-F17F-B137B2AF10FC}"/>
                </a:ext>
              </a:extLst>
            </p:cNvPr>
            <p:cNvSpPr/>
            <p:nvPr/>
          </p:nvSpPr>
          <p:spPr>
            <a:xfrm>
              <a:off x="5624592" y="3028190"/>
              <a:ext cx="2930471" cy="5271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992D06A-2969-E7C7-CE37-9872F7AC971C}"/>
              </a:ext>
            </a:extLst>
          </p:cNvPr>
          <p:cNvGrpSpPr/>
          <p:nvPr/>
        </p:nvGrpSpPr>
        <p:grpSpPr>
          <a:xfrm>
            <a:off x="1844298" y="2343342"/>
            <a:ext cx="8331632" cy="1327834"/>
            <a:chOff x="1507206" y="1404229"/>
            <a:chExt cx="8331632" cy="1327834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2F700F7F-196C-CBDF-0F93-960668895EA0}"/>
                </a:ext>
              </a:extLst>
            </p:cNvPr>
            <p:cNvSpPr txBox="1">
              <a:spLocks/>
            </p:cNvSpPr>
            <p:nvPr/>
          </p:nvSpPr>
          <p:spPr>
            <a:xfrm>
              <a:off x="1507206" y="1404229"/>
              <a:ext cx="2746433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Data point space</a:t>
              </a:r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4B20CF54-E078-F1DE-9DBF-A7ADBACF422C}"/>
                </a:ext>
              </a:extLst>
            </p:cNvPr>
            <p:cNvSpPr txBox="1">
              <a:spLocks/>
            </p:cNvSpPr>
            <p:nvPr/>
          </p:nvSpPr>
          <p:spPr>
            <a:xfrm>
              <a:off x="6024962" y="1406500"/>
              <a:ext cx="3813876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Representation space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6918ECE-706A-095D-2802-2A3B03E77818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4253639" y="2067010"/>
              <a:ext cx="156403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980D967-D2A4-4859-2EB0-C37E3AE4A715}"/>
              </a:ext>
            </a:extLst>
          </p:cNvPr>
          <p:cNvSpPr txBox="1"/>
          <p:nvPr/>
        </p:nvSpPr>
        <p:spPr>
          <a:xfrm>
            <a:off x="837614" y="6492875"/>
            <a:ext cx="8391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Ref: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https://visionbook.mit.edu/representation_learning.html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A142F589-D8F0-D5C2-70C4-28AFD04D73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428326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goal of representation learning is to lean to map data points,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𝜒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to an abstract representation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∈</m:t>
                    </m:r>
                    <m:r>
                      <a:rPr lang="el-G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𝛧</m:t>
                    </m:r>
                  </m:oMath>
                </a14:m>
                <a:endParaRPr lang="en-US" sz="2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A142F589-D8F0-D5C2-70C4-28AFD04D7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28326"/>
                <a:ext cx="10515600" cy="1325563"/>
              </a:xfrm>
              <a:prstGeom prst="rect">
                <a:avLst/>
              </a:prstGeom>
              <a:blipFill>
                <a:blip r:embed="rId5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itle 1">
            <a:extLst>
              <a:ext uri="{FF2B5EF4-FFF2-40B4-BE49-F238E27FC236}">
                <a16:creationId xmlns:a16="http://schemas.microsoft.com/office/drawing/2014/main" id="{F105BAC5-A6DE-3D11-3CC9-6C0FCD46F4B0}"/>
              </a:ext>
            </a:extLst>
          </p:cNvPr>
          <p:cNvSpPr txBox="1">
            <a:spLocks/>
          </p:cNvSpPr>
          <p:nvPr/>
        </p:nvSpPr>
        <p:spPr>
          <a:xfrm>
            <a:off x="8036515" y="5020077"/>
            <a:ext cx="75461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embedding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Simpler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More abstracted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Also called </a:t>
            </a:r>
            <a:r>
              <a:rPr lang="en-US" sz="2800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variable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FC44EAC8-8398-AF71-B7EC-884161C125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Representation Learning/ Latent variables</a:t>
            </a:r>
          </a:p>
        </p:txBody>
      </p:sp>
    </p:spTree>
    <p:extLst>
      <p:ext uri="{BB962C8B-B14F-4D97-AF65-F5344CB8AC3E}">
        <p14:creationId xmlns:p14="http://schemas.microsoft.com/office/powerpoint/2010/main" val="284379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7F48D-C6CA-81EB-8DE1-F712BC08D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B4B6774-4F52-683F-9FBF-E7C4E1F2DB1C}"/>
              </a:ext>
            </a:extLst>
          </p:cNvPr>
          <p:cNvSpPr txBox="1"/>
          <p:nvPr/>
        </p:nvSpPr>
        <p:spPr>
          <a:xfrm>
            <a:off x="837614" y="6492875"/>
            <a:ext cx="8391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Ref: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https://visionbook.mit.edu/representation_learning.html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32AA33-5763-17C0-9420-806E92B6B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455" y="2890268"/>
            <a:ext cx="10301207" cy="2708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1A8FB7-304C-7A0C-778F-45802F5D1C31}"/>
              </a:ext>
            </a:extLst>
          </p:cNvPr>
          <p:cNvSpPr txBox="1"/>
          <p:nvPr/>
        </p:nvSpPr>
        <p:spPr>
          <a:xfrm>
            <a:off x="837613" y="1564705"/>
            <a:ext cx="107086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Autoencoders</a:t>
            </a:r>
            <a:r>
              <a:rPr lang="en-US" sz="2000" b="0" i="0" dirty="0">
                <a:solidFill>
                  <a:srgbClr val="343A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are one of the oldest and most common kinds of representation learners. An autoencoder is a function that </a:t>
            </a:r>
            <a:r>
              <a:rPr lang="en-US" sz="2000" b="0" i="0" u="sng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maps data back to itself </a:t>
            </a:r>
            <a:r>
              <a:rPr lang="en-US" sz="2000" b="0" i="0" dirty="0">
                <a:solidFill>
                  <a:srgbClr val="343A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(hence the “auto”), but via a low-dimensional representational </a:t>
            </a:r>
            <a:r>
              <a:rPr lang="en-US" sz="2000" b="1" i="0" u="sng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bottleneck</a:t>
            </a:r>
            <a:r>
              <a:rPr lang="en-US" sz="2000" b="1" i="0" dirty="0">
                <a:solidFill>
                  <a:srgbClr val="343A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329EBF-481C-A871-1D85-7A9DC66A04AE}"/>
              </a:ext>
            </a:extLst>
          </p:cNvPr>
          <p:cNvSpPr txBox="1">
            <a:spLocks/>
          </p:cNvSpPr>
          <p:nvPr/>
        </p:nvSpPr>
        <p:spPr>
          <a:xfrm>
            <a:off x="3674400" y="5167312"/>
            <a:ext cx="75461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9C1DFF-C5FD-B7D6-21E0-CEC356423BF2}"/>
              </a:ext>
            </a:extLst>
          </p:cNvPr>
          <p:cNvSpPr txBox="1"/>
          <p:nvPr/>
        </p:nvSpPr>
        <p:spPr>
          <a:xfrm>
            <a:off x="5067946" y="61063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E8E4EB3-5C34-3DB5-6155-B4267891E12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Autoencoders</a:t>
            </a:r>
          </a:p>
        </p:txBody>
      </p:sp>
    </p:spTree>
    <p:extLst>
      <p:ext uri="{BB962C8B-B14F-4D97-AF65-F5344CB8AC3E}">
        <p14:creationId xmlns:p14="http://schemas.microsoft.com/office/powerpoint/2010/main" val="26286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4687-1E6B-BD50-03FE-DFF709FE2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613E2B8-9FE2-2D13-5B2A-4002544442E7}"/>
              </a:ext>
            </a:extLst>
          </p:cNvPr>
          <p:cNvSpPr txBox="1"/>
          <p:nvPr/>
        </p:nvSpPr>
        <p:spPr>
          <a:xfrm>
            <a:off x="5067946" y="61063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756BE9D-7D7B-DDA2-45BF-95A061F8A1DE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Ava Amini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D3F768A-74ED-642F-C2AC-46DE0B8CCB5A}"/>
              </a:ext>
            </a:extLst>
          </p:cNvPr>
          <p:cNvSpPr txBox="1">
            <a:spLocks/>
          </p:cNvSpPr>
          <p:nvPr/>
        </p:nvSpPr>
        <p:spPr>
          <a:xfrm>
            <a:off x="7201680" y="4687310"/>
            <a:ext cx="454522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variable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679CA62-2D06-5CE1-5F32-3A349292FD0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Autoencoders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A444DB-E583-DB4C-B8ED-9C36E35CA4C8}"/>
              </a:ext>
            </a:extLst>
          </p:cNvPr>
          <p:cNvSpPr txBox="1">
            <a:spLocks/>
          </p:cNvSpPr>
          <p:nvPr/>
        </p:nvSpPr>
        <p:spPr>
          <a:xfrm>
            <a:off x="838200" y="125324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goal: learn a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lower-dimensional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feature representation from unlabeled training data. 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upload.wikimedia.org/wikipedia/commons/thumb/f/fb/...">
            <a:extLst>
              <a:ext uri="{FF2B5EF4-FFF2-40B4-BE49-F238E27FC236}">
                <a16:creationId xmlns:a16="http://schemas.microsoft.com/office/drawing/2014/main" id="{A5FD7BD6-EA45-F936-7281-03D216B90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275" y="3429000"/>
            <a:ext cx="1380109" cy="99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F9E415F-BADA-384B-B677-8484ED7534C7}"/>
              </a:ext>
            </a:extLst>
          </p:cNvPr>
          <p:cNvSpPr/>
          <p:nvPr/>
        </p:nvSpPr>
        <p:spPr>
          <a:xfrm flipH="1">
            <a:off x="7845719" y="3707859"/>
            <a:ext cx="578734" cy="7042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EF2D409-58D7-54B4-1ACB-4BCCFD389275}"/>
              </a:ext>
            </a:extLst>
          </p:cNvPr>
          <p:cNvSpPr/>
          <p:nvPr/>
        </p:nvSpPr>
        <p:spPr>
          <a:xfrm>
            <a:off x="4420256" y="3134335"/>
            <a:ext cx="578734" cy="189983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B5114EB-93D2-7474-2243-E83BBDEF77BF}"/>
              </a:ext>
            </a:extLst>
          </p:cNvPr>
          <p:cNvSpPr/>
          <p:nvPr/>
        </p:nvSpPr>
        <p:spPr>
          <a:xfrm>
            <a:off x="5582847" y="3305631"/>
            <a:ext cx="578734" cy="153685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88DAD5A-57E4-B4EB-A795-772D2818DD6C}"/>
              </a:ext>
            </a:extLst>
          </p:cNvPr>
          <p:cNvSpPr/>
          <p:nvPr/>
        </p:nvSpPr>
        <p:spPr>
          <a:xfrm>
            <a:off x="3166653" y="2766219"/>
            <a:ext cx="578734" cy="268704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59D8802-982A-C541-46AE-2A5C03C9A6EF}"/>
              </a:ext>
            </a:extLst>
          </p:cNvPr>
          <p:cNvSpPr/>
          <p:nvPr/>
        </p:nvSpPr>
        <p:spPr>
          <a:xfrm>
            <a:off x="6690612" y="3570982"/>
            <a:ext cx="578734" cy="10186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2277A0A-169A-86F3-5BBF-BCEFBC5E6C3A}"/>
              </a:ext>
            </a:extLst>
          </p:cNvPr>
          <p:cNvSpPr txBox="1">
            <a:spLocks/>
          </p:cNvSpPr>
          <p:nvPr/>
        </p:nvSpPr>
        <p:spPr>
          <a:xfrm>
            <a:off x="3166653" y="33604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8B0AB58-9C83-652F-7185-5C6715167D21}"/>
                  </a:ext>
                </a:extLst>
              </p:cNvPr>
              <p:cNvSpPr txBox="1"/>
              <p:nvPr/>
            </p:nvSpPr>
            <p:spPr>
              <a:xfrm>
                <a:off x="-470691" y="5569191"/>
                <a:ext cx="78534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8B0AB58-9C83-652F-7185-5C6715167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0691" y="5569191"/>
                <a:ext cx="7853422" cy="369332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D1281ED-CD8E-F4DE-E41C-F77B116B95B9}"/>
                  </a:ext>
                </a:extLst>
              </p:cNvPr>
              <p:cNvSpPr txBox="1"/>
              <p:nvPr/>
            </p:nvSpPr>
            <p:spPr>
              <a:xfrm>
                <a:off x="4121076" y="4572765"/>
                <a:ext cx="80907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𝑧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∈</m:t>
                      </m:r>
                      <m:r>
                        <a:rPr lang="el-G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D1281ED-CD8E-F4DE-E41C-F77B116B9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1076" y="4572765"/>
                <a:ext cx="8090704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itle 1">
            <a:extLst>
              <a:ext uri="{FF2B5EF4-FFF2-40B4-BE49-F238E27FC236}">
                <a16:creationId xmlns:a16="http://schemas.microsoft.com/office/drawing/2014/main" id="{50A08CF2-1024-7487-DAC3-A84B91606001}"/>
              </a:ext>
            </a:extLst>
          </p:cNvPr>
          <p:cNvSpPr txBox="1">
            <a:spLocks/>
          </p:cNvSpPr>
          <p:nvPr/>
        </p:nvSpPr>
        <p:spPr>
          <a:xfrm>
            <a:off x="7201680" y="5106278"/>
            <a:ext cx="454522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Compressed data</a:t>
            </a:r>
          </a:p>
        </p:txBody>
      </p:sp>
    </p:spTree>
    <p:extLst>
      <p:ext uri="{BB962C8B-B14F-4D97-AF65-F5344CB8AC3E}">
        <p14:creationId xmlns:p14="http://schemas.microsoft.com/office/powerpoint/2010/main" val="2291409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3F725-95F7-0E4A-1E5F-0FE2D4F71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4A77BD0-0451-9DD0-916B-69C9FD48A580}"/>
              </a:ext>
            </a:extLst>
          </p:cNvPr>
          <p:cNvSpPr txBox="1"/>
          <p:nvPr/>
        </p:nvSpPr>
        <p:spPr>
          <a:xfrm>
            <a:off x="837614" y="6492875"/>
            <a:ext cx="8391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Ref: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https://introtodeeplearning.com/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C9307B-EADE-2494-2E37-252B9C3B4904}"/>
              </a:ext>
            </a:extLst>
          </p:cNvPr>
          <p:cNvSpPr txBox="1"/>
          <p:nvPr/>
        </p:nvSpPr>
        <p:spPr>
          <a:xfrm>
            <a:off x="5067946" y="61063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FC3DD1-8AA4-DD7E-812F-43274585BCD6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Ava Amini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D1186B-B2AB-EB0C-E930-38DBCB9C72D0}"/>
              </a:ext>
            </a:extLst>
          </p:cNvPr>
          <p:cNvSpPr txBox="1">
            <a:spLocks/>
          </p:cNvSpPr>
          <p:nvPr/>
        </p:nvSpPr>
        <p:spPr>
          <a:xfrm>
            <a:off x="734923" y="5340174"/>
            <a:ext cx="75461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Unsupervised. No label needed.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92D870F-5D88-C068-028F-81D2D1E8A8E8}"/>
              </a:ext>
            </a:extLst>
          </p:cNvPr>
          <p:cNvSpPr txBox="1">
            <a:spLocks/>
          </p:cNvSpPr>
          <p:nvPr/>
        </p:nvSpPr>
        <p:spPr>
          <a:xfrm>
            <a:off x="190694" y="2837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can we learn this latent space?</a:t>
            </a:r>
          </a:p>
        </p:txBody>
      </p:sp>
      <p:pic>
        <p:nvPicPr>
          <p:cNvPr id="23" name="Picture 2" descr="upload.wikimedia.org/wikipedia/commons/thumb/f/fb/...">
            <a:extLst>
              <a:ext uri="{FF2B5EF4-FFF2-40B4-BE49-F238E27FC236}">
                <a16:creationId xmlns:a16="http://schemas.microsoft.com/office/drawing/2014/main" id="{2725382A-1C53-5999-083D-11E970192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5735" y="3245971"/>
            <a:ext cx="1380109" cy="99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1176109C-8045-81FC-0703-EFA503CE23F4}"/>
              </a:ext>
            </a:extLst>
          </p:cNvPr>
          <p:cNvGrpSpPr/>
          <p:nvPr/>
        </p:nvGrpSpPr>
        <p:grpSpPr>
          <a:xfrm>
            <a:off x="6665432" y="2332830"/>
            <a:ext cx="3424323" cy="2687048"/>
            <a:chOff x="6665432" y="2332830"/>
            <a:chExt cx="3424323" cy="2687048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85660A36-E27E-76B5-1F06-D1E64482BC4E}"/>
                </a:ext>
              </a:extLst>
            </p:cNvPr>
            <p:cNvSpPr/>
            <p:nvPr/>
          </p:nvSpPr>
          <p:spPr>
            <a:xfrm>
              <a:off x="6665432" y="3204634"/>
              <a:ext cx="578734" cy="101864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2EA20F49-0875-DB2F-7813-0278E997D888}"/>
                </a:ext>
              </a:extLst>
            </p:cNvPr>
            <p:cNvSpPr/>
            <p:nvPr/>
          </p:nvSpPr>
          <p:spPr>
            <a:xfrm>
              <a:off x="7646159" y="2994667"/>
              <a:ext cx="578734" cy="153685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92FC4BE8-BA71-0B1C-81E2-0B05DBECC271}"/>
                </a:ext>
              </a:extLst>
            </p:cNvPr>
            <p:cNvSpPr/>
            <p:nvPr/>
          </p:nvSpPr>
          <p:spPr>
            <a:xfrm>
              <a:off x="8600727" y="2764034"/>
              <a:ext cx="578734" cy="189983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19239E6F-CC7B-4393-AF21-BD46593F78A3}"/>
                </a:ext>
              </a:extLst>
            </p:cNvPr>
            <p:cNvSpPr/>
            <p:nvPr/>
          </p:nvSpPr>
          <p:spPr>
            <a:xfrm>
              <a:off x="9511021" y="2332830"/>
              <a:ext cx="578734" cy="2687048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350D3AA-E08A-D2C9-408F-820B6FCE3075}"/>
                  </a:ext>
                </a:extLst>
              </p:cNvPr>
              <p:cNvSpPr txBox="1"/>
              <p:nvPr/>
            </p:nvSpPr>
            <p:spPr>
              <a:xfrm>
                <a:off x="2001361" y="3491688"/>
                <a:ext cx="6495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350D3AA-E08A-D2C9-408F-820B6FCE3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361" y="3491688"/>
                <a:ext cx="64955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 descr="upload.wikimedia.org/wikipedia/commons/thumb/f/fb/...">
            <a:extLst>
              <a:ext uri="{FF2B5EF4-FFF2-40B4-BE49-F238E27FC236}">
                <a16:creationId xmlns:a16="http://schemas.microsoft.com/office/drawing/2014/main" id="{77C8BEDF-E7E9-EA33-A376-778B4C880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60" y="3269253"/>
            <a:ext cx="1380109" cy="99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E86C732-7B64-D66A-9BB2-0E02FC8A554F}"/>
                  </a:ext>
                </a:extLst>
              </p:cNvPr>
              <p:cNvSpPr txBox="1"/>
              <p:nvPr/>
            </p:nvSpPr>
            <p:spPr>
              <a:xfrm>
                <a:off x="9469043" y="3430335"/>
                <a:ext cx="6495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E86C732-7B64-D66A-9BB2-0E02FC8A5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9043" y="3430335"/>
                <a:ext cx="649552" cy="369332"/>
              </a:xfrm>
              <a:prstGeom prst="rect">
                <a:avLst/>
              </a:prstGeom>
              <a:blipFill>
                <a:blip r:embed="rId6"/>
                <a:stretch>
                  <a:fillRect t="-1000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itle 1">
            <a:extLst>
              <a:ext uri="{FF2B5EF4-FFF2-40B4-BE49-F238E27FC236}">
                <a16:creationId xmlns:a16="http://schemas.microsoft.com/office/drawing/2014/main" id="{CFD1A543-4EEE-3289-262D-C34A1675C315}"/>
              </a:ext>
            </a:extLst>
          </p:cNvPr>
          <p:cNvSpPr txBox="1">
            <a:spLocks/>
          </p:cNvSpPr>
          <p:nvPr/>
        </p:nvSpPr>
        <p:spPr>
          <a:xfrm>
            <a:off x="190694" y="11109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Problem setup: train the model to </a:t>
            </a:r>
            <a:r>
              <a:rPr lang="en-US" sz="2400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reconstruct the original data. </a:t>
            </a:r>
            <a:endParaRPr lang="en-US" sz="2400" b="1" i="1" u="sng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3613A7D-459F-BF02-3C99-37C6E52E8B6D}"/>
              </a:ext>
            </a:extLst>
          </p:cNvPr>
          <p:cNvGrpSpPr/>
          <p:nvPr/>
        </p:nvGrpSpPr>
        <p:grpSpPr>
          <a:xfrm>
            <a:off x="1967437" y="2333903"/>
            <a:ext cx="4489432" cy="2687048"/>
            <a:chOff x="1967437" y="2333903"/>
            <a:chExt cx="4489432" cy="268704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5AF0A7E-805A-ED1A-5952-C0505B09848F}"/>
                </a:ext>
              </a:extLst>
            </p:cNvPr>
            <p:cNvGrpSpPr/>
            <p:nvPr/>
          </p:nvGrpSpPr>
          <p:grpSpPr>
            <a:xfrm>
              <a:off x="1967437" y="2333903"/>
              <a:ext cx="4453339" cy="2687048"/>
              <a:chOff x="1967437" y="2333903"/>
              <a:chExt cx="4453339" cy="2687048"/>
            </a:xfrm>
          </p:grpSpPr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8E00F4F8-F5E4-B1D2-3C02-B03E52DCEF93}"/>
                  </a:ext>
                </a:extLst>
              </p:cNvPr>
              <p:cNvSpPr/>
              <p:nvPr/>
            </p:nvSpPr>
            <p:spPr>
              <a:xfrm flipH="1">
                <a:off x="5842042" y="3381929"/>
                <a:ext cx="578734" cy="704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01840875-DE3F-AFD5-1A0D-E2BDD092D2E3}"/>
                  </a:ext>
                </a:extLst>
              </p:cNvPr>
              <p:cNvSpPr/>
              <p:nvPr/>
            </p:nvSpPr>
            <p:spPr>
              <a:xfrm>
                <a:off x="2988764" y="2659373"/>
                <a:ext cx="578734" cy="189983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7D7F3BBE-7026-B18E-F715-EC15A8AE7BE9}"/>
                  </a:ext>
                </a:extLst>
              </p:cNvPr>
              <p:cNvSpPr/>
              <p:nvPr/>
            </p:nvSpPr>
            <p:spPr>
              <a:xfrm>
                <a:off x="3929262" y="2945528"/>
                <a:ext cx="578734" cy="1536853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4E53C3A7-6A58-4CA3-CEF4-CEF0BEBEB0E9}"/>
                  </a:ext>
                </a:extLst>
              </p:cNvPr>
              <p:cNvSpPr/>
              <p:nvPr/>
            </p:nvSpPr>
            <p:spPr>
              <a:xfrm>
                <a:off x="2018607" y="2333903"/>
                <a:ext cx="578734" cy="2687048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A7137AB5-D8A7-8D2A-A7FA-F94FF32C2E33}"/>
                  </a:ext>
                </a:extLst>
              </p:cNvPr>
              <p:cNvSpPr/>
              <p:nvPr/>
            </p:nvSpPr>
            <p:spPr>
              <a:xfrm>
                <a:off x="4869760" y="3229869"/>
                <a:ext cx="578734" cy="101864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AC1941A4-FA65-68ED-3A24-45B77606459F}"/>
                      </a:ext>
                    </a:extLst>
                  </p:cNvPr>
                  <p:cNvSpPr txBox="1"/>
                  <p:nvPr/>
                </p:nvSpPr>
                <p:spPr>
                  <a:xfrm>
                    <a:off x="1967437" y="3554523"/>
                    <a:ext cx="64955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AC1941A4-FA65-68ED-3A24-45B7760645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67437" y="3554523"/>
                    <a:ext cx="649552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72DC97-5F30-0E7C-2FA8-91DDC6318A9F}"/>
                    </a:ext>
                  </a:extLst>
                </p:cNvPr>
                <p:cNvSpPr txBox="1"/>
                <p:nvPr/>
              </p:nvSpPr>
              <p:spPr>
                <a:xfrm>
                  <a:off x="5807317" y="3589474"/>
                  <a:ext cx="64955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72DC97-5F30-0E7C-2FA8-91DDC6318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7317" y="3589474"/>
                  <a:ext cx="64955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E854D2F9-FF70-12F3-7797-C6032A9F825F}"/>
              </a:ext>
            </a:extLst>
          </p:cNvPr>
          <p:cNvSpPr txBox="1">
            <a:spLocks/>
          </p:cNvSpPr>
          <p:nvPr/>
        </p:nvSpPr>
        <p:spPr>
          <a:xfrm>
            <a:off x="3465629" y="4705257"/>
            <a:ext cx="1506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7C0E4250-3296-0809-9BCC-80F40E47C17E}"/>
              </a:ext>
            </a:extLst>
          </p:cNvPr>
          <p:cNvSpPr txBox="1">
            <a:spLocks/>
          </p:cNvSpPr>
          <p:nvPr/>
        </p:nvSpPr>
        <p:spPr>
          <a:xfrm>
            <a:off x="7272708" y="4699735"/>
            <a:ext cx="1506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AD34041-398D-CC35-EA83-829FAEF89B93}"/>
                  </a:ext>
                </a:extLst>
              </p:cNvPr>
              <p:cNvSpPr txBox="1"/>
              <p:nvPr/>
            </p:nvSpPr>
            <p:spPr>
              <a:xfrm>
                <a:off x="6060988" y="5859779"/>
                <a:ext cx="527009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With reconstruction loss</a:t>
                </a:r>
                <a:r>
                  <a:rPr lang="en-US" dirty="0"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AD34041-398D-CC35-EA83-829FAEF89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988" y="5859779"/>
                <a:ext cx="5270099" cy="276999"/>
              </a:xfrm>
              <a:prstGeom prst="rect">
                <a:avLst/>
              </a:prstGeom>
              <a:blipFill>
                <a:blip r:embed="rId9"/>
                <a:stretch>
                  <a:fillRect l="-2644" t="-30435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28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build="allAtOnce"/>
      <p:bldP spid="36" grpId="0" build="allAtOnce"/>
      <p:bldP spid="37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2A1AE-C352-CE89-9289-7BB64C593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12996137-1F97-8076-371D-99499508B286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Ava Amini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6C62F8B-193E-E9F4-237D-B8681440B13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Autoencoding is a form of compression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601837B-9BF4-DA0E-F73E-10C2CA45F735}"/>
              </a:ext>
            </a:extLst>
          </p:cNvPr>
          <p:cNvSpPr txBox="1">
            <a:spLocks/>
          </p:cNvSpPr>
          <p:nvPr/>
        </p:nvSpPr>
        <p:spPr>
          <a:xfrm>
            <a:off x="838200" y="125324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Learn a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lower-dimensional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feature representation.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4D592C8-030A-F7AB-89A6-C5902C1E31BF}"/>
              </a:ext>
            </a:extLst>
          </p:cNvPr>
          <p:cNvSpPr txBox="1">
            <a:spLocks/>
          </p:cNvSpPr>
          <p:nvPr/>
        </p:nvSpPr>
        <p:spPr>
          <a:xfrm>
            <a:off x="3166653" y="33604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043147-429D-9F3C-14B1-C95B9DD9D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60184"/>
            <a:ext cx="6233932" cy="271113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BC7306A-9F86-E508-231B-D30BE82039C5}"/>
              </a:ext>
            </a:extLst>
          </p:cNvPr>
          <p:cNvSpPr txBox="1">
            <a:spLocks/>
          </p:cNvSpPr>
          <p:nvPr/>
        </p:nvSpPr>
        <p:spPr>
          <a:xfrm>
            <a:off x="7360717" y="2361236"/>
            <a:ext cx="4468610" cy="36923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Compressed representation: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Capture the essential characteristics of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Require less memory to store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way to achieve invariance to nuisance factors (camera noises, lighting conditions, view angles…)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59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F93BE-1608-47E4-28DC-C09E33FF7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0D616E-8A1C-0A41-4E51-0770CAFA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614" y="382336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In summary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002658-388F-668C-45D1-65A37CAF613A}"/>
              </a:ext>
            </a:extLst>
          </p:cNvPr>
          <p:cNvSpPr txBox="1"/>
          <p:nvPr/>
        </p:nvSpPr>
        <p:spPr>
          <a:xfrm>
            <a:off x="837614" y="6492875"/>
            <a:ext cx="8391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Ref: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https://introtodeeplearning.com/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348E76-111A-8106-6FDF-C79EC325E451}"/>
              </a:ext>
            </a:extLst>
          </p:cNvPr>
          <p:cNvSpPr txBox="1"/>
          <p:nvPr/>
        </p:nvSpPr>
        <p:spPr>
          <a:xfrm>
            <a:off x="5067946" y="61063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6BC2B92-F7FA-D3A8-337D-BA9EE304B5A1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Ava Amini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7B9C33-867B-6DEB-D13B-C3162035F56A}"/>
              </a:ext>
            </a:extLst>
          </p:cNvPr>
          <p:cNvSpPr txBox="1">
            <a:spLocks/>
          </p:cNvSpPr>
          <p:nvPr/>
        </p:nvSpPr>
        <p:spPr>
          <a:xfrm>
            <a:off x="838200" y="14283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Autoencoding =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matically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3AEFA8-1BD4-DE20-F7DB-D2E0FE94D50E}"/>
              </a:ext>
            </a:extLst>
          </p:cNvPr>
          <p:cNvSpPr txBox="1">
            <a:spLocks/>
          </p:cNvSpPr>
          <p:nvPr/>
        </p:nvSpPr>
        <p:spPr>
          <a:xfrm>
            <a:off x="837614" y="27538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label needed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393471-A11C-2C33-10D1-D39C63C9F926}"/>
              </a:ext>
            </a:extLst>
          </p:cNvPr>
          <p:cNvSpPr txBox="1">
            <a:spLocks/>
          </p:cNvSpPr>
          <p:nvPr/>
        </p:nvSpPr>
        <p:spPr>
          <a:xfrm>
            <a:off x="837614" y="40502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Reconstruction loss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forces the latent variable to capture as much “information” about the original data as possible.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12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4984-1447-9D32-8B3D-1FA60FDD8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F1C54-39CB-F6DE-1364-BE87F533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14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400BB3-BB74-8A53-6225-E17E2393C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06" y="360478"/>
            <a:ext cx="11231613" cy="5577417"/>
          </a:xfrm>
        </p:spPr>
        <p:txBody>
          <a:bodyPr>
            <a:normAutofit/>
          </a:bodyPr>
          <a:lstStyle/>
          <a:p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1. Autoencoders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Variational Autoencoders (VAEs)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526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C86ED-7306-61D2-2EE9-9F7ABAE5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0E0955-0670-7EF8-3696-2C9B81BF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614" y="382336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Traditional autoencoder is deterministic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2927BC-A257-1B6E-E037-3EA30DF2D342}"/>
              </a:ext>
            </a:extLst>
          </p:cNvPr>
          <p:cNvSpPr txBox="1"/>
          <p:nvPr/>
        </p:nvSpPr>
        <p:spPr>
          <a:xfrm>
            <a:off x="5067946" y="61063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44FA8B-6D36-8BE2-EC76-5967921F4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191" y="1943271"/>
            <a:ext cx="9768445" cy="29714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417760-0B7C-AD73-7EB1-1A8D96C19441}"/>
                  </a:ext>
                </a:extLst>
              </p:cNvPr>
              <p:cNvSpPr txBox="1"/>
              <p:nvPr/>
            </p:nvSpPr>
            <p:spPr>
              <a:xfrm>
                <a:off x="3919671" y="5497754"/>
                <a:ext cx="527009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Reconstruction loss</a:t>
                </a:r>
                <a:r>
                  <a:rPr lang="en-US" dirty="0"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417760-0B7C-AD73-7EB1-1A8D96C19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671" y="5497754"/>
                <a:ext cx="5270099" cy="276999"/>
              </a:xfrm>
              <a:prstGeom prst="rect">
                <a:avLst/>
              </a:prstGeom>
              <a:blipFill>
                <a:blip r:embed="rId4"/>
                <a:stretch>
                  <a:fillRect l="-2644" t="-2608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ubtitle 2">
            <a:extLst>
              <a:ext uri="{FF2B5EF4-FFF2-40B4-BE49-F238E27FC236}">
                <a16:creationId xmlns:a16="http://schemas.microsoft.com/office/drawing/2014/main" id="{26A4D22E-0950-C1B3-5219-CF09328FD08E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Adopted from slide of Ava Amini</a:t>
            </a:r>
          </a:p>
        </p:txBody>
      </p:sp>
    </p:spTree>
    <p:extLst>
      <p:ext uri="{BB962C8B-B14F-4D97-AF65-F5344CB8AC3E}">
        <p14:creationId xmlns:p14="http://schemas.microsoft.com/office/powerpoint/2010/main" val="3514755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A7052-66D6-CDA1-3FF6-63C04FE21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E4D54AB-9CF8-B952-3E85-192AA1D6F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614" y="382336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Adding stochastics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3EB41B-D745-2B0D-7C05-9869ABB0F072}"/>
              </a:ext>
            </a:extLst>
          </p:cNvPr>
          <p:cNvSpPr txBox="1"/>
          <p:nvPr/>
        </p:nvSpPr>
        <p:spPr>
          <a:xfrm>
            <a:off x="5067946" y="61063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89F7DCE-051A-9414-1A8C-525D9F079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628" y="2578809"/>
            <a:ext cx="4031318" cy="25024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9A83981-3268-BB6B-1DD4-DE90E9F79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116" y="2686946"/>
            <a:ext cx="3876055" cy="2344579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A1AD5E4E-ECDD-642F-8CB9-1B90C9594CA7}"/>
              </a:ext>
            </a:extLst>
          </p:cNvPr>
          <p:cNvGrpSpPr/>
          <p:nvPr/>
        </p:nvGrpSpPr>
        <p:grpSpPr>
          <a:xfrm>
            <a:off x="5423507" y="3457356"/>
            <a:ext cx="1125386" cy="904254"/>
            <a:chOff x="5469011" y="3181919"/>
            <a:chExt cx="1125386" cy="904254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9BE4F965-5BC5-3CD3-4267-CC8290A09AAB}"/>
                </a:ext>
              </a:extLst>
            </p:cNvPr>
            <p:cNvSpPr/>
            <p:nvPr/>
          </p:nvSpPr>
          <p:spPr>
            <a:xfrm flipH="1">
              <a:off x="6110456" y="3276486"/>
              <a:ext cx="318330" cy="56300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785E865-BD21-D45D-CFC8-E468B0DF5453}"/>
                    </a:ext>
                  </a:extLst>
                </p:cNvPr>
                <p:cNvSpPr txBox="1"/>
                <p:nvPr/>
              </p:nvSpPr>
              <p:spPr>
                <a:xfrm>
                  <a:off x="5944845" y="3369952"/>
                  <a:ext cx="64955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785E865-BD21-D45D-CFC8-E468B0DF54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4845" y="3369952"/>
                  <a:ext cx="64955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B44803C0-7C18-CA28-C058-BACB079F4620}"/>
                </a:ext>
              </a:extLst>
            </p:cNvPr>
            <p:cNvSpPr/>
            <p:nvPr/>
          </p:nvSpPr>
          <p:spPr>
            <a:xfrm flipH="1">
              <a:off x="5634622" y="3181919"/>
              <a:ext cx="318330" cy="376067"/>
            </a:xfrm>
            <a:prstGeom prst="roundRect">
              <a:avLst/>
            </a:prstGeom>
            <a:solidFill>
              <a:srgbClr val="FFFC00">
                <a:alpha val="1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8CAE85D3-C985-B37A-C335-5DD45CE4A569}"/>
                </a:ext>
              </a:extLst>
            </p:cNvPr>
            <p:cNvSpPr/>
            <p:nvPr/>
          </p:nvSpPr>
          <p:spPr>
            <a:xfrm flipH="1">
              <a:off x="5634622" y="3686648"/>
              <a:ext cx="318330" cy="376066"/>
            </a:xfrm>
            <a:prstGeom prst="roundRect">
              <a:avLst/>
            </a:prstGeom>
            <a:solidFill>
              <a:srgbClr val="FFFC00">
                <a:alpha val="1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EF038E6-151A-A028-1A75-236F0B35C84F}"/>
                    </a:ext>
                  </a:extLst>
                </p:cNvPr>
                <p:cNvSpPr txBox="1"/>
                <p:nvPr/>
              </p:nvSpPr>
              <p:spPr>
                <a:xfrm>
                  <a:off x="5477118" y="3214467"/>
                  <a:ext cx="64955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EF038E6-151A-A028-1A75-236F0B35C8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7118" y="3214467"/>
                  <a:ext cx="64955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74F0C02-21AE-453B-4A81-C8EA180F22D2}"/>
                    </a:ext>
                  </a:extLst>
                </p:cNvPr>
                <p:cNvSpPr txBox="1"/>
                <p:nvPr/>
              </p:nvSpPr>
              <p:spPr>
                <a:xfrm>
                  <a:off x="5469011" y="3716841"/>
                  <a:ext cx="64955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74F0C02-21AE-453B-4A81-C8EA180F22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9011" y="3716841"/>
                  <a:ext cx="64955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9B0585C5-8FAC-DDAB-91BE-408FB5F56C0A}"/>
              </a:ext>
            </a:extLst>
          </p:cNvPr>
          <p:cNvSpPr txBox="1">
            <a:spLocks/>
          </p:cNvSpPr>
          <p:nvPr/>
        </p:nvSpPr>
        <p:spPr>
          <a:xfrm>
            <a:off x="838200" y="125324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Introduce notion of randomness to latent variable and learn the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the latent variable.  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53493098-AAE8-4D59-18B6-7B902FE03579}"/>
              </a:ext>
            </a:extLst>
          </p:cNvPr>
          <p:cNvSpPr txBox="1">
            <a:spLocks/>
          </p:cNvSpPr>
          <p:nvPr/>
        </p:nvSpPr>
        <p:spPr>
          <a:xfrm>
            <a:off x="966316" y="5078084"/>
            <a:ext cx="109556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from the mean and standard deviation to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new data instances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609D3F-898F-DD58-8042-B195D420FD28}"/>
              </a:ext>
            </a:extLst>
          </p:cNvPr>
          <p:cNvSpPr/>
          <p:nvPr/>
        </p:nvSpPr>
        <p:spPr>
          <a:xfrm>
            <a:off x="5252677" y="2951544"/>
            <a:ext cx="1606439" cy="1851950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F023ADA6-D3D9-6D51-9A3A-CA890D618112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Adopted from slide of Ava Amini</a:t>
            </a:r>
          </a:p>
        </p:txBody>
      </p:sp>
    </p:spTree>
    <p:extLst>
      <p:ext uri="{BB962C8B-B14F-4D97-AF65-F5344CB8AC3E}">
        <p14:creationId xmlns:p14="http://schemas.microsoft.com/office/powerpoint/2010/main" val="421170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C982A-966B-ACCB-E669-29A95C82C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23B0F8-A23F-7F77-2833-A0EB57060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614" y="382336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VAE formulation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C2FF5-8609-978C-A263-16B90B59353A}"/>
              </a:ext>
            </a:extLst>
          </p:cNvPr>
          <p:cNvSpPr txBox="1"/>
          <p:nvPr/>
        </p:nvSpPr>
        <p:spPr>
          <a:xfrm>
            <a:off x="5067946" y="61063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4666D8D-1F7B-A5AB-17AA-5C0A57701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56" y="1707899"/>
            <a:ext cx="4031318" cy="25024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E8789BE-5C53-071A-B568-9D7374FD3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944" y="1816036"/>
            <a:ext cx="3876055" cy="2344579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5AE01D4-C09D-788B-A966-B3755E87371F}"/>
              </a:ext>
            </a:extLst>
          </p:cNvPr>
          <p:cNvGrpSpPr/>
          <p:nvPr/>
        </p:nvGrpSpPr>
        <p:grpSpPr>
          <a:xfrm>
            <a:off x="5319335" y="2586446"/>
            <a:ext cx="1125386" cy="904254"/>
            <a:chOff x="5469011" y="3181919"/>
            <a:chExt cx="1125386" cy="904254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F5B2D110-3D13-855E-D3EB-1031C4DCFF80}"/>
                </a:ext>
              </a:extLst>
            </p:cNvPr>
            <p:cNvSpPr/>
            <p:nvPr/>
          </p:nvSpPr>
          <p:spPr>
            <a:xfrm flipH="1">
              <a:off x="6110456" y="3276486"/>
              <a:ext cx="318330" cy="56300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9635CDD-80E7-6CB7-9D35-A58C63F9D818}"/>
                    </a:ext>
                  </a:extLst>
                </p:cNvPr>
                <p:cNvSpPr txBox="1"/>
                <p:nvPr/>
              </p:nvSpPr>
              <p:spPr>
                <a:xfrm>
                  <a:off x="5944845" y="3369952"/>
                  <a:ext cx="64955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9635CDD-80E7-6CB7-9D35-A58C63F9D8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4845" y="3369952"/>
                  <a:ext cx="64955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4032359B-3E19-D70B-A603-D619A81ECA55}"/>
                </a:ext>
              </a:extLst>
            </p:cNvPr>
            <p:cNvSpPr/>
            <p:nvPr/>
          </p:nvSpPr>
          <p:spPr>
            <a:xfrm flipH="1">
              <a:off x="5634622" y="3181919"/>
              <a:ext cx="318330" cy="376067"/>
            </a:xfrm>
            <a:prstGeom prst="roundRect">
              <a:avLst/>
            </a:prstGeom>
            <a:solidFill>
              <a:srgbClr val="FFFC00">
                <a:alpha val="1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D906CBC0-F2D9-50A9-CBBB-EAD921B55D5F}"/>
                </a:ext>
              </a:extLst>
            </p:cNvPr>
            <p:cNvSpPr/>
            <p:nvPr/>
          </p:nvSpPr>
          <p:spPr>
            <a:xfrm flipH="1">
              <a:off x="5634622" y="3686648"/>
              <a:ext cx="318330" cy="376066"/>
            </a:xfrm>
            <a:prstGeom prst="roundRect">
              <a:avLst/>
            </a:prstGeom>
            <a:solidFill>
              <a:srgbClr val="FFFC00">
                <a:alpha val="1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DE5FBAF-2014-B840-690C-6ABE5F0DB1A0}"/>
                    </a:ext>
                  </a:extLst>
                </p:cNvPr>
                <p:cNvSpPr txBox="1"/>
                <p:nvPr/>
              </p:nvSpPr>
              <p:spPr>
                <a:xfrm>
                  <a:off x="5477118" y="3214467"/>
                  <a:ext cx="64955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DE5FBAF-2014-B840-690C-6ABE5F0DB1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7118" y="3214467"/>
                  <a:ext cx="64955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3B85C92-89D0-A6E8-3722-1C89FFE3150D}"/>
                    </a:ext>
                  </a:extLst>
                </p:cNvPr>
                <p:cNvSpPr txBox="1"/>
                <p:nvPr/>
              </p:nvSpPr>
              <p:spPr>
                <a:xfrm>
                  <a:off x="5469011" y="3716841"/>
                  <a:ext cx="64955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3B85C92-89D0-A6E8-3722-1C89FFE315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9011" y="3716841"/>
                  <a:ext cx="64955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4CF2B533-053A-72AC-2C57-F2AAA16C8868}"/>
              </a:ext>
            </a:extLst>
          </p:cNvPr>
          <p:cNvSpPr/>
          <p:nvPr/>
        </p:nvSpPr>
        <p:spPr>
          <a:xfrm>
            <a:off x="5148505" y="2080634"/>
            <a:ext cx="1606439" cy="1851950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FDB95E84-7FA9-CB4E-F35B-ED4617A743F7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Adopted from slide of Ava Amini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F8D49D-9428-9B0E-95F5-2074E1EEFC27}"/>
                  </a:ext>
                </a:extLst>
              </p:cNvPr>
              <p:cNvSpPr txBox="1"/>
              <p:nvPr/>
            </p:nvSpPr>
            <p:spPr>
              <a:xfrm>
                <a:off x="1963312" y="5134686"/>
                <a:ext cx="2485039" cy="301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Encoder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maps</m:t>
                      </m:r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dirty="0" smtClean="0"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F8D49D-9428-9B0E-95F5-2074E1EEF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312" y="5134686"/>
                <a:ext cx="2485039" cy="301749"/>
              </a:xfrm>
              <a:prstGeom prst="rect">
                <a:avLst/>
              </a:prstGeom>
              <a:blipFill>
                <a:blip r:embed="rId8"/>
                <a:stretch>
                  <a:fillRect l="-508" t="-20000" r="-1523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9158BB-2041-0152-37BA-38FDB2C884F6}"/>
                  </a:ext>
                </a:extLst>
              </p:cNvPr>
              <p:cNvSpPr txBox="1"/>
              <p:nvPr/>
            </p:nvSpPr>
            <p:spPr>
              <a:xfrm>
                <a:off x="7814053" y="5147734"/>
                <a:ext cx="2414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Decoder</m:t>
                      </m:r>
                      <m:r>
                        <m:rPr>
                          <m:nor/>
                        </m:rPr>
                        <a:rPr lang="en-US" dirty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maps</m:t>
                      </m:r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dirty="0" smtClean="0"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9158BB-2041-0152-37BA-38FDB2C88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053" y="5147734"/>
                <a:ext cx="2414635" cy="276999"/>
              </a:xfrm>
              <a:prstGeom prst="rect">
                <a:avLst/>
              </a:prstGeom>
              <a:blipFill>
                <a:blip r:embed="rId9"/>
                <a:stretch>
                  <a:fillRect l="-2094" t="-21739" r="-3141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343FFF-C53E-2E0D-6251-D5C4C1D44906}"/>
              </a:ext>
            </a:extLst>
          </p:cNvPr>
          <p:cNvCxnSpPr/>
          <p:nvPr/>
        </p:nvCxnSpPr>
        <p:spPr>
          <a:xfrm>
            <a:off x="1481559" y="1597306"/>
            <a:ext cx="0" cy="9028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E28C821-94F2-5C1F-6B2D-87D4737C2ED4}"/>
              </a:ext>
            </a:extLst>
          </p:cNvPr>
          <p:cNvCxnSpPr/>
          <p:nvPr/>
        </p:nvCxnSpPr>
        <p:spPr>
          <a:xfrm>
            <a:off x="10002455" y="1628441"/>
            <a:ext cx="0" cy="9028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6C605D3-F34A-25C8-0ED7-6161F229AE0A}"/>
              </a:ext>
            </a:extLst>
          </p:cNvPr>
          <p:cNvCxnSpPr>
            <a:cxnSpLocks/>
          </p:cNvCxnSpPr>
          <p:nvPr/>
        </p:nvCxnSpPr>
        <p:spPr>
          <a:xfrm>
            <a:off x="1481559" y="1597306"/>
            <a:ext cx="8520896" cy="3113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tle 1">
            <a:extLst>
              <a:ext uri="{FF2B5EF4-FFF2-40B4-BE49-F238E27FC236}">
                <a16:creationId xmlns:a16="http://schemas.microsoft.com/office/drawing/2014/main" id="{656957B0-CC8E-8979-4220-334221EA9C02}"/>
              </a:ext>
            </a:extLst>
          </p:cNvPr>
          <p:cNvSpPr txBox="1">
            <a:spLocks/>
          </p:cNvSpPr>
          <p:nvPr/>
        </p:nvSpPr>
        <p:spPr>
          <a:xfrm>
            <a:off x="4287455" y="365045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Probabilistic distributions 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72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63B67-5B1E-F5BA-C0C8-BEEAB020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6AE7BB-FBDD-86EF-0FD3-26EFE349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614" y="382336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Defining loss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97A14-F5AC-8747-1649-11D4157072B0}"/>
              </a:ext>
            </a:extLst>
          </p:cNvPr>
          <p:cNvSpPr txBox="1"/>
          <p:nvPr/>
        </p:nvSpPr>
        <p:spPr>
          <a:xfrm>
            <a:off x="5067946" y="61063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DBDB0B-3BCB-924C-6352-85B62EEE7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26" y="1597895"/>
            <a:ext cx="4031318" cy="2502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FFCF5-24B1-739A-4F29-5B5F73B1D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714" y="1706032"/>
            <a:ext cx="3876055" cy="234457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991027A-06EB-A51E-8150-EC13D67D0763}"/>
              </a:ext>
            </a:extLst>
          </p:cNvPr>
          <p:cNvGrpSpPr/>
          <p:nvPr/>
        </p:nvGrpSpPr>
        <p:grpSpPr>
          <a:xfrm>
            <a:off x="5516105" y="2476442"/>
            <a:ext cx="1125386" cy="904254"/>
            <a:chOff x="5469011" y="3181919"/>
            <a:chExt cx="1125386" cy="904254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F16D80C5-4377-CC4C-5F99-3421B64F3569}"/>
                </a:ext>
              </a:extLst>
            </p:cNvPr>
            <p:cNvSpPr/>
            <p:nvPr/>
          </p:nvSpPr>
          <p:spPr>
            <a:xfrm flipH="1">
              <a:off x="6110456" y="3276486"/>
              <a:ext cx="318330" cy="56300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6F3D4C9-53F3-20BF-960E-344B2FE28B9C}"/>
                    </a:ext>
                  </a:extLst>
                </p:cNvPr>
                <p:cNvSpPr txBox="1"/>
                <p:nvPr/>
              </p:nvSpPr>
              <p:spPr>
                <a:xfrm>
                  <a:off x="5944845" y="3369952"/>
                  <a:ext cx="64955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6F3D4C9-53F3-20BF-960E-344B2FE28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4845" y="3369952"/>
                  <a:ext cx="64955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B36F7EA1-306E-2147-8305-2C4751DEB144}"/>
                </a:ext>
              </a:extLst>
            </p:cNvPr>
            <p:cNvSpPr/>
            <p:nvPr/>
          </p:nvSpPr>
          <p:spPr>
            <a:xfrm flipH="1">
              <a:off x="5634622" y="3181919"/>
              <a:ext cx="318330" cy="376067"/>
            </a:xfrm>
            <a:prstGeom prst="roundRect">
              <a:avLst/>
            </a:prstGeom>
            <a:solidFill>
              <a:srgbClr val="FFFC00">
                <a:alpha val="1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AA28DD40-AB0E-A5BB-E89F-248167A2B17E}"/>
                </a:ext>
              </a:extLst>
            </p:cNvPr>
            <p:cNvSpPr/>
            <p:nvPr/>
          </p:nvSpPr>
          <p:spPr>
            <a:xfrm flipH="1">
              <a:off x="5634622" y="3686648"/>
              <a:ext cx="318330" cy="376066"/>
            </a:xfrm>
            <a:prstGeom prst="roundRect">
              <a:avLst/>
            </a:prstGeom>
            <a:solidFill>
              <a:srgbClr val="FFFC00">
                <a:alpha val="1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A60C8E1-F6DB-8FF7-300D-1ED74392306F}"/>
                    </a:ext>
                  </a:extLst>
                </p:cNvPr>
                <p:cNvSpPr txBox="1"/>
                <p:nvPr/>
              </p:nvSpPr>
              <p:spPr>
                <a:xfrm>
                  <a:off x="5477118" y="3214467"/>
                  <a:ext cx="64955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A60C8E1-F6DB-8FF7-300D-1ED7439230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7118" y="3214467"/>
                  <a:ext cx="64955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77E79CA-255D-6ED8-0282-D042800C603D}"/>
                    </a:ext>
                  </a:extLst>
                </p:cNvPr>
                <p:cNvSpPr txBox="1"/>
                <p:nvPr/>
              </p:nvSpPr>
              <p:spPr>
                <a:xfrm>
                  <a:off x="5469011" y="3716841"/>
                  <a:ext cx="64955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77E79CA-255D-6ED8-0282-D042800C60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9011" y="3716841"/>
                  <a:ext cx="64955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936750D1-418C-79ED-BBEB-05642B26E544}"/>
              </a:ext>
            </a:extLst>
          </p:cNvPr>
          <p:cNvSpPr/>
          <p:nvPr/>
        </p:nvSpPr>
        <p:spPr>
          <a:xfrm>
            <a:off x="5345275" y="1970630"/>
            <a:ext cx="1606439" cy="1851950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BD2045-8903-3F43-F17E-36395355883C}"/>
                  </a:ext>
                </a:extLst>
              </p:cNvPr>
              <p:cNvSpPr txBox="1"/>
              <p:nvPr/>
            </p:nvSpPr>
            <p:spPr>
              <a:xfrm>
                <a:off x="1222516" y="4952344"/>
                <a:ext cx="527009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Reconstruction loss</a:t>
                </a:r>
                <a:r>
                  <a:rPr lang="en-US" dirty="0"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BD2045-8903-3F43-F17E-363953558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516" y="4952344"/>
                <a:ext cx="5270099" cy="276999"/>
              </a:xfrm>
              <a:prstGeom prst="rect">
                <a:avLst/>
              </a:prstGeom>
              <a:blipFill>
                <a:blip r:embed="rId8"/>
                <a:stretch>
                  <a:fillRect l="-2885" t="-2608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>
            <a:extLst>
              <a:ext uri="{FF2B5EF4-FFF2-40B4-BE49-F238E27FC236}">
                <a16:creationId xmlns:a16="http://schemas.microsoft.com/office/drawing/2014/main" id="{E94A8000-489F-933A-CA86-C431C1CC3307}"/>
              </a:ext>
            </a:extLst>
          </p:cNvPr>
          <p:cNvSpPr txBox="1">
            <a:spLocks/>
          </p:cNvSpPr>
          <p:nvPr/>
        </p:nvSpPr>
        <p:spPr>
          <a:xfrm>
            <a:off x="1938902" y="5363919"/>
            <a:ext cx="3742814" cy="693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error between the input and the reconstructed output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578B82-E9E6-3A4C-270F-43FA269D3B5E}"/>
              </a:ext>
            </a:extLst>
          </p:cNvPr>
          <p:cNvSpPr txBox="1"/>
          <p:nvPr/>
        </p:nvSpPr>
        <p:spPr>
          <a:xfrm>
            <a:off x="6641491" y="4952344"/>
            <a:ext cx="527009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Regularization term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0EB264B3-6B31-A89D-B2C7-227EBBB1B797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Adopted from slide of Ava Amini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01816B-3B32-B061-2AC4-915CCBEF4AD3}"/>
                  </a:ext>
                </a:extLst>
              </p:cNvPr>
              <p:cNvSpPr txBox="1"/>
              <p:nvPr/>
            </p:nvSpPr>
            <p:spPr>
              <a:xfrm>
                <a:off x="2125357" y="3941061"/>
                <a:ext cx="2485039" cy="301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Encoder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maps</m:t>
                      </m:r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dirty="0" smtClean="0"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01816B-3B32-B061-2AC4-915CCBEF4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357" y="3941061"/>
                <a:ext cx="2485039" cy="301749"/>
              </a:xfrm>
              <a:prstGeom prst="rect">
                <a:avLst/>
              </a:prstGeom>
              <a:blipFill>
                <a:blip r:embed="rId9"/>
                <a:stretch>
                  <a:fillRect l="-510" t="-20000" r="-2041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77A1D0-9D24-98DB-EE66-0E0901B3C79D}"/>
                  </a:ext>
                </a:extLst>
              </p:cNvPr>
              <p:cNvSpPr txBox="1"/>
              <p:nvPr/>
            </p:nvSpPr>
            <p:spPr>
              <a:xfrm>
                <a:off x="7976098" y="3954109"/>
                <a:ext cx="2414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Decoder</m:t>
                      </m:r>
                      <m:r>
                        <m:rPr>
                          <m:nor/>
                        </m:rPr>
                        <a:rPr lang="en-US" dirty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maps</m:t>
                      </m:r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dirty="0" smtClean="0"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77A1D0-9D24-98DB-EE66-0E0901B3C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098" y="3954109"/>
                <a:ext cx="2414635" cy="276999"/>
              </a:xfrm>
              <a:prstGeom prst="rect">
                <a:avLst/>
              </a:prstGeom>
              <a:blipFill>
                <a:blip r:embed="rId10"/>
                <a:stretch>
                  <a:fillRect l="-1563" t="-21739" r="-3125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itle 1">
            <a:extLst>
              <a:ext uri="{FF2B5EF4-FFF2-40B4-BE49-F238E27FC236}">
                <a16:creationId xmlns:a16="http://schemas.microsoft.com/office/drawing/2014/main" id="{A25D7E0E-E158-5347-29E0-9E2E7BBA50BC}"/>
              </a:ext>
            </a:extLst>
          </p:cNvPr>
          <p:cNvSpPr txBox="1">
            <a:spLocks/>
          </p:cNvSpPr>
          <p:nvPr/>
        </p:nvSpPr>
        <p:spPr>
          <a:xfrm>
            <a:off x="7976098" y="5229343"/>
            <a:ext cx="3742814" cy="693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Assuming a prior distribution 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2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28D98-FBF5-4E03-C9E1-00209778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8B63850-3AEE-5590-FCAD-88A5D414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614" y="382336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Defining Loss: the regularization term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42A388-4001-6E0D-2E18-94D19F82D0DF}"/>
              </a:ext>
            </a:extLst>
          </p:cNvPr>
          <p:cNvSpPr txBox="1"/>
          <p:nvPr/>
        </p:nvSpPr>
        <p:spPr>
          <a:xfrm>
            <a:off x="5067946" y="61063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0E21C04-10DA-983C-5FC8-2BD3E87CDC36}"/>
              </a:ext>
            </a:extLst>
          </p:cNvPr>
          <p:cNvGrpSpPr/>
          <p:nvPr/>
        </p:nvGrpSpPr>
        <p:grpSpPr>
          <a:xfrm>
            <a:off x="1326070" y="2459092"/>
            <a:ext cx="1125386" cy="904254"/>
            <a:chOff x="5469011" y="3181919"/>
            <a:chExt cx="1125386" cy="904254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AEB5064-C3AC-96A3-1440-3306CA2D6FBF}"/>
                </a:ext>
              </a:extLst>
            </p:cNvPr>
            <p:cNvSpPr/>
            <p:nvPr/>
          </p:nvSpPr>
          <p:spPr>
            <a:xfrm flipH="1">
              <a:off x="6110456" y="3276486"/>
              <a:ext cx="318330" cy="56300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863B5DF-6D1E-539A-74B9-00652DD737FC}"/>
                    </a:ext>
                  </a:extLst>
                </p:cNvPr>
                <p:cNvSpPr txBox="1"/>
                <p:nvPr/>
              </p:nvSpPr>
              <p:spPr>
                <a:xfrm>
                  <a:off x="5944845" y="3369952"/>
                  <a:ext cx="64955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863B5DF-6D1E-539A-74B9-00652DD737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4845" y="3369952"/>
                  <a:ext cx="64955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ED237FA-C978-D48D-CF67-AAF49BFAA537}"/>
                </a:ext>
              </a:extLst>
            </p:cNvPr>
            <p:cNvSpPr/>
            <p:nvPr/>
          </p:nvSpPr>
          <p:spPr>
            <a:xfrm flipH="1">
              <a:off x="5634622" y="3181919"/>
              <a:ext cx="318330" cy="376067"/>
            </a:xfrm>
            <a:prstGeom prst="roundRect">
              <a:avLst/>
            </a:prstGeom>
            <a:solidFill>
              <a:srgbClr val="FFFC00">
                <a:alpha val="1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B1E668C-12E1-E598-671D-97D5B27DF0D8}"/>
                </a:ext>
              </a:extLst>
            </p:cNvPr>
            <p:cNvSpPr/>
            <p:nvPr/>
          </p:nvSpPr>
          <p:spPr>
            <a:xfrm flipH="1">
              <a:off x="5634622" y="3686648"/>
              <a:ext cx="318330" cy="376066"/>
            </a:xfrm>
            <a:prstGeom prst="roundRect">
              <a:avLst/>
            </a:prstGeom>
            <a:solidFill>
              <a:srgbClr val="FFFC00">
                <a:alpha val="1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9CB275F-A5A5-F946-1E08-41F69628C8D3}"/>
                    </a:ext>
                  </a:extLst>
                </p:cNvPr>
                <p:cNvSpPr txBox="1"/>
                <p:nvPr/>
              </p:nvSpPr>
              <p:spPr>
                <a:xfrm>
                  <a:off x="5477118" y="3214467"/>
                  <a:ext cx="64955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9CB275F-A5A5-F946-1E08-41F69628C8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7118" y="3214467"/>
                  <a:ext cx="649552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54F25D9-96A0-7BE3-C5F2-D0635AF128BC}"/>
                    </a:ext>
                  </a:extLst>
                </p:cNvPr>
                <p:cNvSpPr txBox="1"/>
                <p:nvPr/>
              </p:nvSpPr>
              <p:spPr>
                <a:xfrm>
                  <a:off x="5469011" y="3716841"/>
                  <a:ext cx="64955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54F25D9-96A0-7BE3-C5F2-D0635AF128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9011" y="3716841"/>
                  <a:ext cx="64955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ADDC752E-69ED-468E-B14D-A84F635B3AAC}"/>
              </a:ext>
            </a:extLst>
          </p:cNvPr>
          <p:cNvSpPr/>
          <p:nvPr/>
        </p:nvSpPr>
        <p:spPr>
          <a:xfrm>
            <a:off x="1155240" y="1953280"/>
            <a:ext cx="1606439" cy="1851950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CED868-69B1-7472-D4BA-BB365B427114}"/>
              </a:ext>
            </a:extLst>
          </p:cNvPr>
          <p:cNvSpPr txBox="1"/>
          <p:nvPr/>
        </p:nvSpPr>
        <p:spPr>
          <a:xfrm>
            <a:off x="3082521" y="1903222"/>
            <a:ext cx="527009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Inferred latent distribution: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A86A8B02-6DD0-6EA3-5729-2F1AF13D6662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Adopted from slide of Ava Amini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63FC68-6998-D31B-9323-235E29013EB9}"/>
                  </a:ext>
                </a:extLst>
              </p:cNvPr>
              <p:cNvSpPr txBox="1"/>
              <p:nvPr/>
            </p:nvSpPr>
            <p:spPr>
              <a:xfrm>
                <a:off x="3117164" y="2294599"/>
                <a:ext cx="3901564" cy="394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63FC68-6998-D31B-9323-235E29013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164" y="2294599"/>
                <a:ext cx="3901564" cy="394082"/>
              </a:xfrm>
              <a:prstGeom prst="rect">
                <a:avLst/>
              </a:prstGeom>
              <a:blipFill>
                <a:blip r:embed="rId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30B071-79CF-966A-9659-85524EBB88F6}"/>
                  </a:ext>
                </a:extLst>
              </p:cNvPr>
              <p:cNvSpPr txBox="1"/>
              <p:nvPr/>
            </p:nvSpPr>
            <p:spPr>
              <a:xfrm>
                <a:off x="3209529" y="3511924"/>
                <a:ext cx="39015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30B071-79CF-966A-9659-85524EBB8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529" y="3511924"/>
                <a:ext cx="3901564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56C3EDF4-4122-0374-7348-29EB88346A1A}"/>
              </a:ext>
            </a:extLst>
          </p:cNvPr>
          <p:cNvSpPr txBox="1"/>
          <p:nvPr/>
        </p:nvSpPr>
        <p:spPr>
          <a:xfrm>
            <a:off x="3117164" y="4290432"/>
            <a:ext cx="527009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A distance metric: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49D4E0-CE9A-EC41-1166-B6E11A09112B}"/>
              </a:ext>
            </a:extLst>
          </p:cNvPr>
          <p:cNvSpPr txBox="1"/>
          <p:nvPr/>
        </p:nvSpPr>
        <p:spPr>
          <a:xfrm>
            <a:off x="3117164" y="3086347"/>
            <a:ext cx="630462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Some fixed prior distribution (initial guess) on latent variable: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8FB0125-EACE-C6A3-30AF-136EC0D9E29F}"/>
                  </a:ext>
                </a:extLst>
              </p:cNvPr>
              <p:cNvSpPr txBox="1"/>
              <p:nvPr/>
            </p:nvSpPr>
            <p:spPr>
              <a:xfrm>
                <a:off x="3558363" y="4779566"/>
                <a:ext cx="3901564" cy="394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||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8FB0125-EACE-C6A3-30AF-136EC0D9E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363" y="4779566"/>
                <a:ext cx="3901564" cy="394082"/>
              </a:xfrm>
              <a:prstGeom prst="rect">
                <a:avLst/>
              </a:prstGeom>
              <a:blipFill>
                <a:blip r:embed="rId8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EA39C1C5-4A86-BB09-8460-D6C61376B165}"/>
              </a:ext>
            </a:extLst>
          </p:cNvPr>
          <p:cNvGrpSpPr/>
          <p:nvPr/>
        </p:nvGrpSpPr>
        <p:grpSpPr>
          <a:xfrm>
            <a:off x="7558943" y="3645388"/>
            <a:ext cx="6683224" cy="639230"/>
            <a:chOff x="6269478" y="3704454"/>
            <a:chExt cx="6683224" cy="63923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53C45E3-5CC5-58C0-DAC2-1E5603602236}"/>
                </a:ext>
              </a:extLst>
            </p:cNvPr>
            <p:cNvSpPr txBox="1"/>
            <p:nvPr/>
          </p:nvSpPr>
          <p:spPr>
            <a:xfrm>
              <a:off x="6648074" y="3704454"/>
              <a:ext cx="630462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One common example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25B4113-FE58-6ADE-FE48-EBA6693CA9E3}"/>
                    </a:ext>
                  </a:extLst>
                </p:cNvPr>
                <p:cNvSpPr txBox="1"/>
                <p:nvPr/>
              </p:nvSpPr>
              <p:spPr>
                <a:xfrm>
                  <a:off x="6269478" y="4035907"/>
                  <a:ext cx="390156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=0, </m:t>
                        </m:r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25B4113-FE58-6ADE-FE48-EBA6693CA9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9478" y="4035907"/>
                  <a:ext cx="3901564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1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B94A80C-0393-94AE-3B71-A042606CB422}"/>
              </a:ext>
            </a:extLst>
          </p:cNvPr>
          <p:cNvSpPr txBox="1"/>
          <p:nvPr/>
        </p:nvSpPr>
        <p:spPr>
          <a:xfrm>
            <a:off x="7937539" y="4990135"/>
            <a:ext cx="630462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KL-divergence </a:t>
            </a:r>
          </a:p>
          <a:p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     between the two distributions.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20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FFFEA-F2AA-5023-B07D-897A7989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CF1BF7-636A-6FA5-3354-AFC01E18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614" y="382336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Train a VAE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866237-5E6C-3AAC-4DE8-6D6881F07932}"/>
              </a:ext>
            </a:extLst>
          </p:cNvPr>
          <p:cNvSpPr txBox="1"/>
          <p:nvPr/>
        </p:nvSpPr>
        <p:spPr>
          <a:xfrm>
            <a:off x="5067946" y="61063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E2DCF-8A03-5FB2-A5A0-019001B436F4}"/>
              </a:ext>
            </a:extLst>
          </p:cNvPr>
          <p:cNvSpPr txBox="1"/>
          <p:nvPr/>
        </p:nvSpPr>
        <p:spPr>
          <a:xfrm>
            <a:off x="1035645" y="2207114"/>
            <a:ext cx="5838078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Potential problem during training?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ADC77-B50D-C8C7-474C-8A37A62FA792}"/>
              </a:ext>
            </a:extLst>
          </p:cNvPr>
          <p:cNvSpPr txBox="1"/>
          <p:nvPr/>
        </p:nvSpPr>
        <p:spPr>
          <a:xfrm>
            <a:off x="1035645" y="3568327"/>
            <a:ext cx="9086127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We can not backpropagating gradients through stochastic layers…</a:t>
            </a: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DA471-F80D-B0ED-C0AF-45471EB3939D}"/>
              </a:ext>
            </a:extLst>
          </p:cNvPr>
          <p:cNvSpPr txBox="1"/>
          <p:nvPr/>
        </p:nvSpPr>
        <p:spPr>
          <a:xfrm>
            <a:off x="1035645" y="4895217"/>
            <a:ext cx="9086127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Introducing reparametrizing the sampling layers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1388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82A27-5A47-6353-A33C-85E01A13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301828-7E74-AF0C-0381-30DFC8C89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614" y="382336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Reparametrizing Trick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9DE042-93C4-7322-48B5-0A9339DD4A67}"/>
              </a:ext>
            </a:extLst>
          </p:cNvPr>
          <p:cNvSpPr txBox="1"/>
          <p:nvPr/>
        </p:nvSpPr>
        <p:spPr>
          <a:xfrm>
            <a:off x="5067946" y="61063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A137CBC-4737-FAFE-A489-4DD0FAE94DCA}"/>
              </a:ext>
            </a:extLst>
          </p:cNvPr>
          <p:cNvSpPr txBox="1">
            <a:spLocks/>
          </p:cNvSpPr>
          <p:nvPr/>
        </p:nvSpPr>
        <p:spPr>
          <a:xfrm>
            <a:off x="6492615" y="635749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Ava Amini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25D621-B38A-1791-7896-0E498C8D5DE1}"/>
                  </a:ext>
                </a:extLst>
              </p:cNvPr>
              <p:cNvSpPr txBox="1"/>
              <p:nvPr/>
            </p:nvSpPr>
            <p:spPr>
              <a:xfrm>
                <a:off x="2459467" y="4674464"/>
                <a:ext cx="39015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25D621-B38A-1791-7896-0E498C8D5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467" y="4674464"/>
                <a:ext cx="3901564" cy="369332"/>
              </a:xfrm>
              <a:prstGeom prst="rect">
                <a:avLst/>
              </a:prstGeom>
              <a:blipFill>
                <a:blip r:embed="rId3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62470303-2DA5-B232-9D20-DF022971FF7C}"/>
              </a:ext>
            </a:extLst>
          </p:cNvPr>
          <p:cNvGrpSpPr/>
          <p:nvPr/>
        </p:nvGrpSpPr>
        <p:grpSpPr>
          <a:xfrm>
            <a:off x="5798338" y="2460535"/>
            <a:ext cx="1125386" cy="904254"/>
            <a:chOff x="5469011" y="3181919"/>
            <a:chExt cx="1125386" cy="904254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12291E8-C940-04D7-BEDF-E504F7CE10A8}"/>
                </a:ext>
              </a:extLst>
            </p:cNvPr>
            <p:cNvSpPr/>
            <p:nvPr/>
          </p:nvSpPr>
          <p:spPr>
            <a:xfrm flipH="1">
              <a:off x="6110456" y="3276486"/>
              <a:ext cx="318330" cy="56300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323126-C253-FF9C-A940-4D4AD3F3F181}"/>
                    </a:ext>
                  </a:extLst>
                </p:cNvPr>
                <p:cNvSpPr txBox="1"/>
                <p:nvPr/>
              </p:nvSpPr>
              <p:spPr>
                <a:xfrm>
                  <a:off x="5944845" y="3369952"/>
                  <a:ext cx="64955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323126-C253-FF9C-A940-4D4AD3F3F1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4845" y="3369952"/>
                  <a:ext cx="64955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9203558-FB16-58A6-140F-841A79E6AF8A}"/>
                </a:ext>
              </a:extLst>
            </p:cNvPr>
            <p:cNvSpPr/>
            <p:nvPr/>
          </p:nvSpPr>
          <p:spPr>
            <a:xfrm flipH="1">
              <a:off x="5634622" y="3181919"/>
              <a:ext cx="318330" cy="376067"/>
            </a:xfrm>
            <a:prstGeom prst="roundRect">
              <a:avLst/>
            </a:prstGeom>
            <a:solidFill>
              <a:srgbClr val="FFFC00">
                <a:alpha val="1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EF32136-9E04-885B-48B5-665D6CE5B710}"/>
                </a:ext>
              </a:extLst>
            </p:cNvPr>
            <p:cNvSpPr/>
            <p:nvPr/>
          </p:nvSpPr>
          <p:spPr>
            <a:xfrm flipH="1">
              <a:off x="5634622" y="3686648"/>
              <a:ext cx="318330" cy="376066"/>
            </a:xfrm>
            <a:prstGeom prst="roundRect">
              <a:avLst/>
            </a:prstGeom>
            <a:solidFill>
              <a:srgbClr val="FFFC00">
                <a:alpha val="1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04AE117-C27A-C049-9A33-D7C4CFF561B9}"/>
                    </a:ext>
                  </a:extLst>
                </p:cNvPr>
                <p:cNvSpPr txBox="1"/>
                <p:nvPr/>
              </p:nvSpPr>
              <p:spPr>
                <a:xfrm>
                  <a:off x="5477118" y="3214467"/>
                  <a:ext cx="64955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04AE117-C27A-C049-9A33-D7C4CFF561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7118" y="3214467"/>
                  <a:ext cx="649552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EF4D426-8B5A-A346-FBF9-98E4B5C9A4CE}"/>
                    </a:ext>
                  </a:extLst>
                </p:cNvPr>
                <p:cNvSpPr txBox="1"/>
                <p:nvPr/>
              </p:nvSpPr>
              <p:spPr>
                <a:xfrm>
                  <a:off x="5469011" y="3716841"/>
                  <a:ext cx="64955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EF4D426-8B5A-A346-FBF9-98E4B5C9A4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9011" y="3716841"/>
                  <a:ext cx="64955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7196389-6D09-D482-0570-4333002387B1}"/>
              </a:ext>
            </a:extLst>
          </p:cNvPr>
          <p:cNvSpPr txBox="1"/>
          <p:nvPr/>
        </p:nvSpPr>
        <p:spPr>
          <a:xfrm>
            <a:off x="1090932" y="4397465"/>
            <a:ext cx="527009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Inferred latent distribution: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7D04814-144E-50BC-8BCF-F797A7314C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941" y="1362674"/>
            <a:ext cx="4702879" cy="29193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1951ED3-33D9-AF1F-0B8B-C7AB55BF3B05}"/>
                  </a:ext>
                </a:extLst>
              </p:cNvPr>
              <p:cNvSpPr txBox="1"/>
              <p:nvPr/>
            </p:nvSpPr>
            <p:spPr>
              <a:xfrm>
                <a:off x="1090932" y="5224386"/>
                <a:ext cx="10515600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Reparametrizing the latent variable as: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A fixed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>
                  <a:latin typeface="Arial" panose="020B0604020202020204" pitchFamily="34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fixed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, scaled by a random constants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generated  from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1951ED3-33D9-AF1F-0B8B-C7AB55BF3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932" y="5224386"/>
                <a:ext cx="10515600" cy="830997"/>
              </a:xfrm>
              <a:prstGeom prst="rect">
                <a:avLst/>
              </a:prstGeom>
              <a:blipFill>
                <a:blip r:embed="rId8"/>
                <a:stretch>
                  <a:fillRect l="-1327" t="-909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0288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5409E-7781-3C85-9540-B5A1A010A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410CA6-DB0C-8F80-CED9-CE1F89F6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In-class practice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1A7D21-52BF-56A2-90CB-7948B0006BC3}"/>
              </a:ext>
            </a:extLst>
          </p:cNvPr>
          <p:cNvSpPr txBox="1">
            <a:spLocks/>
          </p:cNvSpPr>
          <p:nvPr/>
        </p:nvSpPr>
        <p:spPr>
          <a:xfrm>
            <a:off x="838200" y="1428326"/>
            <a:ext cx="10515600" cy="4648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Put it all together in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Train a VAE using the MNIST dataset.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Sample from latent space and decode to generate new samples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</a:p>
          <a:p>
            <a:pPr marL="914400" lvl="1" indent="-457200">
              <a:buFont typeface="+mj-lt"/>
              <a:buAutoNum type="arabicPeriod"/>
            </a:pPr>
            <a:endParaRPr lang="en-US" sz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145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1717</TotalTime>
  <Words>864</Words>
  <Application>Microsoft Macintosh PowerPoint</Application>
  <PresentationFormat>Widescreen</PresentationFormat>
  <Paragraphs>177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Office Theme</vt:lpstr>
      <vt:lpstr>STATS 507 Data Analysis in Python</vt:lpstr>
      <vt:lpstr>Recap: teach machine to see with CNN</vt:lpstr>
      <vt:lpstr>Recap: From Convolution to CNN</vt:lpstr>
      <vt:lpstr>Recap: learning problems so far…  </vt:lpstr>
      <vt:lpstr>PowerPoint Presentation</vt:lpstr>
      <vt:lpstr>What is generative modeling</vt:lpstr>
      <vt:lpstr> 1. Autoencoders   2. Variational Autoencoders (VAEs)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summary</vt:lpstr>
      <vt:lpstr> 1. Autoencoders   2. Variational Autoencoders (VAEs)</vt:lpstr>
      <vt:lpstr>Traditional autoencoder is deterministic</vt:lpstr>
      <vt:lpstr>Adding stochastics …</vt:lpstr>
      <vt:lpstr>VAE formulation</vt:lpstr>
      <vt:lpstr>Defining loss</vt:lpstr>
      <vt:lpstr>Defining Loss: the regularization term</vt:lpstr>
      <vt:lpstr>Train a VAE </vt:lpstr>
      <vt:lpstr>Reparametrizing Trick</vt:lpstr>
      <vt:lpstr>In-class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Xian</dc:creator>
  <cp:lastModifiedBy>Zhang, Xian</cp:lastModifiedBy>
  <cp:revision>274</cp:revision>
  <dcterms:created xsi:type="dcterms:W3CDTF">2025-04-10T16:07:58Z</dcterms:created>
  <dcterms:modified xsi:type="dcterms:W3CDTF">2025-10-30T20:58:36Z</dcterms:modified>
</cp:coreProperties>
</file>